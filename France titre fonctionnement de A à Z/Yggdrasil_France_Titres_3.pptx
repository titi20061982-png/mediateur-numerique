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8510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E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0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3200400" cy="3200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0" y="141732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2E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MÉDIATION NUMÉRIQUE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4526280" y="1783080"/>
            <a:ext cx="7223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France Titres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4572000" y="2971800"/>
            <a:ext cx="7040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9BD9E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Faire ses démarches en ligne, tout seul, pas à pas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4572000" y="361188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FE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d'identité · Passeport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572000" y="3950208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FE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 de conduire · Carte grise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0" y="4663440"/>
            <a:ext cx="7040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site officiel : </a:t>
            </a:r>
            <a:r>
              <a:rPr lang="en-US" sz="1700" b="1" dirty="0">
                <a:solidFill>
                  <a:srgbClr val="2E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ants.gouv.fr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572000" y="512064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gratuit — Atelier Yggdrasil</a:t>
            </a:r>
            <a:endParaRPr lang="en-US" sz="1300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FAA6638-4499-0A7E-F6CE-BE65DF8D4D2C}"/>
              </a:ext>
            </a:extLst>
          </p:cNvPr>
          <p:cNvSpPr txBox="1"/>
          <p:nvPr/>
        </p:nvSpPr>
        <p:spPr>
          <a:xfrm>
            <a:off x="0" y="657860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LIRE EN PREMIER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2A4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Les 3 règles à ne jamais oublier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B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faire vos démarches en sécurité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84448" cy="4069080"/>
          </a:xfrm>
          <a:prstGeom prst="roundRect">
            <a:avLst>
              <a:gd name="adj" fmla="val 3061"/>
            </a:avLst>
          </a:prstGeom>
          <a:solidFill>
            <a:srgbClr val="F4FAFB"/>
          </a:solidFill>
          <a:ln w="12700">
            <a:solidFill>
              <a:srgbClr val="D7E8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841248" y="2487168"/>
            <a:ext cx="640080" cy="640080"/>
          </a:xfrm>
          <a:prstGeom prst="ellipse">
            <a:avLst/>
          </a:prstGeom>
          <a:solidFill>
            <a:srgbClr val="B5790A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41248" y="33375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02A4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Un seul site, le bon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41248" y="4160520"/>
            <a:ext cx="30175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seul site officiel se termine par .gouv.fr : ants.gouv.fr. Les autres sites qui ressemblent (et qui font payer un supplément) ne sont pas le site de l'État.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25112" y="2148840"/>
            <a:ext cx="3584448" cy="4069080"/>
          </a:xfrm>
          <a:prstGeom prst="roundRect">
            <a:avLst>
              <a:gd name="adj" fmla="val 3061"/>
            </a:avLst>
          </a:prstGeom>
          <a:solidFill>
            <a:srgbClr val="F4FAFB"/>
          </a:solidFill>
          <a:ln w="12700">
            <a:solidFill>
              <a:srgbClr val="D7E8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617720" y="2487168"/>
            <a:ext cx="640080" cy="640080"/>
          </a:xfrm>
          <a:prstGeom prst="ellipse">
            <a:avLst/>
          </a:prstGeom>
          <a:solidFill>
            <a:srgbClr val="B5790A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17720" y="33375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02A4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C'est gratuit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617720" y="4160520"/>
            <a:ext cx="30175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 la démarche sur ants.gouv.fr ne coûte rien. On paie seulement le titre lui-même (ex. la taxe de carte grise). Aucun « frais de dossier » en plus.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101584" y="2148840"/>
            <a:ext cx="3584448" cy="4069080"/>
          </a:xfrm>
          <a:prstGeom prst="roundRect">
            <a:avLst>
              <a:gd name="adj" fmla="val 3061"/>
            </a:avLst>
          </a:prstGeom>
          <a:solidFill>
            <a:srgbClr val="F4FAFB"/>
          </a:solidFill>
          <a:ln w="12700">
            <a:solidFill>
              <a:srgbClr val="D7E8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8394192" y="2487168"/>
            <a:ext cx="640080" cy="640080"/>
          </a:xfrm>
          <a:prstGeom prst="ellipse">
            <a:avLst/>
          </a:prstGeom>
          <a:solidFill>
            <a:srgbClr val="B5790A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394192" y="33375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02A4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Jamais votre mot de passe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394192" y="4160520"/>
            <a:ext cx="30175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agent, mail ou SMS officiel ne vous demandera votre mot de passe ou votre code de carte bancaire. Si on vous le demande : c'est une arnaque, on n'y répond pas.</a:t>
            </a:r>
            <a:endParaRPr lang="en-US" sz="1350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2ACFBDFE-8668-4597-8722-860BA5F67A03}"/>
              </a:ext>
            </a:extLst>
          </p:cNvPr>
          <p:cNvSpPr txBox="1"/>
          <p:nvPr/>
        </p:nvSpPr>
        <p:spPr>
          <a:xfrm>
            <a:off x="0" y="657860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2377440" cy="310896"/>
          </a:xfrm>
          <a:prstGeom prst="rect">
            <a:avLst/>
          </a:prstGeom>
          <a:solidFill>
            <a:srgbClr val="1B6E7A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DE COMMENCER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02A4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Quel site pour quelle démarche 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B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adresses officielles, toutes en .gouv.fr — on se connecte partout avec FranceConnect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584448" cy="3291840"/>
          </a:xfrm>
          <a:prstGeom prst="roundRect">
            <a:avLst>
              <a:gd name="adj" fmla="val 3333"/>
            </a:avLst>
          </a:prstGeom>
          <a:solidFill>
            <a:srgbClr val="F4FAFB"/>
          </a:solidFill>
          <a:ln w="12700">
            <a:solidFill>
              <a:srgbClr val="D7E8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303580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ants.gouv.fr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3246120"/>
            <a:ext cx="303580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102A4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Carte d'identité</a:t>
            </a:r>
            <a:endParaRPr lang="en-US" sz="1900" dirty="0"/>
          </a:p>
          <a:p>
            <a:pPr marL="0" indent="0">
              <a:buNone/>
            </a:pPr>
            <a:r>
              <a:rPr lang="en-US" sz="1900" b="1" dirty="0">
                <a:solidFill>
                  <a:srgbClr val="102A4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&amp; Passeport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4160520"/>
            <a:ext cx="303580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Première demande, renouvellement, perte ou vol.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5112" y="2240280"/>
            <a:ext cx="3584448" cy="3291840"/>
          </a:xfrm>
          <a:prstGeom prst="roundRect">
            <a:avLst>
              <a:gd name="adj" fmla="val 3333"/>
            </a:avLst>
          </a:prstGeom>
          <a:solidFill>
            <a:srgbClr val="F4FAFB"/>
          </a:solidFill>
          <a:ln w="12700">
            <a:solidFill>
              <a:srgbClr val="D7E8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599432" y="2514600"/>
            <a:ext cx="303580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permisdeconduire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B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.ants.gouv.fr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99432" y="3246120"/>
            <a:ext cx="303580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102A4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Permis de</a:t>
            </a:r>
            <a:endParaRPr lang="en-US" sz="1900" dirty="0"/>
          </a:p>
          <a:p>
            <a:pPr marL="0" indent="0">
              <a:buNone/>
            </a:pPr>
            <a:r>
              <a:rPr lang="en-US" sz="1900" b="1" dirty="0">
                <a:solidFill>
                  <a:srgbClr val="102A4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conduire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599432" y="4160520"/>
            <a:ext cx="303580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Fabrication après l'examen, duplicata, échange, solde de points.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01584" y="2240280"/>
            <a:ext cx="3584448" cy="3291840"/>
          </a:xfrm>
          <a:prstGeom prst="roundRect">
            <a:avLst>
              <a:gd name="adj" fmla="val 3333"/>
            </a:avLst>
          </a:prstGeom>
          <a:solidFill>
            <a:srgbClr val="F4FAFB"/>
          </a:solidFill>
          <a:ln w="12700">
            <a:solidFill>
              <a:srgbClr val="D7E8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8375904" y="2514600"/>
            <a:ext cx="303580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immatriculation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.ants.gouv.fr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75904" y="3246120"/>
            <a:ext cx="303580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102A4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Carte grise</a:t>
            </a:r>
            <a:endParaRPr lang="en-US" sz="1900" dirty="0"/>
          </a:p>
          <a:p>
            <a:pPr marL="0" indent="0">
              <a:buNone/>
            </a:pPr>
            <a:r>
              <a:rPr lang="en-US" sz="1900" b="1" dirty="0">
                <a:solidFill>
                  <a:srgbClr val="102A4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&amp; véhicule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375904" y="4160520"/>
            <a:ext cx="303580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Acheter, vendre, changer d'adresse, non-gage.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5715000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102A4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868680" y="571500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ne pas confondre :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titres de séjour pour étrangers ne se font pas sur ANTS, mais sur l'ANEF (administration-etrangers-en-france.interieur.gouv.fr).</a:t>
            </a:r>
            <a:endParaRPr lang="en-US" sz="1300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5E638BFB-EEA6-1519-66E2-DC268732C5AE}"/>
              </a:ext>
            </a:extLst>
          </p:cNvPr>
          <p:cNvSpPr txBox="1"/>
          <p:nvPr/>
        </p:nvSpPr>
        <p:spPr>
          <a:xfrm>
            <a:off x="0" y="657860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2377440" cy="310896"/>
          </a:xfrm>
          <a:prstGeom prst="rect">
            <a:avLst/>
          </a:prstGeom>
          <a:solidFill>
            <a:srgbClr val="1B6E7A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2A4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 connecter au site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212080" cy="4480560"/>
          </a:xfrm>
          <a:prstGeom prst="roundRect">
            <a:avLst>
              <a:gd name="adj" fmla="val 2041"/>
            </a:avLst>
          </a:prstGeom>
          <a:solidFill>
            <a:srgbClr val="F4FAFB"/>
          </a:solidFill>
          <a:ln w="12700">
            <a:solidFill>
              <a:srgbClr val="D7E8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868680" y="2057400"/>
            <a:ext cx="2377440" cy="310896"/>
          </a:xfrm>
          <a:prstGeom prst="rect">
            <a:avLst/>
          </a:prstGeom>
          <a:solidFill>
            <a:srgbClr val="2C7A4B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— CE QU'IL FAUT AVOIR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8680" y="2514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méthode la plus simple : FranceConnect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2962656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161288" y="2880360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compte que vous avez déjà : Impôts, Ameli (Assurance Maladie) ou La Poste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3438144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161288" y="3355848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L'identifiant et le mot de passe de ce compte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913632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61288" y="3831336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L'adresse e-mail à laquelle vous avez accès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53492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5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FranceConnect évite de créer un nouveau mot de passe : on réutilise un compte connu.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80760" y="1828800"/>
            <a:ext cx="5577840" cy="4480560"/>
          </a:xfrm>
          <a:prstGeom prst="roundRect">
            <a:avLst>
              <a:gd name="adj" fmla="val 204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400800" y="2057400"/>
            <a:ext cx="2377440" cy="310896"/>
          </a:xfrm>
          <a:prstGeom prst="rect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CLIQUER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2542032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903720" y="24963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J'ouvre le site ants.gouv.fr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3127248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903720" y="30815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haut à droite, je clique sur « Se connecter 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0" y="3712464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03720" y="366674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choisis « Je me connecte avec FranceConnect »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4297680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03720" y="425196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clique sur le compte que je connais (ex. Ameli ou Impôts)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0" y="4882896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03720" y="483717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tape mon identifiant + mon mot de passe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0" y="5468112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03720" y="542239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bon, je suis dans mon espace personnel</a:t>
            </a:r>
            <a:endParaRPr lang="en-US" sz="1300" dirty="0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DCB8DF30-68D9-3C6B-3159-03A838CBFB9A}"/>
              </a:ext>
            </a:extLst>
          </p:cNvPr>
          <p:cNvSpPr txBox="1"/>
          <p:nvPr/>
        </p:nvSpPr>
        <p:spPr>
          <a:xfrm>
            <a:off x="0" y="657860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02A4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Carte d'identité &amp; Passeport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704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B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Première demande, renouvellement, perte ou vol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212080" cy="4526280"/>
          </a:xfrm>
          <a:prstGeom prst="roundRect">
            <a:avLst>
              <a:gd name="adj" fmla="val 2020"/>
            </a:avLst>
          </a:prstGeom>
          <a:solidFill>
            <a:srgbClr val="F4FAFB"/>
          </a:solidFill>
          <a:ln w="12700">
            <a:solidFill>
              <a:srgbClr val="D7E8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868680" y="2011680"/>
            <a:ext cx="2377440" cy="310896"/>
          </a:xfrm>
          <a:prstGeom prst="rect">
            <a:avLst/>
          </a:prstGeom>
          <a:solidFill>
            <a:srgbClr val="2C7A4B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PAPIERS À FOURNIR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8680" y="2551176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161288" y="2468880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Photo-signature numérique : le code à 22 chiffres (photographe ou cabine agréée)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3026664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161288" y="2944368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Justificatif de domicile de moins de 6 mois (facture, avis d'impôt…)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3502152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61288" y="3419856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L'ancien titre (carte ou passeport) si vous en avez un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3977640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61288" y="3895344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acte de naissance (seulement si demandé à l'écran)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4453128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161288" y="4370832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cas de perte ou vol : la déclaration + un timbre fiscal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80760" y="1783080"/>
            <a:ext cx="5577840" cy="4526280"/>
          </a:xfrm>
          <a:prstGeom prst="roundRect">
            <a:avLst>
              <a:gd name="adj" fmla="val 202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6400800" y="2011680"/>
            <a:ext cx="2377440" cy="310896"/>
          </a:xfrm>
          <a:prstGeom prst="rect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CLIQUER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0" y="2514600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903720" y="24688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mon espace, je clique sur l'encadré « Pièces d'identité »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0" y="3081528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03720" y="3035808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choisis ma situation (nouvelle demande, renouvellement, perte…)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0" y="3648456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03720" y="3602736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remplis le formulaire, écran après écran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0" y="4215384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03720" y="4169664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dépose mes photos et justificatifs (bouton « Ajouter un fichier »)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0" y="4782312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03720" y="4736592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valide : je reçois un numéro de pré-demande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0" y="539496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BD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Ensuite, prenez rendez-vous en mairie pour les empreintes et le retrait du titre.</a:t>
            </a:r>
            <a:endParaRPr lang="en-US" sz="1100" dirty="0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65A8A6C3-8BE0-3478-3B4A-E3376731F14A}"/>
              </a:ext>
            </a:extLst>
          </p:cNvPr>
          <p:cNvSpPr txBox="1"/>
          <p:nvPr/>
        </p:nvSpPr>
        <p:spPr>
          <a:xfrm>
            <a:off x="0" y="657860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02A4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Permis de conduire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704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B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Perte, vol, abîmé, fin de validité ou échange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212080" cy="4526280"/>
          </a:xfrm>
          <a:prstGeom prst="roundRect">
            <a:avLst>
              <a:gd name="adj" fmla="val 2020"/>
            </a:avLst>
          </a:prstGeom>
          <a:solidFill>
            <a:srgbClr val="F4FAFB"/>
          </a:solidFill>
          <a:ln w="12700">
            <a:solidFill>
              <a:srgbClr val="D7E8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868680" y="2011680"/>
            <a:ext cx="2377440" cy="310896"/>
          </a:xfrm>
          <a:prstGeom prst="rect">
            <a:avLst/>
          </a:prstGeom>
          <a:solidFill>
            <a:srgbClr val="2C7A4B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PAPIERS À FOURNIR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8680" y="2551176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161288" y="2468880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Photo-signature numérique : le code à 22 chiffres (photographe ou cabine agréée)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3026664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161288" y="2944368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Justificatif de domicile de moins de 6 mois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3502152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61288" y="3419856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pièce d'identité (carte ou passeport)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3977640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61288" y="3895344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cas de perte ou vol : la déclaration + un timbre fiscal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4453128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161288" y="4370832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un permis étranger : le permis d'origine (et sa traduction si besoin)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80760" y="1783080"/>
            <a:ext cx="5577840" cy="4526280"/>
          </a:xfrm>
          <a:prstGeom prst="roundRect">
            <a:avLst>
              <a:gd name="adj" fmla="val 202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6400800" y="2011680"/>
            <a:ext cx="2377440" cy="310896"/>
          </a:xfrm>
          <a:prstGeom prst="rect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CLIQUER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0" y="2514600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903720" y="24688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mon espace, je clique sur l'encadré « Permis de conduire »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0" y="3081528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03720" y="3035808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choisis le motif (perdu, volé, abîmé, fin de validité…)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0" y="3648456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03720" y="3602736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remplis les informations demandées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0" y="4215384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03720" y="4169664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dépose mes justificatifs (bouton « Ajouter un fichier »)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0" y="4782312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03720" y="4736592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valide : je reçois un numéro de suivi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0" y="539496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BD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nouveau permis arrive ensuite par courrier, directement chez vous.</a:t>
            </a:r>
            <a:endParaRPr lang="en-US" sz="1100" dirty="0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7A5C911C-084E-4215-71E0-961D9F745AE4}"/>
              </a:ext>
            </a:extLst>
          </p:cNvPr>
          <p:cNvSpPr txBox="1"/>
          <p:nvPr/>
        </p:nvSpPr>
        <p:spPr>
          <a:xfrm>
            <a:off x="0" y="657860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02A4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Mon permis après l'examen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704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B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J'ai réussi — je commande mon vrai permis (fabrication)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212080" cy="4526280"/>
          </a:xfrm>
          <a:prstGeom prst="roundRect">
            <a:avLst>
              <a:gd name="adj" fmla="val 2020"/>
            </a:avLst>
          </a:prstGeom>
          <a:solidFill>
            <a:srgbClr val="F4FAFB"/>
          </a:solidFill>
          <a:ln w="12700">
            <a:solidFill>
              <a:srgbClr val="D7E8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868680" y="2011680"/>
            <a:ext cx="2377440" cy="310896"/>
          </a:xfrm>
          <a:prstGeom prst="rect">
            <a:avLst/>
          </a:prstGeom>
          <a:solidFill>
            <a:srgbClr val="2C7A4B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PAPIERS À FOURNIR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8680" y="2551176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161288" y="2468880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numéro NEPH (donné par l'auto-école, ou obtenu en candidat libre)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3026664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161288" y="2944368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Photo-signature numérique : le code à 22 chiffres (cabine agréée)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3502152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61288" y="3419856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justificatif de domicile de moins de 6 mois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3977640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61288" y="3895344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pièce d'identité en cours de validité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1783080"/>
            <a:ext cx="5577840" cy="4526280"/>
          </a:xfrm>
          <a:prstGeom prst="roundRect">
            <a:avLst>
              <a:gd name="adj" fmla="val 202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400800" y="2011680"/>
            <a:ext cx="2377440" cy="310896"/>
          </a:xfrm>
          <a:prstGeom prst="rect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CLIQUER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2514600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903720" y="24688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vais sur permisdeconduire.ants.gouv.fr et je me connecte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0" y="3081528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903720" y="3035808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clique sur « Nouvelle demande »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0" y="3648456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03720" y="3602736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choisis « Fabrication d'un permis suite à un examen réussi »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0" y="4215384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03720" y="4169664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saisis mon numéro NEPH et je remplis mes informations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0" y="4782312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03720" y="4736592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dépose mes justificatifs, puis je valide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0" y="539496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BD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Souvent, l'auto-école lance cette demande pour vous dans les 48 h. Le permis arrive ensuite par courrier suivi.</a:t>
            </a:r>
            <a:endParaRPr lang="en-US" sz="110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DD8E530-1E23-FA05-C252-9A692B5E252C}"/>
              </a:ext>
            </a:extLst>
          </p:cNvPr>
          <p:cNvSpPr txBox="1"/>
          <p:nvPr/>
        </p:nvSpPr>
        <p:spPr>
          <a:xfrm>
            <a:off x="0" y="657860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02A4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Carte grise (immatriculation)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704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B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Acheter, vendre ou changer d'adresse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212080" cy="4526280"/>
          </a:xfrm>
          <a:prstGeom prst="roundRect">
            <a:avLst>
              <a:gd name="adj" fmla="val 2020"/>
            </a:avLst>
          </a:prstGeom>
          <a:solidFill>
            <a:srgbClr val="F4FAFB"/>
          </a:solidFill>
          <a:ln w="12700">
            <a:solidFill>
              <a:srgbClr val="D7E8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868680" y="2011680"/>
            <a:ext cx="2377440" cy="310896"/>
          </a:xfrm>
          <a:prstGeom prst="rect">
            <a:avLst/>
          </a:prstGeom>
          <a:solidFill>
            <a:srgbClr val="2C7A4B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PAPIERS À FOURNIR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8680" y="2551176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161288" y="2468880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L'ancienne carte grise (barrée et signée par le vendeur si achat)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3026664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161288" y="2944368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certificat de cession signé (le papier de vente)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3502152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61288" y="3419856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contrôle technique de moins de 6 mois (voiture de + de 4 ans)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3977640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61288" y="3895344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justificatif de domicile de moins de 6 mois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4453128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161288" y="4370832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permis de conduire et une attestation d'assurance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80" y="4928616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161288" y="4846320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carte bancaire pour payer la taxe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080760" y="1783080"/>
            <a:ext cx="5577840" cy="4526280"/>
          </a:xfrm>
          <a:prstGeom prst="roundRect">
            <a:avLst>
              <a:gd name="adj" fmla="val 202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6400800" y="2011680"/>
            <a:ext cx="2377440" cy="310896"/>
          </a:xfrm>
          <a:prstGeom prst="rect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CLIQUER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0" y="2514600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03720" y="24688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vais sur immatriculation.ants.gouv.fr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0" y="3081528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03720" y="3035808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clique sur l'encadré « Certificat d'immatriculation »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0" y="3648456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03720" y="3602736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choisis ma situation (j'achète, je vends, je change d'adresse…)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0" y="4215384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03720" y="4169664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remplis et je dépose mes justificatifs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0" y="4782312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03720" y="4736592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paie par carte bancaire, puis je valide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00800" y="539496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BD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recevez aussitôt un certificat provisoire (CPI) pour rouler en attendant la vraie carte.</a:t>
            </a:r>
            <a:endParaRPr lang="en-US" sz="1100" dirty="0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955A947-7DCE-7AAF-6A78-B62C80F1EB9D}"/>
              </a:ext>
            </a:extLst>
          </p:cNvPr>
          <p:cNvSpPr txBox="1"/>
          <p:nvPr/>
        </p:nvSpPr>
        <p:spPr>
          <a:xfrm>
            <a:off x="0" y="657860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02A4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Vendre ou donner son véhicule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704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B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déclaration de cession — c'est gratuit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212080" cy="4526280"/>
          </a:xfrm>
          <a:prstGeom prst="roundRect">
            <a:avLst>
              <a:gd name="adj" fmla="val 2020"/>
            </a:avLst>
          </a:prstGeom>
          <a:solidFill>
            <a:srgbClr val="F4FAFB"/>
          </a:solidFill>
          <a:ln w="12700">
            <a:solidFill>
              <a:srgbClr val="D7E8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868680" y="2011680"/>
            <a:ext cx="2377440" cy="310896"/>
          </a:xfrm>
          <a:prstGeom prst="rect">
            <a:avLst/>
          </a:prstGeom>
          <a:solidFill>
            <a:srgbClr val="2C7A4B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PAPIERS À FOURNIR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8680" y="2551176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161288" y="2468880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carte grise du véhicule (j'ai son numéro et son code confidentiel)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3026664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161288" y="2944368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certificat de cession rempli et signé par le vendeur et l'acheteur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3502152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61288" y="3419856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certificat de situation administrative (non-gage) récent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3977640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61288" y="3895344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coordonnées de l'acheteur (nom, adresse)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1783080"/>
            <a:ext cx="5577840" cy="4526280"/>
          </a:xfrm>
          <a:prstGeom prst="roundRect">
            <a:avLst>
              <a:gd name="adj" fmla="val 202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400800" y="2011680"/>
            <a:ext cx="2377440" cy="310896"/>
          </a:xfrm>
          <a:prstGeom prst="rect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CLIQUER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2514600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903720" y="24688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vais sur immatriculation.ants.gouv.fr et je me connecte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0" y="3081528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903720" y="3035808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clique sur « Vendre ou donner mon véhicule »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0" y="3648456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03720" y="3602736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remplis les informations du véhicule et de l'acheteur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0" y="4215384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03720" y="4169664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valide : un code de cession s'affiche, je le note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0" y="4782312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03720" y="4736592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donne ce code et le certificat à l'acheteur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0" y="539496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BD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non-gage s'obtient gratuitement sur le même site. L'acheteur utilise le code de cession pour faire sa propre carte grise.</a:t>
            </a:r>
            <a:endParaRPr lang="en-US" sz="110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A5B381AF-7AB0-2BD5-1919-9EC308F00E37}"/>
              </a:ext>
            </a:extLst>
          </p:cNvPr>
          <p:cNvSpPr txBox="1"/>
          <p:nvPr/>
        </p:nvSpPr>
        <p:spPr>
          <a:xfrm>
            <a:off x="0" y="657860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2377440" cy="310896"/>
          </a:xfrm>
          <a:prstGeom prst="rect">
            <a:avLst/>
          </a:prstGeom>
          <a:solidFill>
            <a:srgbClr val="1B6E7A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02A4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Suivre sa demande &amp; se faire aider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B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ne reste jamais bloqué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577840" cy="4206240"/>
          </a:xfrm>
          <a:prstGeom prst="roundRect">
            <a:avLst>
              <a:gd name="adj" fmla="val 217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2377440" cy="310896"/>
          </a:xfrm>
          <a:prstGeom prst="rect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SUIVRE OÙ J'EN SUIS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71600" y="274320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retourne sur ants.gouv.fr et je me connecte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429000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338328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vais dans « Mes demandes » / « Suivre ma demande 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" y="4069080"/>
            <a:ext cx="384048" cy="384048"/>
          </a:xfrm>
          <a:prstGeom prst="ellipse">
            <a:avLst/>
          </a:prstGeom>
          <a:solidFill>
            <a:srgbClr val="2EC4D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71600" y="402336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vois l'état d'avancement (en cours, accepté, expédié…)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68680" y="475488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9BD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Astuce : si une pièce manque, on enregistre et on revient plus tard sans tout recommencer.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0" y="2057400"/>
            <a:ext cx="5257800" cy="4206240"/>
          </a:xfrm>
          <a:prstGeom prst="roundRect">
            <a:avLst>
              <a:gd name="adj" fmla="val 2174"/>
            </a:avLst>
          </a:prstGeom>
          <a:solidFill>
            <a:srgbClr val="F4FAFB"/>
          </a:solidFill>
          <a:ln w="12700">
            <a:solidFill>
              <a:srgbClr val="D7E8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720840" y="2286000"/>
            <a:ext cx="2377440" cy="310896"/>
          </a:xfrm>
          <a:prstGeom prst="rect">
            <a:avLst/>
          </a:prstGeom>
          <a:solidFill>
            <a:srgbClr val="2C7A4B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D'UN COUP DE MAIN ?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720840" y="2825496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013448" y="2743200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Maison France Services près de chez vous (accompagnement gratuit)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720840" y="3300984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013448" y="3218688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point numérique en préfecture ou sous-préfecture (ordinateur + scanner)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20840" y="3776472"/>
            <a:ext cx="182880" cy="18288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013448" y="3694176"/>
            <a:ext cx="4352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médiateur numérique Yggdrasil pendant l'atelier</a:t>
            </a:r>
            <a:endParaRPr lang="en-US" sz="1200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F9E6161D-A371-CA78-A5DC-71FE2022B750}"/>
              </a:ext>
            </a:extLst>
          </p:cNvPr>
          <p:cNvSpPr txBox="1"/>
          <p:nvPr/>
        </p:nvSpPr>
        <p:spPr>
          <a:xfrm>
            <a:off x="0" y="657860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E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777240"/>
            <a:ext cx="1828800" cy="1828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83464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Vous savez maintenant faire seul !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1371600" y="384048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FE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Gardez ce mémo près de l'ordinateur et avancez écran par écran.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1371600" y="429768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FE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Prenez votre temps : rien n'est définitif tant que vous n'avez pas cliqué sur « Valider ».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371600" y="5394960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2E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ants.gouv.fr  ·  Atelier Médiation Numérique Yggdrasil</a:t>
            </a:r>
            <a:endParaRPr lang="en-US" sz="130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F2D3FA1-202E-D76C-36CC-523E3FBCB8D1}"/>
              </a:ext>
            </a:extLst>
          </p:cNvPr>
          <p:cNvSpPr txBox="1"/>
          <p:nvPr/>
        </p:nvSpPr>
        <p:spPr>
          <a:xfrm>
            <a:off x="0" y="657860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1526</Words>
  <Application>Microsoft Office PowerPoint</Application>
  <PresentationFormat>Grand écran</PresentationFormat>
  <Paragraphs>198</Paragraphs>
  <Slides>11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Century Schoolbook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titi 23</cp:lastModifiedBy>
  <cp:revision>2</cp:revision>
  <dcterms:created xsi:type="dcterms:W3CDTF">2026-06-22T07:10:14Z</dcterms:created>
  <dcterms:modified xsi:type="dcterms:W3CDTF">2026-09-08T11:32:55Z</dcterms:modified>
</cp:coreProperties>
</file>