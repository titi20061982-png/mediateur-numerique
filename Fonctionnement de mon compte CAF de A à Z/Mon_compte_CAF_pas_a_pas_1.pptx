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79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4.xml"/><Relationship Id="rId3" Type="http://schemas.openxmlformats.org/officeDocument/2006/relationships/image" Target="../media/image1.png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6.xml"/><Relationship Id="rId10" Type="http://schemas.openxmlformats.org/officeDocument/2006/relationships/slide" Target="slide10.xml"/><Relationship Id="rId4" Type="http://schemas.openxmlformats.org/officeDocument/2006/relationships/slide" Target="slide3.xml"/><Relationship Id="rId9" Type="http://schemas.openxmlformats.org/officeDocument/2006/relationships/slide" Target="slide9.xml"/><Relationship Id="rId1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slide" Target="slide6.xml"/><Relationship Id="rId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slide" Target="slide7.xml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0" Type="http://schemas.openxmlformats.org/officeDocument/2006/relationships/slide" Target="slide8.xml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slide" Target="slide7.xml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slide" Target="slide2.xml"/><Relationship Id="rId5" Type="http://schemas.openxmlformats.org/officeDocument/2006/relationships/image" Target="../media/image19.png"/><Relationship Id="rId15" Type="http://schemas.openxmlformats.org/officeDocument/2006/relationships/slide" Target="slide9.xml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slide" Target="slid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slide" Target="slide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slide" Target="slide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10" Type="http://schemas.openxmlformats.org/officeDocument/2006/relationships/image" Target="../media/image9.png"/><Relationship Id="rId4" Type="http://schemas.openxmlformats.org/officeDocument/2006/relationships/image" Target="../media/image23.png"/><Relationship Id="rId9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slide" Target="slide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slide" Target="slide12.xml"/><Relationship Id="rId4" Type="http://schemas.openxmlformats.org/officeDocument/2006/relationships/image" Target="../media/image24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slide" Target="slide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10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slide" Target="slide1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8.png"/><Relationship Id="rId5" Type="http://schemas.openxmlformats.org/officeDocument/2006/relationships/image" Target="../media/image26.png"/><Relationship Id="rId10" Type="http://schemas.openxmlformats.org/officeDocument/2006/relationships/slide" Target="slide14.xml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slide" Target="slide17.xml"/><Relationship Id="rId5" Type="http://schemas.openxmlformats.org/officeDocument/2006/relationships/image" Target="../media/image17.png"/><Relationship Id="rId10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slide" Target="slide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8.png"/><Relationship Id="rId5" Type="http://schemas.openxmlformats.org/officeDocument/2006/relationships/image" Target="../media/image30.png"/><Relationship Id="rId10" Type="http://schemas.openxmlformats.org/officeDocument/2006/relationships/slide" Target="slide16.xml"/><Relationship Id="rId4" Type="http://schemas.openxmlformats.org/officeDocument/2006/relationships/image" Target="../media/image29.png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15305A"/>
            </a:gs>
            <a:gs pos="55000">
              <a:srgbClr val="1A3D6D"/>
            </a:gs>
            <a:gs pos="100000">
              <a:srgbClr val="1F4A8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ogo Chip"/>
          <p:cNvSpPr/>
          <p:nvPr/>
        </p:nvSpPr>
        <p:spPr>
          <a:xfrm>
            <a:off x="498640" y="407200"/>
            <a:ext cx="1105840" cy="1105840"/>
          </a:xfrm>
          <a:prstGeom prst="roundRect">
            <a:avLst>
              <a:gd name="adj" fmla="val 14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2" name="Eyebrow Marker"/>
          <p:cNvSpPr/>
          <p:nvPr/>
        </p:nvSpPr>
        <p:spPr>
          <a:xfrm>
            <a:off x="618640" y="1655000"/>
            <a:ext cx="40000" cy="26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3" name="Spine Rule"/>
          <p:cNvSpPr/>
          <p:nvPr/>
        </p:nvSpPr>
        <p:spPr>
          <a:xfrm>
            <a:off x="460000" y="1650000"/>
            <a:ext cx="12000" cy="332432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4" name="Glow Blob"/>
          <p:cNvSpPr/>
          <p:nvPr/>
        </p:nvSpPr>
        <p:spPr>
          <a:xfrm>
            <a:off x="5925000" y="575000"/>
            <a:ext cx="2600000" cy="4200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109" name="Doc Group"/>
          <p:cNvGrpSpPr/>
          <p:nvPr/>
        </p:nvGrpSpPr>
        <p:grpSpPr>
          <a:xfrm rot="-480000">
            <a:off x="5700000" y="520000"/>
            <a:ext cx="950000" cy="1200000"/>
            <a:chOff x="0" y="0"/>
            <a:chExt cx="950000" cy="1200000"/>
          </a:xfrm>
        </p:grpSpPr>
        <p:sp>
          <p:nvSpPr>
            <p:cNvPr id="105" name="Doc BG"/>
            <p:cNvSpPr/>
            <p:nvPr/>
          </p:nvSpPr>
          <p:spPr>
            <a:xfrm>
              <a:off x="0" y="0"/>
              <a:ext cx="950000" cy="1200000"/>
            </a:xfrm>
            <a:prstGeom prst="foldedCorner">
              <a:avLst/>
            </a:prstGeom>
            <a:solidFill>
              <a:srgbClr val="FFFFFF">
                <a:alpha val="12000"/>
              </a:srgbClr>
            </a:solidFill>
            <a:ln w="9525">
              <a:solidFill>
                <a:srgbClr val="FFFFFF">
                  <a:alpha val="25000"/>
                </a:srgbClr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Doc Line1"/>
            <p:cNvSpPr/>
            <p:nvPr/>
          </p:nvSpPr>
          <p:spPr>
            <a:xfrm>
              <a:off x="150000" y="220000"/>
              <a:ext cx="650000" cy="600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Doc Line2"/>
            <p:cNvSpPr/>
            <p:nvPr/>
          </p:nvSpPr>
          <p:spPr>
            <a:xfrm>
              <a:off x="150000" y="380000"/>
              <a:ext cx="650000" cy="60000"/>
            </a:xfrm>
            <a:prstGeom prst="rect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Doc Line3"/>
            <p:cNvSpPr/>
            <p:nvPr/>
          </p:nvSpPr>
          <p:spPr>
            <a:xfrm>
              <a:off x="150000" y="540000"/>
              <a:ext cx="450000" cy="60000"/>
            </a:xfrm>
            <a:prstGeom prst="rect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0" name="Phone Body"/>
          <p:cNvSpPr/>
          <p:nvPr/>
        </p:nvSpPr>
        <p:spPr>
          <a:xfrm>
            <a:off x="6150000" y="750000"/>
            <a:ext cx="2150000" cy="3850000"/>
          </a:xfrm>
          <a:prstGeom prst="roundRect">
            <a:avLst>
              <a:gd name="adj" fmla="val 10000"/>
            </a:avLst>
          </a:prstGeom>
          <a:solidFill>
            <a:srgbClr val="102B4E"/>
          </a:solidFill>
          <a:ln w="9525">
            <a:solidFill>
              <a:srgbClr val="FFFFFF">
                <a:alpha val="25000"/>
              </a:srgbClr>
            </a:solidFill>
          </a:ln>
          <a:effectLst>
            <a:outerShdw blurRad="180000" dist="55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1" name="Phone Notch"/>
          <p:cNvSpPr/>
          <p:nvPr/>
        </p:nvSpPr>
        <p:spPr>
          <a:xfrm>
            <a:off x="7125000" y="800000"/>
            <a:ext cx="200000" cy="35000"/>
          </a:xfrm>
          <a:prstGeom prst="roundRect">
            <a:avLst>
              <a:gd name="adj" fmla="val 50000"/>
            </a:avLst>
          </a:prstGeom>
          <a:solidFill>
            <a:srgbClr val="0A1E3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2" name="Home Indicator"/>
          <p:cNvSpPr/>
          <p:nvPr/>
        </p:nvSpPr>
        <p:spPr>
          <a:xfrm>
            <a:off x="6950000" y="4460000"/>
            <a:ext cx="550000" cy="35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3" name="Phone Screen"/>
          <p:cNvSpPr/>
          <p:nvPr/>
        </p:nvSpPr>
        <p:spPr>
          <a:xfrm>
            <a:off x="6255000" y="900000"/>
            <a:ext cx="1940000" cy="33500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4" name="Phone Header"/>
          <p:cNvSpPr/>
          <p:nvPr/>
        </p:nvSpPr>
        <p:spPr>
          <a:xfrm>
            <a:off x="6255000" y="900000"/>
            <a:ext cx="1940000" cy="3000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1000" b="1" dirty="0">
                <a:solidFill>
                  <a:srgbClr val="FFFFFF"/>
                </a:solidFill>
                <a:latin typeface="Calibri"/>
              </a:rPr>
              <a:t>Mon compte</a:t>
            </a:r>
          </a:p>
        </p:txBody>
      </p:sp>
      <p:sp>
        <p:nvSpPr>
          <p:cNvPr id="115" name="Avatar"/>
          <p:cNvSpPr/>
          <p:nvPr/>
        </p:nvSpPr>
        <p:spPr>
          <a:xfrm>
            <a:off x="6320000" y="1300000"/>
            <a:ext cx="230000" cy="230000"/>
          </a:xfrm>
          <a:prstGeom prst="roundRect">
            <a:avLst>
              <a:gd name="adj" fmla="val 20000"/>
            </a:avLst>
          </a:prstGeom>
          <a:solidFill>
            <a:srgbClr val="21548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6" name="Name Line"/>
          <p:cNvSpPr/>
          <p:nvPr/>
        </p:nvSpPr>
        <p:spPr>
          <a:xfrm>
            <a:off x="6600000" y="1320000"/>
            <a:ext cx="1050000" cy="70000"/>
          </a:xfrm>
          <a:prstGeom prst="roundRect">
            <a:avLst>
              <a:gd name="adj" fmla="val 50000"/>
            </a:avLst>
          </a:prstGeom>
          <a:solidFill>
            <a:srgbClr val="21548A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7" name="Sub Line"/>
          <p:cNvSpPr/>
          <p:nvPr/>
        </p:nvSpPr>
        <p:spPr>
          <a:xfrm>
            <a:off x="6600000" y="1420000"/>
            <a:ext cx="750000" cy="55000"/>
          </a:xfrm>
          <a:prstGeom prst="roundRect">
            <a:avLst>
              <a:gd name="adj" fmla="val 50000"/>
            </a:avLst>
          </a:prstGeom>
          <a:solidFill>
            <a:srgbClr val="8FA6BE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8" name="Row BG"/>
          <p:cNvSpPr/>
          <p:nvPr/>
        </p:nvSpPr>
        <p:spPr>
          <a:xfrm>
            <a:off x="6320000" y="1650000"/>
            <a:ext cx="1810000" cy="2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9D6E5">
                <a:alpha val="6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9" name="Row Icon"/>
          <p:cNvSpPr/>
          <p:nvPr/>
        </p:nvSpPr>
        <p:spPr>
          <a:xfrm>
            <a:off x="6370000" y="1705000"/>
            <a:ext cx="170000" cy="17000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0" name="Row Text"/>
          <p:cNvSpPr/>
          <p:nvPr/>
        </p:nvSpPr>
        <p:spPr>
          <a:xfrm>
            <a:off x="6600000" y="1760000"/>
            <a:ext cx="1350000" cy="60000"/>
          </a:xfrm>
          <a:prstGeom prst="roundRect">
            <a:avLst>
              <a:gd name="adj" fmla="val 50000"/>
            </a:avLst>
          </a:prstGeom>
          <a:solidFill>
            <a:srgbClr val="21548A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1" name="Row BG"/>
          <p:cNvSpPr/>
          <p:nvPr/>
        </p:nvSpPr>
        <p:spPr>
          <a:xfrm>
            <a:off x="6320000" y="2000000"/>
            <a:ext cx="1810000" cy="2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9D6E5">
                <a:alpha val="6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2" name="Row Icon"/>
          <p:cNvSpPr/>
          <p:nvPr/>
        </p:nvSpPr>
        <p:spPr>
          <a:xfrm>
            <a:off x="6370000" y="2055000"/>
            <a:ext cx="170000" cy="17000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3" name="Row Text"/>
          <p:cNvSpPr/>
          <p:nvPr/>
        </p:nvSpPr>
        <p:spPr>
          <a:xfrm>
            <a:off x="6600000" y="2110000"/>
            <a:ext cx="1350000" cy="60000"/>
          </a:xfrm>
          <a:prstGeom prst="roundRect">
            <a:avLst>
              <a:gd name="adj" fmla="val 50000"/>
            </a:avLst>
          </a:prstGeom>
          <a:solidFill>
            <a:srgbClr val="21548A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4" name="Row BG"/>
          <p:cNvSpPr/>
          <p:nvPr/>
        </p:nvSpPr>
        <p:spPr>
          <a:xfrm>
            <a:off x="6320000" y="2350000"/>
            <a:ext cx="1810000" cy="2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9D6E5">
                <a:alpha val="6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5" name="Row Icon"/>
          <p:cNvSpPr/>
          <p:nvPr/>
        </p:nvSpPr>
        <p:spPr>
          <a:xfrm>
            <a:off x="6370000" y="2405000"/>
            <a:ext cx="170000" cy="17000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6" name="Row Text"/>
          <p:cNvSpPr/>
          <p:nvPr/>
        </p:nvSpPr>
        <p:spPr>
          <a:xfrm>
            <a:off x="6600000" y="2460000"/>
            <a:ext cx="1350000" cy="60000"/>
          </a:xfrm>
          <a:prstGeom prst="roundRect">
            <a:avLst>
              <a:gd name="adj" fmla="val 50000"/>
            </a:avLst>
          </a:prstGeom>
          <a:solidFill>
            <a:srgbClr val="21548A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7" name="Check Badge"/>
          <p:cNvSpPr/>
          <p:nvPr/>
        </p:nvSpPr>
        <p:spPr>
          <a:xfrm>
            <a:off x="6975000" y="3020000"/>
            <a:ext cx="500000" cy="500000"/>
          </a:xfrm>
          <a:prstGeom prst="roundRect">
            <a:avLst>
              <a:gd name="adj" fmla="val 30000"/>
            </a:avLst>
          </a:prstGeom>
          <a:solidFill>
            <a:srgbClr val="02C39A"/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180000" dist="55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2400" b="1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8" name="Check Caption"/>
          <p:cNvSpPr/>
          <p:nvPr/>
        </p:nvSpPr>
        <p:spPr>
          <a:xfrm>
            <a:off x="6320000" y="3600000"/>
            <a:ext cx="181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900" b="0" dirty="0">
                <a:solidFill>
                  <a:srgbClr val="21548A"/>
                </a:solidFill>
                <a:latin typeface="Calibri"/>
              </a:rPr>
              <a:t>Connecté en 2 minutes</a:t>
            </a:r>
          </a:p>
        </p:txBody>
      </p:sp>
      <p:sp>
        <p:nvSpPr>
          <p:cNvPr id="129" name="Tap Cue"/>
          <p:cNvSpPr/>
          <p:nvPr/>
        </p:nvSpPr>
        <p:spPr>
          <a:xfrm rot="13500000">
            <a:off x="8180000" y="2010000"/>
            <a:ext cx="150000" cy="150000"/>
          </a:xfrm>
          <a:prstGeom prst="triangl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0" name="Steps Pill"/>
          <p:cNvSpPr/>
          <p:nvPr/>
        </p:nvSpPr>
        <p:spPr>
          <a:xfrm>
            <a:off x="5900000" y="480000"/>
            <a:ext cx="1620000" cy="430000"/>
          </a:xfrm>
          <a:prstGeom prst="roundRect">
            <a:avLst>
              <a:gd name="adj" fmla="val 50000"/>
            </a:avLst>
          </a:prstGeom>
          <a:solidFill>
            <a:srgbClr val="0F2A4D">
              <a:alpha val="88000"/>
            </a:srgbClr>
          </a:solidFill>
          <a:ln w="9525">
            <a:solidFill>
              <a:srgbClr val="02C39A">
                <a:alpha val="55000"/>
              </a:srgbClr>
            </a:solidFill>
          </a:ln>
          <a:effectLst>
            <a:outerShdw blurRad="180000" dist="55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fr-FR" sz="950" b="1" dirty="0">
                <a:solidFill>
                  <a:srgbClr val="FFFFFF"/>
                </a:solidFill>
                <a:latin typeface="Calibri"/>
              </a:rPr>
              <a:t>12 démarches</a:t>
            </a:r>
          </a:p>
          <a:p>
            <a:pPr algn="ctr">
              <a:buNone/>
            </a:pPr>
            <a:r>
              <a:rPr lang="fr-FR" sz="750" b="0" dirty="0">
                <a:solidFill>
                  <a:srgbClr val="C9D6E5"/>
                </a:solidFill>
                <a:latin typeface="Calibri"/>
              </a:rPr>
              <a:t>expliquées pas à pas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6928" y="1650000"/>
            <a:ext cx="5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NUMÉRIQUE · PAS À PAS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18640" y="1950000"/>
            <a:ext cx="520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compte CAF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36928" y="2760000"/>
            <a:ext cx="520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 à Z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5216" y="3480000"/>
            <a:ext cx="4600000" cy="10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bien débuter : chaque démarche est expliquée clic par clic, avec le nom exact des boutons. Se connecter, suivre ses paiements, télécharger une attestation, déclarer, envoyer un document…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5216" y="4700000"/>
            <a:ext cx="42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1089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 L'ATELIER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" y="5120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Cliquez sur un thème pour y accéder</a:t>
            </a:r>
            <a:endParaRPr lang="en-US" sz="23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>
            <a:hlinkClick r:id="rId4" action="ppaction://hlinksldjump"/>
          </p:cNvPr>
          <p:cNvSpPr/>
          <p:nvPr/>
        </p:nvSpPr>
        <p:spPr>
          <a:xfrm>
            <a:off x="621792" y="14630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>
            <a:hlinkClick r:id="rId4" action="ppaction://hlinksldjump"/>
          </p:cNvPr>
          <p:cNvSpPr/>
          <p:nvPr/>
        </p:nvSpPr>
        <p:spPr>
          <a:xfrm>
            <a:off x="62179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8" name="Text 5">
            <a:hlinkClick r:id="rId4" action="ppaction://hlinksldjump"/>
          </p:cNvPr>
          <p:cNvSpPr/>
          <p:nvPr/>
        </p:nvSpPr>
        <p:spPr>
          <a:xfrm>
            <a:off x="100584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À quoi ça sert ?</a:t>
            </a:r>
            <a:endParaRPr lang="en-US" sz="1350" dirty="0"/>
          </a:p>
        </p:txBody>
      </p:sp>
      <p:sp>
        <p:nvSpPr>
          <p:cNvPr id="9" name="Shape 6">
            <a:hlinkClick r:id="rId5" action="ppaction://hlinksldjump"/>
          </p:cNvPr>
          <p:cNvSpPr/>
          <p:nvPr/>
        </p:nvSpPr>
        <p:spPr>
          <a:xfrm>
            <a:off x="4892040" y="1371600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>
            <a:hlinkClick r:id="rId5" action="ppaction://hlinksldjump"/>
          </p:cNvPr>
          <p:cNvSpPr/>
          <p:nvPr/>
        </p:nvSpPr>
        <p:spPr>
          <a:xfrm>
            <a:off x="5010912" y="14630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>
            <a:hlinkClick r:id="rId5" action="ppaction://hlinksldjump"/>
          </p:cNvPr>
          <p:cNvSpPr/>
          <p:nvPr/>
        </p:nvSpPr>
        <p:spPr>
          <a:xfrm>
            <a:off x="501091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12" name="Text 9">
            <a:hlinkClick r:id="rId5" action="ppaction://hlinksldjump"/>
          </p:cNvPr>
          <p:cNvSpPr/>
          <p:nvPr/>
        </p:nvSpPr>
        <p:spPr>
          <a:xfrm>
            <a:off x="539496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 accéder : site &amp; appli</a:t>
            </a:r>
            <a:endParaRPr lang="en-US" sz="1350" dirty="0"/>
          </a:p>
        </p:txBody>
      </p:sp>
      <p:sp>
        <p:nvSpPr>
          <p:cNvPr id="13" name="Shape 10">
            <a:hlinkClick r:id="rId6" action="ppaction://hlinksldjump"/>
          </p:cNvPr>
          <p:cNvSpPr/>
          <p:nvPr/>
        </p:nvSpPr>
        <p:spPr>
          <a:xfrm>
            <a:off x="502920" y="1879092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>
            <a:hlinkClick r:id="rId6" action="ppaction://hlinksldjump"/>
          </p:cNvPr>
          <p:cNvSpPr/>
          <p:nvPr/>
        </p:nvSpPr>
        <p:spPr>
          <a:xfrm>
            <a:off x="621792" y="1970532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>
            <a:hlinkClick r:id="rId6" action="ppaction://hlinksldjump"/>
          </p:cNvPr>
          <p:cNvSpPr/>
          <p:nvPr/>
        </p:nvSpPr>
        <p:spPr>
          <a:xfrm>
            <a:off x="621792" y="19705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16" name="Text 13">
            <a:hlinkClick r:id="rId6" action="ppaction://hlinksldjump"/>
          </p:cNvPr>
          <p:cNvSpPr/>
          <p:nvPr/>
        </p:nvSpPr>
        <p:spPr>
          <a:xfrm>
            <a:off x="1005840" y="18790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connecter</a:t>
            </a:r>
            <a:endParaRPr lang="en-US" sz="1350" dirty="0"/>
          </a:p>
        </p:txBody>
      </p:sp>
      <p:sp>
        <p:nvSpPr>
          <p:cNvPr id="17" name="Shape 14">
            <a:hlinkClick r:id="rId7" action="ppaction://hlinksldjump"/>
          </p:cNvPr>
          <p:cNvSpPr/>
          <p:nvPr/>
        </p:nvSpPr>
        <p:spPr>
          <a:xfrm>
            <a:off x="4892040" y="1879092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>
            <a:hlinkClick r:id="rId7" action="ppaction://hlinksldjump"/>
          </p:cNvPr>
          <p:cNvSpPr/>
          <p:nvPr/>
        </p:nvSpPr>
        <p:spPr>
          <a:xfrm>
            <a:off x="5010912" y="1970532"/>
            <a:ext cx="274320" cy="274320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>
            <a:hlinkClick r:id="rId7" action="ppaction://hlinksldjump"/>
          </p:cNvPr>
          <p:cNvSpPr/>
          <p:nvPr/>
        </p:nvSpPr>
        <p:spPr>
          <a:xfrm>
            <a:off x="5010912" y="19705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20" name="Text 17">
            <a:hlinkClick r:id="rId7" action="ppaction://hlinksldjump"/>
          </p:cNvPr>
          <p:cNvSpPr/>
          <p:nvPr/>
        </p:nvSpPr>
        <p:spPr>
          <a:xfrm>
            <a:off x="5394960" y="18790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Créer son compte</a:t>
            </a:r>
            <a:endParaRPr lang="en-US" sz="1350" dirty="0"/>
          </a:p>
        </p:txBody>
      </p:sp>
      <p:sp>
        <p:nvSpPr>
          <p:cNvPr id="21" name="Shape 18">
            <a:hlinkClick r:id="rId8" action="ppaction://hlinksldjump"/>
          </p:cNvPr>
          <p:cNvSpPr/>
          <p:nvPr/>
        </p:nvSpPr>
        <p:spPr>
          <a:xfrm>
            <a:off x="502920" y="2386584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>
            <a:hlinkClick r:id="rId8" action="ppaction://hlinksldjump"/>
          </p:cNvPr>
          <p:cNvSpPr/>
          <p:nvPr/>
        </p:nvSpPr>
        <p:spPr>
          <a:xfrm>
            <a:off x="621792" y="247802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8" action="ppaction://hlinksldjump"/>
          </p:cNvPr>
          <p:cNvSpPr/>
          <p:nvPr/>
        </p:nvSpPr>
        <p:spPr>
          <a:xfrm>
            <a:off x="621792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24" name="Text 21">
            <a:hlinkClick r:id="rId8" action="ppaction://hlinksldjump"/>
          </p:cNvPr>
          <p:cNvSpPr/>
          <p:nvPr/>
        </p:nvSpPr>
        <p:spPr>
          <a:xfrm>
            <a:off x="1005840" y="23865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repérer sur l'accueil</a:t>
            </a:r>
            <a:endParaRPr lang="en-US" sz="1350" dirty="0"/>
          </a:p>
        </p:txBody>
      </p:sp>
      <p:sp>
        <p:nvSpPr>
          <p:cNvPr id="25" name="Shape 22">
            <a:hlinkClick r:id="rId9" action="ppaction://hlinksldjump"/>
          </p:cNvPr>
          <p:cNvSpPr/>
          <p:nvPr/>
        </p:nvSpPr>
        <p:spPr>
          <a:xfrm>
            <a:off x="4892040" y="2386584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>
            <a:hlinkClick r:id="rId9" action="ppaction://hlinksldjump"/>
          </p:cNvPr>
          <p:cNvSpPr/>
          <p:nvPr/>
        </p:nvSpPr>
        <p:spPr>
          <a:xfrm>
            <a:off x="5010912" y="247802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9" action="ppaction://hlinksldjump"/>
          </p:cNvPr>
          <p:cNvSpPr/>
          <p:nvPr/>
        </p:nvSpPr>
        <p:spPr>
          <a:xfrm>
            <a:off x="5010912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28" name="Text 25">
            <a:hlinkClick r:id="rId9" action="ppaction://hlinksldjump"/>
          </p:cNvPr>
          <p:cNvSpPr/>
          <p:nvPr/>
        </p:nvSpPr>
        <p:spPr>
          <a:xfrm>
            <a:off x="5394960" y="23865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Suivre mes paiements</a:t>
            </a:r>
            <a:endParaRPr lang="en-US" sz="1350" dirty="0"/>
          </a:p>
        </p:txBody>
      </p:sp>
      <p:sp>
        <p:nvSpPr>
          <p:cNvPr id="29" name="Shape 26">
            <a:hlinkClick r:id="rId10" action="ppaction://hlinksldjump"/>
          </p:cNvPr>
          <p:cNvSpPr/>
          <p:nvPr/>
        </p:nvSpPr>
        <p:spPr>
          <a:xfrm>
            <a:off x="502920" y="2894076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7">
            <a:hlinkClick r:id="rId10" action="ppaction://hlinksldjump"/>
          </p:cNvPr>
          <p:cNvSpPr/>
          <p:nvPr/>
        </p:nvSpPr>
        <p:spPr>
          <a:xfrm>
            <a:off x="621792" y="2985516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>
            <a:hlinkClick r:id="rId10" action="ppaction://hlinksldjump"/>
          </p:cNvPr>
          <p:cNvSpPr/>
          <p:nvPr/>
        </p:nvSpPr>
        <p:spPr>
          <a:xfrm>
            <a:off x="621792" y="29855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32" name="Text 29">
            <a:hlinkClick r:id="rId10" action="ppaction://hlinksldjump"/>
          </p:cNvPr>
          <p:cNvSpPr/>
          <p:nvPr/>
        </p:nvSpPr>
        <p:spPr>
          <a:xfrm>
            <a:off x="1005840" y="28940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Télécharger une attestation</a:t>
            </a:r>
            <a:endParaRPr lang="en-US" sz="1350" dirty="0"/>
          </a:p>
        </p:txBody>
      </p:sp>
      <p:sp>
        <p:nvSpPr>
          <p:cNvPr id="33" name="Shape 30">
            <a:hlinkClick r:id="rId11" action="ppaction://hlinksldjump"/>
          </p:cNvPr>
          <p:cNvSpPr/>
          <p:nvPr/>
        </p:nvSpPr>
        <p:spPr>
          <a:xfrm>
            <a:off x="4892040" y="2894076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1">
            <a:hlinkClick r:id="rId11" action="ppaction://hlinksldjump"/>
          </p:cNvPr>
          <p:cNvSpPr/>
          <p:nvPr/>
        </p:nvSpPr>
        <p:spPr>
          <a:xfrm>
            <a:off x="5010912" y="2985516"/>
            <a:ext cx="274320" cy="274320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2">
            <a:hlinkClick r:id="rId11" action="ppaction://hlinksldjump"/>
          </p:cNvPr>
          <p:cNvSpPr/>
          <p:nvPr/>
        </p:nvSpPr>
        <p:spPr>
          <a:xfrm>
            <a:off x="5010912" y="29855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  <p:sp>
        <p:nvSpPr>
          <p:cNvPr id="36" name="Text 33">
            <a:hlinkClick r:id="rId11" action="ppaction://hlinksldjump"/>
          </p:cNvPr>
          <p:cNvSpPr/>
          <p:nvPr/>
        </p:nvSpPr>
        <p:spPr>
          <a:xfrm>
            <a:off x="5394960" y="28940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Déclarer un changement</a:t>
            </a:r>
            <a:endParaRPr lang="en-US" sz="1350" dirty="0"/>
          </a:p>
        </p:txBody>
      </p:sp>
      <p:sp>
        <p:nvSpPr>
          <p:cNvPr id="37" name="Shape 34">
            <a:hlinkClick r:id="rId12" action="ppaction://hlinksldjump"/>
          </p:cNvPr>
          <p:cNvSpPr/>
          <p:nvPr/>
        </p:nvSpPr>
        <p:spPr>
          <a:xfrm>
            <a:off x="502920" y="3401568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5">
            <a:hlinkClick r:id="rId12" action="ppaction://hlinksldjump"/>
          </p:cNvPr>
          <p:cNvSpPr/>
          <p:nvPr/>
        </p:nvSpPr>
        <p:spPr>
          <a:xfrm>
            <a:off x="621792" y="349300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6">
            <a:hlinkClick r:id="rId12" action="ppaction://hlinksldjump"/>
          </p:cNvPr>
          <p:cNvSpPr/>
          <p:nvPr/>
        </p:nvSpPr>
        <p:spPr>
          <a:xfrm>
            <a:off x="62179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</a:t>
            </a:r>
            <a:endParaRPr lang="en-US" sz="1200" dirty="0"/>
          </a:p>
        </p:txBody>
      </p:sp>
      <p:sp>
        <p:nvSpPr>
          <p:cNvPr id="40" name="Text 37">
            <a:hlinkClick r:id="rId12" action="ppaction://hlinksldjump"/>
          </p:cNvPr>
          <p:cNvSpPr/>
          <p:nvPr/>
        </p:nvSpPr>
        <p:spPr>
          <a:xfrm>
            <a:off x="1005840" y="3401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 déclaration trimestrielle</a:t>
            </a:r>
            <a:endParaRPr lang="en-US" sz="1350" dirty="0"/>
          </a:p>
        </p:txBody>
      </p:sp>
      <p:sp>
        <p:nvSpPr>
          <p:cNvPr id="41" name="Shape 38">
            <a:hlinkClick r:id="rId13" action="ppaction://hlinksldjump"/>
          </p:cNvPr>
          <p:cNvSpPr/>
          <p:nvPr/>
        </p:nvSpPr>
        <p:spPr>
          <a:xfrm>
            <a:off x="4892040" y="3401568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39">
            <a:hlinkClick r:id="rId13" action="ppaction://hlinksldjump"/>
          </p:cNvPr>
          <p:cNvSpPr/>
          <p:nvPr/>
        </p:nvSpPr>
        <p:spPr>
          <a:xfrm>
            <a:off x="5010912" y="349300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hlinkClick r:id="rId13" action="ppaction://hlinksldjump"/>
          </p:cNvPr>
          <p:cNvSpPr/>
          <p:nvPr/>
        </p:nvSpPr>
        <p:spPr>
          <a:xfrm>
            <a:off x="501091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1200" dirty="0"/>
          </a:p>
        </p:txBody>
      </p:sp>
      <p:sp>
        <p:nvSpPr>
          <p:cNvPr id="44" name="Text 41">
            <a:hlinkClick r:id="rId13" action="ppaction://hlinksldjump"/>
          </p:cNvPr>
          <p:cNvSpPr/>
          <p:nvPr/>
        </p:nvSpPr>
        <p:spPr>
          <a:xfrm>
            <a:off x="5394960" y="3401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Envoyer un document</a:t>
            </a:r>
            <a:endParaRPr lang="en-US" sz="1350" dirty="0"/>
          </a:p>
        </p:txBody>
      </p:sp>
      <p:sp>
        <p:nvSpPr>
          <p:cNvPr id="45" name="Shape 42">
            <a:hlinkClick r:id="rId14" action="ppaction://hlinksldjump"/>
          </p:cNvPr>
          <p:cNvSpPr/>
          <p:nvPr/>
        </p:nvSpPr>
        <p:spPr>
          <a:xfrm>
            <a:off x="502920" y="3909060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3">
            <a:hlinkClick r:id="rId14" action="ppaction://hlinksldjump"/>
          </p:cNvPr>
          <p:cNvSpPr/>
          <p:nvPr/>
        </p:nvSpPr>
        <p:spPr>
          <a:xfrm>
            <a:off x="621792" y="4000500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4">
            <a:hlinkClick r:id="rId14" action="ppaction://hlinksldjump"/>
          </p:cNvPr>
          <p:cNvSpPr/>
          <p:nvPr/>
        </p:nvSpPr>
        <p:spPr>
          <a:xfrm>
            <a:off x="621792" y="4000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1200" dirty="0"/>
          </a:p>
        </p:txBody>
      </p:sp>
      <p:sp>
        <p:nvSpPr>
          <p:cNvPr id="48" name="Text 45">
            <a:hlinkClick r:id="rId14" action="ppaction://hlinksldjump"/>
          </p:cNvPr>
          <p:cNvSpPr/>
          <p:nvPr/>
        </p:nvSpPr>
        <p:spPr>
          <a:xfrm>
            <a:off x="1005840" y="39090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Écrire à la CAF</a:t>
            </a:r>
            <a:endParaRPr lang="en-US" sz="1350" dirty="0"/>
          </a:p>
        </p:txBody>
      </p:sp>
      <p:sp>
        <p:nvSpPr>
          <p:cNvPr id="49" name="Shape 46">
            <a:hlinkClick r:id="rId15" action="ppaction://hlinksldjump"/>
          </p:cNvPr>
          <p:cNvSpPr/>
          <p:nvPr/>
        </p:nvSpPr>
        <p:spPr>
          <a:xfrm>
            <a:off x="4892040" y="3909060"/>
            <a:ext cx="39319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7">
            <a:hlinkClick r:id="rId15" action="ppaction://hlinksldjump"/>
          </p:cNvPr>
          <p:cNvSpPr/>
          <p:nvPr/>
        </p:nvSpPr>
        <p:spPr>
          <a:xfrm>
            <a:off x="5010912" y="4000500"/>
            <a:ext cx="274320" cy="274320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8">
            <a:hlinkClick r:id="rId15" action="ppaction://hlinksldjump"/>
          </p:cNvPr>
          <p:cNvSpPr/>
          <p:nvPr/>
        </p:nvSpPr>
        <p:spPr>
          <a:xfrm>
            <a:off x="5010912" y="4000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1200" dirty="0"/>
          </a:p>
        </p:txBody>
      </p:sp>
      <p:sp>
        <p:nvSpPr>
          <p:cNvPr id="52" name="Text 49">
            <a:hlinkClick r:id="rId15" action="ppaction://hlinksldjump"/>
          </p:cNvPr>
          <p:cNvSpPr/>
          <p:nvPr/>
        </p:nvSpPr>
        <p:spPr>
          <a:xfrm>
            <a:off x="5394960" y="39090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Sécurité &amp; dépannage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en bas à droite de chaque diapo, les boutons ⊞ ◄ ► permettent de revenir au sommaire ou de naviguer.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CAF · 1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quoi sert mon compte CAF ?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98448"/>
            <a:ext cx="8183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Compte » est votre espace personnel et sécurisé, sur le site caf.fr et dans l'application mobile. Tout votre dossier se gère là, sans déplacement ni courrier.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02920" y="2057400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704088" y="225856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3957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240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mes droits et paiements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41732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CAF me verse : dates et montants.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754880" y="2057400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4956048" y="22585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239572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69280" y="2240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mes documents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669280" y="2532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Attestations, relevés… en PDF.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3264408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704088" y="3465576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360273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4472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ma situation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17320" y="37398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Déménagement, naissance, RIB, ressources…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754880" y="3264408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4956048" y="3465576"/>
            <a:ext cx="548640" cy="548640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208" y="360273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69280" y="34472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Échanger avec ma CAF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669280" y="37398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Messagerie, suivi et envoi de documents.</a:t>
            </a:r>
            <a:endParaRPr lang="en-US" sz="1150" dirty="0"/>
          </a:p>
        </p:txBody>
      </p:sp>
      <p:sp>
        <p:nvSpPr>
          <p:cNvPr id="28" name="Shape 20">
            <a:hlinkClick r:id="rId9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6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0" name="Shape 21">
            <a:hlinkClick r:id="rId9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7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2" name="Shape 22">
            <a:hlinkClick r:id="rId12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8" descr="preencoded.png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CAF · 1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principales aides gérées par la CAF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9844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votre situation, la CAF peut verser plusieurs aides. Toutes se suivent depuis le même compte.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828800"/>
            <a:ext cx="26791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685800" y="195681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au logement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85800" y="226771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APL, ALF, ALS : aider à payer un loyer ou un prêt.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3300984" y="1828800"/>
            <a:ext cx="26791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3483864" y="195681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83864" y="226771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personnes sans ou avec peu de ressources.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099048" y="1828800"/>
            <a:ext cx="26791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281928" y="195681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d'activité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281928" y="226771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 pour ceux qui travaillent avec un petit salaire.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02920" y="3044952"/>
            <a:ext cx="26791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85800" y="317296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 familiales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85800" y="348386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familles avec au moins deux enfants.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3300984" y="3044952"/>
            <a:ext cx="26791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3483864" y="317296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483864" y="348386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aux Adultes Handicapés.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099048" y="3044952"/>
            <a:ext cx="26791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6281928" y="317296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enfance (Paje)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281928" y="3483864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Naissance, allocation de base, garde d'enfant.</a:t>
            </a:r>
            <a:endParaRPr lang="en-US" sz="1080" dirty="0"/>
          </a:p>
        </p:txBody>
      </p:sp>
      <p:sp>
        <p:nvSpPr>
          <p:cNvPr id="26" name="Shape 22">
            <a:hlinkClick r:id="rId5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2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28" name="Shape 23">
            <a:hlinkClick r:id="rId7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3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0" name="Shape 24">
            <a:hlinkClick r:id="rId9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· 2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façons d'accéder à Mon Compte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371600"/>
            <a:ext cx="3931920" cy="3154680"/>
          </a:xfrm>
          <a:prstGeom prst="roundRect">
            <a:avLst>
              <a:gd name="adj" fmla="val 2899"/>
            </a:avLst>
          </a:prstGeom>
          <a:solidFill>
            <a:srgbClr val="E9F8F3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4"/>
          <p:cNvSpPr/>
          <p:nvPr/>
        </p:nvSpPr>
        <p:spPr>
          <a:xfrm>
            <a:off x="777240" y="162763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6479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16276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ordinateur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463040" y="1920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officiel : 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www.caf.fr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95528" y="2395728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navigateur (Chrome, Edge…)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www.caf.fr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Mon Compte » en haut à droite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plus grand : pratique pour imprimer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754880" y="1371600"/>
            <a:ext cx="3931920" cy="3154680"/>
          </a:xfrm>
          <a:prstGeom prst="roundRect">
            <a:avLst>
              <a:gd name="adj" fmla="val 2899"/>
            </a:avLst>
          </a:prstGeom>
          <a:solidFill>
            <a:srgbClr val="E8F1F5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5029200" y="16276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76479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15000" y="16276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smartphone / tablette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715000" y="1920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gratuite : 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Caf - Mon Compte »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047488" y="2395728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depuis Play Store / App Store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services que le site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en cas de message ou décision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 empreinte ou visage</a:t>
            </a:r>
            <a:endParaRPr lang="en-US" sz="1150" dirty="0"/>
          </a:p>
        </p:txBody>
      </p:sp>
      <p:sp>
        <p:nvSpPr>
          <p:cNvPr id="19" name="Shape 13">
            <a:hlinkClick r:id="rId7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21" name="Shape 14">
            <a:hlinkClick r:id="rId9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5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23" name="Shape 15">
            <a:hlinkClick r:id="rId11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6" descr="preencoded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A3D6D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 · 3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à Mon Compte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801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ordinateur, depuis le site www.caf.fr 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499616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49961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49961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navigateur et taper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www.caf.fr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la barre d'adresse.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1975104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19751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197510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haut à droite, cliquer sur le bouton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Compte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450592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450592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45059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son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Sécurité sociale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 chiffres, carte Vitale) ou son numéro d'allocataire.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2926080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6656" y="2926080"/>
            <a:ext cx="402336" cy="402336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6656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98448" y="29260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son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(il s'affiche en points).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2920" y="3401568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76656" y="340156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98448" y="340156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 connecter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02920" y="3931920"/>
            <a:ext cx="8183880" cy="530352"/>
          </a:xfrm>
          <a:prstGeom prst="roundRect">
            <a:avLst>
              <a:gd name="adj" fmla="val 15517"/>
            </a:avLst>
          </a:prstGeom>
          <a:solidFill>
            <a:srgbClr val="E9F8F3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667512" y="4005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10565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16152" y="39319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simple : cliquer sur le bouton bleu « FranceConnect » et se connecter avec ses identifiants des Impôts ou d'Ameli. Sur l'appli, on peut ensuite utiliser l'empreinte ou le visage.</a:t>
            </a:r>
            <a:endParaRPr lang="en-US" sz="1150" dirty="0"/>
          </a:p>
        </p:txBody>
      </p:sp>
      <p:sp>
        <p:nvSpPr>
          <p:cNvPr id="32" name="Shape 27">
            <a:hlinkClick r:id="rId6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3" descr="preencoded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4" name="Shape 28">
            <a:hlinkClick r:id="rId8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4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6" name="Shape 29">
            <a:hlinkClick r:id="rId10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5" descr="preencoded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 · 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son compte (nouvel allocataire)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801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encore de compte ? La création se fait sur www.caf.fr en moins de 10 minutes.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499616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49961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49961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: 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Sécurité sociale, une adresse e-mail et un numéro de portable.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1975104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19751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197510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www.caf.fr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suivre le parcours de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450592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450592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45059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un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 vérification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SMS ou e-mail, puis le recopier.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2926080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6656" y="2926080"/>
            <a:ext cx="402336" cy="402336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6656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98448" y="29260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fort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majuscules, minuscules, chiffres et caractère spécial.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2920" y="3401568"/>
            <a:ext cx="81838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76656" y="340156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98448" y="340156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son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d'allocataire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garder son mot de passe en lieu sûr.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02920" y="3931920"/>
            <a:ext cx="8183880" cy="530352"/>
          </a:xfrm>
          <a:prstGeom prst="roundRect">
            <a:avLst>
              <a:gd name="adj" fmla="val 15517"/>
            </a:avLst>
          </a:prstGeom>
          <a:solidFill>
            <a:srgbClr val="E9F8F3"/>
          </a:solidFill>
          <a:ln w="1587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667512" y="4005072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10565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16152" y="39319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réflexe : ne jamais écrire son mot de passe sur un papier visible, ni le donner à quelqu'un par téléphone ou par mail.</a:t>
            </a:r>
            <a:endParaRPr lang="en-US" sz="1150" dirty="0"/>
          </a:p>
        </p:txBody>
      </p:sp>
      <p:sp>
        <p:nvSpPr>
          <p:cNvPr id="32" name="Shape 27">
            <a:hlinkClick r:id="rId6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3" descr="preencoded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4" name="Shape 28">
            <a:hlinkClick r:id="rId8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4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6" name="Shape 29">
            <a:hlinkClick r:id="rId10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5" descr="preencoded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5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repérer sur la page d'accueil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9844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connecté, voici les boutons à connaître sur la page d'accueil 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828800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704088" y="202996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1671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011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Ma situation / Mon profil »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417320" y="2304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mes infos : adresse, RIB, foyer.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754880" y="1828800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4956048" y="2029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216712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69280" y="2011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paiements »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669280" y="2304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versements reçus, dates et montants.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2743200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704088" y="2944368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3081528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démarches »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17320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L'avancement de mes demandes et les pièces à fournir.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754880" y="2743200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4956048" y="2944368"/>
            <a:ext cx="548640" cy="548640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208" y="308152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6928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courriers, courriels »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669280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à la CAF et lire ses réponses.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02920" y="3657600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1"/>
          <p:cNvSpPr/>
          <p:nvPr/>
        </p:nvSpPr>
        <p:spPr>
          <a:xfrm>
            <a:off x="704088" y="385876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399592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3840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attestations »</a:t>
            </a:r>
            <a:endParaRPr lang="en-US" sz="1450" dirty="0"/>
          </a:p>
        </p:txBody>
      </p:sp>
      <p:sp>
        <p:nvSpPr>
          <p:cNvPr id="32" name="Text 23"/>
          <p:cNvSpPr/>
          <p:nvPr/>
        </p:nvSpPr>
        <p:spPr>
          <a:xfrm>
            <a:off x="1417320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mes documents en PDF.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754880" y="3657600"/>
            <a:ext cx="3931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5"/>
          <p:cNvSpPr/>
          <p:nvPr/>
        </p:nvSpPr>
        <p:spPr>
          <a:xfrm>
            <a:off x="4956048" y="38587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3208" y="3995928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669280" y="3840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alertes / agenda</a:t>
            </a:r>
            <a:endParaRPr lang="en-US" sz="1450" dirty="0"/>
          </a:p>
        </p:txBody>
      </p:sp>
      <p:sp>
        <p:nvSpPr>
          <p:cNvPr id="37" name="Text 27"/>
          <p:cNvSpPr/>
          <p:nvPr/>
        </p:nvSpPr>
        <p:spPr>
          <a:xfrm>
            <a:off x="5669280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et démarches à faire.</a:t>
            </a:r>
            <a:endParaRPr lang="en-US" sz="1150" dirty="0"/>
          </a:p>
        </p:txBody>
      </p:sp>
      <p:sp>
        <p:nvSpPr>
          <p:cNvPr id="38" name="Shape 28">
            <a:hlinkClick r:id="rId11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8" descr="preencoded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40" name="Shape 29">
            <a:hlinkClick r:id="rId13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9" descr="preencoded.png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42" name="Shape 30">
            <a:hlinkClick r:id="rId15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3" name="Image 10" descr="preencoded.png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 · 6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Suivre mes paiements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801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vérifier ce que la CAF vous a versé 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591056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61848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59105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à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2157984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21854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21579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page d'accueil, cliquer sur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paiements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724912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752344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7249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affiche les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derniers versements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date, montant et prestation.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3291840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6656" y="3319272"/>
            <a:ext cx="402336" cy="402336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6656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98448" y="3291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plus anciens,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défiler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(jusqu'à 24 mois).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2920" y="385876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76656" y="38862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76656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98448" y="385876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justificatif :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relevé de compte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puis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Télécharger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Shape 24">
            <a:hlinkClick r:id="rId5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2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0" name="Shape 25">
            <a:hlinkClick r:id="rId7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3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2" name="Shape 26">
            <a:hlinkClick r:id="rId9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 · 7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Télécharger une attestation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801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obtenir une attestation de paiement ou de quotient familial 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591056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61848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59105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à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2157984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21854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21579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page d'accueil, cliquer sur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attestations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724912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752344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7249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Attestation de paiement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Attestation de quotient familial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3291840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6656" y="3319272"/>
            <a:ext cx="402336" cy="402336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6656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98448" y="3291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(mois précédent ou autre).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2920" y="385876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76656" y="38862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76656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98448" y="385876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Télécharger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PDF s'enregistre (ou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Recevoir par courrier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28" name="Shape 24">
            <a:hlinkClick r:id="rId5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2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0" name="Shape 25">
            <a:hlinkClick r:id="rId7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3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2" name="Shape 26">
            <a:hlinkClick r:id="rId9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 · 8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Déclarer un changement de situation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801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qu'un changement arrive, on le signale (évite les erreurs de paiement) 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591056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61848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59105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à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2157984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21854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21579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profil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 « Ma situation »).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724912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752344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7249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ce qui change :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adresse, situation familiale, emploi, RIB…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3291840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6656" y="3319272"/>
            <a:ext cx="402336" cy="402336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6656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98448" y="3291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informations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2920" y="385876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76656" y="38862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76656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98448" y="385876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Valider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 plus souvent, aucun justificatif à envoyer.</a:t>
            </a:r>
            <a:endParaRPr lang="en-US" sz="1250" dirty="0"/>
          </a:p>
        </p:txBody>
      </p:sp>
      <p:sp>
        <p:nvSpPr>
          <p:cNvPr id="28" name="Shape 24">
            <a:hlinkClick r:id="rId5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2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0" name="Shape 25">
            <a:hlinkClick r:id="rId7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3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2" name="Shape 26">
            <a:hlinkClick r:id="rId9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A3D6D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 · 9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déclaration trimestrielle (RSA / prime d'activité)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4358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3 mois. Depuis mars 2025, elle est pré-remplie : on vérifie et on valide.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02920" y="1481328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49504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4950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481328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un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ou un SMS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se connecter à Mon Compte.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1993392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20071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2007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1993392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ressources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puis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Déclarer mes ressources trimestrielles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505456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519172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519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505456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(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compris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puis confirmer ou corriger sa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3017520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6656" y="3031236"/>
            <a:ext cx="402336" cy="402336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6656" y="30312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98448" y="3017520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montants déjà inscrits (salaires, chômage…), en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net social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2920" y="3529584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76656" y="35433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76656" y="35433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98448" y="3529584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 qui manque (pension alim., indépendant, conjoint, enfants +15 ans) ou cocher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Absence de ressources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02920" y="4041648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676656" y="405536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676656" y="40553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298448" y="4041648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Valider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(et télécharger le récapitulatif si besoin).</a:t>
            </a:r>
            <a:endParaRPr lang="en-US" sz="1250" dirty="0"/>
          </a:p>
        </p:txBody>
      </p:sp>
      <p:sp>
        <p:nvSpPr>
          <p:cNvPr id="32" name="Shape 28">
            <a:hlinkClick r:id="rId5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2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4" name="Shape 29">
            <a:hlinkClick r:id="rId7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3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6" name="Shape 30">
            <a:hlinkClick r:id="rId9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4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9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montant net social (MNS)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9844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montant à utiliser pour le RSA et la prime d'activité. Il est calculé pour vous.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920240"/>
            <a:ext cx="8183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704088" y="2018211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164515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103120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 ?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417320" y="2395728"/>
            <a:ext cx="7086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revenu pris en compte par la CAF pour calculer le RSA et la prime d'activité.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02920" y="2761488"/>
            <a:ext cx="8183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704088" y="2880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0175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294436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le trouver ?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417320" y="3236976"/>
            <a:ext cx="7086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bulletin de salaire et les relevés, ligne « Montant net social ».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3602736"/>
            <a:ext cx="8183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684494" y="372291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54" y="3883587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785616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 ligne ?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17320" y="4078224"/>
            <a:ext cx="7086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Aussi sur mesdroitssociaux.gouv.fr (Mes services › Mes ressources).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02920" y="4407408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 : si le net social d'un mois est négatif ou nul, on déclare 0 €.</a:t>
            </a:r>
            <a:endParaRPr lang="en-US" sz="1100" dirty="0"/>
          </a:p>
        </p:txBody>
      </p:sp>
      <p:sp>
        <p:nvSpPr>
          <p:cNvPr id="24" name="Shape 17">
            <a:hlinkClick r:id="rId8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26" name="Shape 18">
            <a:hlinkClick r:id="rId10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6" descr="preencoded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28" name="Shape 19">
            <a:hlinkClick r:id="rId12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7" descr="preencoded.png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 · 10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Envoyer un document à la CAF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4358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CAF demande un justificatif, on l'envoie directement depuis le compte :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02920" y="1481328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49504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4950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481328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à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1993392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20071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2007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1993392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démarches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505456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519172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519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505456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l'onglet 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transmettre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 « La Caf me demande »).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3017520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6656" y="3031236"/>
            <a:ext cx="402336" cy="402336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6656" y="30312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98448" y="3017520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l'icône pour choisir un fichier (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ou photo, max 5 Mo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ou le prendre en photo.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2920" y="3529584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676656" y="35433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76656" y="35433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98448" y="3529584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avec le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œil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supprimer (poubelle) si c'est flou.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02920" y="4041648"/>
            <a:ext cx="81838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676656" y="405536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676656" y="40553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298448" y="4041648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Continuer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Suivi dans « Mes courriers, courriels ».</a:t>
            </a:r>
            <a:endParaRPr lang="en-US" sz="1250" dirty="0"/>
          </a:p>
        </p:txBody>
      </p:sp>
      <p:sp>
        <p:nvSpPr>
          <p:cNvPr id="32" name="Shape 28">
            <a:hlinkClick r:id="rId5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2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4" name="Shape 29">
            <a:hlinkClick r:id="rId7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3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6" name="Shape 30">
            <a:hlinkClick r:id="rId9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4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AIDÉ · 11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à la CAF et obtenir de l'aide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801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simple : la messagerie de votre compte.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627632"/>
            <a:ext cx="8183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76656" y="168249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98448" y="162763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à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2249424"/>
            <a:ext cx="8183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76656" y="23042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76656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98448" y="224942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courriers, courriels »</a:t>
            </a: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 messagerie).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871216"/>
            <a:ext cx="8183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635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76656" y="2926080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98448" y="287121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son message et l'envoyer. 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arrive au même endroit.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02920" y="341985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contacts utiles :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02920" y="3712464"/>
            <a:ext cx="2633472" cy="768096"/>
          </a:xfrm>
          <a:prstGeom prst="roundRect">
            <a:avLst>
              <a:gd name="adj" fmla="val 9524"/>
            </a:avLst>
          </a:prstGeom>
          <a:solidFill>
            <a:srgbClr val="E9F8F3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49224" y="390448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005072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61288" y="380390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3230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161288" y="40965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la CAF (au téléphone).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3310128" y="3712464"/>
            <a:ext cx="2633472" cy="768096"/>
          </a:xfrm>
          <a:prstGeom prst="roundRect">
            <a:avLst>
              <a:gd name="adj" fmla="val 9524"/>
            </a:avLst>
          </a:prstGeom>
          <a:solidFill>
            <a:srgbClr val="E8F1F5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3456432" y="39044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005072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968496" y="380390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accueil près de chez soi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3968496" y="40965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 ou point France Services.</a:t>
            </a:r>
            <a:endParaRPr lang="en-US" sz="980" dirty="0"/>
          </a:p>
        </p:txBody>
      </p:sp>
      <p:sp>
        <p:nvSpPr>
          <p:cNvPr id="31" name="Shape 25"/>
          <p:cNvSpPr/>
          <p:nvPr/>
        </p:nvSpPr>
        <p:spPr>
          <a:xfrm>
            <a:off x="6117336" y="3712464"/>
            <a:ext cx="2633472" cy="768096"/>
          </a:xfrm>
          <a:prstGeom prst="roundRect">
            <a:avLst>
              <a:gd name="adj" fmla="val 9524"/>
            </a:avLst>
          </a:prstGeom>
          <a:solidFill>
            <a:srgbClr val="EAF1ED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6263640" y="3904488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005072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775704" y="380390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L'aide en ligne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6775704" y="40965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d'aide de caf.fr.</a:t>
            </a:r>
            <a:endParaRPr lang="en-US" sz="980" dirty="0"/>
          </a:p>
        </p:txBody>
      </p:sp>
      <p:sp>
        <p:nvSpPr>
          <p:cNvPr id="36" name="Shape 29">
            <a:hlinkClick r:id="rId8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5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8" name="Shape 30">
            <a:hlinkClick r:id="rId10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6" descr="preencoded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40" name="Shape 31">
            <a:hlinkClick r:id="rId12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7" descr="preencoded.png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A3D6D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· 12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 mon compte &amp; repérer les arnaques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bons réflexes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02920" y="1691640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EAF1ED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640080" y="1810512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86537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16916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de passe long, gardé secret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" y="2295144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EAF1ED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8"/>
          <p:cNvSpPr/>
          <p:nvPr/>
        </p:nvSpPr>
        <p:spPr>
          <a:xfrm>
            <a:off x="640080" y="2414016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46888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22951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passe par caf.fr ou l'appli officielle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02920" y="2898648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EAF1ED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1"/>
          <p:cNvSpPr/>
          <p:nvPr/>
        </p:nvSpPr>
        <p:spPr>
          <a:xfrm>
            <a:off x="640080" y="3017520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072384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4128" y="28986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vérifie l'adresse du site (caf.fr)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02920" y="3502152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EAF1ED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4"/>
          <p:cNvSpPr/>
          <p:nvPr/>
        </p:nvSpPr>
        <p:spPr>
          <a:xfrm>
            <a:off x="640080" y="3621024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675888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24128" y="35021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CAF ne demande jamais ma carte bancaire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signaux d'arnaque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4754880" y="1691640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BEAE8"/>
          </a:solidFill>
          <a:ln w="12700">
            <a:solidFill>
              <a:srgbClr val="E8B4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18"/>
          <p:cNvSpPr/>
          <p:nvPr/>
        </p:nvSpPr>
        <p:spPr>
          <a:xfrm>
            <a:off x="4892040" y="1810512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1865376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76088" y="16916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SMS / mail « remboursement » avec un lien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754880" y="2295144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BEAE8"/>
          </a:solidFill>
          <a:ln w="12700">
            <a:solidFill>
              <a:srgbClr val="E8B4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1"/>
          <p:cNvSpPr/>
          <p:nvPr/>
        </p:nvSpPr>
        <p:spPr>
          <a:xfrm>
            <a:off x="4892040" y="241401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2468880"/>
            <a:ext cx="164592" cy="16459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76088" y="22951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demande mes identifiants ou mon RIB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4754880" y="2898648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BEAE8"/>
          </a:solidFill>
          <a:ln w="12700">
            <a:solidFill>
              <a:srgbClr val="E8B4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4"/>
          <p:cNvSpPr/>
          <p:nvPr/>
        </p:nvSpPr>
        <p:spPr>
          <a:xfrm>
            <a:off x="4892040" y="301752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072384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76088" y="28986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ton pressant : « urgent », « dernier délai »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4754880" y="3502152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BEAE8"/>
          </a:solidFill>
          <a:ln w="12700">
            <a:solidFill>
              <a:srgbClr val="E8B4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27"/>
          <p:cNvSpPr/>
          <p:nvPr/>
        </p:nvSpPr>
        <p:spPr>
          <a:xfrm>
            <a:off x="4892040" y="362102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675888"/>
            <a:ext cx="164592" cy="16459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276088" y="35021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adresse bizarre qui imite caf.fr</a:t>
            </a:r>
            <a:endParaRPr lang="en-US" sz="1100" dirty="0"/>
          </a:p>
        </p:txBody>
      </p:sp>
      <p:sp>
        <p:nvSpPr>
          <p:cNvPr id="41" name="Text 29"/>
          <p:cNvSpPr/>
          <p:nvPr/>
        </p:nvSpPr>
        <p:spPr>
          <a:xfrm>
            <a:off x="502920" y="4261104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: ne cliquez pas. Connectez-vous vous-même à caf.fr ou à l'appli pour vérifier.</a:t>
            </a:r>
            <a:endParaRPr lang="en-US" sz="1150" dirty="0"/>
          </a:p>
        </p:txBody>
      </p:sp>
      <p:sp>
        <p:nvSpPr>
          <p:cNvPr id="42" name="Shape 30">
            <a:hlinkClick r:id="rId7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3" name="Image 10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44" name="Shape 31">
            <a:hlinkClick r:id="rId9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5" name="Image 11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46" name="Shape 32">
            <a:hlinkClick r:id="rId11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7" name="Image 12" descr="preencoded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56032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28" y="31089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2062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7632" y="2743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DÉPANNAGE · 12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609344" y="45720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cas de problème de connexion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02920" y="129844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blocages les plus courants se règlent en quelques clics 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1828800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704088" y="202996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1671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011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417320" y="23042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l'écran de connexion : cliquer « Mot de passe oublié » → on reçoit un lien pour en créer un nouveau.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754880" y="1828800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4956048" y="2029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216712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69280" y="2011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d'allocataire perdu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669280" y="23042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sur tous les courriers CAF. Sinon, se connecter via FranceConnect ou contacter la CAF.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3035808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704088" y="3236976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37413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218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 ne s'ouvre plus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17320" y="35112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l'appli à jour, vérifier sa connexion Internet, puis se reconnecter avec ses identifiants.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754880" y="3035808"/>
            <a:ext cx="3931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4956048" y="3236976"/>
            <a:ext cx="548640" cy="548640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08" y="337413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69280" y="3218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bloqué ?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669280" y="35112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messagerie, le 3230 ou un point d'accueil peuvent débloquer la situation.</a:t>
            </a:r>
            <a:endParaRPr lang="en-US" sz="1150" dirty="0"/>
          </a:p>
        </p:txBody>
      </p:sp>
      <p:sp>
        <p:nvSpPr>
          <p:cNvPr id="28" name="Shape 20">
            <a:hlinkClick r:id="rId8" action="ppaction://hlinksldjump"/>
          </p:cNvPr>
          <p:cNvSpPr/>
          <p:nvPr/>
        </p:nvSpPr>
        <p:spPr>
          <a:xfrm>
            <a:off x="74249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6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4754880"/>
            <a:ext cx="164592" cy="164592"/>
          </a:xfrm>
          <a:prstGeom prst="rect">
            <a:avLst/>
          </a:prstGeom>
        </p:spPr>
      </p:pic>
      <p:sp>
        <p:nvSpPr>
          <p:cNvPr id="30" name="Shape 21">
            <a:hlinkClick r:id="rId10" action="ppaction://hlinksldjump"/>
          </p:cNvPr>
          <p:cNvSpPr/>
          <p:nvPr/>
        </p:nvSpPr>
        <p:spPr>
          <a:xfrm>
            <a:off x="78821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7" descr="preencoded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4754880"/>
            <a:ext cx="146304" cy="164592"/>
          </a:xfrm>
          <a:prstGeom prst="rect">
            <a:avLst/>
          </a:prstGeom>
        </p:spPr>
      </p:pic>
      <p:sp>
        <p:nvSpPr>
          <p:cNvPr id="32" name="Shape 22">
            <a:hlinkClick r:id="rId12" action="ppaction://hlinksldjump"/>
          </p:cNvPr>
          <p:cNvSpPr/>
          <p:nvPr/>
        </p:nvSpPr>
        <p:spPr>
          <a:xfrm>
            <a:off x="8339328" y="4645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8" descr="preencoded.png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4754880"/>
            <a:ext cx="146304" cy="16459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1089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D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0739" y="1069848"/>
            <a:ext cx="4023360" cy="4023360"/>
          </a:xfrm>
          <a:prstGeom prst="ellipse">
            <a:avLst/>
          </a:prstGeom>
          <a:solidFill>
            <a:srgbClr val="2154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392223" y="98715"/>
            <a:ext cx="3474720" cy="34747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743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3840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À RETENIR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" y="67665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compte CAF, mode d'emploi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23477B"/>
          </a:solidFill>
          <a:ln w="12700">
            <a:solidFill>
              <a:srgbClr val="3359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749808" y="163677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177393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espace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19110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caf.fr et l'appli « Caf - Mon Compte » : le même dossier.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417320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23477B"/>
          </a:solidFill>
          <a:ln w="12700">
            <a:solidFill>
              <a:srgbClr val="3359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4956048" y="16367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17739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me connecter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69280" y="19110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d'allocataire + mot de passe, FranceConnect, ou empreinte / visage.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2743200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23477B"/>
          </a:solidFill>
          <a:ln w="12700">
            <a:solidFill>
              <a:srgbClr val="3359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749808" y="2962656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09981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29260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vérifie et je valide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463040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déclaration trimestrielle est pré-remplie : je contrôle puis je valide.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54880" y="2743200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23477B"/>
          </a:solidFill>
          <a:ln w="12700">
            <a:solidFill>
              <a:srgbClr val="3359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7"/>
          <p:cNvSpPr/>
          <p:nvPr/>
        </p:nvSpPr>
        <p:spPr>
          <a:xfrm>
            <a:off x="4956048" y="2962656"/>
            <a:ext cx="566928" cy="566928"/>
          </a:xfrm>
          <a:prstGeom prst="ellipse">
            <a:avLst/>
          </a:prstGeom>
          <a:solidFill>
            <a:srgbClr val="1A3D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08" y="3099816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69280" y="29260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reste prudent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669280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passe toujours par caf.fr / l'appli ; je me méfie des liens reçus.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· Médiation numérique — atelier « Mon compte CAF de A à Z »</a:t>
            </a:r>
            <a:endParaRPr lang="en-US" sz="1000" dirty="0"/>
          </a:p>
        </p:txBody>
      </p:sp>
      <p:sp>
        <p:nvSpPr>
          <p:cNvPr id="28" name="Shape 21">
            <a:hlinkClick r:id="rId8" action="ppaction://hlinksldjump"/>
          </p:cNvPr>
          <p:cNvSpPr/>
          <p:nvPr/>
        </p:nvSpPr>
        <p:spPr>
          <a:xfrm>
            <a:off x="8339328" y="46268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9056" y="4736592"/>
            <a:ext cx="164592" cy="1645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1873</Words>
  <Application>Microsoft Office PowerPoint</Application>
  <PresentationFormat>Affichage à l'écran (16:9)</PresentationFormat>
  <Paragraphs>283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 compte CAF de A à Z – pas à pas</dc:title>
  <dc:subject>PptxGenJS Presentation</dc:subject>
  <dc:creator>Yggdrasil – Médiation numérique</dc:creator>
  <cp:lastModifiedBy>titi 23</cp:lastModifiedBy>
  <cp:revision>4</cp:revision>
  <dcterms:created xsi:type="dcterms:W3CDTF">2026-06-16T18:54:03Z</dcterms:created>
  <dcterms:modified xsi:type="dcterms:W3CDTF">2026-07-09T07:57:52Z</dcterms:modified>
</cp:coreProperties>
</file>