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1792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13" Type="http://schemas.openxmlformats.org/officeDocument/2006/relationships/slide" Target="slide14.xml"/><Relationship Id="rId3" Type="http://schemas.openxmlformats.org/officeDocument/2006/relationships/image" Target="../media/image1.png"/><Relationship Id="rId7" Type="http://schemas.openxmlformats.org/officeDocument/2006/relationships/slide" Target="slide7.xml"/><Relationship Id="rId12" Type="http://schemas.openxmlformats.org/officeDocument/2006/relationships/slide" Target="slide1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6.xml"/><Relationship Id="rId11" Type="http://schemas.openxmlformats.org/officeDocument/2006/relationships/slide" Target="slide11.xml"/><Relationship Id="rId5" Type="http://schemas.openxmlformats.org/officeDocument/2006/relationships/slide" Target="slide5.xml"/><Relationship Id="rId15" Type="http://schemas.openxmlformats.org/officeDocument/2006/relationships/slide" Target="slide16.xml"/><Relationship Id="rId10" Type="http://schemas.openxmlformats.org/officeDocument/2006/relationships/slide" Target="slide10.xml"/><Relationship Id="rId4" Type="http://schemas.openxmlformats.org/officeDocument/2006/relationships/slide" Target="slide3.xml"/><Relationship Id="rId9" Type="http://schemas.openxmlformats.org/officeDocument/2006/relationships/slide" Target="slide9.xml"/><Relationship Id="rId14" Type="http://schemas.openxmlformats.org/officeDocument/2006/relationships/slide" Target="slide15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slide" Target="slide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slide" Target="slide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slide" Target="slide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slide" Target="slide2.xml"/><Relationship Id="rId10" Type="http://schemas.openxmlformats.org/officeDocument/2006/relationships/image" Target="../media/image9.png"/><Relationship Id="rId4" Type="http://schemas.openxmlformats.org/officeDocument/2006/relationships/image" Target="../media/image10.png"/><Relationship Id="rId9" Type="http://schemas.openxmlformats.org/officeDocument/2006/relationships/slide" Target="slide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slide" Target="slide2.xml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slide" Target="slide6.xml"/><Relationship Id="rId5" Type="http://schemas.openxmlformats.org/officeDocument/2006/relationships/image" Target="../media/image12.png"/><Relationship Id="rId10" Type="http://schemas.openxmlformats.org/officeDocument/2006/relationships/image" Target="../media/image8.png"/><Relationship Id="rId4" Type="http://schemas.openxmlformats.org/officeDocument/2006/relationships/image" Target="../media/image11.png"/><Relationship Id="rId9" Type="http://schemas.openxmlformats.org/officeDocument/2006/relationships/slide" Target="slide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5.xml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.xml"/><Relationship Id="rId11" Type="http://schemas.openxmlformats.org/officeDocument/2006/relationships/image" Target="../media/image9.png"/><Relationship Id="rId5" Type="http://schemas.openxmlformats.org/officeDocument/2006/relationships/image" Target="../media/image15.png"/><Relationship Id="rId10" Type="http://schemas.openxmlformats.org/officeDocument/2006/relationships/slide" Target="slide7.xml"/><Relationship Id="rId4" Type="http://schemas.openxmlformats.org/officeDocument/2006/relationships/image" Target="../media/image14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.xml"/><Relationship Id="rId11" Type="http://schemas.openxmlformats.org/officeDocument/2006/relationships/image" Target="../media/image9.png"/><Relationship Id="rId5" Type="http://schemas.openxmlformats.org/officeDocument/2006/relationships/image" Target="../media/image17.png"/><Relationship Id="rId10" Type="http://schemas.openxmlformats.org/officeDocument/2006/relationships/slide" Target="slide8.xml"/><Relationship Id="rId4" Type="http://schemas.openxmlformats.org/officeDocument/2006/relationships/image" Target="../media/image16.png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slide" Target="slide7.xml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slide" Target="slide2.xml"/><Relationship Id="rId5" Type="http://schemas.openxmlformats.org/officeDocument/2006/relationships/image" Target="../media/image19.png"/><Relationship Id="rId15" Type="http://schemas.openxmlformats.org/officeDocument/2006/relationships/slide" Target="slide9.xml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21.png"/><Relationship Id="rId1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slide" Target="slide8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slide" Target="slide2.xml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slide" Target="slide10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slide" Target="slide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slide" Target="slide2.xml"/><Relationship Id="rId10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slide" Target="slide1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slide" Target="slide10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slide" Target="slide2.xml"/><Relationship Id="rId10" Type="http://schemas.openxmlformats.org/officeDocument/2006/relationships/image" Target="../media/image9.png"/><Relationship Id="rId4" Type="http://schemas.openxmlformats.org/officeDocument/2006/relationships/image" Target="../media/image5.png"/><Relationship Id="rId9" Type="http://schemas.openxmlformats.org/officeDocument/2006/relationships/slide" Target="slide1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slide" Target="slide1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slide" Target="slide2.xml"/><Relationship Id="rId10" Type="http://schemas.openxmlformats.org/officeDocument/2006/relationships/image" Target="../media/image9.png"/><Relationship Id="rId4" Type="http://schemas.openxmlformats.org/officeDocument/2006/relationships/image" Target="../media/image23.png"/><Relationship Id="rId9" Type="http://schemas.openxmlformats.org/officeDocument/2006/relationships/slide" Target="slide1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13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slide" Target="slide14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0" Type="http://schemas.openxmlformats.org/officeDocument/2006/relationships/slide" Target="slide12.xml"/><Relationship Id="rId4" Type="http://schemas.openxmlformats.org/officeDocument/2006/relationships/image" Target="../media/image24.png"/><Relationship Id="rId9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slide" Target="slide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slide" Target="slide2.xml"/><Relationship Id="rId10" Type="http://schemas.openxmlformats.org/officeDocument/2006/relationships/image" Target="../media/image9.png"/><Relationship Id="rId4" Type="http://schemas.openxmlformats.org/officeDocument/2006/relationships/image" Target="../media/image25.png"/><Relationship Id="rId9" Type="http://schemas.openxmlformats.org/officeDocument/2006/relationships/slide" Target="slide15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13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slide" Target="slide16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8.png"/><Relationship Id="rId5" Type="http://schemas.openxmlformats.org/officeDocument/2006/relationships/image" Target="../media/image26.png"/><Relationship Id="rId10" Type="http://schemas.openxmlformats.org/officeDocument/2006/relationships/slide" Target="slide14.xml"/><Relationship Id="rId4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slide" Target="slide2.xml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slide" Target="slide17.xml"/><Relationship Id="rId5" Type="http://schemas.openxmlformats.org/officeDocument/2006/relationships/image" Target="../media/image17.png"/><Relationship Id="rId10" Type="http://schemas.openxmlformats.org/officeDocument/2006/relationships/image" Target="../media/image8.png"/><Relationship Id="rId4" Type="http://schemas.openxmlformats.org/officeDocument/2006/relationships/image" Target="../media/image27.png"/><Relationship Id="rId9" Type="http://schemas.openxmlformats.org/officeDocument/2006/relationships/slide" Target="slide15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13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slide" Target="slide18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8.png"/><Relationship Id="rId5" Type="http://schemas.openxmlformats.org/officeDocument/2006/relationships/image" Target="../media/image30.png"/><Relationship Id="rId10" Type="http://schemas.openxmlformats.org/officeDocument/2006/relationships/slide" Target="slide16.xml"/><Relationship Id="rId4" Type="http://schemas.openxmlformats.org/officeDocument/2006/relationships/image" Target="../media/image29.png"/><Relationship Id="rId9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14.png"/><Relationship Id="rId4" Type="http://schemas.openxmlformats.org/officeDocument/2006/relationships/image" Target="../media/image11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rotWithShape="1">
          <a:gsLst>
            <a:gs pos="0">
              <a:srgbClr val="15305A"/>
            </a:gs>
            <a:gs pos="55000">
              <a:srgbClr val="1A3D6D"/>
            </a:gs>
            <a:gs pos="100000">
              <a:srgbClr val="1F4A8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Logo Chip"/>
          <p:cNvSpPr/>
          <p:nvPr/>
        </p:nvSpPr>
        <p:spPr>
          <a:xfrm>
            <a:off x="498640" y="407200"/>
            <a:ext cx="1105840" cy="1105840"/>
          </a:xfrm>
          <a:prstGeom prst="roundRect">
            <a:avLst>
              <a:gd name="adj" fmla="val 14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02" name="Eyebrow Marker"/>
          <p:cNvSpPr/>
          <p:nvPr/>
        </p:nvSpPr>
        <p:spPr>
          <a:xfrm>
            <a:off x="618640" y="1655000"/>
            <a:ext cx="40000" cy="2643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03" name="Spine Rule"/>
          <p:cNvSpPr/>
          <p:nvPr/>
        </p:nvSpPr>
        <p:spPr>
          <a:xfrm>
            <a:off x="460000" y="1650000"/>
            <a:ext cx="12000" cy="3324320"/>
          </a:xfrm>
          <a:prstGeom prst="rect">
            <a:avLst/>
          </a:prstGeom>
          <a:solidFill>
            <a:srgbClr val="FFFFFF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04" name="Glow Blob"/>
          <p:cNvSpPr/>
          <p:nvPr/>
        </p:nvSpPr>
        <p:spPr>
          <a:xfrm>
            <a:off x="5925000" y="575000"/>
            <a:ext cx="2600000" cy="4200000"/>
          </a:xfrm>
          <a:prstGeom prst="roundRect">
            <a:avLst>
              <a:gd name="adj" fmla="val 50000"/>
            </a:avLst>
          </a:prstGeom>
          <a:solidFill>
            <a:srgbClr val="FFFFF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grpSp>
        <p:nvGrpSpPr>
          <p:cNvPr id="109" name="Doc Group"/>
          <p:cNvGrpSpPr/>
          <p:nvPr/>
        </p:nvGrpSpPr>
        <p:grpSpPr>
          <a:xfrm rot="-480000">
            <a:off x="5700000" y="520000"/>
            <a:ext cx="950000" cy="1200000"/>
            <a:chOff x="0" y="0"/>
            <a:chExt cx="950000" cy="1200000"/>
          </a:xfrm>
        </p:grpSpPr>
        <p:sp>
          <p:nvSpPr>
            <p:cNvPr id="105" name="Doc BG"/>
            <p:cNvSpPr/>
            <p:nvPr/>
          </p:nvSpPr>
          <p:spPr>
            <a:xfrm>
              <a:off x="0" y="0"/>
              <a:ext cx="950000" cy="1200000"/>
            </a:xfrm>
            <a:prstGeom prst="foldedCorner">
              <a:avLst/>
            </a:prstGeom>
            <a:solidFill>
              <a:srgbClr val="FFFFFF">
                <a:alpha val="12000"/>
              </a:srgbClr>
            </a:solidFill>
            <a:ln w="9525">
              <a:solidFill>
                <a:srgbClr val="FFFFFF">
                  <a:alpha val="25000"/>
                </a:srgbClr>
              </a:solidFill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06" name="Doc Line1"/>
            <p:cNvSpPr/>
            <p:nvPr/>
          </p:nvSpPr>
          <p:spPr>
            <a:xfrm>
              <a:off x="150000" y="220000"/>
              <a:ext cx="650000" cy="60000"/>
            </a:xfrm>
            <a:prstGeom prst="rect">
              <a:avLst/>
            </a:prstGeom>
            <a:solidFill>
              <a:srgbClr val="FFFFFF">
                <a:alpha val="30000"/>
              </a:srgb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07" name="Doc Line2"/>
            <p:cNvSpPr/>
            <p:nvPr/>
          </p:nvSpPr>
          <p:spPr>
            <a:xfrm>
              <a:off x="150000" y="380000"/>
              <a:ext cx="650000" cy="60000"/>
            </a:xfrm>
            <a:prstGeom prst="rect">
              <a:avLst/>
            </a:prstGeom>
            <a:solidFill>
              <a:srgbClr val="FFFFFF">
                <a:alpha val="22000"/>
              </a:srgb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08" name="Doc Line3"/>
            <p:cNvSpPr/>
            <p:nvPr/>
          </p:nvSpPr>
          <p:spPr>
            <a:xfrm>
              <a:off x="150000" y="540000"/>
              <a:ext cx="450000" cy="60000"/>
            </a:xfrm>
            <a:prstGeom prst="rect">
              <a:avLst/>
            </a:prstGeom>
            <a:solidFill>
              <a:srgbClr val="FFFFFF">
                <a:alpha val="22000"/>
              </a:srgbClr>
            </a:solidFill>
            <a:ln>
              <a:noFill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10" name="Phone Body"/>
          <p:cNvSpPr/>
          <p:nvPr/>
        </p:nvSpPr>
        <p:spPr>
          <a:xfrm>
            <a:off x="6150000" y="750000"/>
            <a:ext cx="2150000" cy="3850000"/>
          </a:xfrm>
          <a:prstGeom prst="roundRect">
            <a:avLst>
              <a:gd name="adj" fmla="val 10000"/>
            </a:avLst>
          </a:prstGeom>
          <a:solidFill>
            <a:srgbClr val="102B4E"/>
          </a:solidFill>
          <a:ln w="9525">
            <a:solidFill>
              <a:srgbClr val="FFFFFF">
                <a:alpha val="25000"/>
              </a:srgbClr>
            </a:solidFill>
          </a:ln>
          <a:effectLst>
            <a:outerShdw blurRad="180000" dist="55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1" name="Phone Notch"/>
          <p:cNvSpPr/>
          <p:nvPr/>
        </p:nvSpPr>
        <p:spPr>
          <a:xfrm>
            <a:off x="7125000" y="800000"/>
            <a:ext cx="200000" cy="35000"/>
          </a:xfrm>
          <a:prstGeom prst="roundRect">
            <a:avLst>
              <a:gd name="adj" fmla="val 50000"/>
            </a:avLst>
          </a:prstGeom>
          <a:solidFill>
            <a:srgbClr val="0A1E38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12" name="Home Indicator"/>
          <p:cNvSpPr/>
          <p:nvPr/>
        </p:nvSpPr>
        <p:spPr>
          <a:xfrm>
            <a:off x="6950000" y="4460000"/>
            <a:ext cx="550000" cy="35000"/>
          </a:xfrm>
          <a:prstGeom prst="roundRect">
            <a:avLst>
              <a:gd name="adj" fmla="val 50000"/>
            </a:avLst>
          </a:prstGeom>
          <a:solidFill>
            <a:srgbClr val="FFFFF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13" name="Phone Screen"/>
          <p:cNvSpPr/>
          <p:nvPr/>
        </p:nvSpPr>
        <p:spPr>
          <a:xfrm>
            <a:off x="6255000" y="900000"/>
            <a:ext cx="1940000" cy="3350000"/>
          </a:xfrm>
          <a:prstGeom prst="roundRect">
            <a:avLst>
              <a:gd name="adj" fmla="val 7000"/>
            </a:avLst>
          </a:prstGeom>
          <a:solidFill>
            <a:srgbClr val="F4F7FB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14" name="Phone Header"/>
          <p:cNvSpPr/>
          <p:nvPr/>
        </p:nvSpPr>
        <p:spPr>
          <a:xfrm>
            <a:off x="6255000" y="900000"/>
            <a:ext cx="1940000" cy="300000"/>
          </a:xfrm>
          <a:prstGeom prst="roundRect">
            <a:avLst>
              <a:gd name="adj" fmla="val 8000"/>
            </a:avLst>
          </a:prstGeom>
          <a:solidFill>
            <a:srgbClr val="02C3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fr-FR" sz="1000" b="1" dirty="0">
                <a:solidFill>
                  <a:srgbClr val="FFFFFF"/>
                </a:solidFill>
                <a:latin typeface="Calibri"/>
              </a:rPr>
              <a:t>Mon compte</a:t>
            </a:r>
          </a:p>
        </p:txBody>
      </p:sp>
      <p:sp>
        <p:nvSpPr>
          <p:cNvPr id="115" name="Avatar"/>
          <p:cNvSpPr/>
          <p:nvPr/>
        </p:nvSpPr>
        <p:spPr>
          <a:xfrm>
            <a:off x="6320000" y="1300000"/>
            <a:ext cx="230000" cy="230000"/>
          </a:xfrm>
          <a:prstGeom prst="roundRect">
            <a:avLst>
              <a:gd name="adj" fmla="val 20000"/>
            </a:avLst>
          </a:prstGeom>
          <a:solidFill>
            <a:srgbClr val="21548A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16" name="Name Line"/>
          <p:cNvSpPr/>
          <p:nvPr/>
        </p:nvSpPr>
        <p:spPr>
          <a:xfrm>
            <a:off x="6600000" y="1320000"/>
            <a:ext cx="1050000" cy="70000"/>
          </a:xfrm>
          <a:prstGeom prst="roundRect">
            <a:avLst>
              <a:gd name="adj" fmla="val 50000"/>
            </a:avLst>
          </a:prstGeom>
          <a:solidFill>
            <a:srgbClr val="21548A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17" name="Sub Line"/>
          <p:cNvSpPr/>
          <p:nvPr/>
        </p:nvSpPr>
        <p:spPr>
          <a:xfrm>
            <a:off x="6600000" y="1420000"/>
            <a:ext cx="750000" cy="55000"/>
          </a:xfrm>
          <a:prstGeom prst="roundRect">
            <a:avLst>
              <a:gd name="adj" fmla="val 50000"/>
            </a:avLst>
          </a:prstGeom>
          <a:solidFill>
            <a:srgbClr val="8FA6BE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18" name="Row BG"/>
          <p:cNvSpPr/>
          <p:nvPr/>
        </p:nvSpPr>
        <p:spPr>
          <a:xfrm>
            <a:off x="6320000" y="1650000"/>
            <a:ext cx="1810000" cy="2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C9D6E5">
                <a:alpha val="6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19" name="Row Icon"/>
          <p:cNvSpPr/>
          <p:nvPr/>
        </p:nvSpPr>
        <p:spPr>
          <a:xfrm>
            <a:off x="6370000" y="1705000"/>
            <a:ext cx="170000" cy="170000"/>
          </a:xfrm>
          <a:prstGeom prst="roundRect">
            <a:avLst>
              <a:gd name="adj" fmla="val 25000"/>
            </a:avLst>
          </a:prstGeom>
          <a:solidFill>
            <a:srgbClr val="02C39A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20" name="Row Text"/>
          <p:cNvSpPr/>
          <p:nvPr/>
        </p:nvSpPr>
        <p:spPr>
          <a:xfrm>
            <a:off x="6600000" y="1760000"/>
            <a:ext cx="1350000" cy="60000"/>
          </a:xfrm>
          <a:prstGeom prst="roundRect">
            <a:avLst>
              <a:gd name="adj" fmla="val 50000"/>
            </a:avLst>
          </a:prstGeom>
          <a:solidFill>
            <a:srgbClr val="21548A">
              <a:alpha val="45000"/>
            </a:srgbClr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21" name="Row BG"/>
          <p:cNvSpPr/>
          <p:nvPr/>
        </p:nvSpPr>
        <p:spPr>
          <a:xfrm>
            <a:off x="6320000" y="2000000"/>
            <a:ext cx="1810000" cy="2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C9D6E5">
                <a:alpha val="6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22" name="Row Icon"/>
          <p:cNvSpPr/>
          <p:nvPr/>
        </p:nvSpPr>
        <p:spPr>
          <a:xfrm>
            <a:off x="6370000" y="2055000"/>
            <a:ext cx="170000" cy="170000"/>
          </a:xfrm>
          <a:prstGeom prst="roundRect">
            <a:avLst>
              <a:gd name="adj" fmla="val 25000"/>
            </a:avLst>
          </a:prstGeom>
          <a:solidFill>
            <a:srgbClr val="02C39A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23" name="Row Text"/>
          <p:cNvSpPr/>
          <p:nvPr/>
        </p:nvSpPr>
        <p:spPr>
          <a:xfrm>
            <a:off x="6600000" y="2110000"/>
            <a:ext cx="1350000" cy="60000"/>
          </a:xfrm>
          <a:prstGeom prst="roundRect">
            <a:avLst>
              <a:gd name="adj" fmla="val 50000"/>
            </a:avLst>
          </a:prstGeom>
          <a:solidFill>
            <a:srgbClr val="21548A">
              <a:alpha val="45000"/>
            </a:srgbClr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24" name="Row BG"/>
          <p:cNvSpPr/>
          <p:nvPr/>
        </p:nvSpPr>
        <p:spPr>
          <a:xfrm>
            <a:off x="6320000" y="2350000"/>
            <a:ext cx="1810000" cy="2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C9D6E5">
                <a:alpha val="6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25" name="Row Icon"/>
          <p:cNvSpPr/>
          <p:nvPr/>
        </p:nvSpPr>
        <p:spPr>
          <a:xfrm>
            <a:off x="6370000" y="2405000"/>
            <a:ext cx="170000" cy="170000"/>
          </a:xfrm>
          <a:prstGeom prst="roundRect">
            <a:avLst>
              <a:gd name="adj" fmla="val 25000"/>
            </a:avLst>
          </a:prstGeom>
          <a:solidFill>
            <a:srgbClr val="02C39A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26" name="Row Text"/>
          <p:cNvSpPr/>
          <p:nvPr/>
        </p:nvSpPr>
        <p:spPr>
          <a:xfrm>
            <a:off x="6600000" y="2460000"/>
            <a:ext cx="1350000" cy="60000"/>
          </a:xfrm>
          <a:prstGeom prst="roundRect">
            <a:avLst>
              <a:gd name="adj" fmla="val 50000"/>
            </a:avLst>
          </a:prstGeom>
          <a:solidFill>
            <a:srgbClr val="21548A">
              <a:alpha val="45000"/>
            </a:srgbClr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27" name="Check Badge"/>
          <p:cNvSpPr/>
          <p:nvPr/>
        </p:nvSpPr>
        <p:spPr>
          <a:xfrm>
            <a:off x="6975000" y="3020000"/>
            <a:ext cx="500000" cy="500000"/>
          </a:xfrm>
          <a:prstGeom prst="roundRect">
            <a:avLst>
              <a:gd name="adj" fmla="val 30000"/>
            </a:avLst>
          </a:prstGeom>
          <a:solidFill>
            <a:srgbClr val="02C39A"/>
          </a:solidFill>
          <a:ln w="9525">
            <a:solidFill>
              <a:srgbClr val="FFFFFF">
                <a:alpha val="35000"/>
              </a:srgbClr>
            </a:solidFill>
          </a:ln>
          <a:effectLst>
            <a:outerShdw blurRad="180000" dist="55000" dir="5400000" rotWithShape="0">
              <a:srgbClr val="000000">
                <a:alpha val="3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fr-FR" sz="2400" b="1" dirty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8" name="Check Caption"/>
          <p:cNvSpPr/>
          <p:nvPr/>
        </p:nvSpPr>
        <p:spPr>
          <a:xfrm>
            <a:off x="6320000" y="3600000"/>
            <a:ext cx="1810000" cy="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fr-FR" sz="900" b="0" dirty="0">
                <a:solidFill>
                  <a:srgbClr val="21548A"/>
                </a:solidFill>
                <a:latin typeface="Calibri"/>
              </a:rPr>
              <a:t>Connecté en 2 minutes</a:t>
            </a:r>
          </a:p>
        </p:txBody>
      </p:sp>
      <p:sp>
        <p:nvSpPr>
          <p:cNvPr id="129" name="Tap Cue"/>
          <p:cNvSpPr/>
          <p:nvPr/>
        </p:nvSpPr>
        <p:spPr>
          <a:xfrm rot="13500000">
            <a:off x="8180000" y="2010000"/>
            <a:ext cx="150000" cy="150000"/>
          </a:xfrm>
          <a:prstGeom prst="triangle">
            <a:avLst/>
          </a:prstGeom>
          <a:solidFill>
            <a:srgbClr val="FFFFF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30" name="Steps Pill"/>
          <p:cNvSpPr/>
          <p:nvPr/>
        </p:nvSpPr>
        <p:spPr>
          <a:xfrm>
            <a:off x="5900000" y="480000"/>
            <a:ext cx="1620000" cy="430000"/>
          </a:xfrm>
          <a:prstGeom prst="roundRect">
            <a:avLst>
              <a:gd name="adj" fmla="val 50000"/>
            </a:avLst>
          </a:prstGeom>
          <a:solidFill>
            <a:srgbClr val="0F2A4D">
              <a:alpha val="88000"/>
            </a:srgbClr>
          </a:solidFill>
          <a:ln w="9525">
            <a:solidFill>
              <a:srgbClr val="02C39A">
                <a:alpha val="55000"/>
              </a:srgbClr>
            </a:solidFill>
          </a:ln>
          <a:effectLst>
            <a:outerShdw blurRad="180000" dist="55000" dir="5400000" rotWithShape="0">
              <a:srgbClr val="000000">
                <a:alpha val="3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fr-FR" sz="950" b="1" dirty="0">
                <a:solidFill>
                  <a:srgbClr val="FFFFFF"/>
                </a:solidFill>
                <a:latin typeface="Calibri"/>
              </a:rPr>
              <a:t>12 démarches</a:t>
            </a:r>
          </a:p>
          <a:p>
            <a:pPr algn="ctr">
              <a:buNone/>
            </a:pPr>
            <a:r>
              <a:rPr lang="fr-FR" sz="750" b="0" dirty="0">
                <a:solidFill>
                  <a:srgbClr val="C9D6E5"/>
                </a:solidFill>
                <a:latin typeface="Calibri"/>
              </a:rPr>
              <a:t>expliquées pas à pas</a:t>
            </a: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36928" y="1650000"/>
            <a:ext cx="500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NUMÉRIQUE · PAS À PAS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18640" y="1950000"/>
            <a:ext cx="5200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 compte CAF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636928" y="2760000"/>
            <a:ext cx="5200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A à Z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55216" y="3480000"/>
            <a:ext cx="4600000" cy="10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bien débuter : chaque démarche est expliquée clic par clic, avec le nom exact des boutons. Se connecter, suivre ses paiements, télécharger une attestation, déclarer, envoyer un document…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55216" y="4700000"/>
            <a:ext cx="420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FA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· Médiation numérique</a:t>
            </a:r>
            <a:endParaRPr lang="en-US" sz="1050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7263058-C33D-B624-7E85-D574E3BA0030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256032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4128" y="310896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 DE L'ATELIER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005840" y="512064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A3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Cliquez sur un thème pour y accéder</a:t>
            </a:r>
            <a:endParaRPr lang="en-US" sz="2300" dirty="0"/>
          </a:p>
        </p:txBody>
      </p:sp>
      <p:sp>
        <p:nvSpPr>
          <p:cNvPr id="5" name="Shape 2">
            <a:hlinkClick r:id="rId4" action="ppaction://hlinksldjump"/>
          </p:cNvPr>
          <p:cNvSpPr/>
          <p:nvPr/>
        </p:nvSpPr>
        <p:spPr>
          <a:xfrm>
            <a:off x="502920" y="1371600"/>
            <a:ext cx="393192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3">
            <a:hlinkClick r:id="rId4" action="ppaction://hlinksldjump"/>
          </p:cNvPr>
          <p:cNvSpPr/>
          <p:nvPr/>
        </p:nvSpPr>
        <p:spPr>
          <a:xfrm>
            <a:off x="621792" y="1463040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>
            <a:hlinkClick r:id="rId4" action="ppaction://hlinksldjump"/>
          </p:cNvPr>
          <p:cNvSpPr/>
          <p:nvPr/>
        </p:nvSpPr>
        <p:spPr>
          <a:xfrm>
            <a:off x="621792" y="1463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</a:t>
            </a:r>
            <a:endParaRPr lang="en-US" sz="1200" dirty="0"/>
          </a:p>
        </p:txBody>
      </p:sp>
      <p:sp>
        <p:nvSpPr>
          <p:cNvPr id="8" name="Text 5">
            <a:hlinkClick r:id="rId4" action="ppaction://hlinksldjump"/>
          </p:cNvPr>
          <p:cNvSpPr/>
          <p:nvPr/>
        </p:nvSpPr>
        <p:spPr>
          <a:xfrm>
            <a:off x="1005840" y="13716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u="sng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À quoi ça sert ?</a:t>
            </a:r>
            <a:endParaRPr lang="en-US" sz="1350" dirty="0"/>
          </a:p>
        </p:txBody>
      </p:sp>
      <p:sp>
        <p:nvSpPr>
          <p:cNvPr id="9" name="Shape 6">
            <a:hlinkClick r:id="rId5" action="ppaction://hlinksldjump"/>
          </p:cNvPr>
          <p:cNvSpPr/>
          <p:nvPr/>
        </p:nvSpPr>
        <p:spPr>
          <a:xfrm>
            <a:off x="4892040" y="1371600"/>
            <a:ext cx="393192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>
            <a:hlinkClick r:id="rId5" action="ppaction://hlinksldjump"/>
          </p:cNvPr>
          <p:cNvSpPr/>
          <p:nvPr/>
        </p:nvSpPr>
        <p:spPr>
          <a:xfrm>
            <a:off x="5010912" y="146304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>
            <a:hlinkClick r:id="rId5" action="ppaction://hlinksldjump"/>
          </p:cNvPr>
          <p:cNvSpPr/>
          <p:nvPr/>
        </p:nvSpPr>
        <p:spPr>
          <a:xfrm>
            <a:off x="5010912" y="1463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</a:t>
            </a:r>
            <a:endParaRPr lang="en-US" sz="1200" dirty="0"/>
          </a:p>
        </p:txBody>
      </p:sp>
      <p:sp>
        <p:nvSpPr>
          <p:cNvPr id="12" name="Text 9">
            <a:hlinkClick r:id="rId5" action="ppaction://hlinksldjump"/>
          </p:cNvPr>
          <p:cNvSpPr/>
          <p:nvPr/>
        </p:nvSpPr>
        <p:spPr>
          <a:xfrm>
            <a:off x="5394960" y="13716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u="sng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 accéder : site &amp; appli</a:t>
            </a:r>
            <a:endParaRPr lang="en-US" sz="1350" dirty="0"/>
          </a:p>
        </p:txBody>
      </p:sp>
      <p:sp>
        <p:nvSpPr>
          <p:cNvPr id="13" name="Shape 10">
            <a:hlinkClick r:id="rId6" action="ppaction://hlinksldjump"/>
          </p:cNvPr>
          <p:cNvSpPr/>
          <p:nvPr/>
        </p:nvSpPr>
        <p:spPr>
          <a:xfrm>
            <a:off x="502920" y="1879092"/>
            <a:ext cx="393192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1">
            <a:hlinkClick r:id="rId6" action="ppaction://hlinksldjump"/>
          </p:cNvPr>
          <p:cNvSpPr/>
          <p:nvPr/>
        </p:nvSpPr>
        <p:spPr>
          <a:xfrm>
            <a:off x="621792" y="1970532"/>
            <a:ext cx="274320" cy="274320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>
            <a:hlinkClick r:id="rId6" action="ppaction://hlinksldjump"/>
          </p:cNvPr>
          <p:cNvSpPr/>
          <p:nvPr/>
        </p:nvSpPr>
        <p:spPr>
          <a:xfrm>
            <a:off x="621792" y="19705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</a:t>
            </a:r>
            <a:endParaRPr lang="en-US" sz="1200" dirty="0"/>
          </a:p>
        </p:txBody>
      </p:sp>
      <p:sp>
        <p:nvSpPr>
          <p:cNvPr id="16" name="Text 13">
            <a:hlinkClick r:id="rId6" action="ppaction://hlinksldjump"/>
          </p:cNvPr>
          <p:cNvSpPr/>
          <p:nvPr/>
        </p:nvSpPr>
        <p:spPr>
          <a:xfrm>
            <a:off x="1005840" y="187909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u="sng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connecter</a:t>
            </a:r>
            <a:endParaRPr lang="en-US" sz="1350" dirty="0"/>
          </a:p>
        </p:txBody>
      </p:sp>
      <p:sp>
        <p:nvSpPr>
          <p:cNvPr id="17" name="Shape 14">
            <a:hlinkClick r:id="rId7" action="ppaction://hlinksldjump"/>
          </p:cNvPr>
          <p:cNvSpPr/>
          <p:nvPr/>
        </p:nvSpPr>
        <p:spPr>
          <a:xfrm>
            <a:off x="4892040" y="1879092"/>
            <a:ext cx="393192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5">
            <a:hlinkClick r:id="rId7" action="ppaction://hlinksldjump"/>
          </p:cNvPr>
          <p:cNvSpPr/>
          <p:nvPr/>
        </p:nvSpPr>
        <p:spPr>
          <a:xfrm>
            <a:off x="5010912" y="1970532"/>
            <a:ext cx="274320" cy="274320"/>
          </a:xfrm>
          <a:prstGeom prst="ellipse">
            <a:avLst/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6">
            <a:hlinkClick r:id="rId7" action="ppaction://hlinksldjump"/>
          </p:cNvPr>
          <p:cNvSpPr/>
          <p:nvPr/>
        </p:nvSpPr>
        <p:spPr>
          <a:xfrm>
            <a:off x="5010912" y="19705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4</a:t>
            </a:r>
            <a:endParaRPr lang="en-US" sz="1200" dirty="0"/>
          </a:p>
        </p:txBody>
      </p:sp>
      <p:sp>
        <p:nvSpPr>
          <p:cNvPr id="20" name="Text 17">
            <a:hlinkClick r:id="rId7" action="ppaction://hlinksldjump"/>
          </p:cNvPr>
          <p:cNvSpPr/>
          <p:nvPr/>
        </p:nvSpPr>
        <p:spPr>
          <a:xfrm>
            <a:off x="5394960" y="1879092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u="sng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Créer son compte</a:t>
            </a:r>
            <a:endParaRPr lang="en-US" sz="1350" dirty="0"/>
          </a:p>
        </p:txBody>
      </p:sp>
      <p:sp>
        <p:nvSpPr>
          <p:cNvPr id="21" name="Shape 18">
            <a:hlinkClick r:id="rId8" action="ppaction://hlinksldjump"/>
          </p:cNvPr>
          <p:cNvSpPr/>
          <p:nvPr/>
        </p:nvSpPr>
        <p:spPr>
          <a:xfrm>
            <a:off x="502920" y="2386584"/>
            <a:ext cx="393192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19">
            <a:hlinkClick r:id="rId8" action="ppaction://hlinksldjump"/>
          </p:cNvPr>
          <p:cNvSpPr/>
          <p:nvPr/>
        </p:nvSpPr>
        <p:spPr>
          <a:xfrm>
            <a:off x="621792" y="2478024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0">
            <a:hlinkClick r:id="rId8" action="ppaction://hlinksldjump"/>
          </p:cNvPr>
          <p:cNvSpPr/>
          <p:nvPr/>
        </p:nvSpPr>
        <p:spPr>
          <a:xfrm>
            <a:off x="621792" y="2478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5</a:t>
            </a:r>
            <a:endParaRPr lang="en-US" sz="1200" dirty="0"/>
          </a:p>
        </p:txBody>
      </p:sp>
      <p:sp>
        <p:nvSpPr>
          <p:cNvPr id="24" name="Text 21">
            <a:hlinkClick r:id="rId8" action="ppaction://hlinksldjump"/>
          </p:cNvPr>
          <p:cNvSpPr/>
          <p:nvPr/>
        </p:nvSpPr>
        <p:spPr>
          <a:xfrm>
            <a:off x="1005840" y="2386584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u="sng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repérer sur l'accueil</a:t>
            </a:r>
            <a:endParaRPr lang="en-US" sz="1350" dirty="0"/>
          </a:p>
        </p:txBody>
      </p:sp>
      <p:sp>
        <p:nvSpPr>
          <p:cNvPr id="25" name="Shape 22">
            <a:hlinkClick r:id="rId9" action="ppaction://hlinksldjump"/>
          </p:cNvPr>
          <p:cNvSpPr/>
          <p:nvPr/>
        </p:nvSpPr>
        <p:spPr>
          <a:xfrm>
            <a:off x="4892040" y="2386584"/>
            <a:ext cx="393192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3">
            <a:hlinkClick r:id="rId9" action="ppaction://hlinksldjump"/>
          </p:cNvPr>
          <p:cNvSpPr/>
          <p:nvPr/>
        </p:nvSpPr>
        <p:spPr>
          <a:xfrm>
            <a:off x="5010912" y="2478024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4">
            <a:hlinkClick r:id="rId9" action="ppaction://hlinksldjump"/>
          </p:cNvPr>
          <p:cNvSpPr/>
          <p:nvPr/>
        </p:nvSpPr>
        <p:spPr>
          <a:xfrm>
            <a:off x="5010912" y="2478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6</a:t>
            </a:r>
            <a:endParaRPr lang="en-US" sz="1200" dirty="0"/>
          </a:p>
        </p:txBody>
      </p:sp>
      <p:sp>
        <p:nvSpPr>
          <p:cNvPr id="28" name="Text 25">
            <a:hlinkClick r:id="rId9" action="ppaction://hlinksldjump"/>
          </p:cNvPr>
          <p:cNvSpPr/>
          <p:nvPr/>
        </p:nvSpPr>
        <p:spPr>
          <a:xfrm>
            <a:off x="5394960" y="2386584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u="sng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Suivre mes paiements</a:t>
            </a:r>
            <a:endParaRPr lang="en-US" sz="1350" dirty="0"/>
          </a:p>
        </p:txBody>
      </p:sp>
      <p:sp>
        <p:nvSpPr>
          <p:cNvPr id="29" name="Shape 26">
            <a:hlinkClick r:id="rId10" action="ppaction://hlinksldjump"/>
          </p:cNvPr>
          <p:cNvSpPr/>
          <p:nvPr/>
        </p:nvSpPr>
        <p:spPr>
          <a:xfrm>
            <a:off x="502920" y="2894076"/>
            <a:ext cx="393192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7">
            <a:hlinkClick r:id="rId10" action="ppaction://hlinksldjump"/>
          </p:cNvPr>
          <p:cNvSpPr/>
          <p:nvPr/>
        </p:nvSpPr>
        <p:spPr>
          <a:xfrm>
            <a:off x="621792" y="2985516"/>
            <a:ext cx="274320" cy="274320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8">
            <a:hlinkClick r:id="rId10" action="ppaction://hlinksldjump"/>
          </p:cNvPr>
          <p:cNvSpPr/>
          <p:nvPr/>
        </p:nvSpPr>
        <p:spPr>
          <a:xfrm>
            <a:off x="621792" y="29855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7</a:t>
            </a:r>
            <a:endParaRPr lang="en-US" sz="1200" dirty="0"/>
          </a:p>
        </p:txBody>
      </p:sp>
      <p:sp>
        <p:nvSpPr>
          <p:cNvPr id="32" name="Text 29">
            <a:hlinkClick r:id="rId10" action="ppaction://hlinksldjump"/>
          </p:cNvPr>
          <p:cNvSpPr/>
          <p:nvPr/>
        </p:nvSpPr>
        <p:spPr>
          <a:xfrm>
            <a:off x="1005840" y="2894076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u="sng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Télécharger une attestation</a:t>
            </a:r>
            <a:endParaRPr lang="en-US" sz="1350" dirty="0"/>
          </a:p>
        </p:txBody>
      </p:sp>
      <p:sp>
        <p:nvSpPr>
          <p:cNvPr id="33" name="Shape 30">
            <a:hlinkClick r:id="rId11" action="ppaction://hlinksldjump"/>
          </p:cNvPr>
          <p:cNvSpPr/>
          <p:nvPr/>
        </p:nvSpPr>
        <p:spPr>
          <a:xfrm>
            <a:off x="4892040" y="2894076"/>
            <a:ext cx="393192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4" name="Shape 31">
            <a:hlinkClick r:id="rId11" action="ppaction://hlinksldjump"/>
          </p:cNvPr>
          <p:cNvSpPr/>
          <p:nvPr/>
        </p:nvSpPr>
        <p:spPr>
          <a:xfrm>
            <a:off x="5010912" y="2985516"/>
            <a:ext cx="274320" cy="274320"/>
          </a:xfrm>
          <a:prstGeom prst="ellipse">
            <a:avLst/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2">
            <a:hlinkClick r:id="rId11" action="ppaction://hlinksldjump"/>
          </p:cNvPr>
          <p:cNvSpPr/>
          <p:nvPr/>
        </p:nvSpPr>
        <p:spPr>
          <a:xfrm>
            <a:off x="5010912" y="29855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</a:t>
            </a:r>
            <a:endParaRPr lang="en-US" sz="1200" dirty="0"/>
          </a:p>
        </p:txBody>
      </p:sp>
      <p:sp>
        <p:nvSpPr>
          <p:cNvPr id="36" name="Text 33">
            <a:hlinkClick r:id="rId11" action="ppaction://hlinksldjump"/>
          </p:cNvPr>
          <p:cNvSpPr/>
          <p:nvPr/>
        </p:nvSpPr>
        <p:spPr>
          <a:xfrm>
            <a:off x="5394960" y="2894076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u="sng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Déclarer un changement</a:t>
            </a:r>
            <a:endParaRPr lang="en-US" sz="1350" dirty="0"/>
          </a:p>
        </p:txBody>
      </p:sp>
      <p:sp>
        <p:nvSpPr>
          <p:cNvPr id="37" name="Shape 34">
            <a:hlinkClick r:id="rId12" action="ppaction://hlinksldjump"/>
          </p:cNvPr>
          <p:cNvSpPr/>
          <p:nvPr/>
        </p:nvSpPr>
        <p:spPr>
          <a:xfrm>
            <a:off x="502920" y="3401568"/>
            <a:ext cx="393192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8" name="Shape 35">
            <a:hlinkClick r:id="rId12" action="ppaction://hlinksldjump"/>
          </p:cNvPr>
          <p:cNvSpPr/>
          <p:nvPr/>
        </p:nvSpPr>
        <p:spPr>
          <a:xfrm>
            <a:off x="621792" y="3493008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Text 36">
            <a:hlinkClick r:id="rId12" action="ppaction://hlinksldjump"/>
          </p:cNvPr>
          <p:cNvSpPr/>
          <p:nvPr/>
        </p:nvSpPr>
        <p:spPr>
          <a:xfrm>
            <a:off x="621792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9</a:t>
            </a:r>
            <a:endParaRPr lang="en-US" sz="1200" dirty="0"/>
          </a:p>
        </p:txBody>
      </p:sp>
      <p:sp>
        <p:nvSpPr>
          <p:cNvPr id="40" name="Text 37">
            <a:hlinkClick r:id="rId12" action="ppaction://hlinksldjump"/>
          </p:cNvPr>
          <p:cNvSpPr/>
          <p:nvPr/>
        </p:nvSpPr>
        <p:spPr>
          <a:xfrm>
            <a:off x="1005840" y="34015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u="sng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 déclaration trimestrielle</a:t>
            </a:r>
            <a:endParaRPr lang="en-US" sz="1350" dirty="0"/>
          </a:p>
        </p:txBody>
      </p:sp>
      <p:sp>
        <p:nvSpPr>
          <p:cNvPr id="41" name="Shape 38">
            <a:hlinkClick r:id="rId13" action="ppaction://hlinksldjump"/>
          </p:cNvPr>
          <p:cNvSpPr/>
          <p:nvPr/>
        </p:nvSpPr>
        <p:spPr>
          <a:xfrm>
            <a:off x="4892040" y="3401568"/>
            <a:ext cx="393192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2" name="Shape 39">
            <a:hlinkClick r:id="rId13" action="ppaction://hlinksldjump"/>
          </p:cNvPr>
          <p:cNvSpPr/>
          <p:nvPr/>
        </p:nvSpPr>
        <p:spPr>
          <a:xfrm>
            <a:off x="5010912" y="3493008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" name="Text 40">
            <a:hlinkClick r:id="rId13" action="ppaction://hlinksldjump"/>
          </p:cNvPr>
          <p:cNvSpPr/>
          <p:nvPr/>
        </p:nvSpPr>
        <p:spPr>
          <a:xfrm>
            <a:off x="5010912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10</a:t>
            </a:r>
            <a:endParaRPr lang="en-US" sz="1200" dirty="0"/>
          </a:p>
        </p:txBody>
      </p:sp>
      <p:sp>
        <p:nvSpPr>
          <p:cNvPr id="44" name="Text 41">
            <a:hlinkClick r:id="rId13" action="ppaction://hlinksldjump"/>
          </p:cNvPr>
          <p:cNvSpPr/>
          <p:nvPr/>
        </p:nvSpPr>
        <p:spPr>
          <a:xfrm>
            <a:off x="5394960" y="340156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u="sng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Envoyer un document</a:t>
            </a:r>
            <a:endParaRPr lang="en-US" sz="1350" dirty="0"/>
          </a:p>
        </p:txBody>
      </p:sp>
      <p:sp>
        <p:nvSpPr>
          <p:cNvPr id="45" name="Shape 42">
            <a:hlinkClick r:id="rId14" action="ppaction://hlinksldjump"/>
          </p:cNvPr>
          <p:cNvSpPr/>
          <p:nvPr/>
        </p:nvSpPr>
        <p:spPr>
          <a:xfrm>
            <a:off x="502920" y="3909060"/>
            <a:ext cx="393192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6" name="Shape 43">
            <a:hlinkClick r:id="rId14" action="ppaction://hlinksldjump"/>
          </p:cNvPr>
          <p:cNvSpPr/>
          <p:nvPr/>
        </p:nvSpPr>
        <p:spPr>
          <a:xfrm>
            <a:off x="621792" y="4000500"/>
            <a:ext cx="274320" cy="274320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7" name="Text 44">
            <a:hlinkClick r:id="rId14" action="ppaction://hlinksldjump"/>
          </p:cNvPr>
          <p:cNvSpPr/>
          <p:nvPr/>
        </p:nvSpPr>
        <p:spPr>
          <a:xfrm>
            <a:off x="621792" y="40005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11</a:t>
            </a:r>
            <a:endParaRPr lang="en-US" sz="1200" dirty="0"/>
          </a:p>
        </p:txBody>
      </p:sp>
      <p:sp>
        <p:nvSpPr>
          <p:cNvPr id="48" name="Text 45">
            <a:hlinkClick r:id="rId14" action="ppaction://hlinksldjump"/>
          </p:cNvPr>
          <p:cNvSpPr/>
          <p:nvPr/>
        </p:nvSpPr>
        <p:spPr>
          <a:xfrm>
            <a:off x="1005840" y="39090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u="sng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Écrire à la CAF</a:t>
            </a:r>
            <a:endParaRPr lang="en-US" sz="1350" dirty="0"/>
          </a:p>
        </p:txBody>
      </p:sp>
      <p:sp>
        <p:nvSpPr>
          <p:cNvPr id="49" name="Shape 46">
            <a:hlinkClick r:id="rId15" action="ppaction://hlinksldjump"/>
          </p:cNvPr>
          <p:cNvSpPr/>
          <p:nvPr/>
        </p:nvSpPr>
        <p:spPr>
          <a:xfrm>
            <a:off x="4892040" y="3909060"/>
            <a:ext cx="393192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0" name="Shape 47">
            <a:hlinkClick r:id="rId15" action="ppaction://hlinksldjump"/>
          </p:cNvPr>
          <p:cNvSpPr/>
          <p:nvPr/>
        </p:nvSpPr>
        <p:spPr>
          <a:xfrm>
            <a:off x="5010912" y="4000500"/>
            <a:ext cx="274320" cy="274320"/>
          </a:xfrm>
          <a:prstGeom prst="ellipse">
            <a:avLst/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1" name="Text 48">
            <a:hlinkClick r:id="rId15" action="ppaction://hlinksldjump"/>
          </p:cNvPr>
          <p:cNvSpPr/>
          <p:nvPr/>
        </p:nvSpPr>
        <p:spPr>
          <a:xfrm>
            <a:off x="5010912" y="40005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12</a:t>
            </a:r>
            <a:endParaRPr lang="en-US" sz="1200" dirty="0"/>
          </a:p>
        </p:txBody>
      </p:sp>
      <p:sp>
        <p:nvSpPr>
          <p:cNvPr id="52" name="Text 49">
            <a:hlinkClick r:id="rId15" action="ppaction://hlinksldjump"/>
          </p:cNvPr>
          <p:cNvSpPr/>
          <p:nvPr/>
        </p:nvSpPr>
        <p:spPr>
          <a:xfrm>
            <a:off x="5394960" y="39090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u="sng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Sécurité &amp; dépannage</a:t>
            </a:r>
            <a:endParaRPr lang="en-US" sz="1350" dirty="0"/>
          </a:p>
        </p:txBody>
      </p:sp>
      <p:sp>
        <p:nvSpPr>
          <p:cNvPr id="53" name="Text 50"/>
          <p:cNvSpPr/>
          <p:nvPr/>
        </p:nvSpPr>
        <p:spPr>
          <a:xfrm>
            <a:off x="502920" y="46817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: en bas à droite de chaque diapo, les boutons ⊞ ◄ ► permettent de revenir au sommaire ou de naviguer.</a:t>
            </a:r>
            <a:endParaRPr lang="en-US" sz="1000" dirty="0"/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7FE6403A-0063-7B1E-6672-641ACA21F8F2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256032"/>
            <a:ext cx="566928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4128" y="310896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420624"/>
            <a:ext cx="237744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627632" y="27432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COMPTE CAF · 1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1609344" y="45720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3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quoi sert mon compte CAF ?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502920" y="1298448"/>
            <a:ext cx="8183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Mon Compte » est votre espace personnel et sécurisé, sur le site caf.fr et dans l'application mobile. Tout votre dossier se gère là, sans déplacement ni courrier.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502920" y="2057400"/>
            <a:ext cx="39319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5"/>
          <p:cNvSpPr/>
          <p:nvPr/>
        </p:nvSpPr>
        <p:spPr>
          <a:xfrm>
            <a:off x="704088" y="2258568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239572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17320" y="22402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mes droits et paiements</a:t>
            </a:r>
            <a:endParaRPr lang="en-US" sz="1450" dirty="0"/>
          </a:p>
        </p:txBody>
      </p:sp>
      <p:sp>
        <p:nvSpPr>
          <p:cNvPr id="12" name="Text 7"/>
          <p:cNvSpPr/>
          <p:nvPr/>
        </p:nvSpPr>
        <p:spPr>
          <a:xfrm>
            <a:off x="1417320" y="253288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la CAF me verse : dates et montants.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4754880" y="2057400"/>
            <a:ext cx="39319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9"/>
          <p:cNvSpPr/>
          <p:nvPr/>
        </p:nvSpPr>
        <p:spPr>
          <a:xfrm>
            <a:off x="4956048" y="2258568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3208" y="2395728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669280" y="22402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Télécharger mes documents</a:t>
            </a:r>
            <a:endParaRPr lang="en-US" sz="1450" dirty="0"/>
          </a:p>
        </p:txBody>
      </p:sp>
      <p:sp>
        <p:nvSpPr>
          <p:cNvPr id="17" name="Text 11"/>
          <p:cNvSpPr/>
          <p:nvPr/>
        </p:nvSpPr>
        <p:spPr>
          <a:xfrm>
            <a:off x="5669280" y="253288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Attestations, relevés… en PDF.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02920" y="3264408"/>
            <a:ext cx="39319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3"/>
          <p:cNvSpPr/>
          <p:nvPr/>
        </p:nvSpPr>
        <p:spPr>
          <a:xfrm>
            <a:off x="704088" y="3465576"/>
            <a:ext cx="548640" cy="548640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" y="3602736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417320" y="34472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Déclarer ma situation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1417320" y="373989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Déménagement, naissance, RIB, ressources…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4754880" y="3264408"/>
            <a:ext cx="39319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17"/>
          <p:cNvSpPr/>
          <p:nvPr/>
        </p:nvSpPr>
        <p:spPr>
          <a:xfrm>
            <a:off x="4956048" y="3465576"/>
            <a:ext cx="548640" cy="548640"/>
          </a:xfrm>
          <a:prstGeom prst="ellipse">
            <a:avLst/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93208" y="3602736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669280" y="34472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Échanger avec ma CAF</a:t>
            </a:r>
            <a:endParaRPr lang="en-US" sz="1450" dirty="0"/>
          </a:p>
        </p:txBody>
      </p:sp>
      <p:sp>
        <p:nvSpPr>
          <p:cNvPr id="27" name="Text 19"/>
          <p:cNvSpPr/>
          <p:nvPr/>
        </p:nvSpPr>
        <p:spPr>
          <a:xfrm>
            <a:off x="5669280" y="373989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Messagerie, suivi et envoi de documents.</a:t>
            </a:r>
            <a:endParaRPr lang="en-US" sz="1150" dirty="0"/>
          </a:p>
        </p:txBody>
      </p:sp>
      <p:sp>
        <p:nvSpPr>
          <p:cNvPr id="28" name="Shape 20">
            <a:hlinkClick r:id="rId9" action="ppaction://hlinksldjump"/>
          </p:cNvPr>
          <p:cNvSpPr/>
          <p:nvPr/>
        </p:nvSpPr>
        <p:spPr>
          <a:xfrm>
            <a:off x="74249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9" name="Image 6" descr="preencoded.png">
            <a:hlinkClick r:id="rId9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4656" y="4754880"/>
            <a:ext cx="164592" cy="164592"/>
          </a:xfrm>
          <a:prstGeom prst="rect">
            <a:avLst/>
          </a:prstGeom>
        </p:spPr>
      </p:pic>
      <p:sp>
        <p:nvSpPr>
          <p:cNvPr id="30" name="Shape 21">
            <a:hlinkClick r:id="rId9" action="ppaction://hlinksldjump"/>
          </p:cNvPr>
          <p:cNvSpPr/>
          <p:nvPr/>
        </p:nvSpPr>
        <p:spPr>
          <a:xfrm>
            <a:off x="78821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1" name="Image 7" descr="preencoded.png">
            <a:hlinkClick r:id="rId9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01000" y="4754880"/>
            <a:ext cx="146304" cy="164592"/>
          </a:xfrm>
          <a:prstGeom prst="rect">
            <a:avLst/>
          </a:prstGeom>
        </p:spPr>
      </p:pic>
      <p:sp>
        <p:nvSpPr>
          <p:cNvPr id="32" name="Shape 22">
            <a:hlinkClick r:id="rId12" action="ppaction://hlinksldjump"/>
          </p:cNvPr>
          <p:cNvSpPr/>
          <p:nvPr/>
        </p:nvSpPr>
        <p:spPr>
          <a:xfrm>
            <a:off x="83393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3" name="Image 8" descr="preencoded.png">
            <a:hlinkClick r:id="rId12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58200" y="4754880"/>
            <a:ext cx="146304" cy="164592"/>
          </a:xfrm>
          <a:prstGeom prst="rect">
            <a:avLst/>
          </a:prstGeom>
        </p:spPr>
      </p:pic>
      <p:sp>
        <p:nvSpPr>
          <p:cNvPr id="34" name="Text 23"/>
          <p:cNvSpPr/>
          <p:nvPr/>
        </p:nvSpPr>
        <p:spPr>
          <a:xfrm>
            <a:off x="310896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· Médiation numérique</a:t>
            </a:r>
            <a:endParaRPr lang="en-US" sz="900" dirty="0"/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D3BF2ED4-861E-C713-8AAE-EBFA6F485CBF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256032"/>
            <a:ext cx="566928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4128" y="310896"/>
            <a:ext cx="457200" cy="457200"/>
          </a:xfrm>
          <a:prstGeom prst="ellipse">
            <a:avLst/>
          </a:prstGeom>
          <a:solidFill>
            <a:srgbClr val="2D6A4F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420624"/>
            <a:ext cx="237744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627632" y="27432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COMPTE CAF · 1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1609344" y="45720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3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principales aides gérées par la CAF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502920" y="1298448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Selon votre situation, la CAF peut verser plusieurs aides. Toutes se suivent depuis le même compte.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1828800"/>
            <a:ext cx="267919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5"/>
          <p:cNvSpPr/>
          <p:nvPr/>
        </p:nvSpPr>
        <p:spPr>
          <a:xfrm>
            <a:off x="685800" y="1956816"/>
            <a:ext cx="231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Aides au logement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685800" y="2267712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APL, ALF, ALS : aider à payer un loyer ou un prêt.</a:t>
            </a:r>
            <a:endParaRPr lang="en-US" sz="1080" dirty="0"/>
          </a:p>
        </p:txBody>
      </p:sp>
      <p:sp>
        <p:nvSpPr>
          <p:cNvPr id="11" name="Shape 7"/>
          <p:cNvSpPr/>
          <p:nvPr/>
        </p:nvSpPr>
        <p:spPr>
          <a:xfrm>
            <a:off x="3300984" y="1828800"/>
            <a:ext cx="267919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8"/>
          <p:cNvSpPr/>
          <p:nvPr/>
        </p:nvSpPr>
        <p:spPr>
          <a:xfrm>
            <a:off x="3483864" y="1956816"/>
            <a:ext cx="231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RSA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3483864" y="2267712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personnes sans ou avec peu de ressources.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6099048" y="1828800"/>
            <a:ext cx="267919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281928" y="1956816"/>
            <a:ext cx="231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d'activité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6281928" y="2267712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Complément pour ceux qui travaillent avec un petit salaire.</a:t>
            </a:r>
            <a:endParaRPr lang="en-US" sz="1080" dirty="0"/>
          </a:p>
        </p:txBody>
      </p:sp>
      <p:sp>
        <p:nvSpPr>
          <p:cNvPr id="17" name="Shape 13"/>
          <p:cNvSpPr/>
          <p:nvPr/>
        </p:nvSpPr>
        <p:spPr>
          <a:xfrm>
            <a:off x="502920" y="3044952"/>
            <a:ext cx="267919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685800" y="3172968"/>
            <a:ext cx="231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Allocations familiales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685800" y="3483864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familles avec au moins deux enfants.</a:t>
            </a:r>
            <a:endParaRPr lang="en-US" sz="1080" dirty="0"/>
          </a:p>
        </p:txBody>
      </p:sp>
      <p:sp>
        <p:nvSpPr>
          <p:cNvPr id="20" name="Shape 16"/>
          <p:cNvSpPr/>
          <p:nvPr/>
        </p:nvSpPr>
        <p:spPr>
          <a:xfrm>
            <a:off x="3300984" y="3044952"/>
            <a:ext cx="267919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3483864" y="3172968"/>
            <a:ext cx="231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AAH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3483864" y="3483864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aux Adultes Handicapés.</a:t>
            </a:r>
            <a:endParaRPr lang="en-US" sz="1080" dirty="0"/>
          </a:p>
        </p:txBody>
      </p:sp>
      <p:sp>
        <p:nvSpPr>
          <p:cNvPr id="23" name="Shape 19"/>
          <p:cNvSpPr/>
          <p:nvPr/>
        </p:nvSpPr>
        <p:spPr>
          <a:xfrm>
            <a:off x="6099048" y="3044952"/>
            <a:ext cx="267919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Text 20"/>
          <p:cNvSpPr/>
          <p:nvPr/>
        </p:nvSpPr>
        <p:spPr>
          <a:xfrm>
            <a:off x="6281928" y="3172968"/>
            <a:ext cx="2313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enfance (Paje)</a:t>
            </a:r>
            <a:endParaRPr lang="en-US" sz="1350" dirty="0"/>
          </a:p>
        </p:txBody>
      </p:sp>
      <p:sp>
        <p:nvSpPr>
          <p:cNvPr id="25" name="Text 21"/>
          <p:cNvSpPr/>
          <p:nvPr/>
        </p:nvSpPr>
        <p:spPr>
          <a:xfrm>
            <a:off x="6281928" y="3483864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Naissance, allocation de base, garde d'enfant.</a:t>
            </a:r>
            <a:endParaRPr lang="en-US" sz="1080" dirty="0"/>
          </a:p>
        </p:txBody>
      </p:sp>
      <p:sp>
        <p:nvSpPr>
          <p:cNvPr id="26" name="Shape 22">
            <a:hlinkClick r:id="rId5" action="ppaction://hlinksldjump"/>
          </p:cNvPr>
          <p:cNvSpPr/>
          <p:nvPr/>
        </p:nvSpPr>
        <p:spPr>
          <a:xfrm>
            <a:off x="74249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7" name="Image 2" descr="preencoded.png">
            <a:hlinkClick r:id="rId5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4656" y="4754880"/>
            <a:ext cx="164592" cy="164592"/>
          </a:xfrm>
          <a:prstGeom prst="rect">
            <a:avLst/>
          </a:prstGeom>
        </p:spPr>
      </p:pic>
      <p:sp>
        <p:nvSpPr>
          <p:cNvPr id="28" name="Shape 23">
            <a:hlinkClick r:id="rId7" action="ppaction://hlinksldjump"/>
          </p:cNvPr>
          <p:cNvSpPr/>
          <p:nvPr/>
        </p:nvSpPr>
        <p:spPr>
          <a:xfrm>
            <a:off x="78821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9" name="Image 3" descr="preencoded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4754880"/>
            <a:ext cx="146304" cy="164592"/>
          </a:xfrm>
          <a:prstGeom prst="rect">
            <a:avLst/>
          </a:prstGeom>
        </p:spPr>
      </p:pic>
      <p:sp>
        <p:nvSpPr>
          <p:cNvPr id="30" name="Shape 24">
            <a:hlinkClick r:id="rId9" action="ppaction://hlinksldjump"/>
          </p:cNvPr>
          <p:cNvSpPr/>
          <p:nvPr/>
        </p:nvSpPr>
        <p:spPr>
          <a:xfrm>
            <a:off x="83393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1" name="Image 4" descr="preencoded.png">
            <a:hlinkClick r:id="rId9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58200" y="4754880"/>
            <a:ext cx="146304" cy="16459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310896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· Médiation numérique</a:t>
            </a:r>
            <a:endParaRPr lang="en-US" sz="900" dirty="0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E49C97DE-13A4-C7A5-E409-A237C9C277F3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256032"/>
            <a:ext cx="566928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4128" y="310896"/>
            <a:ext cx="457200" cy="457200"/>
          </a:xfrm>
          <a:prstGeom prst="ellipse">
            <a:avLst/>
          </a:prstGeom>
          <a:solidFill>
            <a:srgbClr val="1C7293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420624"/>
            <a:ext cx="237744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627632" y="27432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· 2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1609344" y="45720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3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façons d'accéder à Mon Compte</a:t>
            </a:r>
            <a:endParaRPr lang="en-US" sz="2400" dirty="0"/>
          </a:p>
        </p:txBody>
      </p:sp>
      <p:sp>
        <p:nvSpPr>
          <p:cNvPr id="7" name="Shape 3"/>
          <p:cNvSpPr/>
          <p:nvPr/>
        </p:nvSpPr>
        <p:spPr>
          <a:xfrm>
            <a:off x="502920" y="1371600"/>
            <a:ext cx="3931920" cy="3154680"/>
          </a:xfrm>
          <a:prstGeom prst="roundRect">
            <a:avLst>
              <a:gd name="adj" fmla="val 2899"/>
            </a:avLst>
          </a:prstGeom>
          <a:solidFill>
            <a:srgbClr val="E9F8F3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4"/>
          <p:cNvSpPr/>
          <p:nvPr/>
        </p:nvSpPr>
        <p:spPr>
          <a:xfrm>
            <a:off x="777240" y="1627632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1764792"/>
            <a:ext cx="292608" cy="2926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63040" y="16276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ordinateur</a:t>
            </a:r>
            <a:endParaRPr lang="en-US" sz="1450" dirty="0"/>
          </a:p>
        </p:txBody>
      </p:sp>
      <p:sp>
        <p:nvSpPr>
          <p:cNvPr id="11" name="Text 6"/>
          <p:cNvSpPr/>
          <p:nvPr/>
        </p:nvSpPr>
        <p:spPr>
          <a:xfrm>
            <a:off x="1463040" y="19202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officiel : </a:t>
            </a: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www.caf.fr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795528" y="2395728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le navigateur (Chrome, Edge…)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sur www.caf.fr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Cliquer « Mon Compte » en haut à droite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Écran plus grand : pratique pour imprimer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4754880" y="1371600"/>
            <a:ext cx="3931920" cy="3154680"/>
          </a:xfrm>
          <a:prstGeom prst="roundRect">
            <a:avLst>
              <a:gd name="adj" fmla="val 2899"/>
            </a:avLst>
          </a:prstGeom>
          <a:solidFill>
            <a:srgbClr val="E8F1F5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9"/>
          <p:cNvSpPr/>
          <p:nvPr/>
        </p:nvSpPr>
        <p:spPr>
          <a:xfrm>
            <a:off x="5029200" y="1627632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1764792"/>
            <a:ext cx="292608" cy="2926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715000" y="16276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smartphone / tablette</a:t>
            </a:r>
            <a:endParaRPr lang="en-US" sz="1450" dirty="0"/>
          </a:p>
        </p:txBody>
      </p:sp>
      <p:sp>
        <p:nvSpPr>
          <p:cNvPr id="17" name="Text 11"/>
          <p:cNvSpPr/>
          <p:nvPr/>
        </p:nvSpPr>
        <p:spPr>
          <a:xfrm>
            <a:off x="5715000" y="19202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gratuite : </a:t>
            </a: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Caf - Mon Compte »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5047488" y="2395728"/>
            <a:ext cx="33832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depuis Play Store / App Store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mêmes services que le site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en cas de message ou décision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par empreinte ou visage</a:t>
            </a:r>
            <a:endParaRPr lang="en-US" sz="1150" dirty="0"/>
          </a:p>
        </p:txBody>
      </p:sp>
      <p:sp>
        <p:nvSpPr>
          <p:cNvPr id="19" name="Shape 13">
            <a:hlinkClick r:id="rId7" action="ppaction://hlinksldjump"/>
          </p:cNvPr>
          <p:cNvSpPr/>
          <p:nvPr/>
        </p:nvSpPr>
        <p:spPr>
          <a:xfrm>
            <a:off x="74249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4" descr="preencoded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34656" y="4754880"/>
            <a:ext cx="164592" cy="164592"/>
          </a:xfrm>
          <a:prstGeom prst="rect">
            <a:avLst/>
          </a:prstGeom>
        </p:spPr>
      </p:pic>
      <p:sp>
        <p:nvSpPr>
          <p:cNvPr id="21" name="Shape 14">
            <a:hlinkClick r:id="rId9" action="ppaction://hlinksldjump"/>
          </p:cNvPr>
          <p:cNvSpPr/>
          <p:nvPr/>
        </p:nvSpPr>
        <p:spPr>
          <a:xfrm>
            <a:off x="78821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5" descr="preencoded.png">
            <a:hlinkClick r:id="rId9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0" y="4754880"/>
            <a:ext cx="146304" cy="164592"/>
          </a:xfrm>
          <a:prstGeom prst="rect">
            <a:avLst/>
          </a:prstGeom>
        </p:spPr>
      </p:pic>
      <p:sp>
        <p:nvSpPr>
          <p:cNvPr id="23" name="Shape 15">
            <a:hlinkClick r:id="rId11" action="ppaction://hlinksldjump"/>
          </p:cNvPr>
          <p:cNvSpPr/>
          <p:nvPr/>
        </p:nvSpPr>
        <p:spPr>
          <a:xfrm>
            <a:off x="83393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4" name="Image 6" descr="preencoded.png">
            <a:hlinkClick r:id="rId11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58200" y="4754880"/>
            <a:ext cx="146304" cy="16459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310896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· Médiation numérique</a:t>
            </a:r>
            <a:endParaRPr lang="en-US" sz="900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A5B1FAAF-D1D9-144E-CD93-636B53CA1BC8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256032"/>
            <a:ext cx="566928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4128" y="310896"/>
            <a:ext cx="457200" cy="457200"/>
          </a:xfrm>
          <a:prstGeom prst="ellipse">
            <a:avLst/>
          </a:prstGeom>
          <a:solidFill>
            <a:srgbClr val="1A3D6D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420624"/>
            <a:ext cx="237744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627632" y="27432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À PAS · 3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1609344" y="45720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3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connecter à Mon Compte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502920" y="1280160"/>
            <a:ext cx="8183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ordinateur, depuis le site www.caf.fr :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1499616"/>
            <a:ext cx="81838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5"/>
          <p:cNvSpPr/>
          <p:nvPr/>
        </p:nvSpPr>
        <p:spPr>
          <a:xfrm>
            <a:off x="676656" y="1499616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/>
          <p:cNvSpPr/>
          <p:nvPr/>
        </p:nvSpPr>
        <p:spPr>
          <a:xfrm>
            <a:off x="676656" y="1499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298448" y="149961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le navigateur et taper </a:t>
            </a: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www.caf.fr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dans la barre d'adresse.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02920" y="1975104"/>
            <a:ext cx="81838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9"/>
          <p:cNvSpPr/>
          <p:nvPr/>
        </p:nvSpPr>
        <p:spPr>
          <a:xfrm>
            <a:off x="676656" y="1975104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/>
          <p:cNvSpPr/>
          <p:nvPr/>
        </p:nvSpPr>
        <p:spPr>
          <a:xfrm>
            <a:off x="676656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298448" y="197510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haut à droite, cliquer sur le bouton </a:t>
            </a: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Mon Compte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02920" y="2450592"/>
            <a:ext cx="81838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676656" y="2450592"/>
            <a:ext cx="402336" cy="402336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676656" y="2450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1298448" y="2450592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Saisir son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de Sécurité sociale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(13 chiffres, carte Vitale) ou son numéro d'allocataire.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02920" y="2926080"/>
            <a:ext cx="81838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7"/>
          <p:cNvSpPr/>
          <p:nvPr/>
        </p:nvSpPr>
        <p:spPr>
          <a:xfrm>
            <a:off x="676656" y="2926080"/>
            <a:ext cx="402336" cy="402336"/>
          </a:xfrm>
          <a:prstGeom prst="ellipse">
            <a:avLst/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8"/>
          <p:cNvSpPr/>
          <p:nvPr/>
        </p:nvSpPr>
        <p:spPr>
          <a:xfrm>
            <a:off x="676656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1298448" y="292608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Saisir son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 de passe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(il s'affiche en points).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502920" y="3401568"/>
            <a:ext cx="81838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1"/>
          <p:cNvSpPr/>
          <p:nvPr/>
        </p:nvSpPr>
        <p:spPr>
          <a:xfrm>
            <a:off x="676656" y="3401568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2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1298448" y="340156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Cliquer sur </a:t>
            </a: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Me connecter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502920" y="3931920"/>
            <a:ext cx="8183880" cy="530352"/>
          </a:xfrm>
          <a:prstGeom prst="roundRect">
            <a:avLst>
              <a:gd name="adj" fmla="val 15517"/>
            </a:avLst>
          </a:prstGeom>
          <a:solidFill>
            <a:srgbClr val="E9F8F3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5"/>
          <p:cNvSpPr/>
          <p:nvPr/>
        </p:nvSpPr>
        <p:spPr>
          <a:xfrm>
            <a:off x="667512" y="4005072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4105656"/>
            <a:ext cx="182880" cy="18288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216152" y="3931920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simple : cliquer sur le bouton bleu « FranceConnect » et se connecter avec ses identifiants des Impôts ou d'Ameli. Sur l'appli, on peut ensuite utiliser l'empreinte ou le visage.</a:t>
            </a:r>
            <a:endParaRPr lang="en-US" sz="1150" dirty="0"/>
          </a:p>
        </p:txBody>
      </p:sp>
      <p:sp>
        <p:nvSpPr>
          <p:cNvPr id="32" name="Shape 27">
            <a:hlinkClick r:id="rId6" action="ppaction://hlinksldjump"/>
          </p:cNvPr>
          <p:cNvSpPr/>
          <p:nvPr/>
        </p:nvSpPr>
        <p:spPr>
          <a:xfrm>
            <a:off x="74249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3" name="Image 3" descr="preencoded.png">
            <a:hlinkClick r:id="rId6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4656" y="4754880"/>
            <a:ext cx="164592" cy="164592"/>
          </a:xfrm>
          <a:prstGeom prst="rect">
            <a:avLst/>
          </a:prstGeom>
        </p:spPr>
      </p:pic>
      <p:sp>
        <p:nvSpPr>
          <p:cNvPr id="34" name="Shape 28">
            <a:hlinkClick r:id="rId8" action="ppaction://hlinksldjump"/>
          </p:cNvPr>
          <p:cNvSpPr/>
          <p:nvPr/>
        </p:nvSpPr>
        <p:spPr>
          <a:xfrm>
            <a:off x="78821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5" name="Image 4" descr="preencoded.png">
            <a:hlinkClick r:id="rId8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01000" y="4754880"/>
            <a:ext cx="146304" cy="164592"/>
          </a:xfrm>
          <a:prstGeom prst="rect">
            <a:avLst/>
          </a:prstGeom>
        </p:spPr>
      </p:pic>
      <p:sp>
        <p:nvSpPr>
          <p:cNvPr id="36" name="Shape 29">
            <a:hlinkClick r:id="rId10" action="ppaction://hlinksldjump"/>
          </p:cNvPr>
          <p:cNvSpPr/>
          <p:nvPr/>
        </p:nvSpPr>
        <p:spPr>
          <a:xfrm>
            <a:off x="83393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7" name="Image 5" descr="preencoded.png">
            <a:hlinkClick r:id="rId10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8200" y="4754880"/>
            <a:ext cx="146304" cy="16459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310896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· Médiation numérique</a:t>
            </a:r>
            <a:endParaRPr lang="en-US" sz="900" dirty="0"/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64DD194-6BB8-634D-2F64-9CF2B86CA451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256032"/>
            <a:ext cx="566928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4128" y="310896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420624"/>
            <a:ext cx="237744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627632" y="27432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À PAS · 4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1609344" y="45720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3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Créer son compte (nouvel allocataire)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502920" y="1280160"/>
            <a:ext cx="8183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encore de compte ? La création se fait sur www.caf.fr en moins de 10 minutes.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1499616"/>
            <a:ext cx="81838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5"/>
          <p:cNvSpPr/>
          <p:nvPr/>
        </p:nvSpPr>
        <p:spPr>
          <a:xfrm>
            <a:off x="676656" y="1499616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/>
          <p:cNvSpPr/>
          <p:nvPr/>
        </p:nvSpPr>
        <p:spPr>
          <a:xfrm>
            <a:off x="676656" y="1499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298448" y="149961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Préparer : 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de Sécurité sociale, une adresse e-mail et un numéro de portable.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02920" y="1975104"/>
            <a:ext cx="81838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9"/>
          <p:cNvSpPr/>
          <p:nvPr/>
        </p:nvSpPr>
        <p:spPr>
          <a:xfrm>
            <a:off x="676656" y="1975104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/>
          <p:cNvSpPr/>
          <p:nvPr/>
        </p:nvSpPr>
        <p:spPr>
          <a:xfrm>
            <a:off x="676656" y="1975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298448" y="197510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</a:t>
            </a: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www.caf.fr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suivre le parcours de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création de compte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02920" y="2450592"/>
            <a:ext cx="81838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676656" y="2450592"/>
            <a:ext cx="402336" cy="402336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676656" y="2450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1298448" y="2450592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Recevoir un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de vérification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 SMS ou e-mail, puis le recopier.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02920" y="2926080"/>
            <a:ext cx="81838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7"/>
          <p:cNvSpPr/>
          <p:nvPr/>
        </p:nvSpPr>
        <p:spPr>
          <a:xfrm>
            <a:off x="676656" y="2926080"/>
            <a:ext cx="402336" cy="402336"/>
          </a:xfrm>
          <a:prstGeom prst="ellipse">
            <a:avLst/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8"/>
          <p:cNvSpPr/>
          <p:nvPr/>
        </p:nvSpPr>
        <p:spPr>
          <a:xfrm>
            <a:off x="676656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1298448" y="292608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un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 de passe fort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majuscules, minuscules, chiffres et caractère spécial.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502920" y="3401568"/>
            <a:ext cx="818388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1"/>
          <p:cNvSpPr/>
          <p:nvPr/>
        </p:nvSpPr>
        <p:spPr>
          <a:xfrm>
            <a:off x="676656" y="3401568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2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1298448" y="340156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Noter son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d'allocataire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garder son mot de passe en lieu sûr.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502920" y="3931920"/>
            <a:ext cx="8183880" cy="530352"/>
          </a:xfrm>
          <a:prstGeom prst="roundRect">
            <a:avLst>
              <a:gd name="adj" fmla="val 15517"/>
            </a:avLst>
          </a:prstGeom>
          <a:solidFill>
            <a:srgbClr val="E9F8F3"/>
          </a:solidFill>
          <a:ln w="15875">
            <a:solidFill>
              <a:srgbClr val="2D6A4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5"/>
          <p:cNvSpPr/>
          <p:nvPr/>
        </p:nvSpPr>
        <p:spPr>
          <a:xfrm>
            <a:off x="667512" y="4005072"/>
            <a:ext cx="384048" cy="384048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4105656"/>
            <a:ext cx="182880" cy="18288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216152" y="3931920"/>
            <a:ext cx="7315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 réflexe : ne jamais écrire son mot de passe sur un papier visible, ni le donner à quelqu'un par téléphone ou par mail.</a:t>
            </a:r>
            <a:endParaRPr lang="en-US" sz="1150" dirty="0"/>
          </a:p>
        </p:txBody>
      </p:sp>
      <p:sp>
        <p:nvSpPr>
          <p:cNvPr id="32" name="Shape 27">
            <a:hlinkClick r:id="rId6" action="ppaction://hlinksldjump"/>
          </p:cNvPr>
          <p:cNvSpPr/>
          <p:nvPr/>
        </p:nvSpPr>
        <p:spPr>
          <a:xfrm>
            <a:off x="74249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3" name="Image 3" descr="preencoded.png">
            <a:hlinkClick r:id="rId6" action="ppaction://hlinksldjum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4656" y="4754880"/>
            <a:ext cx="164592" cy="164592"/>
          </a:xfrm>
          <a:prstGeom prst="rect">
            <a:avLst/>
          </a:prstGeom>
        </p:spPr>
      </p:pic>
      <p:sp>
        <p:nvSpPr>
          <p:cNvPr id="34" name="Shape 28">
            <a:hlinkClick r:id="rId8" action="ppaction://hlinksldjump"/>
          </p:cNvPr>
          <p:cNvSpPr/>
          <p:nvPr/>
        </p:nvSpPr>
        <p:spPr>
          <a:xfrm>
            <a:off x="78821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5" name="Image 4" descr="preencoded.png">
            <a:hlinkClick r:id="rId8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01000" y="4754880"/>
            <a:ext cx="146304" cy="164592"/>
          </a:xfrm>
          <a:prstGeom prst="rect">
            <a:avLst/>
          </a:prstGeom>
        </p:spPr>
      </p:pic>
      <p:sp>
        <p:nvSpPr>
          <p:cNvPr id="36" name="Shape 29">
            <a:hlinkClick r:id="rId10" action="ppaction://hlinksldjump"/>
          </p:cNvPr>
          <p:cNvSpPr/>
          <p:nvPr/>
        </p:nvSpPr>
        <p:spPr>
          <a:xfrm>
            <a:off x="83393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7" name="Image 5" descr="preencoded.png">
            <a:hlinkClick r:id="rId10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8200" y="4754880"/>
            <a:ext cx="146304" cy="16459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310896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· Médiation numérique</a:t>
            </a:r>
            <a:endParaRPr lang="en-US" sz="900" dirty="0"/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E8DC534E-34DB-8084-9844-8B78EF212CAD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256032"/>
            <a:ext cx="566928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4128" y="310896"/>
            <a:ext cx="457200" cy="457200"/>
          </a:xfrm>
          <a:prstGeom prst="ellipse">
            <a:avLst/>
          </a:prstGeom>
          <a:solidFill>
            <a:srgbClr val="1C7293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420624"/>
            <a:ext cx="237744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627632" y="27432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· 5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1609344" y="45720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3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repérer sur la page d'accueil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502920" y="1298448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connecté, voici les boutons à connaître sur la page d'accueil :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1828800"/>
            <a:ext cx="3931920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5"/>
          <p:cNvSpPr/>
          <p:nvPr/>
        </p:nvSpPr>
        <p:spPr>
          <a:xfrm>
            <a:off x="704088" y="2029968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216712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17320" y="20116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Ma situation / Mon profil »</a:t>
            </a:r>
            <a:endParaRPr lang="en-US" sz="1450" dirty="0"/>
          </a:p>
        </p:txBody>
      </p:sp>
      <p:sp>
        <p:nvSpPr>
          <p:cNvPr id="12" name="Text 7"/>
          <p:cNvSpPr/>
          <p:nvPr/>
        </p:nvSpPr>
        <p:spPr>
          <a:xfrm>
            <a:off x="1417320" y="23042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mes infos : adresse, RIB, foyer.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4754880" y="1828800"/>
            <a:ext cx="3931920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9"/>
          <p:cNvSpPr/>
          <p:nvPr/>
        </p:nvSpPr>
        <p:spPr>
          <a:xfrm>
            <a:off x="4956048" y="2029968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3208" y="2167128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669280" y="20116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Mes paiements »</a:t>
            </a:r>
            <a:endParaRPr lang="en-US" sz="1450" dirty="0"/>
          </a:p>
        </p:txBody>
      </p:sp>
      <p:sp>
        <p:nvSpPr>
          <p:cNvPr id="17" name="Text 11"/>
          <p:cNvSpPr/>
          <p:nvPr/>
        </p:nvSpPr>
        <p:spPr>
          <a:xfrm>
            <a:off x="5669280" y="23042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versements reçus, dates et montants.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02920" y="2743200"/>
            <a:ext cx="3931920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3"/>
          <p:cNvSpPr/>
          <p:nvPr/>
        </p:nvSpPr>
        <p:spPr>
          <a:xfrm>
            <a:off x="704088" y="2944368"/>
            <a:ext cx="548640" cy="548640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" y="3081528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417320" y="29260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Mes démarches »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1417320" y="32186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L'avancement de mes demandes et les pièces à fournir.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4754880" y="2743200"/>
            <a:ext cx="3931920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17"/>
          <p:cNvSpPr/>
          <p:nvPr/>
        </p:nvSpPr>
        <p:spPr>
          <a:xfrm>
            <a:off x="4956048" y="2944368"/>
            <a:ext cx="548640" cy="548640"/>
          </a:xfrm>
          <a:prstGeom prst="ellipse">
            <a:avLst/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93208" y="3081528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669280" y="29260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Mes courriers, courriels »</a:t>
            </a:r>
            <a:endParaRPr lang="en-US" sz="1450" dirty="0"/>
          </a:p>
        </p:txBody>
      </p:sp>
      <p:sp>
        <p:nvSpPr>
          <p:cNvPr id="27" name="Text 19"/>
          <p:cNvSpPr/>
          <p:nvPr/>
        </p:nvSpPr>
        <p:spPr>
          <a:xfrm>
            <a:off x="5669280" y="32186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à la CAF et lire ses réponses.</a:t>
            </a:r>
            <a:endParaRPr lang="en-US" sz="1150" dirty="0"/>
          </a:p>
        </p:txBody>
      </p:sp>
      <p:sp>
        <p:nvSpPr>
          <p:cNvPr id="28" name="Shape 20"/>
          <p:cNvSpPr/>
          <p:nvPr/>
        </p:nvSpPr>
        <p:spPr>
          <a:xfrm>
            <a:off x="502920" y="3657600"/>
            <a:ext cx="3931920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Shape 21"/>
          <p:cNvSpPr/>
          <p:nvPr/>
        </p:nvSpPr>
        <p:spPr>
          <a:xfrm>
            <a:off x="704088" y="3858768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248" y="3995928"/>
            <a:ext cx="274320" cy="27432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1417320" y="38404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Mes attestations »</a:t>
            </a:r>
            <a:endParaRPr lang="en-US" sz="1450" dirty="0"/>
          </a:p>
        </p:txBody>
      </p:sp>
      <p:sp>
        <p:nvSpPr>
          <p:cNvPr id="32" name="Text 23"/>
          <p:cNvSpPr/>
          <p:nvPr/>
        </p:nvSpPr>
        <p:spPr>
          <a:xfrm>
            <a:off x="1417320" y="41330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Télécharger mes documents en PDF.</a:t>
            </a:r>
            <a:endParaRPr lang="en-US" sz="1150" dirty="0"/>
          </a:p>
        </p:txBody>
      </p:sp>
      <p:sp>
        <p:nvSpPr>
          <p:cNvPr id="33" name="Shape 24"/>
          <p:cNvSpPr/>
          <p:nvPr/>
        </p:nvSpPr>
        <p:spPr>
          <a:xfrm>
            <a:off x="4754880" y="3657600"/>
            <a:ext cx="3931920" cy="804672"/>
          </a:xfrm>
          <a:prstGeom prst="roundRect">
            <a:avLst>
              <a:gd name="adj" fmla="val 10227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4" name="Shape 25"/>
          <p:cNvSpPr/>
          <p:nvPr/>
        </p:nvSpPr>
        <p:spPr>
          <a:xfrm>
            <a:off x="4956048" y="3858768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93208" y="3995928"/>
            <a:ext cx="274320" cy="274320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5669280" y="38404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alertes / agenda</a:t>
            </a:r>
            <a:endParaRPr lang="en-US" sz="1450" dirty="0"/>
          </a:p>
        </p:txBody>
      </p:sp>
      <p:sp>
        <p:nvSpPr>
          <p:cNvPr id="37" name="Text 27"/>
          <p:cNvSpPr/>
          <p:nvPr/>
        </p:nvSpPr>
        <p:spPr>
          <a:xfrm>
            <a:off x="5669280" y="413308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Rappels et démarches à faire.</a:t>
            </a:r>
            <a:endParaRPr lang="en-US" sz="1150" dirty="0"/>
          </a:p>
        </p:txBody>
      </p:sp>
      <p:sp>
        <p:nvSpPr>
          <p:cNvPr id="38" name="Shape 28">
            <a:hlinkClick r:id="rId11" action="ppaction://hlinksldjump"/>
          </p:cNvPr>
          <p:cNvSpPr/>
          <p:nvPr/>
        </p:nvSpPr>
        <p:spPr>
          <a:xfrm>
            <a:off x="74249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9" name="Image 8" descr="preencoded.png">
            <a:hlinkClick r:id="rId11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34656" y="4754880"/>
            <a:ext cx="164592" cy="164592"/>
          </a:xfrm>
          <a:prstGeom prst="rect">
            <a:avLst/>
          </a:prstGeom>
        </p:spPr>
      </p:pic>
      <p:sp>
        <p:nvSpPr>
          <p:cNvPr id="40" name="Shape 29">
            <a:hlinkClick r:id="rId13" action="ppaction://hlinksldjump"/>
          </p:cNvPr>
          <p:cNvSpPr/>
          <p:nvPr/>
        </p:nvSpPr>
        <p:spPr>
          <a:xfrm>
            <a:off x="78821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1" name="Image 9" descr="preencoded.png">
            <a:hlinkClick r:id="rId13" action="ppaction://hlinksldjump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01000" y="4754880"/>
            <a:ext cx="146304" cy="164592"/>
          </a:xfrm>
          <a:prstGeom prst="rect">
            <a:avLst/>
          </a:prstGeom>
        </p:spPr>
      </p:pic>
      <p:sp>
        <p:nvSpPr>
          <p:cNvPr id="42" name="Shape 30">
            <a:hlinkClick r:id="rId15" action="ppaction://hlinksldjump"/>
          </p:cNvPr>
          <p:cNvSpPr/>
          <p:nvPr/>
        </p:nvSpPr>
        <p:spPr>
          <a:xfrm>
            <a:off x="83393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3" name="Image 10" descr="preencoded.png">
            <a:hlinkClick r:id="rId15" action="ppaction://hlinksldjump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58200" y="4754880"/>
            <a:ext cx="146304" cy="164592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310896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· Médiation numérique</a:t>
            </a:r>
            <a:endParaRPr lang="en-US" sz="900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2438F7DB-807B-F536-4E74-10BD56BCBFBF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256032"/>
            <a:ext cx="566928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4128" y="310896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420624"/>
            <a:ext cx="237744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627632" y="27432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À PAS · 6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1609344" y="45720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3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Suivre mes paiements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502920" y="1280160"/>
            <a:ext cx="8183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vérifier ce que la CAF vous a versé :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1591056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5"/>
          <p:cNvSpPr/>
          <p:nvPr/>
        </p:nvSpPr>
        <p:spPr>
          <a:xfrm>
            <a:off x="676656" y="1618488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/>
          <p:cNvSpPr/>
          <p:nvPr/>
        </p:nvSpPr>
        <p:spPr>
          <a:xfrm>
            <a:off x="676656" y="1618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298448" y="1591056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connecter à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Compte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02920" y="2157984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9"/>
          <p:cNvSpPr/>
          <p:nvPr/>
        </p:nvSpPr>
        <p:spPr>
          <a:xfrm>
            <a:off x="676656" y="2185416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/>
          <p:cNvSpPr/>
          <p:nvPr/>
        </p:nvSpPr>
        <p:spPr>
          <a:xfrm>
            <a:off x="676656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298448" y="2157984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la page d'accueil, cliquer sur </a:t>
            </a: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Mes paiements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02920" y="2724912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676656" y="2752344"/>
            <a:ext cx="402336" cy="402336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676656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1298448" y="2724912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liste affiche les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derniers versements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date, montant et prestation.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02920" y="3291840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7"/>
          <p:cNvSpPr/>
          <p:nvPr/>
        </p:nvSpPr>
        <p:spPr>
          <a:xfrm>
            <a:off x="676656" y="3319272"/>
            <a:ext cx="402336" cy="402336"/>
          </a:xfrm>
          <a:prstGeom prst="ellipse">
            <a:avLst/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8"/>
          <p:cNvSpPr/>
          <p:nvPr/>
        </p:nvSpPr>
        <p:spPr>
          <a:xfrm>
            <a:off x="676656" y="3319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1298448" y="32918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plus anciens,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défiler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(jusqu'à 24 mois).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502920" y="3858768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1"/>
          <p:cNvSpPr/>
          <p:nvPr/>
        </p:nvSpPr>
        <p:spPr>
          <a:xfrm>
            <a:off x="676656" y="388620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2"/>
          <p:cNvSpPr/>
          <p:nvPr/>
        </p:nvSpPr>
        <p:spPr>
          <a:xfrm>
            <a:off x="676656" y="3886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1298448" y="3858768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un justificatif : </a:t>
            </a: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Mon relevé de compte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puis </a:t>
            </a: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Télécharger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8" name="Shape 24">
            <a:hlinkClick r:id="rId5" action="ppaction://hlinksldjump"/>
          </p:cNvPr>
          <p:cNvSpPr/>
          <p:nvPr/>
        </p:nvSpPr>
        <p:spPr>
          <a:xfrm>
            <a:off x="74249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9" name="Image 2" descr="preencoded.png">
            <a:hlinkClick r:id="rId5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4656" y="4754880"/>
            <a:ext cx="164592" cy="164592"/>
          </a:xfrm>
          <a:prstGeom prst="rect">
            <a:avLst/>
          </a:prstGeom>
        </p:spPr>
      </p:pic>
      <p:sp>
        <p:nvSpPr>
          <p:cNvPr id="30" name="Shape 25">
            <a:hlinkClick r:id="rId7" action="ppaction://hlinksldjump"/>
          </p:cNvPr>
          <p:cNvSpPr/>
          <p:nvPr/>
        </p:nvSpPr>
        <p:spPr>
          <a:xfrm>
            <a:off x="78821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1" name="Image 3" descr="preencoded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4754880"/>
            <a:ext cx="146304" cy="164592"/>
          </a:xfrm>
          <a:prstGeom prst="rect">
            <a:avLst/>
          </a:prstGeom>
        </p:spPr>
      </p:pic>
      <p:sp>
        <p:nvSpPr>
          <p:cNvPr id="32" name="Shape 26">
            <a:hlinkClick r:id="rId9" action="ppaction://hlinksldjump"/>
          </p:cNvPr>
          <p:cNvSpPr/>
          <p:nvPr/>
        </p:nvSpPr>
        <p:spPr>
          <a:xfrm>
            <a:off x="83393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3" name="Image 4" descr="preencoded.png">
            <a:hlinkClick r:id="rId9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58200" y="4754880"/>
            <a:ext cx="146304" cy="16459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310896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· Médiation numérique</a:t>
            </a:r>
            <a:endParaRPr lang="en-US" sz="900" dirty="0"/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EF781119-CCEA-2D29-2002-7A1FF1E7FFC3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256032"/>
            <a:ext cx="566928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4128" y="310896"/>
            <a:ext cx="457200" cy="457200"/>
          </a:xfrm>
          <a:prstGeom prst="ellipse">
            <a:avLst/>
          </a:prstGeom>
          <a:solidFill>
            <a:srgbClr val="1C7293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420624"/>
            <a:ext cx="237744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627632" y="27432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À PAS · 7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1609344" y="45720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3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Télécharger une attestation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502920" y="1280160"/>
            <a:ext cx="8183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obtenir une attestation de paiement ou de quotient familial :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1591056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5"/>
          <p:cNvSpPr/>
          <p:nvPr/>
        </p:nvSpPr>
        <p:spPr>
          <a:xfrm>
            <a:off x="676656" y="1618488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/>
          <p:cNvSpPr/>
          <p:nvPr/>
        </p:nvSpPr>
        <p:spPr>
          <a:xfrm>
            <a:off x="676656" y="1618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298448" y="1591056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connecter à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Compte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02920" y="2157984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9"/>
          <p:cNvSpPr/>
          <p:nvPr/>
        </p:nvSpPr>
        <p:spPr>
          <a:xfrm>
            <a:off x="676656" y="2185416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/>
          <p:cNvSpPr/>
          <p:nvPr/>
        </p:nvSpPr>
        <p:spPr>
          <a:xfrm>
            <a:off x="676656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298448" y="2157984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la page d'accueil, cliquer sur </a:t>
            </a: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Mes attestations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02920" y="2724912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676656" y="2752344"/>
            <a:ext cx="402336" cy="402336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676656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1298448" y="2724912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</a:t>
            </a:r>
            <a:r>
              <a:rPr lang="en-US" sz="12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Attestation de paiement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 </a:t>
            </a:r>
            <a:r>
              <a:rPr lang="en-US" sz="12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Attestation de quotient familial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02920" y="3291840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7"/>
          <p:cNvSpPr/>
          <p:nvPr/>
        </p:nvSpPr>
        <p:spPr>
          <a:xfrm>
            <a:off x="676656" y="3319272"/>
            <a:ext cx="402336" cy="402336"/>
          </a:xfrm>
          <a:prstGeom prst="ellipse">
            <a:avLst/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8"/>
          <p:cNvSpPr/>
          <p:nvPr/>
        </p:nvSpPr>
        <p:spPr>
          <a:xfrm>
            <a:off x="676656" y="3319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1298448" y="32918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la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(mois précédent ou autre).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502920" y="3858768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1"/>
          <p:cNvSpPr/>
          <p:nvPr/>
        </p:nvSpPr>
        <p:spPr>
          <a:xfrm>
            <a:off x="676656" y="388620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2"/>
          <p:cNvSpPr/>
          <p:nvPr/>
        </p:nvSpPr>
        <p:spPr>
          <a:xfrm>
            <a:off x="676656" y="3886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1298448" y="3858768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Cliquer sur </a:t>
            </a: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Télécharger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le PDF s'enregistre (ou </a:t>
            </a: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Recevoir par courrier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250" dirty="0"/>
          </a:p>
        </p:txBody>
      </p:sp>
      <p:sp>
        <p:nvSpPr>
          <p:cNvPr id="28" name="Shape 24">
            <a:hlinkClick r:id="rId5" action="ppaction://hlinksldjump"/>
          </p:cNvPr>
          <p:cNvSpPr/>
          <p:nvPr/>
        </p:nvSpPr>
        <p:spPr>
          <a:xfrm>
            <a:off x="74249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9" name="Image 2" descr="preencoded.png">
            <a:hlinkClick r:id="rId5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4656" y="4754880"/>
            <a:ext cx="164592" cy="164592"/>
          </a:xfrm>
          <a:prstGeom prst="rect">
            <a:avLst/>
          </a:prstGeom>
        </p:spPr>
      </p:pic>
      <p:sp>
        <p:nvSpPr>
          <p:cNvPr id="30" name="Shape 25">
            <a:hlinkClick r:id="rId7" action="ppaction://hlinksldjump"/>
          </p:cNvPr>
          <p:cNvSpPr/>
          <p:nvPr/>
        </p:nvSpPr>
        <p:spPr>
          <a:xfrm>
            <a:off x="78821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1" name="Image 3" descr="preencoded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4754880"/>
            <a:ext cx="146304" cy="164592"/>
          </a:xfrm>
          <a:prstGeom prst="rect">
            <a:avLst/>
          </a:prstGeom>
        </p:spPr>
      </p:pic>
      <p:sp>
        <p:nvSpPr>
          <p:cNvPr id="32" name="Shape 26">
            <a:hlinkClick r:id="rId9" action="ppaction://hlinksldjump"/>
          </p:cNvPr>
          <p:cNvSpPr/>
          <p:nvPr/>
        </p:nvSpPr>
        <p:spPr>
          <a:xfrm>
            <a:off x="83393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3" name="Image 4" descr="preencoded.png">
            <a:hlinkClick r:id="rId9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58200" y="4754880"/>
            <a:ext cx="146304" cy="16459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310896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· Médiation numérique</a:t>
            </a:r>
            <a:endParaRPr lang="en-US" sz="900" dirty="0"/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2492D6EB-C318-594F-FDC6-3E643F2C06F0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256032"/>
            <a:ext cx="566928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4128" y="310896"/>
            <a:ext cx="457200" cy="457200"/>
          </a:xfrm>
          <a:prstGeom prst="ellipse">
            <a:avLst/>
          </a:prstGeom>
          <a:solidFill>
            <a:srgbClr val="2D6A4F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420624"/>
            <a:ext cx="237744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627632" y="27432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À PAS · 8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1609344" y="45720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3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Déclarer un changement de situation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502920" y="1280160"/>
            <a:ext cx="8183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qu'un changement arrive, on le signale (évite les erreurs de paiement) :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1591056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5"/>
          <p:cNvSpPr/>
          <p:nvPr/>
        </p:nvSpPr>
        <p:spPr>
          <a:xfrm>
            <a:off x="676656" y="1618488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/>
          <p:cNvSpPr/>
          <p:nvPr/>
        </p:nvSpPr>
        <p:spPr>
          <a:xfrm>
            <a:off x="676656" y="1618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298448" y="1591056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connecter à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Compte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02920" y="2157984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9"/>
          <p:cNvSpPr/>
          <p:nvPr/>
        </p:nvSpPr>
        <p:spPr>
          <a:xfrm>
            <a:off x="676656" y="2185416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/>
          <p:cNvSpPr/>
          <p:nvPr/>
        </p:nvSpPr>
        <p:spPr>
          <a:xfrm>
            <a:off x="676656" y="2185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298448" y="2157984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Cliquer sur </a:t>
            </a: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Mon profil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(ou « Ma situation »).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02920" y="2724912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676656" y="2752344"/>
            <a:ext cx="402336" cy="402336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676656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1298448" y="2724912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ce qui change :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adresse, situation familiale, emploi, RIB…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02920" y="3291840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7"/>
          <p:cNvSpPr/>
          <p:nvPr/>
        </p:nvSpPr>
        <p:spPr>
          <a:xfrm>
            <a:off x="676656" y="3319272"/>
            <a:ext cx="402336" cy="402336"/>
          </a:xfrm>
          <a:prstGeom prst="ellipse">
            <a:avLst/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8"/>
          <p:cNvSpPr/>
          <p:nvPr/>
        </p:nvSpPr>
        <p:spPr>
          <a:xfrm>
            <a:off x="676656" y="3319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1298448" y="32918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Saisir les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nouvelles informations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502920" y="3858768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1"/>
          <p:cNvSpPr/>
          <p:nvPr/>
        </p:nvSpPr>
        <p:spPr>
          <a:xfrm>
            <a:off x="676656" y="388620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2"/>
          <p:cNvSpPr/>
          <p:nvPr/>
        </p:nvSpPr>
        <p:spPr>
          <a:xfrm>
            <a:off x="676656" y="3886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1298448" y="3858768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Cliquer sur </a:t>
            </a: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Valider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Le plus souvent, aucun justificatif à envoyer.</a:t>
            </a:r>
            <a:endParaRPr lang="en-US" sz="1250" dirty="0"/>
          </a:p>
        </p:txBody>
      </p:sp>
      <p:sp>
        <p:nvSpPr>
          <p:cNvPr id="28" name="Shape 24">
            <a:hlinkClick r:id="rId5" action="ppaction://hlinksldjump"/>
          </p:cNvPr>
          <p:cNvSpPr/>
          <p:nvPr/>
        </p:nvSpPr>
        <p:spPr>
          <a:xfrm>
            <a:off x="74249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9" name="Image 2" descr="preencoded.png">
            <a:hlinkClick r:id="rId5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4656" y="4754880"/>
            <a:ext cx="164592" cy="164592"/>
          </a:xfrm>
          <a:prstGeom prst="rect">
            <a:avLst/>
          </a:prstGeom>
        </p:spPr>
      </p:pic>
      <p:sp>
        <p:nvSpPr>
          <p:cNvPr id="30" name="Shape 25">
            <a:hlinkClick r:id="rId7" action="ppaction://hlinksldjump"/>
          </p:cNvPr>
          <p:cNvSpPr/>
          <p:nvPr/>
        </p:nvSpPr>
        <p:spPr>
          <a:xfrm>
            <a:off x="78821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1" name="Image 3" descr="preencoded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4754880"/>
            <a:ext cx="146304" cy="164592"/>
          </a:xfrm>
          <a:prstGeom prst="rect">
            <a:avLst/>
          </a:prstGeom>
        </p:spPr>
      </p:pic>
      <p:sp>
        <p:nvSpPr>
          <p:cNvPr id="32" name="Shape 26">
            <a:hlinkClick r:id="rId9" action="ppaction://hlinksldjump"/>
          </p:cNvPr>
          <p:cNvSpPr/>
          <p:nvPr/>
        </p:nvSpPr>
        <p:spPr>
          <a:xfrm>
            <a:off x="83393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3" name="Image 4" descr="preencoded.png">
            <a:hlinkClick r:id="rId9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58200" y="4754880"/>
            <a:ext cx="146304" cy="16459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310896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· Médiation numérique</a:t>
            </a:r>
            <a:endParaRPr lang="en-US" sz="900" dirty="0"/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7D37AE5F-1BCF-97F2-8CA0-ACD501C47653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256032"/>
            <a:ext cx="566928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4128" y="310896"/>
            <a:ext cx="457200" cy="457200"/>
          </a:xfrm>
          <a:prstGeom prst="ellipse">
            <a:avLst/>
          </a:prstGeom>
          <a:solidFill>
            <a:srgbClr val="1A3D6D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420624"/>
            <a:ext cx="237744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627632" y="27432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À PAS · 9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1609344" y="45720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3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déclaration trimestrielle (RSA / prime d'activité)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502920" y="1243584"/>
            <a:ext cx="8183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3 mois. Depuis mars 2025, elle est pré-remplie : on vérifie et on valide.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02920" y="1481328"/>
            <a:ext cx="8183880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5"/>
          <p:cNvSpPr/>
          <p:nvPr/>
        </p:nvSpPr>
        <p:spPr>
          <a:xfrm>
            <a:off x="676656" y="1495044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/>
          <p:cNvSpPr/>
          <p:nvPr/>
        </p:nvSpPr>
        <p:spPr>
          <a:xfrm>
            <a:off x="676656" y="14950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298448" y="1481328"/>
            <a:ext cx="7223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recevez un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ou un SMS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se connecter à Mon Compte.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02920" y="1993392"/>
            <a:ext cx="8183880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9"/>
          <p:cNvSpPr/>
          <p:nvPr/>
        </p:nvSpPr>
        <p:spPr>
          <a:xfrm>
            <a:off x="676656" y="200710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/>
          <p:cNvSpPr/>
          <p:nvPr/>
        </p:nvSpPr>
        <p:spPr>
          <a:xfrm>
            <a:off x="676656" y="20071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298448" y="1993392"/>
            <a:ext cx="7223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dans </a:t>
            </a: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Mes ressources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puis </a:t>
            </a: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Déclarer mes ressources trimestrielles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02920" y="2505456"/>
            <a:ext cx="8183880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676656" y="2519172"/>
            <a:ext cx="402336" cy="402336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676656" y="25191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1298448" y="2505456"/>
            <a:ext cx="7223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Accepter (</a:t>
            </a:r>
            <a:r>
              <a:rPr lang="en-US" sz="12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J'ai compris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puis confirmer ou corriger sa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02920" y="3017520"/>
            <a:ext cx="8183880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7"/>
          <p:cNvSpPr/>
          <p:nvPr/>
        </p:nvSpPr>
        <p:spPr>
          <a:xfrm>
            <a:off x="676656" y="3031236"/>
            <a:ext cx="402336" cy="402336"/>
          </a:xfrm>
          <a:prstGeom prst="ellipse">
            <a:avLst/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8"/>
          <p:cNvSpPr/>
          <p:nvPr/>
        </p:nvSpPr>
        <p:spPr>
          <a:xfrm>
            <a:off x="676656" y="30312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1298448" y="3017520"/>
            <a:ext cx="7223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montants déjà inscrits (salaires, chômage…), en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net social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502920" y="3529584"/>
            <a:ext cx="8183880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1"/>
          <p:cNvSpPr/>
          <p:nvPr/>
        </p:nvSpPr>
        <p:spPr>
          <a:xfrm>
            <a:off x="676656" y="354330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2"/>
          <p:cNvSpPr/>
          <p:nvPr/>
        </p:nvSpPr>
        <p:spPr>
          <a:xfrm>
            <a:off x="676656" y="35433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1298448" y="3529584"/>
            <a:ext cx="7223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Compléter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ce qui manque (pension alim., indépendant, conjoint, enfants +15 ans) ou cocher </a:t>
            </a:r>
            <a:r>
              <a:rPr lang="en-US" sz="12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Absence de ressources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502920" y="4041648"/>
            <a:ext cx="8183880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Shape 25"/>
          <p:cNvSpPr/>
          <p:nvPr/>
        </p:nvSpPr>
        <p:spPr>
          <a:xfrm>
            <a:off x="676656" y="4055364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6"/>
          <p:cNvSpPr/>
          <p:nvPr/>
        </p:nvSpPr>
        <p:spPr>
          <a:xfrm>
            <a:off x="676656" y="40553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7"/>
          <p:cNvSpPr/>
          <p:nvPr/>
        </p:nvSpPr>
        <p:spPr>
          <a:xfrm>
            <a:off x="1298448" y="4041648"/>
            <a:ext cx="7223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Cliquer sur </a:t>
            </a: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Valider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(et télécharger le récapitulatif si besoin).</a:t>
            </a:r>
            <a:endParaRPr lang="en-US" sz="1250" dirty="0"/>
          </a:p>
        </p:txBody>
      </p:sp>
      <p:sp>
        <p:nvSpPr>
          <p:cNvPr id="32" name="Shape 28">
            <a:hlinkClick r:id="rId5" action="ppaction://hlinksldjump"/>
          </p:cNvPr>
          <p:cNvSpPr/>
          <p:nvPr/>
        </p:nvSpPr>
        <p:spPr>
          <a:xfrm>
            <a:off x="74249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3" name="Image 2" descr="preencoded.png">
            <a:hlinkClick r:id="rId5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4656" y="4754880"/>
            <a:ext cx="164592" cy="164592"/>
          </a:xfrm>
          <a:prstGeom prst="rect">
            <a:avLst/>
          </a:prstGeom>
        </p:spPr>
      </p:pic>
      <p:sp>
        <p:nvSpPr>
          <p:cNvPr id="34" name="Shape 29">
            <a:hlinkClick r:id="rId7" action="ppaction://hlinksldjump"/>
          </p:cNvPr>
          <p:cNvSpPr/>
          <p:nvPr/>
        </p:nvSpPr>
        <p:spPr>
          <a:xfrm>
            <a:off x="78821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5" name="Image 3" descr="preencoded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4754880"/>
            <a:ext cx="146304" cy="164592"/>
          </a:xfrm>
          <a:prstGeom prst="rect">
            <a:avLst/>
          </a:prstGeom>
        </p:spPr>
      </p:pic>
      <p:sp>
        <p:nvSpPr>
          <p:cNvPr id="36" name="Shape 30">
            <a:hlinkClick r:id="rId9" action="ppaction://hlinksldjump"/>
          </p:cNvPr>
          <p:cNvSpPr/>
          <p:nvPr/>
        </p:nvSpPr>
        <p:spPr>
          <a:xfrm>
            <a:off x="83393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7" name="Image 4" descr="preencoded.png">
            <a:hlinkClick r:id="rId9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58200" y="4754880"/>
            <a:ext cx="146304" cy="16459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310896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· Médiation numérique</a:t>
            </a:r>
            <a:endParaRPr lang="en-US" sz="900" dirty="0"/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513C3518-F6EB-E02B-2498-B6562884547E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256032"/>
            <a:ext cx="566928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4128" y="310896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420624"/>
            <a:ext cx="237744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627632" y="27432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 · 9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1609344" y="45720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3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montant net social (MNS)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502920" y="1298448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montant à utiliser pour le RSA et la prime d'activité. Il est calculé pour vous.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1920240"/>
            <a:ext cx="818388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5"/>
          <p:cNvSpPr/>
          <p:nvPr/>
        </p:nvSpPr>
        <p:spPr>
          <a:xfrm>
            <a:off x="704088" y="2018211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2164515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17320" y="2103120"/>
            <a:ext cx="7086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quoi ?</a:t>
            </a:r>
            <a:endParaRPr lang="en-US" sz="1450" dirty="0"/>
          </a:p>
        </p:txBody>
      </p:sp>
      <p:sp>
        <p:nvSpPr>
          <p:cNvPr id="12" name="Text 7"/>
          <p:cNvSpPr/>
          <p:nvPr/>
        </p:nvSpPr>
        <p:spPr>
          <a:xfrm>
            <a:off x="1417320" y="2395728"/>
            <a:ext cx="7086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revenu pris en compte par la CAF pour calculer le RSA et la prime d'activité.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502920" y="2761488"/>
            <a:ext cx="818388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9"/>
          <p:cNvSpPr/>
          <p:nvPr/>
        </p:nvSpPr>
        <p:spPr>
          <a:xfrm>
            <a:off x="704088" y="288036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017520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17320" y="2944368"/>
            <a:ext cx="7086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le trouver ?</a:t>
            </a:r>
            <a:endParaRPr lang="en-US" sz="1450" dirty="0"/>
          </a:p>
        </p:txBody>
      </p:sp>
      <p:sp>
        <p:nvSpPr>
          <p:cNvPr id="17" name="Text 11"/>
          <p:cNvSpPr/>
          <p:nvPr/>
        </p:nvSpPr>
        <p:spPr>
          <a:xfrm>
            <a:off x="1417320" y="3236976"/>
            <a:ext cx="7086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bulletin de salaire et les relevés, ligne « Montant net social ».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02920" y="3602736"/>
            <a:ext cx="818388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3"/>
          <p:cNvSpPr/>
          <p:nvPr/>
        </p:nvSpPr>
        <p:spPr>
          <a:xfrm>
            <a:off x="684494" y="3722914"/>
            <a:ext cx="548640" cy="548640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654" y="3883587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417320" y="3785616"/>
            <a:ext cx="7086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en ligne ?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1417320" y="4078224"/>
            <a:ext cx="7086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Aussi sur mesdroitssociaux.gouv.fr (Mes services › Mes ressources).</a:t>
            </a:r>
            <a:endParaRPr lang="en-US" sz="1150" dirty="0"/>
          </a:p>
        </p:txBody>
      </p:sp>
      <p:sp>
        <p:nvSpPr>
          <p:cNvPr id="23" name="Text 16"/>
          <p:cNvSpPr/>
          <p:nvPr/>
        </p:nvSpPr>
        <p:spPr>
          <a:xfrm>
            <a:off x="502920" y="4407408"/>
            <a:ext cx="8183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 à savoir : si le net social d'un mois est négatif ou nul, on déclare 0 €.</a:t>
            </a:r>
            <a:endParaRPr lang="en-US" sz="1100" dirty="0"/>
          </a:p>
        </p:txBody>
      </p:sp>
      <p:sp>
        <p:nvSpPr>
          <p:cNvPr id="24" name="Shape 17">
            <a:hlinkClick r:id="rId8" action="ppaction://hlinksldjump"/>
          </p:cNvPr>
          <p:cNvSpPr/>
          <p:nvPr/>
        </p:nvSpPr>
        <p:spPr>
          <a:xfrm>
            <a:off x="74249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5" name="Image 5" descr="preencoded.png">
            <a:hlinkClick r:id="rId8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34656" y="4754880"/>
            <a:ext cx="164592" cy="164592"/>
          </a:xfrm>
          <a:prstGeom prst="rect">
            <a:avLst/>
          </a:prstGeom>
        </p:spPr>
      </p:pic>
      <p:sp>
        <p:nvSpPr>
          <p:cNvPr id="26" name="Shape 18">
            <a:hlinkClick r:id="rId10" action="ppaction://hlinksldjump"/>
          </p:cNvPr>
          <p:cNvSpPr/>
          <p:nvPr/>
        </p:nvSpPr>
        <p:spPr>
          <a:xfrm>
            <a:off x="78821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7" name="Image 6" descr="preencoded.png">
            <a:hlinkClick r:id="rId10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01000" y="4754880"/>
            <a:ext cx="146304" cy="164592"/>
          </a:xfrm>
          <a:prstGeom prst="rect">
            <a:avLst/>
          </a:prstGeom>
        </p:spPr>
      </p:pic>
      <p:sp>
        <p:nvSpPr>
          <p:cNvPr id="28" name="Shape 19">
            <a:hlinkClick r:id="rId12" action="ppaction://hlinksldjump"/>
          </p:cNvPr>
          <p:cNvSpPr/>
          <p:nvPr/>
        </p:nvSpPr>
        <p:spPr>
          <a:xfrm>
            <a:off x="83393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9" name="Image 7" descr="preencoded.png">
            <a:hlinkClick r:id="rId12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58200" y="4754880"/>
            <a:ext cx="146304" cy="164592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310896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· Médiation numérique</a:t>
            </a:r>
            <a:endParaRPr lang="en-US" sz="900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FA959216-694D-3129-221B-F3AA4FB11999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256032"/>
            <a:ext cx="566928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4128" y="310896"/>
            <a:ext cx="457200" cy="457200"/>
          </a:xfrm>
          <a:prstGeom prst="ellipse">
            <a:avLst/>
          </a:prstGeom>
          <a:solidFill>
            <a:srgbClr val="1C7293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420624"/>
            <a:ext cx="237744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627632" y="27432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À PAS · 10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1609344" y="45720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3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Envoyer un document à la CAF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502920" y="1243584"/>
            <a:ext cx="8183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la CAF demande un justificatif, on l'envoie directement depuis le compte :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02920" y="1481328"/>
            <a:ext cx="8183880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5"/>
          <p:cNvSpPr/>
          <p:nvPr/>
        </p:nvSpPr>
        <p:spPr>
          <a:xfrm>
            <a:off x="676656" y="1495044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/>
          <p:cNvSpPr/>
          <p:nvPr/>
        </p:nvSpPr>
        <p:spPr>
          <a:xfrm>
            <a:off x="676656" y="14950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298448" y="1481328"/>
            <a:ext cx="7223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connecter à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Compte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02920" y="1993392"/>
            <a:ext cx="8183880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9"/>
          <p:cNvSpPr/>
          <p:nvPr/>
        </p:nvSpPr>
        <p:spPr>
          <a:xfrm>
            <a:off x="676656" y="200710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/>
          <p:cNvSpPr/>
          <p:nvPr/>
        </p:nvSpPr>
        <p:spPr>
          <a:xfrm>
            <a:off x="676656" y="20071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298448" y="1993392"/>
            <a:ext cx="7223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 dans </a:t>
            </a: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Mes démarches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02920" y="2505456"/>
            <a:ext cx="8183880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676656" y="2519172"/>
            <a:ext cx="402336" cy="402336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676656" y="25191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1298448" y="2505456"/>
            <a:ext cx="7223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Cliquer sur l'onglet </a:t>
            </a:r>
            <a:r>
              <a:rPr lang="en-US" sz="12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À transmettre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(ou « La Caf me demande »).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02920" y="3017520"/>
            <a:ext cx="8183880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7"/>
          <p:cNvSpPr/>
          <p:nvPr/>
        </p:nvSpPr>
        <p:spPr>
          <a:xfrm>
            <a:off x="676656" y="3031236"/>
            <a:ext cx="402336" cy="402336"/>
          </a:xfrm>
          <a:prstGeom prst="ellipse">
            <a:avLst/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8"/>
          <p:cNvSpPr/>
          <p:nvPr/>
        </p:nvSpPr>
        <p:spPr>
          <a:xfrm>
            <a:off x="676656" y="30312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1298448" y="3017520"/>
            <a:ext cx="7223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Cliquer sur l'icône pour choisir un fichier (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ou photo, max 5 Mo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ou le prendre en photo.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502920" y="3529584"/>
            <a:ext cx="8183880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21"/>
          <p:cNvSpPr/>
          <p:nvPr/>
        </p:nvSpPr>
        <p:spPr>
          <a:xfrm>
            <a:off x="676656" y="354330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2"/>
          <p:cNvSpPr/>
          <p:nvPr/>
        </p:nvSpPr>
        <p:spPr>
          <a:xfrm>
            <a:off x="676656" y="35433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1298448" y="3529584"/>
            <a:ext cx="7223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avec le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 œil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; supprimer (poubelle) si c'est flou.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502920" y="4041648"/>
            <a:ext cx="8183880" cy="429768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Shape 25"/>
          <p:cNvSpPr/>
          <p:nvPr/>
        </p:nvSpPr>
        <p:spPr>
          <a:xfrm>
            <a:off x="676656" y="4055364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6"/>
          <p:cNvSpPr/>
          <p:nvPr/>
        </p:nvSpPr>
        <p:spPr>
          <a:xfrm>
            <a:off x="676656" y="40553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7"/>
          <p:cNvSpPr/>
          <p:nvPr/>
        </p:nvSpPr>
        <p:spPr>
          <a:xfrm>
            <a:off x="1298448" y="4041648"/>
            <a:ext cx="72237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Cliquer sur </a:t>
            </a: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Continuer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Suivi dans « Mes courriers, courriels ».</a:t>
            </a:r>
            <a:endParaRPr lang="en-US" sz="1250" dirty="0"/>
          </a:p>
        </p:txBody>
      </p:sp>
      <p:sp>
        <p:nvSpPr>
          <p:cNvPr id="32" name="Shape 28">
            <a:hlinkClick r:id="rId5" action="ppaction://hlinksldjump"/>
          </p:cNvPr>
          <p:cNvSpPr/>
          <p:nvPr/>
        </p:nvSpPr>
        <p:spPr>
          <a:xfrm>
            <a:off x="74249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3" name="Image 2" descr="preencoded.png">
            <a:hlinkClick r:id="rId5" action="ppaction://hlinksldjum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4656" y="4754880"/>
            <a:ext cx="164592" cy="164592"/>
          </a:xfrm>
          <a:prstGeom prst="rect">
            <a:avLst/>
          </a:prstGeom>
        </p:spPr>
      </p:pic>
      <p:sp>
        <p:nvSpPr>
          <p:cNvPr id="34" name="Shape 29">
            <a:hlinkClick r:id="rId7" action="ppaction://hlinksldjump"/>
          </p:cNvPr>
          <p:cNvSpPr/>
          <p:nvPr/>
        </p:nvSpPr>
        <p:spPr>
          <a:xfrm>
            <a:off x="78821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5" name="Image 3" descr="preencoded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4754880"/>
            <a:ext cx="146304" cy="164592"/>
          </a:xfrm>
          <a:prstGeom prst="rect">
            <a:avLst/>
          </a:prstGeom>
        </p:spPr>
      </p:pic>
      <p:sp>
        <p:nvSpPr>
          <p:cNvPr id="36" name="Shape 30">
            <a:hlinkClick r:id="rId9" action="ppaction://hlinksldjump"/>
          </p:cNvPr>
          <p:cNvSpPr/>
          <p:nvPr/>
        </p:nvSpPr>
        <p:spPr>
          <a:xfrm>
            <a:off x="83393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7" name="Image 4" descr="preencoded.png">
            <a:hlinkClick r:id="rId9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58200" y="4754880"/>
            <a:ext cx="146304" cy="164592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310896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· Médiation numérique</a:t>
            </a:r>
            <a:endParaRPr lang="en-US" sz="900" dirty="0"/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8F10074B-1B0D-4CFB-7B14-B9BB7AE289A5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256032"/>
            <a:ext cx="566928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4128" y="310896"/>
            <a:ext cx="457200" cy="457200"/>
          </a:xfrm>
          <a:prstGeom prst="ellipse">
            <a:avLst/>
          </a:prstGeom>
          <a:solidFill>
            <a:srgbClr val="2D6A4F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420624"/>
            <a:ext cx="237744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627632" y="27432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AIDÉ · 11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1609344" y="45720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3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Écrire à la CAF et obtenir de l'aide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502920" y="1280160"/>
            <a:ext cx="8183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simple : la messagerie de votre compte.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1627632"/>
            <a:ext cx="818388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5"/>
          <p:cNvSpPr/>
          <p:nvPr/>
        </p:nvSpPr>
        <p:spPr>
          <a:xfrm>
            <a:off x="676656" y="1682496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/>
          <p:cNvSpPr/>
          <p:nvPr/>
        </p:nvSpPr>
        <p:spPr>
          <a:xfrm>
            <a:off x="676656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298448" y="1627632"/>
            <a:ext cx="7223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connecter à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Compte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502920" y="2249424"/>
            <a:ext cx="818388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9"/>
          <p:cNvSpPr/>
          <p:nvPr/>
        </p:nvSpPr>
        <p:spPr>
          <a:xfrm>
            <a:off x="676656" y="230428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/>
          <p:cNvSpPr/>
          <p:nvPr/>
        </p:nvSpPr>
        <p:spPr>
          <a:xfrm>
            <a:off x="676656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298448" y="2249424"/>
            <a:ext cx="7223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</a:t>
            </a: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Mes courriers, courriels »</a:t>
            </a: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(la messagerie).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02920" y="2871216"/>
            <a:ext cx="818388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63500" dist="2540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676656" y="2926080"/>
            <a:ext cx="402336" cy="402336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676656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1298448" y="2871216"/>
            <a:ext cx="7223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son message et l'envoyer. 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 arrive au même endroit.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502920" y="3419856"/>
            <a:ext cx="8183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 contacts utiles :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502920" y="3712464"/>
            <a:ext cx="2633472" cy="768096"/>
          </a:xfrm>
          <a:prstGeom prst="roundRect">
            <a:avLst>
              <a:gd name="adj" fmla="val 9524"/>
            </a:avLst>
          </a:prstGeom>
          <a:solidFill>
            <a:srgbClr val="E9F8F3"/>
          </a:solidFill>
          <a:ln w="12700">
            <a:solidFill>
              <a:srgbClr val="D9E2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18"/>
          <p:cNvSpPr/>
          <p:nvPr/>
        </p:nvSpPr>
        <p:spPr>
          <a:xfrm>
            <a:off x="649224" y="3904488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4005072"/>
            <a:ext cx="182880" cy="1828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161288" y="3803904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3230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1161288" y="4096512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8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de la CAF (au téléphone).</a:t>
            </a:r>
            <a:endParaRPr lang="en-US" sz="980" dirty="0"/>
          </a:p>
        </p:txBody>
      </p:sp>
      <p:sp>
        <p:nvSpPr>
          <p:cNvPr id="26" name="Shape 21"/>
          <p:cNvSpPr/>
          <p:nvPr/>
        </p:nvSpPr>
        <p:spPr>
          <a:xfrm>
            <a:off x="3310128" y="3712464"/>
            <a:ext cx="2633472" cy="768096"/>
          </a:xfrm>
          <a:prstGeom prst="roundRect">
            <a:avLst>
              <a:gd name="adj" fmla="val 9524"/>
            </a:avLst>
          </a:prstGeom>
          <a:solidFill>
            <a:srgbClr val="E8F1F5"/>
          </a:solidFill>
          <a:ln w="12700">
            <a:solidFill>
              <a:srgbClr val="D9E2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2"/>
          <p:cNvSpPr/>
          <p:nvPr/>
        </p:nvSpPr>
        <p:spPr>
          <a:xfrm>
            <a:off x="3456432" y="3904488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7016" y="4005072"/>
            <a:ext cx="182880" cy="18288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3968496" y="3803904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accueil près de chez soi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3968496" y="4096512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8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 ou point France Services.</a:t>
            </a:r>
            <a:endParaRPr lang="en-US" sz="980" dirty="0"/>
          </a:p>
        </p:txBody>
      </p:sp>
      <p:sp>
        <p:nvSpPr>
          <p:cNvPr id="31" name="Shape 25"/>
          <p:cNvSpPr/>
          <p:nvPr/>
        </p:nvSpPr>
        <p:spPr>
          <a:xfrm>
            <a:off x="6117336" y="3712464"/>
            <a:ext cx="2633472" cy="768096"/>
          </a:xfrm>
          <a:prstGeom prst="roundRect">
            <a:avLst>
              <a:gd name="adj" fmla="val 9524"/>
            </a:avLst>
          </a:prstGeom>
          <a:solidFill>
            <a:srgbClr val="EAF1ED"/>
          </a:solidFill>
          <a:ln w="12700">
            <a:solidFill>
              <a:srgbClr val="D9E2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Shape 26"/>
          <p:cNvSpPr/>
          <p:nvPr/>
        </p:nvSpPr>
        <p:spPr>
          <a:xfrm>
            <a:off x="6263640" y="3904488"/>
            <a:ext cx="384048" cy="384048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005072"/>
            <a:ext cx="182880" cy="18288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6775704" y="3803904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L'aide en ligne</a:t>
            </a:r>
            <a:endParaRPr lang="en-US" sz="1250" dirty="0"/>
          </a:p>
        </p:txBody>
      </p:sp>
      <p:sp>
        <p:nvSpPr>
          <p:cNvPr id="35" name="Text 28"/>
          <p:cNvSpPr/>
          <p:nvPr/>
        </p:nvSpPr>
        <p:spPr>
          <a:xfrm>
            <a:off x="6775704" y="4096512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8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d'aide de caf.fr.</a:t>
            </a:r>
            <a:endParaRPr lang="en-US" sz="980" dirty="0"/>
          </a:p>
        </p:txBody>
      </p:sp>
      <p:sp>
        <p:nvSpPr>
          <p:cNvPr id="36" name="Shape 29">
            <a:hlinkClick r:id="rId8" action="ppaction://hlinksldjump"/>
          </p:cNvPr>
          <p:cNvSpPr/>
          <p:nvPr/>
        </p:nvSpPr>
        <p:spPr>
          <a:xfrm>
            <a:off x="74249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7" name="Image 5" descr="preencoded.png">
            <a:hlinkClick r:id="rId8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34656" y="4754880"/>
            <a:ext cx="164592" cy="164592"/>
          </a:xfrm>
          <a:prstGeom prst="rect">
            <a:avLst/>
          </a:prstGeom>
        </p:spPr>
      </p:pic>
      <p:sp>
        <p:nvSpPr>
          <p:cNvPr id="38" name="Shape 30">
            <a:hlinkClick r:id="rId10" action="ppaction://hlinksldjump"/>
          </p:cNvPr>
          <p:cNvSpPr/>
          <p:nvPr/>
        </p:nvSpPr>
        <p:spPr>
          <a:xfrm>
            <a:off x="78821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9" name="Image 6" descr="preencoded.png">
            <a:hlinkClick r:id="rId10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01000" y="4754880"/>
            <a:ext cx="146304" cy="164592"/>
          </a:xfrm>
          <a:prstGeom prst="rect">
            <a:avLst/>
          </a:prstGeom>
        </p:spPr>
      </p:pic>
      <p:sp>
        <p:nvSpPr>
          <p:cNvPr id="40" name="Shape 31">
            <a:hlinkClick r:id="rId12" action="ppaction://hlinksldjump"/>
          </p:cNvPr>
          <p:cNvSpPr/>
          <p:nvPr/>
        </p:nvSpPr>
        <p:spPr>
          <a:xfrm>
            <a:off x="83393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1" name="Image 7" descr="preencoded.png">
            <a:hlinkClick r:id="rId12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58200" y="4754880"/>
            <a:ext cx="146304" cy="164592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310896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· Médiation numérique</a:t>
            </a:r>
            <a:endParaRPr lang="en-US" sz="900" dirty="0"/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A21858CA-7EBB-BA6A-4821-EEA0C930345A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256032"/>
            <a:ext cx="566928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4128" y="310896"/>
            <a:ext cx="457200" cy="457200"/>
          </a:xfrm>
          <a:prstGeom prst="ellipse">
            <a:avLst/>
          </a:prstGeom>
          <a:solidFill>
            <a:srgbClr val="1A3D6D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420624"/>
            <a:ext cx="237744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627632" y="27432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· 12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1609344" y="45720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3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Protéger mon compte &amp; repérer les arnaques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50292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D6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bons réflexes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502920" y="1691640"/>
            <a:ext cx="3931920" cy="512064"/>
          </a:xfrm>
          <a:prstGeom prst="roundRect">
            <a:avLst>
              <a:gd name="adj" fmla="val 12500"/>
            </a:avLst>
          </a:prstGeom>
          <a:solidFill>
            <a:srgbClr val="EAF1ED"/>
          </a:solidFill>
          <a:ln w="12700">
            <a:solidFill>
              <a:srgbClr val="D9E2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5"/>
          <p:cNvSpPr/>
          <p:nvPr/>
        </p:nvSpPr>
        <p:spPr>
          <a:xfrm>
            <a:off x="640080" y="1810512"/>
            <a:ext cx="274320" cy="274320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1865376"/>
            <a:ext cx="164592" cy="1645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24128" y="169164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mot de passe long, gardé secret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502920" y="2295144"/>
            <a:ext cx="3931920" cy="512064"/>
          </a:xfrm>
          <a:prstGeom prst="roundRect">
            <a:avLst>
              <a:gd name="adj" fmla="val 12500"/>
            </a:avLst>
          </a:prstGeom>
          <a:solidFill>
            <a:srgbClr val="EAF1ED"/>
          </a:solidFill>
          <a:ln w="12700">
            <a:solidFill>
              <a:srgbClr val="D9E2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8"/>
          <p:cNvSpPr/>
          <p:nvPr/>
        </p:nvSpPr>
        <p:spPr>
          <a:xfrm>
            <a:off x="640080" y="2414016"/>
            <a:ext cx="274320" cy="274320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2468880"/>
            <a:ext cx="164592" cy="16459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24128" y="229514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passe par caf.fr ou l'appli officielle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502920" y="2898648"/>
            <a:ext cx="3931920" cy="512064"/>
          </a:xfrm>
          <a:prstGeom prst="roundRect">
            <a:avLst>
              <a:gd name="adj" fmla="val 12500"/>
            </a:avLst>
          </a:prstGeom>
          <a:solidFill>
            <a:srgbClr val="EAF1ED"/>
          </a:solidFill>
          <a:ln w="12700">
            <a:solidFill>
              <a:srgbClr val="D9E2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1"/>
          <p:cNvSpPr/>
          <p:nvPr/>
        </p:nvSpPr>
        <p:spPr>
          <a:xfrm>
            <a:off x="640080" y="3017520"/>
            <a:ext cx="274320" cy="274320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3072384"/>
            <a:ext cx="164592" cy="16459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024128" y="289864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vérifie l'adresse du site (caf.fr)</a:t>
            </a:r>
            <a:endParaRPr lang="en-US" sz="1100" dirty="0"/>
          </a:p>
        </p:txBody>
      </p:sp>
      <p:sp>
        <p:nvSpPr>
          <p:cNvPr id="20" name="Shape 13"/>
          <p:cNvSpPr/>
          <p:nvPr/>
        </p:nvSpPr>
        <p:spPr>
          <a:xfrm>
            <a:off x="502920" y="3502152"/>
            <a:ext cx="3931920" cy="512064"/>
          </a:xfrm>
          <a:prstGeom prst="roundRect">
            <a:avLst>
              <a:gd name="adj" fmla="val 12500"/>
            </a:avLst>
          </a:prstGeom>
          <a:solidFill>
            <a:srgbClr val="EAF1ED"/>
          </a:solidFill>
          <a:ln w="12700">
            <a:solidFill>
              <a:srgbClr val="D9E2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4"/>
          <p:cNvSpPr/>
          <p:nvPr/>
        </p:nvSpPr>
        <p:spPr>
          <a:xfrm>
            <a:off x="640080" y="3621024"/>
            <a:ext cx="274320" cy="274320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3675888"/>
            <a:ext cx="164592" cy="164592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024128" y="35021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CAF ne demande jamais ma carte bancaire</a:t>
            </a:r>
            <a:endParaRPr lang="en-US" sz="1100" dirty="0"/>
          </a:p>
        </p:txBody>
      </p:sp>
      <p:sp>
        <p:nvSpPr>
          <p:cNvPr id="24" name="Text 16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signaux d'arnaque</a:t>
            </a:r>
            <a:endParaRPr lang="en-US" sz="1350" dirty="0"/>
          </a:p>
        </p:txBody>
      </p:sp>
      <p:sp>
        <p:nvSpPr>
          <p:cNvPr id="25" name="Shape 17"/>
          <p:cNvSpPr/>
          <p:nvPr/>
        </p:nvSpPr>
        <p:spPr>
          <a:xfrm>
            <a:off x="4754880" y="1691640"/>
            <a:ext cx="3931920" cy="512064"/>
          </a:xfrm>
          <a:prstGeom prst="roundRect">
            <a:avLst>
              <a:gd name="adj" fmla="val 12500"/>
            </a:avLst>
          </a:prstGeom>
          <a:solidFill>
            <a:srgbClr val="FBEAE8"/>
          </a:solidFill>
          <a:ln w="12700">
            <a:solidFill>
              <a:srgbClr val="E8B4A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18"/>
          <p:cNvSpPr/>
          <p:nvPr/>
        </p:nvSpPr>
        <p:spPr>
          <a:xfrm>
            <a:off x="4892040" y="1810512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6904" y="1865376"/>
            <a:ext cx="164592" cy="164592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5276088" y="169164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SMS / mail « remboursement » avec un lien</a:t>
            </a:r>
            <a:endParaRPr lang="en-US" sz="1100" dirty="0"/>
          </a:p>
        </p:txBody>
      </p:sp>
      <p:sp>
        <p:nvSpPr>
          <p:cNvPr id="29" name="Shape 20"/>
          <p:cNvSpPr/>
          <p:nvPr/>
        </p:nvSpPr>
        <p:spPr>
          <a:xfrm>
            <a:off x="4754880" y="2295144"/>
            <a:ext cx="3931920" cy="512064"/>
          </a:xfrm>
          <a:prstGeom prst="roundRect">
            <a:avLst>
              <a:gd name="adj" fmla="val 12500"/>
            </a:avLst>
          </a:prstGeom>
          <a:solidFill>
            <a:srgbClr val="FBEAE8"/>
          </a:solidFill>
          <a:ln w="12700">
            <a:solidFill>
              <a:srgbClr val="E8B4A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1"/>
          <p:cNvSpPr/>
          <p:nvPr/>
        </p:nvSpPr>
        <p:spPr>
          <a:xfrm>
            <a:off x="4892040" y="241401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6904" y="2468880"/>
            <a:ext cx="164592" cy="164592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5276088" y="229514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demande mes identifiants ou mon RIB</a:t>
            </a:r>
            <a:endParaRPr lang="en-US" sz="1100" dirty="0"/>
          </a:p>
        </p:txBody>
      </p:sp>
      <p:sp>
        <p:nvSpPr>
          <p:cNvPr id="33" name="Shape 23"/>
          <p:cNvSpPr/>
          <p:nvPr/>
        </p:nvSpPr>
        <p:spPr>
          <a:xfrm>
            <a:off x="4754880" y="2898648"/>
            <a:ext cx="3931920" cy="512064"/>
          </a:xfrm>
          <a:prstGeom prst="roundRect">
            <a:avLst>
              <a:gd name="adj" fmla="val 12500"/>
            </a:avLst>
          </a:prstGeom>
          <a:solidFill>
            <a:srgbClr val="FBEAE8"/>
          </a:solidFill>
          <a:ln w="12700">
            <a:solidFill>
              <a:srgbClr val="E8B4A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Shape 24"/>
          <p:cNvSpPr/>
          <p:nvPr/>
        </p:nvSpPr>
        <p:spPr>
          <a:xfrm>
            <a:off x="4892040" y="3017520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5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6904" y="3072384"/>
            <a:ext cx="164592" cy="164592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5276088" y="2898648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ton pressant : « urgent », « dernier délai »</a:t>
            </a:r>
            <a:endParaRPr lang="en-US" sz="1100" dirty="0"/>
          </a:p>
        </p:txBody>
      </p:sp>
      <p:sp>
        <p:nvSpPr>
          <p:cNvPr id="37" name="Shape 26"/>
          <p:cNvSpPr/>
          <p:nvPr/>
        </p:nvSpPr>
        <p:spPr>
          <a:xfrm>
            <a:off x="4754880" y="3502152"/>
            <a:ext cx="3931920" cy="512064"/>
          </a:xfrm>
          <a:prstGeom prst="roundRect">
            <a:avLst>
              <a:gd name="adj" fmla="val 12500"/>
            </a:avLst>
          </a:prstGeom>
          <a:solidFill>
            <a:srgbClr val="FBEAE8"/>
          </a:solidFill>
          <a:ln w="12700">
            <a:solidFill>
              <a:srgbClr val="E8B4A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Shape 27"/>
          <p:cNvSpPr/>
          <p:nvPr/>
        </p:nvSpPr>
        <p:spPr>
          <a:xfrm>
            <a:off x="4892040" y="3621024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9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6904" y="3675888"/>
            <a:ext cx="164592" cy="164592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5276088" y="35021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adresse bizarre qui imite caf.fr</a:t>
            </a:r>
            <a:endParaRPr lang="en-US" sz="1100" dirty="0"/>
          </a:p>
        </p:txBody>
      </p:sp>
      <p:sp>
        <p:nvSpPr>
          <p:cNvPr id="41" name="Text 29"/>
          <p:cNvSpPr/>
          <p:nvPr/>
        </p:nvSpPr>
        <p:spPr>
          <a:xfrm>
            <a:off x="502920" y="4261104"/>
            <a:ext cx="8183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cas de doute : ne cliquez pas. Connectez-vous vous-même à caf.fr ou à l'appli pour vérifier.</a:t>
            </a:r>
            <a:endParaRPr lang="en-US" sz="1150" dirty="0"/>
          </a:p>
        </p:txBody>
      </p:sp>
      <p:sp>
        <p:nvSpPr>
          <p:cNvPr id="42" name="Shape 30">
            <a:hlinkClick r:id="rId7" action="ppaction://hlinksldjump"/>
          </p:cNvPr>
          <p:cNvSpPr/>
          <p:nvPr/>
        </p:nvSpPr>
        <p:spPr>
          <a:xfrm>
            <a:off x="74249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3" name="Image 10" descr="preencoded.png">
            <a:hlinkClick r:id="rId7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34656" y="4754880"/>
            <a:ext cx="164592" cy="164592"/>
          </a:xfrm>
          <a:prstGeom prst="rect">
            <a:avLst/>
          </a:prstGeom>
        </p:spPr>
      </p:pic>
      <p:sp>
        <p:nvSpPr>
          <p:cNvPr id="44" name="Shape 31">
            <a:hlinkClick r:id="rId9" action="ppaction://hlinksldjump"/>
          </p:cNvPr>
          <p:cNvSpPr/>
          <p:nvPr/>
        </p:nvSpPr>
        <p:spPr>
          <a:xfrm>
            <a:off x="78821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5" name="Image 11" descr="preencoded.png">
            <a:hlinkClick r:id="rId9" action="ppaction://hlinksldjum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0" y="4754880"/>
            <a:ext cx="146304" cy="164592"/>
          </a:xfrm>
          <a:prstGeom prst="rect">
            <a:avLst/>
          </a:prstGeom>
        </p:spPr>
      </p:pic>
      <p:sp>
        <p:nvSpPr>
          <p:cNvPr id="46" name="Shape 32">
            <a:hlinkClick r:id="rId11" action="ppaction://hlinksldjump"/>
          </p:cNvPr>
          <p:cNvSpPr/>
          <p:nvPr/>
        </p:nvSpPr>
        <p:spPr>
          <a:xfrm>
            <a:off x="83393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7" name="Image 12" descr="preencoded.png">
            <a:hlinkClick r:id="rId11" action="ppaction://hlinksldjump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58200" y="4754880"/>
            <a:ext cx="146304" cy="164592"/>
          </a:xfrm>
          <a:prstGeom prst="rect">
            <a:avLst/>
          </a:prstGeom>
        </p:spPr>
      </p:pic>
      <p:sp>
        <p:nvSpPr>
          <p:cNvPr id="48" name="Text 33"/>
          <p:cNvSpPr/>
          <p:nvPr/>
        </p:nvSpPr>
        <p:spPr>
          <a:xfrm>
            <a:off x="310896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· Médiation numérique</a:t>
            </a:r>
            <a:endParaRPr lang="en-US" sz="900" dirty="0"/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0912B766-E9BF-2465-C2C4-A9FFAF1BF80B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256032"/>
            <a:ext cx="566928" cy="5669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24128" y="310896"/>
            <a:ext cx="457200" cy="457200"/>
          </a:xfrm>
          <a:prstGeom prst="ellipse">
            <a:avLst/>
          </a:prstGeom>
          <a:solidFill>
            <a:srgbClr val="1C7293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420624"/>
            <a:ext cx="237744" cy="23774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627632" y="27432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DÉPANNAGE · 12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1609344" y="457200"/>
            <a:ext cx="7360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3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cas de problème de connexion</a:t>
            </a:r>
            <a:endParaRPr lang="en-US" sz="2400" dirty="0"/>
          </a:p>
        </p:txBody>
      </p:sp>
      <p:sp>
        <p:nvSpPr>
          <p:cNvPr id="7" name="Text 3"/>
          <p:cNvSpPr/>
          <p:nvPr/>
        </p:nvSpPr>
        <p:spPr>
          <a:xfrm>
            <a:off x="502920" y="1298448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blocages les plus courants se règlent en quelques clics :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1828800"/>
            <a:ext cx="39319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5"/>
          <p:cNvSpPr/>
          <p:nvPr/>
        </p:nvSpPr>
        <p:spPr>
          <a:xfrm>
            <a:off x="704088" y="2029968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216712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17320" y="20116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 de passe oublié</a:t>
            </a:r>
            <a:endParaRPr lang="en-US" sz="1450" dirty="0"/>
          </a:p>
        </p:txBody>
      </p:sp>
      <p:sp>
        <p:nvSpPr>
          <p:cNvPr id="12" name="Text 7"/>
          <p:cNvSpPr/>
          <p:nvPr/>
        </p:nvSpPr>
        <p:spPr>
          <a:xfrm>
            <a:off x="1417320" y="230428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l'écran de connexion : cliquer « Mot de passe oublié » → on reçoit un lien pour en créer un nouveau.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4754880" y="1828800"/>
            <a:ext cx="39319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9"/>
          <p:cNvSpPr/>
          <p:nvPr/>
        </p:nvSpPr>
        <p:spPr>
          <a:xfrm>
            <a:off x="4956048" y="2029968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3208" y="2167128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669280" y="20116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d'allocataire perdu</a:t>
            </a:r>
            <a:endParaRPr lang="en-US" sz="1450" dirty="0"/>
          </a:p>
        </p:txBody>
      </p:sp>
      <p:sp>
        <p:nvSpPr>
          <p:cNvPr id="17" name="Text 11"/>
          <p:cNvSpPr/>
          <p:nvPr/>
        </p:nvSpPr>
        <p:spPr>
          <a:xfrm>
            <a:off x="5669280" y="230428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est sur tous les courriers CAF. Sinon, se connecter via FranceConnect ou contacter la CAF.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02920" y="3035808"/>
            <a:ext cx="39319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3"/>
          <p:cNvSpPr/>
          <p:nvPr/>
        </p:nvSpPr>
        <p:spPr>
          <a:xfrm>
            <a:off x="704088" y="3236976"/>
            <a:ext cx="548640" cy="548640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374136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417320" y="32186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L'appli ne s'ouvre plus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1417320" y="351129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l'appli à jour, vérifier sa connexion Internet, puis se reconnecter avec ses identifiants.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4754880" y="3035808"/>
            <a:ext cx="393192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17"/>
          <p:cNvSpPr/>
          <p:nvPr/>
        </p:nvSpPr>
        <p:spPr>
          <a:xfrm>
            <a:off x="4956048" y="3236976"/>
            <a:ext cx="548640" cy="548640"/>
          </a:xfrm>
          <a:prstGeom prst="ellipse">
            <a:avLst/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93208" y="3374136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669280" y="32186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bloqué ?</a:t>
            </a:r>
            <a:endParaRPr lang="en-US" sz="1450" dirty="0"/>
          </a:p>
        </p:txBody>
      </p:sp>
      <p:sp>
        <p:nvSpPr>
          <p:cNvPr id="27" name="Text 19"/>
          <p:cNvSpPr/>
          <p:nvPr/>
        </p:nvSpPr>
        <p:spPr>
          <a:xfrm>
            <a:off x="5669280" y="351129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messagerie, le 3230 ou un point d'accueil peuvent débloquer la situation.</a:t>
            </a:r>
            <a:endParaRPr lang="en-US" sz="1150" dirty="0"/>
          </a:p>
        </p:txBody>
      </p:sp>
      <p:sp>
        <p:nvSpPr>
          <p:cNvPr id="28" name="Shape 20">
            <a:hlinkClick r:id="rId8" action="ppaction://hlinksldjump"/>
          </p:cNvPr>
          <p:cNvSpPr/>
          <p:nvPr/>
        </p:nvSpPr>
        <p:spPr>
          <a:xfrm>
            <a:off x="74249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9" name="Image 6" descr="preencoded.png">
            <a:hlinkClick r:id="rId8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34656" y="4754880"/>
            <a:ext cx="164592" cy="164592"/>
          </a:xfrm>
          <a:prstGeom prst="rect">
            <a:avLst/>
          </a:prstGeom>
        </p:spPr>
      </p:pic>
      <p:sp>
        <p:nvSpPr>
          <p:cNvPr id="30" name="Shape 21">
            <a:hlinkClick r:id="rId10" action="ppaction://hlinksldjump"/>
          </p:cNvPr>
          <p:cNvSpPr/>
          <p:nvPr/>
        </p:nvSpPr>
        <p:spPr>
          <a:xfrm>
            <a:off x="78821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1" name="Image 7" descr="preencoded.png">
            <a:hlinkClick r:id="rId10" action="ppaction://hlinksldjum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01000" y="4754880"/>
            <a:ext cx="146304" cy="164592"/>
          </a:xfrm>
          <a:prstGeom prst="rect">
            <a:avLst/>
          </a:prstGeom>
        </p:spPr>
      </p:pic>
      <p:sp>
        <p:nvSpPr>
          <p:cNvPr id="32" name="Shape 22">
            <a:hlinkClick r:id="rId12" action="ppaction://hlinksldjump"/>
          </p:cNvPr>
          <p:cNvSpPr/>
          <p:nvPr/>
        </p:nvSpPr>
        <p:spPr>
          <a:xfrm>
            <a:off x="8339328" y="464515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3" name="Image 8" descr="preencoded.png">
            <a:hlinkClick r:id="rId12" action="ppaction://hlinksldjump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58200" y="4754880"/>
            <a:ext cx="146304" cy="164592"/>
          </a:xfrm>
          <a:prstGeom prst="rect">
            <a:avLst/>
          </a:prstGeom>
        </p:spPr>
      </p:pic>
      <p:sp>
        <p:nvSpPr>
          <p:cNvPr id="34" name="Text 23"/>
          <p:cNvSpPr/>
          <p:nvPr/>
        </p:nvSpPr>
        <p:spPr>
          <a:xfrm>
            <a:off x="310896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· Médiation numérique</a:t>
            </a:r>
            <a:endParaRPr lang="en-US" sz="900" dirty="0"/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66E5DC50-35F5-B87B-19CB-E1C742079B8F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3D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0739" y="1069848"/>
            <a:ext cx="4023360" cy="4023360"/>
          </a:xfrm>
          <a:prstGeom prst="ellipse">
            <a:avLst/>
          </a:prstGeom>
          <a:solidFill>
            <a:srgbClr val="21548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5392223" y="98715"/>
            <a:ext cx="3474720" cy="347472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" y="274320"/>
            <a:ext cx="566928" cy="5669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24128" y="38404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L'ESSENTIEL À RETENIR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005840" y="676656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 compte CAF, mode d'emploi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3977640" cy="1170432"/>
          </a:xfrm>
          <a:prstGeom prst="roundRect">
            <a:avLst>
              <a:gd name="adj" fmla="val 7813"/>
            </a:avLst>
          </a:prstGeom>
          <a:solidFill>
            <a:srgbClr val="23477B"/>
          </a:solidFill>
          <a:ln w="12700">
            <a:solidFill>
              <a:srgbClr val="3359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749808" y="1636776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1773936"/>
            <a:ext cx="292608" cy="2926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160020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espace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1463040" y="1911096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site caf.fr et l'appli « Caf - Mon Compte » : le même dossier.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754880" y="1417320"/>
            <a:ext cx="3977640" cy="1170432"/>
          </a:xfrm>
          <a:prstGeom prst="roundRect">
            <a:avLst>
              <a:gd name="adj" fmla="val 7813"/>
            </a:avLst>
          </a:prstGeom>
          <a:solidFill>
            <a:srgbClr val="23477B"/>
          </a:solidFill>
          <a:ln w="12700">
            <a:solidFill>
              <a:srgbClr val="3359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9"/>
          <p:cNvSpPr/>
          <p:nvPr/>
        </p:nvSpPr>
        <p:spPr>
          <a:xfrm>
            <a:off x="4956048" y="163677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3208" y="177393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669280" y="160020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sais me connecter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5669280" y="1911096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d'allocataire + mot de passe, FranceConnect, ou empreinte / visage.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548640" y="2743200"/>
            <a:ext cx="3977640" cy="1170432"/>
          </a:xfrm>
          <a:prstGeom prst="roundRect">
            <a:avLst>
              <a:gd name="adj" fmla="val 7813"/>
            </a:avLst>
          </a:prstGeom>
          <a:solidFill>
            <a:srgbClr val="23477B"/>
          </a:solidFill>
          <a:ln w="12700">
            <a:solidFill>
              <a:srgbClr val="3359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3"/>
          <p:cNvSpPr/>
          <p:nvPr/>
        </p:nvSpPr>
        <p:spPr>
          <a:xfrm>
            <a:off x="749808" y="2962656"/>
            <a:ext cx="566928" cy="566928"/>
          </a:xfrm>
          <a:prstGeom prst="ellipse">
            <a:avLst/>
          </a:prstGeom>
          <a:solidFill>
            <a:srgbClr val="2D6A4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3099816"/>
            <a:ext cx="292608" cy="29260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63040" y="292608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vérifie et je valide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463040" y="3236976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déclaration trimestrielle est pré-remplie : je contrôle puis je valide.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754880" y="2743200"/>
            <a:ext cx="3977640" cy="1170432"/>
          </a:xfrm>
          <a:prstGeom prst="roundRect">
            <a:avLst>
              <a:gd name="adj" fmla="val 7813"/>
            </a:avLst>
          </a:prstGeom>
          <a:solidFill>
            <a:srgbClr val="23477B"/>
          </a:solidFill>
          <a:ln w="12700">
            <a:solidFill>
              <a:srgbClr val="3359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17"/>
          <p:cNvSpPr/>
          <p:nvPr/>
        </p:nvSpPr>
        <p:spPr>
          <a:xfrm>
            <a:off x="4956048" y="2962656"/>
            <a:ext cx="566928" cy="566928"/>
          </a:xfrm>
          <a:prstGeom prst="ellipse">
            <a:avLst/>
          </a:prstGeom>
          <a:solidFill>
            <a:srgbClr val="1A3D6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93208" y="3099816"/>
            <a:ext cx="292608" cy="29260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5669280" y="292608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reste prudent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5669280" y="3236976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passe toujours par caf.fr / l'appli ; je me méfie des liens reçus.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548640" y="468172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· Médiation numérique — atelier « Mon compte CAF de A à Z »</a:t>
            </a:r>
            <a:endParaRPr lang="en-US" sz="1000" dirty="0"/>
          </a:p>
        </p:txBody>
      </p:sp>
      <p:sp>
        <p:nvSpPr>
          <p:cNvPr id="28" name="Shape 21">
            <a:hlinkClick r:id="rId8" action="ppaction://hlinksldjump"/>
          </p:cNvPr>
          <p:cNvSpPr/>
          <p:nvPr/>
        </p:nvSpPr>
        <p:spPr>
          <a:xfrm>
            <a:off x="8339328" y="462686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9" name="Image 5" descr="preencoded.png">
            <a:hlinkClick r:id="rId8" action="ppaction://hlinksldjum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49056" y="4736592"/>
            <a:ext cx="164592" cy="164592"/>
          </a:xfrm>
          <a:prstGeom prst="rect">
            <a:avLst/>
          </a:prstGeom>
        </p:spPr>
      </p:pic>
      <p:sp>
        <p:nvSpPr>
          <p:cNvPr id="30" name="ZoneTexte 29">
            <a:extLst>
              <a:ext uri="{FF2B5EF4-FFF2-40B4-BE49-F238E27FC236}">
                <a16:creationId xmlns:a16="http://schemas.microsoft.com/office/drawing/2014/main" id="{DCD05B33-1B91-9EAC-4E90-92650A84D8DD}"/>
              </a:ext>
            </a:extLst>
          </p:cNvPr>
          <p:cNvSpPr txBox="1"/>
          <p:nvPr/>
        </p:nvSpPr>
        <p:spPr>
          <a:xfrm>
            <a:off x="0" y="486410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900">
                <a:solidFill>
                  <a:srgbClr val="B4B4B4"/>
                </a:solidFill>
              </a:rPr>
              <a:t>(c) titi_23 - mediateur-numerique.github.io - Reproduction interdite sans autorisation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2179</Words>
  <Application>Microsoft Office PowerPoint</Application>
  <PresentationFormat>Affichage à l'écran (16:9)</PresentationFormat>
  <Paragraphs>301</Paragraphs>
  <Slides>18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 compte CAF de A à Z – pas à pas</dc:title>
  <dc:subject>PptxGenJS Presentation</dc:subject>
  <dc:creator>Yggdrasil – Médiation numérique</dc:creator>
  <cp:lastModifiedBy>titi 23</cp:lastModifiedBy>
  <cp:revision>5</cp:revision>
  <dcterms:created xsi:type="dcterms:W3CDTF">2026-06-16T18:54:03Z</dcterms:created>
  <dcterms:modified xsi:type="dcterms:W3CDTF">2026-09-08T11:32:54Z</dcterms:modified>
</cp:coreProperties>
</file>