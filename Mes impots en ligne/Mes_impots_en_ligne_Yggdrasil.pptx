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10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678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7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6131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33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459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102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519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8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347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965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325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0963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393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99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6083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9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023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75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67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5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0.png"/><Relationship Id="rId5" Type="http://schemas.openxmlformats.org/officeDocument/2006/relationships/image" Target="../media/image19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30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792" y="22860"/>
            <a:ext cx="5943600" cy="59436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7836408" y="2514600"/>
            <a:ext cx="4114800" cy="4114800"/>
          </a:xfrm>
          <a:prstGeom prst="ellipse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258568" y="1298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Médiation numérique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impôts en ligne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95528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sa déclaration sur impots.gouv.fr — pas à pas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guide simple pour débutants : juste les bons papiers à préparer et où cliquer.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5966460"/>
            <a:ext cx="4846320" cy="777240"/>
          </a:xfrm>
          <a:prstGeom prst="roundRect">
            <a:avLst>
              <a:gd name="adj" fmla="val 14118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422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52120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accompagné — vous n'êtes jamais seul(e) devant l'écran</a:t>
            </a:r>
            <a:endParaRPr lang="en-US" sz="12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29BDB0C-9B27-306D-B006-7A72A279BD4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Déclarer en ligne, c'est plus simple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d'être un expert. Le site fait une grande partie du travail à votre place.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2140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0428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20299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Déjà rempli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828800" y="24505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revenus (salaire, retraite…) sont souvent déjà inscrits. Vous vérifiez, c'est tout.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220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46520" y="212140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3042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20299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corrigez à tout moment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452360" y="24505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? On modifie en un clic, même après avoir validé.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2960" y="376732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5020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28800" y="3675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automatique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828800" y="40965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de l'impôt se calcule tout seul, sans calculette.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7220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46520" y="376732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95020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3675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Quelques jours de plus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7452360" y="40965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limite en ligne est plus tardive que pour le papier.</a:t>
            </a:r>
            <a:endParaRPr lang="en-US" sz="13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2E5FF01-C880-AC51-5641-20D988494C73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seul site officiel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28016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13716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impots.gouv.fr</a:t>
            </a:r>
            <a:endParaRPr lang="en-US" sz="3000" dirty="0"/>
          </a:p>
          <a:p>
            <a:pPr marL="0" indent="0">
              <a:buNone/>
            </a:pPr>
            <a:r>
              <a:rPr lang="en-US" sz="12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l'adresse vous-même dans le navigateur. Le « s » de https et le cadenas = sécurisé.</a:t>
            </a:r>
            <a:endParaRPr lang="en-US" sz="3000" dirty="0"/>
          </a:p>
        </p:txBody>
      </p:sp>
      <p:sp>
        <p:nvSpPr>
          <p:cNvPr id="11" name="Shape 6"/>
          <p:cNvSpPr/>
          <p:nvPr/>
        </p:nvSpPr>
        <p:spPr>
          <a:xfrm>
            <a:off x="7223760" y="128016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FBEF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481328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0" y="1371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arnaques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cliquez jamais sur un lien « impôts » reçu par mail ou SMS. Les impôts ne réclament jamais de paiement par message.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4864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nom de votre espace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48640" y="34290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9476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28800" y="35204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espace Finances publiques »</a:t>
            </a:r>
            <a:endParaRPr lang="en-US" sz="1900" dirty="0"/>
          </a:p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l'ancien « espace particulier ». Tout s'y trouve : déclarer, payer, consulter ses avis, gérer son prélèvement.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enregistrez le site dans vos favoris pour le retrouver facilement la prochaine fois.</a:t>
            </a:r>
            <a:endParaRPr lang="en-US" sz="13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CA532C1-DB20-A6A5-BBBB-01EBC2D0F54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PRÉPARER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papiers à avoir sous la main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Rassemblez tout AVANT de commencer. Vous gagnerez du temps et resterez serein(e).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947672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numéro fiscal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4672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chiffres, en haut de votre dernier avis ou déclaration.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288536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1947672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44568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mot de passe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544568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de votre espace (ou les 3 identifiants si 1ère fois — voir page suivante).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028432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1947672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84464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adresse e-mail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284464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que vous savez consulter (pour les confirmations).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1188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4672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justificatifs de revenus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04672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de salaire, attestation France Travail, retraite, etc.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288536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4568" y="3611880"/>
            <a:ext cx="502920" cy="5029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544568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justificatifs de frais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4544568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Dons, frais de garde, emploi à domicile, pension versée…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8028432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464" y="3611880"/>
            <a:ext cx="502920" cy="5029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284464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RIB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8284464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remboursement ou le paiement de l'impôt.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 : si vos revenus sont déjà connus, vous n'aurez peut-être qu'à vérifier (déclaration automatique).</a:t>
            </a:r>
            <a:endParaRPr lang="en-US" sz="125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90E631C-DCE0-8828-D21C-13E45E1348CD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FOIS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son espace : les 3 identifiants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jamais créé votre espace ? Il vous faut ces 3 numéros (sur votre courrier ou ancien avis) 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22960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 fiscal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chiffres. Identifie la personne.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88536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62856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62856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562856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 d'accès en ligne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62856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1ère connexion uniquement.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28432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302752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8302752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8302752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 fiscal de référence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302752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montant indiqué sur le dernier avis.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39319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91640" y="402336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l'espace créé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choisissez votre propre mot de passe. Les fois suivantes, il suffira du numéro fiscal + ce mot de passe. Notez-les en lieu sûr.</a:t>
            </a:r>
            <a:endParaRPr lang="en-US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EAC8CFB-4A1D-BCCD-FAD4-0C244AA0389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le site impots.gouv.fr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navigateur (Chrome, Firefox, Edge…), tapez l'adresse, puis appuyez sur Entrée.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9D6DE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12140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18745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https://www.impots.gouv.fr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9418320" y="187452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941832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 ⏎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0"/>
          <p:cNvSpPr/>
          <p:nvPr/>
        </p:nvSpPr>
        <p:spPr>
          <a:xfrm>
            <a:off x="777240" y="327355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: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l'adresse commence bien par </a:t>
            </a: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finit par </a:t>
            </a: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.gouv.fr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un petit cadenas est affiché à gauche.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0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page de pub ou un autre nom apparaît : fermez et retapez l'adresse vous-même.</a:t>
            </a:r>
            <a:endParaRPr lang="en-US" sz="135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BD5FEEB-585C-D4F9-9C0E-44806D2448A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Cliquer sur « Votre espace »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 à droite de la page d'accueil, repérez le bouton et cliquez dessus.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931920" y="2103120"/>
            <a:ext cx="4297680" cy="1051560"/>
          </a:xfrm>
          <a:prstGeom prst="roundRect">
            <a:avLst>
              <a:gd name="adj" fmla="val 12174"/>
            </a:avLst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39572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7760" y="21031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espace particulier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017520"/>
            <a:ext cx="548640" cy="548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8"/>
          <p:cNvSpPr/>
          <p:nvPr/>
        </p:nvSpPr>
        <p:spPr>
          <a:xfrm>
            <a:off x="777240" y="382219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écrans, le bouton peut s'appeler « Votre espace particulier » ou 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espace Finances publiques »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C'est le même endroit : la porte d'entrée vers vos démarches.</a:t>
            </a:r>
            <a:endParaRPr lang="en-US" sz="16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F806684-CE55-7079-F4BA-576A9473782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6035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86868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 à votre espace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fiscal (13 chiffres)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245059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1051560" y="2450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1 2  3 4 5 6 7 8 9 0 1 2 3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868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345643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051560" y="3456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● ● ● ● 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4206240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868680" y="4206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858000" y="141732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72821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26680" y="1581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numéro fiscal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26680" y="1947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chiffres, sans espaces. En haut de votre avis.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58000" y="265176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96265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266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 de passe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26680" y="3182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que vous avez choisi en créant l'espace.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0" y="388620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4197096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26680" y="4050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Cliquez « Se connecter »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726680" y="4416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vous voilà dans votre espace personnel !</a:t>
            </a:r>
            <a:endParaRPr lang="en-US" sz="12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B7DC858-8679-E9A3-5DDE-08655056BC02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OPTION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avec FranceConnect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déjà un compte Ameli, La Poste, MSA… ? Vous pouvez l'utiliser pour entrer, sans retenir un mot de passe de plus.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32257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554480" y="2532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compte Assurance Maladie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1920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92240" y="22128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32257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Poste — L'Identité Numérique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223760" y="2532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sur smartphone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2918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2960" y="35844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69417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55448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dépendez de la Mutualité Sociale Agricole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17920" y="32918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92240" y="35844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694176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Identité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22376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votre carte d'identité récente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2"/>
          <p:cNvSpPr/>
          <p:nvPr/>
        </p:nvSpPr>
        <p:spPr>
          <a:xfrm>
            <a:off x="777240" y="4782312"/>
            <a:ext cx="10607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: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 bouton bleu « S'identifier avec FranceConnect », choisissez votre compte, et entrez ses identifiants habituels.</a:t>
            </a:r>
            <a:endParaRPr lang="en-US" sz="15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87293F5-E87E-E680-7941-997A9052117F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SOUCI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 de passe oublié ou compte bloqué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6184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75564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 de passe oublié ?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645920" y="1874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Mot de passe oublié ? » sous les champs. Un lien de réinitialisation arrive par e-mail.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26974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12724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5920" y="2880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 bloqué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645920" y="3246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plusieurs essais ratés, le compte se bloque ~1 semaine. Un courrier avec un code à 6 chiffres vous est envoyé pour le réactiver.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0690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43616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9884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45920" y="42519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bloqué après 10 jours ?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645920" y="46177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Appelez le 0 809 401 401 (service gratuit + prix d'un appel). Un agent vérifie votre dossier.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panique : un blocage est temporaire, jamais définitif. On peut toujours débloquer la situation.</a:t>
            </a:r>
            <a:endParaRPr lang="en-US" sz="13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C22AC8C-6527-A161-4430-8EA8FA2A33A9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Cliquer sur « Déclarer mes revenus »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connecté(e), vous arrivez sur votre tableau de bord. Cherchez le grand bouton de la déclaration.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108960" y="2103120"/>
            <a:ext cx="5943600" cy="1188720"/>
          </a:xfrm>
          <a:prstGeom prst="roundRect">
            <a:avLst>
              <a:gd name="adj" fmla="val 10769"/>
            </a:avLst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468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60520" y="2103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mes revenus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777240" y="386791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la période de déclaration </a:t>
            </a: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(d'avril à fin mai / début juin),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bouton est bien visible.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de l'année,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y trouverez plutôt « Consulter mon avis » ou « Payer ».</a:t>
            </a:r>
            <a:endParaRPr lang="en-US" sz="15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FED9ACB-35FF-E705-B1D7-750118025D03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votre situation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1ère étape vous montre votre état civil, votre adresse et votre situation familiale. Vérifiez que tout est juste.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774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Identité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22960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prénom, date de naissance.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288536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4562856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3774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Adresse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562856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1er janvier de l'année. Déménagement ? Indiquez la nouvelle.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028432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302752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377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02752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familiale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302752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Marié(e), pacsé(e), enfants à charge…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31596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40690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bon ? Cliquez sur « Suivant » en bas de page pour avancer.</a:t>
            </a:r>
            <a:endParaRPr lang="en-US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CF1C50B-C0ED-F150-765D-95AEB911843F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vos revenus pré-remplis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affiche déjà vos revenus connus (salaires, retraites, France Travail…). Votre travail : VÉRIFIER les montants.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07040" cy="1828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revenu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pré-rempli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vérifier sur…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18 240 €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dernier bulletin de paie / cumul annuel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de retraite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fiscale de la caisse de retraite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Allocations France Travail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France Travail (ex-Pôle emploi)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7"/>
          <p:cNvSpPr/>
          <p:nvPr/>
        </p:nvSpPr>
        <p:spPr>
          <a:xfrm>
            <a:off x="777240" y="45994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ne correspond pas ?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souci : vous pouvez le corriger à l'étape suivante. Rien n'est définitif tant que vous n'avez pas signé.</a:t>
            </a:r>
            <a:endParaRPr lang="en-US" sz="15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BB4DEA-D7E4-EB34-1D50-B92F583DF975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Corriger ou ajouter si besoin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modifier un montant ou cocher des cases pour des situations fréquentes :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04672" y="2084832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249424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30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don à une association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783080" y="2532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d'impôt — gardez le reçu fiscal.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73952" y="2084832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249424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Emploi à domicile / garde d'enfant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452360" y="2532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d'impôt — montants payés dans l'année.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40156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04672" y="370332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38679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83080" y="36301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Pension alimentaire versée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783080" y="4151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Déductible — sous conditions.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17920" y="340156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73952" y="370332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3867912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36301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Frais réels (trajets, repas…)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7452360" y="4151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place de l'abattement automatique de 10 %.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atelier : on regarde ensemble lesquelles vous concernent. Inutile de tout cocher !</a:t>
            </a:r>
            <a:endParaRPr lang="en-US" sz="13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BCA9A1B-6C07-4952-F712-E9D745A52C5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SIMPLE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déclaration automatique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7F4E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8308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7360" y="1417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situation est simple, vous n'avez peut-être RIEN à faire.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impôts vous envoient un récapitulatif. Si tout est exact, vous n'avez même pas besoin de signer : la déclaration se valide toute seule à la date limite.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486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savoir si je suis concerné(e) ?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831336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5204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e-mail ou un courrier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prévient que votre récapitulatif est prêt.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1792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831336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600" y="35204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vérifiez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affichées, tranquillement.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47548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065776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4754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juste ?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touchez à rien. C'est terminé !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217920" y="47548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065776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754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 chose a changé ?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corrigez normalement, comme dans ce guide.</a:t>
            </a:r>
            <a:endParaRPr lang="en-US" sz="13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F2CAF3F-C2A2-4A9B-3251-DCBA48B45B3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pour valider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étape : un récapitulatif s'affiche avec votre éventuel impôt à payer ou à vous rembourser.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57600" y="2011680"/>
            <a:ext cx="4846320" cy="1143000"/>
          </a:xfrm>
          <a:prstGeom prst="roundRect">
            <a:avLst>
              <a:gd name="adj" fmla="val 11200"/>
            </a:avLst>
          </a:prstGeom>
          <a:solidFill>
            <a:srgbClr val="2E9E5B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317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9160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ma déclaration</a:t>
            </a:r>
            <a:endParaRPr lang="en-US" sz="2100" dirty="0"/>
          </a:p>
        </p:txBody>
      </p:sp>
      <p:sp>
        <p:nvSpPr>
          <p:cNvPr id="12" name="Shape 7"/>
          <p:cNvSpPr/>
          <p:nvPr/>
        </p:nvSpPr>
        <p:spPr>
          <a:xfrm>
            <a:off x="548640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8862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Relisez le récapitulatif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04672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le montant affiché une dernière fois.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288536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38862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44568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Cliquez « Signer »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44568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vaut signature officielle de votre déclaration.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028432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38862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84464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validé !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8284464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une confirmation par e-mail.</a:t>
            </a:r>
            <a:endParaRPr lang="en-US" sz="115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4F906E2-F03B-430B-0ED1-A8637B59476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580" y="1828800"/>
            <a:ext cx="4572000" cy="45720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7160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Bravo, c'est fait !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1280160" y="3749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accusé de réception s'affiche à l'écran et vous est envoyé par e-mail.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l'enregistrer ou l'imprimer : c'est la preuve que votre déclaration est bien partie.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023360" y="502920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5212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0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gardez cet accusé avec vos papiers</a:t>
            </a:r>
            <a:endParaRPr lang="en-US" sz="125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5DC91C0-2CF8-F24B-7C4A-A89F3C5B9AAB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Corriger après avoir signé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7F4E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164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13716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jamais figé. Vous pouvez modifier votre déclaration, même après l'avoir signée.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7"/>
          <p:cNvSpPr/>
          <p:nvPr/>
        </p:nvSpPr>
        <p:spPr>
          <a:xfrm>
            <a:off x="822960" y="296265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072384"/>
            <a:ext cx="283464" cy="2834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2862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la date limite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508760" y="3200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Retournez dans la déclaration et modifiez librement, puis signez de nouveau.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1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123944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3913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réception de l'avis (vers l'été)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50876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« Corriger ma déclaration en ligne » dans votre espace, ouvert jusqu'à mi-décembre environ.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5"/>
          <p:cNvSpPr/>
          <p:nvPr/>
        </p:nvSpPr>
        <p:spPr>
          <a:xfrm>
            <a:off x="822960" y="506577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175504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4965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tard / cas particulier</a:t>
            </a:r>
            <a:endParaRPr lang="en-US" sz="1550" dirty="0"/>
          </a:p>
        </p:txBody>
      </p:sp>
      <p:sp>
        <p:nvSpPr>
          <p:cNvPr id="25" name="Text 17"/>
          <p:cNvSpPr/>
          <p:nvPr/>
        </p:nvSpPr>
        <p:spPr>
          <a:xfrm>
            <a:off x="1508760" y="5303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par la messagerie sécurisée de votre espace pour faire une réclamation.</a:t>
            </a:r>
            <a:endParaRPr lang="en-US" sz="12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2CF8E6C-D55A-65AD-23A5-E85F5AE7A983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mon avis d'impôt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semaines après (généralement fin juillet), votre avis est disponible dans votre espace.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31343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prévenu(e)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2960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e-mail signale que votre avis est en ligne.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288536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4562856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231343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le trouver ?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62856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Rubrique « Mes documents » de votre espace.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028432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302752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23134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02752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quoi il sert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302752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officiel : logement, prêt, aides… On vous le demande souvent.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2976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0690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Pensez à enregistrer votre avis (PDF) sur votre ordinateur ou clé USB : vous l'aurez toujours sous la main.</a:t>
            </a:r>
            <a:endParaRPr lang="en-US" sz="15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BD54B69-3F16-1A97-AF70-B1876F63A5A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et gérer le prélèvement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L'impôt est déjà prélevé chaque mois sur vos revenus (prélèvement à la source). À la fin, on ajuste.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41248" y="2130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25856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020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S'il reste un montant à payer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600200" y="2368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montant : prélevé en une fois (septembre). Plus élevé : étalé en 4 fois (sept. → déc.).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017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841248" y="3273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40156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163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vous êtes remboursé(e)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00200" y="3511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trop-perçu est viré sur votre compte (RIB), sans démarche de votre part.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41248" y="4416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54456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4306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mon prélèvement à la source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00200" y="4654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revenus ? Adaptez votre taux dans cette rubrique de l'espace.</a:t>
            </a:r>
            <a:endParaRPr lang="en-US" sz="13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A0EF4F6-B853-1554-18CD-D061EB431D3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calendrier type de l'année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70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dates exactes changent chaque année — voici les grandes périodes à retenir 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48640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Avril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7240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de déclaration en ligne ouvre.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401568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401568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401568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 – Juin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30168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limites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30168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département (zone). La Creuse (23) = fin mai.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54496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254496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254496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juillet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83096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d'impôt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83096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avis devient disponible dans l'espace.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9107424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9107424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9107424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Sept. – Déc.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9336024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336024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reste un solde, il est prélevé (1 ou 4 fois).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BEF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73168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7160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votre espace reste accessible TOUTE l'année (consulter, payer, corriger), pas seulement au printemps.</a:t>
            </a:r>
            <a:endParaRPr lang="en-US" sz="135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73A4641-0043-BF29-B983-03B943BBFD1E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bons réflexes anti-arnaque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F4DAD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89280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Méfiez-vous des mails et SMS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828800" y="21214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impôts ne demandent JAMAIS un paiement ou vos codes par message.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17920" y="1371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6492240" y="1691640"/>
            <a:ext cx="822960" cy="822960"/>
          </a:xfrm>
          <a:prstGeom prst="ellipse">
            <a:avLst/>
          </a:prstGeom>
          <a:solidFill>
            <a:srgbClr val="D3EB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89280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Tapez l'adresse vous-même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98080" y="21214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N'utilisez pas un lien reçu : allez sur impots.gouv.fr directement.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3154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3474720"/>
            <a:ext cx="822960" cy="822960"/>
          </a:xfrm>
          <a:prstGeom prst="ellipse">
            <a:avLst/>
          </a:prstGeom>
          <a:solidFill>
            <a:srgbClr val="D3EB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67588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Gardez vos identifiants secrets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82880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les communiquez à personne, même par téléphone.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17920" y="3154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492240" y="3474720"/>
            <a:ext cx="822960" cy="822960"/>
          </a:xfrm>
          <a:prstGeom prst="ellipse">
            <a:avLst/>
          </a:prstGeom>
          <a:solidFill>
            <a:srgbClr val="F4DAD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675888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« remboursement » trop beau ?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49808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mail qui promet un remboursement et demande votre carte = arnaque.</a:t>
            </a:r>
            <a:endParaRPr lang="en-US" sz="12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E040A8C-FA9C-7437-9674-3B40FC9E3F7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qui se tourner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7190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920240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téléphone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82880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0 809 401 401 — assistance des impôts (du lundi au vendredi).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6492240" y="17190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920240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guichet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49808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des Impôts des Particuliers (SIP) de votre secteur, sur rendez-vous.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35478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749040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votre espace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82880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 sécurisée pour poser une question écrite et garder une trace.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492240" y="35478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749040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atelier numérique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49808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médiateur vous accompagne, en confiance, à votre rythme — comme aujourd'hui.</a:t>
            </a:r>
            <a:endParaRPr lang="en-US" sz="13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646F9F6-AF7D-51FC-3E00-90EAE903F81E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parcours en 8 étapes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49808" y="15179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498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1325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impots.gouv.fr (le vrai site)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464808" y="15179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4648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086600" y="1325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Votre espace »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3317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749808" y="25237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749808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71600" y="2331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(n° fiscal + mot de passe)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63640" y="23317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464808" y="25237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464808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086600" y="2331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Déclarer mes revenus »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333756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49808" y="352958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4980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371600" y="33375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votre situation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263640" y="333756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464808" y="352958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46480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086600" y="33375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vos revenus pré-remplis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4343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749808" y="45354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74980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371600" y="434340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/ ajouter si besoin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263640" y="4343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3"/>
          <p:cNvSpPr/>
          <p:nvPr/>
        </p:nvSpPr>
        <p:spPr>
          <a:xfrm>
            <a:off x="6464808" y="45354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646480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7086600" y="434340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pour valider</a:t>
            </a:r>
            <a:endParaRPr lang="en-US" sz="140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4F2F2C0-F3F1-1D8C-6803-2A8FAA876C45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5486400" cy="54864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37160" y="91440"/>
            <a:ext cx="4572000" cy="4572000"/>
          </a:xfrm>
          <a:prstGeom prst="ellipse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savez déclarer en ligne 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28016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pas, à votre rythme. Et au moindre doute, on est là pour vous accompagner.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2992327" y="4389120"/>
            <a:ext cx="5486400" cy="1371600"/>
          </a:xfrm>
          <a:prstGeom prst="roundRect">
            <a:avLst>
              <a:gd name="adj" fmla="val 9333"/>
            </a:avLst>
          </a:prstGeom>
          <a:solidFill>
            <a:srgbClr val="12294A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800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43891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Médiation numérique
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d'accompagnement au numérique du quotidien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réutilisable — les dates indiquées sont des repères, vérifiez les dates exactes de l'année en cours.</a:t>
            </a:r>
            <a:endParaRPr lang="en-US" sz="11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383B831-41E4-C5BC-1417-D64EB7CD154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ouge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2551</Words>
  <Application>Microsoft Office PowerPoint</Application>
  <PresentationFormat>Grand écran</PresentationFormat>
  <Paragraphs>308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Tw Cen MT</vt:lpstr>
      <vt:lpstr>Circuit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 impôts en ligne — pas à pas</dc:title>
  <dc:subject>PptxGenJS Presentation</dc:subject>
  <dc:creator>Yggdrasil — Médiation numérique</dc:creator>
  <cp:lastModifiedBy>titi 23</cp:lastModifiedBy>
  <cp:revision>5</cp:revision>
  <dcterms:created xsi:type="dcterms:W3CDTF">2026-06-19T07:32:53Z</dcterms:created>
  <dcterms:modified xsi:type="dcterms:W3CDTF">2026-09-08T11:33:02Z</dcterms:modified>
</cp:coreProperties>
</file>