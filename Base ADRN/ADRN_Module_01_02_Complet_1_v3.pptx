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18.jpg" ContentType="image/jpg"/>
  <Override PartName="/ppt/media/image19.jpg" ContentType="image/jpg"/>
  <Override PartName="/ppt/media/image20.jpg" ContentType="image/jpg"/>
  <Override PartName="/ppt/media/image24.jpg" ContentType="image/jpg"/>
  <Override PartName="/ppt/notesSlides/notesSlide4.xml" ContentType="application/vnd.openxmlformats-officedocument.presentationml.notesSlide+xml"/>
  <Override PartName="/ppt/media/image25.jpg" ContentType="image/jpg"/>
  <Override PartName="/ppt/notesSlides/notesSlide5.xml" ContentType="application/vnd.openxmlformats-officedocument.presentationml.notesSlide+xml"/>
  <Override PartName="/ppt/media/image26.jpg" ContentType="image/jpg"/>
  <Override PartName="/ppt/notesSlides/notesSlide6.xml" ContentType="application/vnd.openxmlformats-officedocument.presentationml.notesSlide+xml"/>
  <Override PartName="/ppt/media/image27.jpg" ContentType="image/jpg"/>
  <Override PartName="/ppt/notesSlides/notesSlide7.xml" ContentType="application/vnd.openxmlformats-officedocument.presentationml.notesSlide+xml"/>
  <Override PartName="/ppt/media/image28.jpg" ContentType="image/jpg"/>
  <Override PartName="/ppt/notesSlides/notesSlide8.xml" ContentType="application/vnd.openxmlformats-officedocument.presentationml.notesSlide+xml"/>
  <Override PartName="/ppt/media/image30.jpg" ContentType="image/jp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media/image32.jpg" ContentType="image/jpg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media/image39.jpg" ContentType="image/jpg"/>
  <Override PartName="/ppt/media/image40.jpg" ContentType="image/jpg"/>
  <Override PartName="/ppt/media/image41.jpg" ContentType="image/jpg"/>
  <Override PartName="/ppt/media/image42.jpg" ContentType="image/jpg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8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E8E03F-3965-490E-A8DC-46400E3DF80D}" v="5" dt="2026-08-03T09:30:41.6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1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ti 23" userId="1c7b707be5ee4c5b" providerId="LiveId" clId="{65F49254-7717-47CF-9EC4-88BF276CEA2B}"/>
    <pc:docChg chg="custSel modSld">
      <pc:chgData name="titi 23" userId="1c7b707be5ee4c5b" providerId="LiveId" clId="{65F49254-7717-47CF-9EC4-88BF276CEA2B}" dt="2026-08-03T09:32:26.095" v="12" actId="122"/>
      <pc:docMkLst>
        <pc:docMk/>
      </pc:docMkLst>
      <pc:sldChg chg="delSp modSp mod">
        <pc:chgData name="titi 23" userId="1c7b707be5ee4c5b" providerId="LiveId" clId="{65F49254-7717-47CF-9EC4-88BF276CEA2B}" dt="2026-08-03T09:32:26.095" v="12" actId="122"/>
        <pc:sldMkLst>
          <pc:docMk/>
          <pc:sldMk cId="0" sldId="256"/>
        </pc:sldMkLst>
        <pc:spChg chg="del mod">
          <ac:chgData name="titi 23" userId="1c7b707be5ee4c5b" providerId="LiveId" clId="{65F49254-7717-47CF-9EC4-88BF276CEA2B}" dt="2026-08-03T09:28:25.147" v="9" actId="21"/>
          <ac:spMkLst>
            <pc:docMk/>
            <pc:sldMk cId="0" sldId="256"/>
            <ac:spMk id="5" creationId="{00000000-0000-0000-0000-000000000000}"/>
          </ac:spMkLst>
        </pc:spChg>
        <pc:spChg chg="mod">
          <ac:chgData name="titi 23" userId="1c7b707be5ee4c5b" providerId="LiveId" clId="{65F49254-7717-47CF-9EC4-88BF276CEA2B}" dt="2026-08-03T09:28:49.012" v="11" actId="14100"/>
          <ac:spMkLst>
            <pc:docMk/>
            <pc:sldMk cId="0" sldId="256"/>
            <ac:spMk id="6" creationId="{00000000-0000-0000-0000-000000000000}"/>
          </ac:spMkLst>
        </pc:spChg>
        <pc:spChg chg="mod">
          <ac:chgData name="titi 23" userId="1c7b707be5ee4c5b" providerId="LiveId" clId="{65F49254-7717-47CF-9EC4-88BF276CEA2B}" dt="2026-08-03T09:32:26.095" v="12" actId="122"/>
          <ac:spMkLst>
            <pc:docMk/>
            <pc:sldMk cId="0" sldId="256"/>
            <ac:spMk id="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2200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4ACAC3-7932-4379-B917-F7F78C6F24BE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47225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41481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89511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961397C-706D-4EB8-B1E1-D1B680D284C3}" type="datetime1">
              <a:rPr lang="en-US" smtClean="0"/>
              <a:t>8/3/2026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27719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B9144B-27A2-4831-A05B-9434A462331E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92795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5895950-DBB3-436C-A1DD-7D3C30A336E3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48580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fr-FR"/>
              <a:t>Cliquez pour modifier les styles du texte du masque</a:t>
            </a:r>
          </a:p>
          <a:p>
            <a:pPr marL="228600" lvl="1" indent="-228600"/>
            <a:r>
              <a:rPr lang="fr-FR"/>
              <a:t>Deuxième niveau</a:t>
            </a:r>
          </a:p>
          <a:p>
            <a:pPr marL="228600" lvl="2" indent="-228600"/>
            <a:r>
              <a:rPr lang="fr-FR"/>
              <a:t>Troisième niveau</a:t>
            </a:r>
          </a:p>
          <a:p>
            <a:pPr marL="228600" lvl="3" indent="-228600"/>
            <a:r>
              <a:rPr lang="fr-FR"/>
              <a:t>Quatrième niveau</a:t>
            </a:r>
          </a:p>
          <a:p>
            <a:pPr marL="228600" lvl="4" indent="-228600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93760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20344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2A6678-B47B-4355-B5D6-D7B9669114D3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66012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0930755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2316506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03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160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200894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85980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4779708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246070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1199056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26159403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0960963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335E6B9-2D9C-4660-92C5-78965463CC8F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15293650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910989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4222705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C995DE8-BB4A-408C-A60C-374B496D02BA}" type="datetime1">
              <a:rPr lang="en-US" smtClean="0"/>
              <a:t>8/3/2026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82737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DC9DBE-31FF-4D71-B719-92EBAC3193CE}" type="datetime1">
              <a:rPr lang="en-US" smtClean="0"/>
              <a:t>8/3/2026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04376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42CF504-FC97-4D7A-ADA4-4D7971A47BF8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0179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040480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76747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0C9DF407-AAD9-4F9F-B512-267BEB339CF5}" type="datetime1">
              <a:rPr lang="en-US" smtClean="0"/>
              <a:t>8/3/2026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8116806-1FD2-4A57-B5EA-7014AB76383B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9849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jp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1.png"/><Relationship Id="rId5" Type="http://schemas.openxmlformats.org/officeDocument/2006/relationships/image" Target="../media/image20.jpg"/><Relationship Id="rId4" Type="http://schemas.openxmlformats.org/officeDocument/2006/relationships/image" Target="../media/image19.jpg"/><Relationship Id="rId9" Type="http://schemas.openxmlformats.org/officeDocument/2006/relationships/image" Target="../media/image2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29.png"/><Relationship Id="rId4" Type="http://schemas.openxmlformats.org/officeDocument/2006/relationships/image" Target="../media/image2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3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9.jp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1.png"/><Relationship Id="rId5" Type="http://schemas.openxmlformats.org/officeDocument/2006/relationships/image" Target="../media/image41.jpg"/><Relationship Id="rId4" Type="http://schemas.openxmlformats.org/officeDocument/2006/relationships/image" Target="../media/image40.jpg"/><Relationship Id="rId9" Type="http://schemas.openxmlformats.org/officeDocument/2006/relationships/image" Target="../media/image42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43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5.png"/><Relationship Id="rId5" Type="http://schemas.openxmlformats.org/officeDocument/2006/relationships/image" Target="../media/image3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51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16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8.png"/><Relationship Id="rId5" Type="http://schemas.openxmlformats.org/officeDocument/2006/relationships/image" Target="../media/image1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home/claude/build/photos/bran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262550"/>
            <a:ext cx="5486400" cy="48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Numerique &amp; Reconditionnement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AGENT DE RECONDITIONNEMENT NUMERIQUE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30428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Materiel &amp; </a:t>
            </a:r>
            <a:r>
              <a:rPr lang="en-US" sz="44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logiciel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bases indispensables pour diagnostiquer, entretenir et remettre en service un ordinateur : du materiel qui le compose au systeme qui le fait fonctionner.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57200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361" y="499372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4828032"/>
            <a:ext cx="413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01 — Hardware PC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1554480" y="5193792"/>
            <a:ext cx="4137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composants qui constituent une unite centrale, leur role et leur reconnaissance visuelle.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40780" y="4572000"/>
            <a:ext cx="5372100" cy="1554480"/>
          </a:xfrm>
          <a:prstGeom prst="roundRect">
            <a:avLst>
              <a:gd name="adj" fmla="val 470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6515100" y="4846320"/>
            <a:ext cx="566928" cy="566928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2501" y="499372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46620" y="4828032"/>
            <a:ext cx="4137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02 — Logiciel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7246620" y="5193792"/>
            <a:ext cx="41376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systeme d'exploitation, les pilotes materiels et les reflexes de securite logicielle.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Deux modules pour maitriser les fondamentaux du PC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materiel qui compose la machine au systeme logiciel qui la fait fonctionner.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43205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08760" y="23317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PC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32392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1078992" y="31089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mere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5821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078992" y="34518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Processeur (CPU)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68680" y="39250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1078992" y="37947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vive (RAM)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2679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078992" y="41376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 (HDD / SSD / NVMe)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46108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1078992" y="44805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Alimentation &amp; refroidissement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68680" y="49537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1078992" y="48234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graphique</a:t>
            </a:r>
            <a:endParaRPr lang="en-US" sz="1250" dirty="0"/>
          </a:p>
        </p:txBody>
      </p:sp>
      <p:sp>
        <p:nvSpPr>
          <p:cNvPr id="45" name="Shape 44"/>
          <p:cNvSpPr/>
          <p:nvPr/>
        </p:nvSpPr>
        <p:spPr>
          <a:xfrm>
            <a:off x="868680" y="52966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5"/>
          <p:cNvSpPr/>
          <p:nvPr/>
        </p:nvSpPr>
        <p:spPr>
          <a:xfrm>
            <a:off x="1078992" y="51663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Connectique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68680" y="56395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1078992" y="55092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Wi-Fi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68680" y="5982462"/>
            <a:ext cx="82296" cy="8229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1078992" y="5852160"/>
            <a:ext cx="45262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Entretien materiel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653796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223760" y="233172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Logiciel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6583680" y="3263755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793992" y="3108960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 systeme d'exploitation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83680" y="3655641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6793992" y="3500846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grandes familles d'OS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83680" y="4047526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6793992" y="3892731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Installer un systeme d'exploitation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83680" y="4439412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793992" y="4284617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pilotes (drivers)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583680" y="4831298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6793992" y="4676503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 et installer les bons pilotes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583680" y="5223183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6793992" y="5068389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 et pare-feu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583680" y="5615069"/>
            <a:ext cx="82296" cy="8229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6793992" y="5460274"/>
            <a:ext cx="4526280" cy="39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de securite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composants d'un ordinateur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Panorama des elements qui composent une unite centrale : role de chaque piece, interactions et vocabulaire technique indispensable au diagnostic.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0" descr="/home/claude/build/photos_cropped/crop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368296"/>
            <a:ext cx="1251422" cy="2450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03504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mere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165822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2165822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1" descr="/home/claude/build/photos_cropped/crop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0686" y="2368296"/>
            <a:ext cx="1251422" cy="245059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20686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Processeur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3783003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3783003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2" descr="/home/claude/build/photos_cropped/crop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867" y="2368296"/>
            <a:ext cx="1251422" cy="245059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837867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vive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00185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5400185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build/photos_norm/stock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4505" y="3084184"/>
            <a:ext cx="812510" cy="101881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455049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Stockage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017367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Shape 16"/>
          <p:cNvSpPr/>
          <p:nvPr/>
        </p:nvSpPr>
        <p:spPr>
          <a:xfrm>
            <a:off x="7017367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3" name="Image 4" descr="/home/claude/build/photos_norm/aliment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1687" y="3187337"/>
            <a:ext cx="812510" cy="81251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72231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Alimentation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634549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19"/>
          <p:cNvSpPr/>
          <p:nvPr/>
        </p:nvSpPr>
        <p:spPr>
          <a:xfrm>
            <a:off x="8634549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7" name="Image 5" descr="/home/claude/build/photos_norm/carte_graphiq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08869" y="3291348"/>
            <a:ext cx="812510" cy="60448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8689413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graphique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10251730" y="2148840"/>
            <a:ext cx="1361150" cy="3520440"/>
          </a:xfrm>
          <a:prstGeom prst="roundRect">
            <a:avLst>
              <a:gd name="adj" fmla="val 604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2"/>
          <p:cNvSpPr/>
          <p:nvPr/>
        </p:nvSpPr>
        <p:spPr>
          <a:xfrm>
            <a:off x="10251730" y="2313432"/>
            <a:ext cx="1361150" cy="2560320"/>
          </a:xfrm>
          <a:prstGeom prst="roundRect">
            <a:avLst>
              <a:gd name="adj" fmla="val 6718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1" name="Image 6" descr="/home/claude/build/photos_cropped/crop_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6594" y="2368296"/>
            <a:ext cx="1251422" cy="245059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0306594" y="5001768"/>
            <a:ext cx="1251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 Wi-Fi</a:t>
            </a:r>
            <a:endParaRPr lang="en-US" sz="1200" dirty="0"/>
          </a:p>
        </p:txBody>
      </p:sp>
      <p:sp>
        <p:nvSpPr>
          <p:cNvPr id="33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34" name="Text 25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mere : le chef d'orchestre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mere relie et fait communiquer tous les composants entre eux. Elle determine la compatibilite de l'ensemble de la machine.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029200" cy="3977640"/>
          </a:xfrm>
          <a:prstGeom prst="roundRect">
            <a:avLst>
              <a:gd name="adj" fmla="val 2299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build/photos_cropped/crop_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112264"/>
            <a:ext cx="4919472" cy="3867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218541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6199632" y="205740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99632" y="236829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qui pilote les echanges entre CPU, RAM, stockage et peripheriques. Determine les fonctionnalites disponibles (overclocking, nombre de ports...).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0" y="305181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943600" y="3179826"/>
            <a:ext cx="128016" cy="1280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99632" y="305181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(form factor)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99632" y="336270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ATX (standard), Micro-ATX (compact), Mini-ITX (tres compact). Le format conditionne la taille du boitier et le nombre de slots.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943600" y="404622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943600" y="4174236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199632" y="404622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Socket processeur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9632" y="435711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Emplacement physique du CPU. Chaque socket (ex. LGA1700, AM5) n'accepte qu'une famille de processeurs precise.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43600" y="504063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943600" y="516864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199632" y="504063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Connectique embarquee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99632" y="535152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 RAM (DIMM), emplacements PCIe pour carte graphique, ports SATA/M.2 pour le stockage, ports arriere USB/reseau/audio.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processeur (CPU) : le cerveau de la machine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CPU execute les instructions et effectue les calculs. Ses caracteristiques principales determinent la puissance de traitement disponible.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931920" cy="3977640"/>
          </a:xfrm>
          <a:prstGeom prst="roundRect">
            <a:avLst>
              <a:gd name="adj" fmla="val 2326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build/photos_cropped/crop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112264"/>
            <a:ext cx="3822192" cy="3867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846320" y="2185416"/>
            <a:ext cx="128016" cy="1280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102352" y="2057400"/>
            <a:ext cx="6510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Coeurs et threads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02352" y="2368296"/>
            <a:ext cx="651052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CPU multicoeur execute plusieurs taches en parallele. L'hyperthreading (SMT) simule des coeurs supplementaires pour le multitache.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846320" y="3051810"/>
            <a:ext cx="676656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846320" y="317982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102352" y="3051810"/>
            <a:ext cx="6510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Frequence (GHz)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02352" y="3362706"/>
            <a:ext cx="651052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cycles d'horloge par seconde. Plus elle est elevee, plus le CPU traite d'instructions rapidement, a architecture egale.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846320" y="4046220"/>
            <a:ext cx="676656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4846320" y="4174236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102352" y="4046220"/>
            <a:ext cx="6510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L1 / L2 / L3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102352" y="4357116"/>
            <a:ext cx="651052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ultra-rapide integree au processeur qui stocke les donnees frequemment utilisees pour eviter les allers-retours vers la RAM.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846320" y="5040630"/>
            <a:ext cx="676656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846320" y="516864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102352" y="5040630"/>
            <a:ext cx="6510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Socket et compatibilite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102352" y="5351526"/>
            <a:ext cx="651052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CPU Intel ou AMD n'est compatible qu'avec les cartes meres dotees du bon socket et du chipset correspondant.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memoire vive (RAM) : la memoire de travail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volatile qui stocke temporairement les donnees en cours d'utilisation. Plusieurs generations coexistent, non interchangeables.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build/photos_cropped/crop_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066544"/>
            <a:ext cx="2633472" cy="1581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0" y="2011680"/>
            <a:ext cx="7955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: </a:t>
            </a: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de travail temporaire ou le processeur lit et ecrit les donnees des programmes en cours d'execution.</a:t>
            </a:r>
            <a:endParaRPr lang="en-US" sz="12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 : </a:t>
            </a: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contenu est efface a chaque extinction, contrairement au stockage.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3977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Reconnaitre la generation d'une barrette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42702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simple : </a:t>
            </a:r>
            <a:r>
              <a:rPr lang="en-US" sz="11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l'etiquette du fabricant, qui indique presque toujours la generation (ex. "DDR3-1600", "PC3-12800"). Si elle est absente, effacee ou illisible, on se repere visuellement a la position de l'encoche et a la forme du connecteur.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18888"/>
          <a:ext cx="11064240" cy="16916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92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Marquage typique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Repere visuel si pas d'etiquette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PC-xxxx (ex. PC3200)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 broches, encoche proche du bord gauche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PC2-xxxx (ex. PC2-6400)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broches, encoche legerement a droite du centre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PC3-xxxx (ex. PC3-12800)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 broches aussi, mais encoche decalee vs DDR2 : non interchangeables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PC4-xxxx (ex. PC4-19200)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 broches, bord de connecteur legerement incurve (bombe)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1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6D28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PC5-xxxx (ex. PC5-38400)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 broches, puce PMIC visible sur le module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6583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compter les broches une a une n'est pas realiste en atelier. En pratique, on lit l'etiquette, ou a defaut on compare la position de l'encoche a une barrette de reference deja identifiee.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stockage : HDD, SSD et NVMe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non volatile qui conserve durablement le systeme et les fichiers, meme hors tension. Trois technologies, trois niveaux de performance.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286000" y="2011680"/>
            <a:ext cx="2971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build/photos_norm/sto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512" y="2286000"/>
            <a:ext cx="692775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94960" y="2011680"/>
            <a:ext cx="2971800" cy="1417320"/>
          </a:xfrm>
          <a:prstGeom prst="roundRect">
            <a:avLst>
              <a:gd name="adj" fmla="val 6452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build/photos_cropped/crop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824" y="2066544"/>
            <a:ext cx="2862072" cy="130759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503920" y="2011680"/>
            <a:ext cx="297180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" name="Image 2" descr="/home/claude/build/photos_norm/nv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2286000"/>
            <a:ext cx="868680" cy="86868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265176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Caracteristique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(SATA)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(M.2)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Plateaux magnetiques rotatifs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Memoire flash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D28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Memoire flash sur bus PCIe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Lente (~150 Mo/s)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Rapide (~550 Mo/s)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Tres rapide (2000 a 7000 Mo/s)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via slot M.2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au Go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typique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Stockage de masse, sauvegarde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 courant, 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exigeantes, montage, jeu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Alimentation et refroidissement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elements essentiels et souvent negliges : fournir une energie stable et evacuer la chaleur produite par les composants.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2240280"/>
            <a:ext cx="49834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0" descr="/home/claude/build/photos_norm/alimen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0" y="2514600"/>
            <a:ext cx="1325880" cy="1325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42245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Alimentation (PSU)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590288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Puissance (Watts)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doit couvrir la consommation cumulee, avec marge de securite.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80+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a Platinum, indique le rendement energetique.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cles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broches carte mere, 4/8 broches CPU, PCIe, SATA.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446520" y="2240280"/>
            <a:ext cx="4983480" cy="1874520"/>
          </a:xfrm>
          <a:prstGeom prst="roundRect">
            <a:avLst>
              <a:gd name="adj" fmla="val 4878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/home/claude/build/photos_cropped/crop_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2295144"/>
            <a:ext cx="4873752" cy="17647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37960" y="42245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Refroidissement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537960" y="4590288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ventirad (dissipateur + ventilateur), solution la plus courante et fiable.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 (watercooling)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ferme (AIO) plus performant et silencieux pour charges elevees.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 thermique : </a:t>
            </a: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le contact thermique entre CPU et dissipateur.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graphique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 graphique traite les calculs d'affichage et transmet l'image a l'ecran.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0292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Carte graphique" descr="Illustration d’une carte graphiq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168" y="2379506"/>
            <a:ext cx="5000143" cy="333342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2185416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6199632" y="205740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integre vs GPU dedie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99632" y="236829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GPU integre au CPU suffit pour la bureautique. Une carte dediee, avec sa propre memoire (VRAM), est necessaire pour le jeu, la 3D et la video.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0" y="305181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943600" y="317982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99632" y="305181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 et refroidissement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99632" y="336270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VRAM stocke les textures et images en cours de calcul. Un bon refroidissement (ventirad) evite la surchauffe et le throttling.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943600" y="404622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943600" y="4174236"/>
            <a:ext cx="128016" cy="1280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199632" y="404622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&amp; alimentation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9632" y="435711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carte dediee necessite souvent un connecteur d'alimentation PCIe (6/8 broches) et existe en format standard ou low-profile.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ports permettent de connecter ecrans, peripheriques et reseau a l'ordinateur.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0292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Connectique" descr="Icones des principaux connecteurs (USB, HDMI, Ethernet, DisplayPort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68" y="2442719"/>
            <a:ext cx="5000143" cy="320700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2185416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6199632" y="205740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Ports USB-A / USB-C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99632" y="236829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des peripheriques et du stockage externe. L'USB-C permet aussi la charge et l'affichage video.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0" y="305181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943600" y="317982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99632" y="305181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HDMI / DisplayPort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99632" y="336270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image vers l'ecran, portee par la carte graphique (dediee ou integree).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943600" y="404622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943600" y="4174236"/>
            <a:ext cx="128016" cy="1280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199632" y="404622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Ethernet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9632" y="435711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reseau filaire stable, generalement portee par la carte mere.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Wi-Fi : la connexion sans fil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petite carte enfichable sur la carte mere assure la connexion au reseau Wi-Fi et souvent au Bluetooth.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029200" cy="3977640"/>
          </a:xfrm>
          <a:prstGeom prst="roundRect">
            <a:avLst>
              <a:gd name="adj" fmla="val 2299"/>
            </a:avLst>
          </a:prstGeom>
          <a:solidFill>
            <a:srgbClr val="EAE2F6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0" descr="/home/claude/build/photos_cropped/crop_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112264"/>
            <a:ext cx="4919472" cy="38679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0" y="218541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6199632" y="205740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Mini PCIe / M.2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199632" y="236829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Petite carte d'extension enfichee directement sur un connecteur dedie de la carte mere, tres courante en portable et mini-PC.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43600" y="305181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943600" y="3179826"/>
            <a:ext cx="128016" cy="12801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199632" y="305181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Antennes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199632" y="336270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Connecteurs coaxiaux miniatures (u.FL) reliant la carte aux antennes Wi-Fi integrees au boitier ou a l'ecran du portable.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943600" y="404622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5943600" y="4174236"/>
            <a:ext cx="128016" cy="12801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199632" y="404622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Normes Wi-Fi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199632" y="435711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4/5/6 (802.11n/ac/ax) : debit, portee et bande de frequence utilisee (2,4 GHz et/ou 5 GHz).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943600" y="5040630"/>
            <a:ext cx="5669280" cy="0"/>
          </a:xfrm>
          <a:prstGeom prst="line">
            <a:avLst/>
          </a:prstGeom>
          <a:noFill/>
          <a:ln w="9525">
            <a:solidFill>
              <a:srgbClr val="D7CD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943600" y="5168646"/>
            <a:ext cx="128016" cy="12801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199632" y="5040630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Bluetooth combine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99632" y="5351526"/>
            <a:ext cx="54132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nombreuses cartes integrent aussi une puce Bluetooth, partageant parfois la meme antenne.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L'entretien materiel d'un ordinateur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Quelques verifications physiques regulieres suffisent a prolonger la duree de vie d'un poste et a prevenir la majorite des pannes materielles.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86384" y="236829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488997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Depoussierage interne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 grilles d'aeration, ventilateurs et dissipateurs : la poussiere est la premiere cause de surchauffe.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816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65904" y="236829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605" y="2488997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6590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des connexions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6590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S'assurer que RAM, cables d'alimentation et cartes d'extension sont bien enclenches, sans jeu ni faux contact.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0768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345424" y="236829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6125" y="248899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542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Etat du ventirad et pate thermique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4542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ventirad encrasse ou une pate thermique sechee degradent fortement le refroidissement du processeur.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786384" y="460857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5" y="4729277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8638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Surveillance thermique et sonore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8638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chauffe excessive ou un bruit inhabituel signale un probleme mecanique a traiter rapidement.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816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4565904" y="460857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605" y="4729277"/>
            <a:ext cx="261518" cy="26151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6590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Nettoyage des ports et connecteurs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6590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Poussiere et oxydation sur USB, HDMI ou alimentation peuvent provoquer de mauvais contacts.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0768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4"/>
          <p:cNvSpPr/>
          <p:nvPr/>
        </p:nvSpPr>
        <p:spPr>
          <a:xfrm>
            <a:off x="8345424" y="460857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6125" y="4729277"/>
            <a:ext cx="261518" cy="26151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542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visuel general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4542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l'absence de vis desserrees, de composants gonfles (condensateurs) ou de traces d'humidite.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— HARDWARE PC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Synthese : le role de chaque composant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pieces, sept fonctions complementaires. Retenir le role de chacune est la base du diagnostic materiel.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13232" y="222199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7" name="Image 0" descr="/home/claude/build/photos_cropped/crop_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276856"/>
            <a:ext cx="621792" cy="6217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306324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mere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13232" y="335584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Relie et fait communiquer tous les composants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83280" y="205740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3547872" y="222199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1" descr="/home/claude/build/photos_cropped/crop_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2276856"/>
            <a:ext cx="621792" cy="62179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47872" y="306324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Processeur (CPU)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547872" y="335584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les calculs et instructions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205740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6382512" y="222199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2" descr="/home/claude/build/photos_cropped/crop_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2276856"/>
            <a:ext cx="621792" cy="62179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82512" y="306324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Memoire vive (RAM)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6382512" y="335584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 temporairement les donnees en cours d'usage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9052560" y="205740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9217152" y="222199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2" name="Image 3" descr="/home/claude/build/photos_norm/stock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988" y="2496312"/>
            <a:ext cx="145847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17152" y="306324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Stockage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9217152" y="335584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 durablement systeme et fichiers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1965960" y="42976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2130552" y="446227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7" name="Image 4" descr="/home/claude/build/photos_norm/alimenta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4872" y="4736592"/>
            <a:ext cx="182880" cy="18288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2130552" y="530352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Alimentation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2130552" y="559612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 l'energie a l'ensemble des composants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4800600" y="42976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4"/>
          <p:cNvSpPr/>
          <p:nvPr/>
        </p:nvSpPr>
        <p:spPr>
          <a:xfrm>
            <a:off x="4965192" y="446227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2" name="Image 5" descr="/home/claude/build/photos_norm/carte_graphiq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9512" y="4760003"/>
            <a:ext cx="182880" cy="13605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4965192" y="530352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graphique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4965192" y="559612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 et affiche les images a l'ecran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7635240" y="4297680"/>
            <a:ext cx="256032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28"/>
          <p:cNvSpPr/>
          <p:nvPr/>
        </p:nvSpPr>
        <p:spPr>
          <a:xfrm>
            <a:off x="7799832" y="4462272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0D3F0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37" name="Image 6" descr="/home/claude/build/photos_cropped/crop_1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4696" y="4517136"/>
            <a:ext cx="621792" cy="62179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7799832" y="530352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Wi-Fi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7799832" y="5596128"/>
            <a:ext cx="22311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connexion reseau sans fil et le Bluetooth</a:t>
            </a:r>
            <a:endParaRPr lang="en-US" sz="1000" dirty="0"/>
          </a:p>
        </p:txBody>
      </p:sp>
      <p:sp>
        <p:nvSpPr>
          <p:cNvPr id="40" name="Text 3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920240"/>
            <a:ext cx="5486400" cy="5486400"/>
          </a:xfrm>
          <a:prstGeom prst="ellipse">
            <a:avLst/>
          </a:prstGeom>
          <a:solidFill>
            <a:srgbClr val="6D28D9">
              <a:alpha val="1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10607040" y="3840480"/>
            <a:ext cx="3108960" cy="3108960"/>
          </a:xfrm>
          <a:prstGeom prst="ellipse">
            <a:avLst/>
          </a:prstGeom>
          <a:solidFill>
            <a:srgbClr val="0E7490">
              <a:alpha val="7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/home/claude/build/photos/bran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5568" y="42062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YGGDRASIL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15568" y="731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 Numerique &amp; Reconditionnement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21488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487168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Systeme, pilotes </a:t>
            </a:r>
            <a:r>
              <a:rPr lang="en-US" sz="4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 securite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548640" y="36118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de formation — comprendre le systeme d'exploitation, le role des pilotes materiels et les bons reflexes de securite logicielle.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709160"/>
            <a:ext cx="3505200" cy="1417320"/>
          </a:xfrm>
          <a:prstGeom prst="roundRect">
            <a:avLst>
              <a:gd name="adj" fmla="val 580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2017776" y="4928616"/>
            <a:ext cx="566928" cy="566928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5177" y="5076017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0080" y="56052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Systeme d'exploitation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328160" y="4709160"/>
            <a:ext cx="3505200" cy="1417320"/>
          </a:xfrm>
          <a:prstGeom prst="roundRect">
            <a:avLst>
              <a:gd name="adj" fmla="val 580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5797296" y="4928616"/>
            <a:ext cx="566928" cy="566928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697" y="507601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419600" y="56052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Pilotes (drivers)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107680" y="4709160"/>
            <a:ext cx="3505200" cy="1417320"/>
          </a:xfrm>
          <a:prstGeom prst="roundRect">
            <a:avLst>
              <a:gd name="adj" fmla="val 5806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9576816" y="4928616"/>
            <a:ext cx="566928" cy="566928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4217" y="5076017"/>
            <a:ext cx="272125" cy="27212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99120" y="5605272"/>
            <a:ext cx="332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Securite logicielle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piliers du bon fonctionnement d'un PC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ordinateur fonctionne grace a la synergie entre son systeme d'exploitation, les pilotes qui pilotent son materiel, et les protections qui le securisent.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912620" y="2514600"/>
            <a:ext cx="777240" cy="77724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4702" y="271668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d'exploitation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4160520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logiciel de base qui gere le materiel, les fichiers et permet d'executer tous les autres programmes (Windows, Linux, macOS).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816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692140" y="2514600"/>
            <a:ext cx="777240" cy="77724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222" y="271668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248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Pilotes (drivers)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602480" y="4160520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programmes qui traduisent le dialogue entre l'OS et chaque composant materiel : sans eux, le materiel n'est pas exploite correctement.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0768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9471660" y="2514600"/>
            <a:ext cx="777240" cy="77724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3742" y="271668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200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Securite logicielle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382000" y="4160520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Antivirus, pare-feu et bonnes pratiques qui protegent la machine et les donnees contre les menaces numeriques.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systeme d'exploitation (OS) : le chef d'orchestre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 de base qui demarre au lancement de la machine et gere l'ensemble des ressources materielles et logicielles.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86384" y="227685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397557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290779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ressources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" y="321868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Repartit la memoire, le temps processeur et l'acces au stockage entre les programmes en cours d'execution.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1792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455664" y="227685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365" y="2397557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55664" y="290779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utilisateur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55664" y="321868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 l'environnement graphique (bureau, fenetres, menus) qui permet d'utiliser la machine sans commandes complexes.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786384" y="451713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5" y="463783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86384" y="514807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peripheriques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86384" y="545896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 et communique avec les composants et peripheriques via les pilotes appropries.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17920" y="4297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6455664" y="451713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6365" y="4637837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55664" y="514807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des programmes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55664" y="545896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Charge, execute et isole les applications les unes des autres pour eviter qu'une erreur ne bloque tout le systeme.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grandes familles de systemes d'exploitation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familles dominent le marche des ordinateurs personnels, avec des logiques et des usages differents.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1912620" y="2514600"/>
            <a:ext cx="777240" cy="77724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4702" y="2716682"/>
            <a:ext cx="373075" cy="37307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(Microsoft)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4133088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repandu sur les PC grand public et professionnels. Large compatibilite materielle et logicielle.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816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692140" y="2514600"/>
            <a:ext cx="777240" cy="77724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222" y="271668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248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 (Ubuntu, Debian...)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02480" y="4133088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Systeme libre et gratuit, tres utilise en reconditionnement pour redonner vie a du materiel ancien ou limite.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07680" y="2057400"/>
            <a:ext cx="3505200" cy="4023360"/>
          </a:xfrm>
          <a:prstGeom prst="roundRect">
            <a:avLst>
              <a:gd name="adj" fmla="val 2348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9471660" y="2514600"/>
            <a:ext cx="777240" cy="77724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3742" y="2716682"/>
            <a:ext cx="373075" cy="37307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2000" y="3566160"/>
            <a:ext cx="295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(Apple)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2000" y="4133088"/>
            <a:ext cx="2956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aux machines Apple (Mac), integre etroitement au materiel du constructeur.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Installer un systeme d'exploitation : les etapes cles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installation reussie suit toujours la meme logique, quel que soit l'OS installe.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2029968" cy="3977640"/>
          </a:xfrm>
          <a:prstGeom prst="roundRect">
            <a:avLst>
              <a:gd name="adj" fmla="val 3604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68096" y="2258568"/>
            <a:ext cx="402336" cy="40233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68096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277063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Preparer le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68096" y="3081528"/>
            <a:ext cx="15910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Creer une cle USB bootable avec l'outil officiel (Media Creation Tool, Rufus...).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07208" y="2057400"/>
            <a:ext cx="2029968" cy="3977640"/>
          </a:xfrm>
          <a:prstGeom prst="roundRect">
            <a:avLst>
              <a:gd name="adj" fmla="val 3604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026664" y="2258568"/>
            <a:ext cx="402336" cy="40233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026664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26664" y="277063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Configurer le BIOS/UEFI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26664" y="3081528"/>
            <a:ext cx="15910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Placer la cle USB en premier choix de demarrage (boot order).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65776" y="2057400"/>
            <a:ext cx="2029968" cy="3977640"/>
          </a:xfrm>
          <a:prstGeom prst="roundRect">
            <a:avLst>
              <a:gd name="adj" fmla="val 3604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5285232" y="2258568"/>
            <a:ext cx="402336" cy="402336"/>
          </a:xfrm>
          <a:prstGeom prst="ellipse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285232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85232" y="277063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Partitionner le disque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85232" y="3081528"/>
            <a:ext cx="15910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ou creer la partition d'installation, en effacant si besoin l'ancien systeme.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24344" y="2057400"/>
            <a:ext cx="2029968" cy="3977640"/>
          </a:xfrm>
          <a:prstGeom prst="roundRect">
            <a:avLst>
              <a:gd name="adj" fmla="val 3604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543800" y="2258568"/>
            <a:ext cx="402336" cy="402336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543800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543800" y="277063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Suivre l'assistant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081528"/>
            <a:ext cx="15910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Renseigner langue, compte utilisateur et parametres de base demandes par l'installateur.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582912" y="2057400"/>
            <a:ext cx="2029968" cy="3977640"/>
          </a:xfrm>
          <a:prstGeom prst="roundRect">
            <a:avLst>
              <a:gd name="adj" fmla="val 3604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9802368" y="2258568"/>
            <a:ext cx="402336" cy="402336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9802368" y="2258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AF8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02368" y="2770632"/>
            <a:ext cx="15910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Mises a jour et pilotes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9802368" y="3081528"/>
            <a:ext cx="15910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l'OS installe, lancer les mises a jour puis installer les pilotes manquants.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pilotes : le lien entre l'OS et le materiel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(driver) est le programme qui traduit le dialogue entre le systeme d'exploitation et un composant materiel precis.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86384" y="227685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397557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290779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quoi sert un pilote ?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" y="321868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permet a l'OS de comprendre et d'exploiter pleinement les capacites d'un composant (carte graphique, carte reseau, imprimante...).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17920" y="20574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455664" y="227685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365" y="2397557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55664" y="290779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le bon pilote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455664" y="321868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composant peut ne pas etre reconnu, fonctionner en mode degrade (ex. resolution d'ecran minimale) ou generer des erreurs.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786384" y="451713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5" y="463783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86384" y="514807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 generique vs constructeur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786384" y="545896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installe souvent un pilote generique basique. Le pilote du fabricant est optimise et debloque toutes les fonctionnalites.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217920" y="429768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6455664" y="451713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6365" y="4637837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55664" y="5148072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Compatibilite et versions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55664" y="5458968"/>
            <a:ext cx="49194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pilote est specifique a un composant, une version d'OS et une architecture (32/64 bits) : il faut installer la bonne version.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Trouver et installer les bons pilotes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sources permettent de recuperer un pilote, avec des niveaux de fiabilite et de simplicite differents.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39319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Avantage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1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D3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Update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Automatique, simple, aucun risque de mauvaise 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Pilotes parfois generiques ou en retard sur les dernieres versions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6D28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Gestionnaire de peripheriques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Permet de diagnostiquer precisement un composant non reconnu (point d'exclamation)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telecharge pas toujours le pilote automatiquement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 du fabricant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Pilote officiel, complet et optimise pour le composant exact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Necessite de connaitre le modele precis du materiel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F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Outils tiers/generiques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Pratique pour identifier du materiel inconnu (carte mere sans reference)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550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utiliser avec prudence : privilegier des outils reconnus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CD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logiciels de securite : antivirus et pare-feu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lignes de defense complementaires protegent la machine contre les menaces venues de fichiers ou du reseau.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822960" y="2331720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2462479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3500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Antivirus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3017520"/>
            <a:ext cx="4800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: 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detecte, bloque et supprime les logiciels malveillants (virus, ransomware, spyware, chevaux de Troie).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en temps reel des fichiers ouverts, plus des analyses planifiees de l'ensemble du disque.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Defender (integre et gratuit), solutions tierces (payantes ou gratuites) selon les besoins.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20574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6537960" y="2331720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719" y="246247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78040" y="23500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Pare-feu (firewall)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3017520"/>
            <a:ext cx="48006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: 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les connexions reseau entrantes et sortantes selon des regles de securite.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endParaRPr lang="en-US" sz="1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les tentatives d'acces non autorisees depuis internet ou un reseau local.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reflexe :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laisser le pare-feu de l'OS active en permanence, meme avec un antivirus tiers installe.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Bonnes pratiques de securite logicielle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meilleure protection reste une combinaison d'outils a jour et de reflexes de prudence au quotidien.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86384" y="236829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488997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Mises a jour regulieres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OS, antivirus et logiciels a jour pour corriger les failles de securite connues.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816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65904" y="236829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605" y="2488997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6590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 planifiees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6590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Programmer des analyses antivirus completes reguliere, pas seulement a la demande.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07680" y="214884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345424" y="236829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6125" y="248899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5424" y="299923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Prudence face au phishing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45424" y="331012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mefier des emails, liens et pieces jointes inattendus, meme d'un expediteur connu.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786384" y="460857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5" y="4729277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8638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Mots de passe robustes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8638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des mots de passe longs et uniques, et activer la double authentification si possible.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816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4565904" y="460857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605" y="4729277"/>
            <a:ext cx="261518" cy="26151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6590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Compte utilisateur standard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6590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Reserver le compte administrateur aux taches qui le necessitent, au quotidien utiliser un compte standard.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07680" y="438912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4"/>
          <p:cNvSpPr/>
          <p:nvPr/>
        </p:nvSpPr>
        <p:spPr>
          <a:xfrm>
            <a:off x="8345424" y="460857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6125" y="4729277"/>
            <a:ext cx="261518" cy="26151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5424" y="523951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Sauvegardes regulieres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45424" y="555040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sauvegarde a jour est la meilleure protection contre un ransomware ou une panne materielle.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— LOGICIEL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Synthese : systeme, pilotes et securite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piliers logiciels qui, ensemble, conditionnent la stabilite et la longevite d'un poste informatique.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86384" y="227685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5" y="2397557"/>
            <a:ext cx="261518" cy="2615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290779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Systeme d'exploitation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86384" y="321868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 le materiel et permet l'execution des programmes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8160" y="205740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565904" y="227685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605" y="2397557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65904" y="290779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Familles d'OS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565904" y="321868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Linux, macOS : usages et compatibilites differents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07680" y="205740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2"/>
          <p:cNvSpPr/>
          <p:nvPr/>
        </p:nvSpPr>
        <p:spPr>
          <a:xfrm>
            <a:off x="8345424" y="227685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6125" y="2397557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5424" y="290779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Pilotes (drivers)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45424" y="321868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Traduisent le dialogue entre l'OS et le materiel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48640" y="429768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786384" y="4517136"/>
            <a:ext cx="502920" cy="502920"/>
          </a:xfrm>
          <a:prstGeom prst="ellipse">
            <a:avLst/>
          </a:prstGeom>
          <a:solidFill>
            <a:srgbClr val="0E7490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5" y="4637837"/>
            <a:ext cx="261518" cy="26151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86384" y="514807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 de pilotes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786384" y="545896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Update, gestionnaire de peripheriques, site fabricant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28160" y="429768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4565904" y="4517136"/>
            <a:ext cx="502920" cy="502920"/>
          </a:xfrm>
          <a:prstGeom prst="ellipse">
            <a:avLst/>
          </a:prstGeom>
          <a:solidFill>
            <a:srgbClr val="6D28D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86605" y="4637837"/>
            <a:ext cx="261518" cy="26151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565904" y="514807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Antivirus &amp; pare-feu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4565904" y="545896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Detectent les menaces et filtrent les connexions reseau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107680" y="4297680"/>
            <a:ext cx="3505200" cy="1965960"/>
          </a:xfrm>
          <a:prstGeom prst="roundRect">
            <a:avLst>
              <a:gd name="adj" fmla="val 3721"/>
            </a:avLst>
          </a:prstGeom>
          <a:solidFill>
            <a:srgbClr val="F3EFFA"/>
          </a:solidFill>
          <a:ln w="12700">
            <a:solidFill>
              <a:srgbClr val="D7CDEB"/>
            </a:solidFill>
            <a:prstDash val="solid"/>
          </a:ln>
          <a:effectLst>
            <a:outerShdw blurRad="101600" dist="38100" dir="27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4"/>
          <p:cNvSpPr/>
          <p:nvPr/>
        </p:nvSpPr>
        <p:spPr>
          <a:xfrm>
            <a:off x="8345424" y="4517136"/>
            <a:ext cx="502920" cy="502920"/>
          </a:xfrm>
          <a:prstGeom prst="ellipse">
            <a:avLst/>
          </a:prstGeom>
          <a:solidFill>
            <a:srgbClr val="B45309">
              <a:alpha val="18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66125" y="4637837"/>
            <a:ext cx="261518" cy="26151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5424" y="5148072"/>
            <a:ext cx="3029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Bonnes pratiques</a:t>
            </a:r>
            <a:endParaRPr lang="en-US" sz="1350" dirty="0"/>
          </a:p>
        </p:txBody>
      </p:sp>
      <p:sp>
        <p:nvSpPr>
          <p:cNvPr id="34" name="Text 26"/>
          <p:cNvSpPr/>
          <p:nvPr/>
        </p:nvSpPr>
        <p:spPr>
          <a:xfrm>
            <a:off x="8345424" y="5458968"/>
            <a:ext cx="30297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Mises a jour, sauvegardes et vigilance au quotidien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Yggdrasil — Agent de Reconditionnement Numerique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71</TotalTime>
  <Words>2844</Words>
  <Application>Microsoft Office PowerPoint</Application>
  <PresentationFormat>Grand écran</PresentationFormat>
  <Paragraphs>387</Paragraphs>
  <Slides>23</Slides>
  <Notes>22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27" baseType="lpstr">
      <vt:lpstr>Arial</vt:lpstr>
      <vt:lpstr>Calibri</vt:lpstr>
      <vt:lpstr>Neue Haas Grotesk Text Pro</vt:lpstr>
      <vt:lpstr>Film Burn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 composants d'un ordinateur</dc:title>
  <dc:subject>PptxGenJS Presentation</dc:subject>
  <dc:creator>Yggdrasil</dc:creator>
  <cp:lastModifiedBy>titi 23</cp:lastModifiedBy>
  <cp:revision>2</cp:revision>
  <dcterms:created xsi:type="dcterms:W3CDTF">2026-07-07T08:45:44Z</dcterms:created>
  <dcterms:modified xsi:type="dcterms:W3CDTF">2026-08-03T09:32:35Z</dcterms:modified>
</cp:coreProperties>
</file>