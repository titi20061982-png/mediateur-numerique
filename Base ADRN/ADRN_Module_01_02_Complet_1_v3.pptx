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8.jpg" ContentType="image/jpg"/>
  <Override PartName="/ppt/media/image19.jpg" ContentType="image/jpg"/>
  <Override PartName="/ppt/media/image20.jpg" ContentType="image/jpg"/>
  <Override PartName="/ppt/media/image24.jpg" ContentType="image/jpg"/>
  <Override PartName="/ppt/notesSlides/notesSlide4.xml" ContentType="application/vnd.openxmlformats-officedocument.presentationml.notesSlide+xml"/>
  <Override PartName="/ppt/media/image25.jpg" ContentType="image/jpg"/>
  <Override PartName="/ppt/notesSlides/notesSlide5.xml" ContentType="application/vnd.openxmlformats-officedocument.presentationml.notesSlide+xml"/>
  <Override PartName="/ppt/media/image26.jpg" ContentType="image/jpg"/>
  <Override PartName="/ppt/notesSlides/notesSlide6.xml" ContentType="application/vnd.openxmlformats-officedocument.presentationml.notesSlide+xml"/>
  <Override PartName="/ppt/media/image27.jpg" ContentType="image/jpg"/>
  <Override PartName="/ppt/notesSlides/notesSlide7.xml" ContentType="application/vnd.openxmlformats-officedocument.presentationml.notesSlide+xml"/>
  <Override PartName="/ppt/media/image28.jpg" ContentType="image/jpg"/>
  <Override PartName="/ppt/notesSlides/notesSlide8.xml" ContentType="application/vnd.openxmlformats-officedocument.presentationml.notesSlide+xml"/>
  <Override PartName="/ppt/media/image30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32.jpg" ContentType="image/jp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E8E03F-3965-490E-A8DC-46400E3DF80D}" v="5" dt="2026-08-03T09:30:41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ti 23" userId="1c7b707be5ee4c5b" providerId="LiveId" clId="{65F49254-7717-47CF-9EC4-88BF276CEA2B}"/>
    <pc:docChg chg="custSel modSld">
      <pc:chgData name="titi 23" userId="1c7b707be5ee4c5b" providerId="LiveId" clId="{65F49254-7717-47CF-9EC4-88BF276CEA2B}" dt="2026-08-03T09:32:26.095" v="12" actId="122"/>
      <pc:docMkLst>
        <pc:docMk/>
      </pc:docMkLst>
      <pc:sldChg chg="delSp modSp mod">
        <pc:chgData name="titi 23" userId="1c7b707be5ee4c5b" providerId="LiveId" clId="{65F49254-7717-47CF-9EC4-88BF276CEA2B}" dt="2026-08-03T09:32:26.095" v="12" actId="122"/>
        <pc:sldMkLst>
          <pc:docMk/>
          <pc:sldMk cId="0" sldId="256"/>
        </pc:sldMkLst>
        <pc:spChg chg="del mod">
          <ac:chgData name="titi 23" userId="1c7b707be5ee4c5b" providerId="LiveId" clId="{65F49254-7717-47CF-9EC4-88BF276CEA2B}" dt="2026-08-03T09:28:25.147" v="9" actId="21"/>
          <ac:spMkLst>
            <pc:docMk/>
            <pc:sldMk cId="0" sldId="256"/>
            <ac:spMk id="5" creationId="{00000000-0000-0000-0000-000000000000}"/>
          </ac:spMkLst>
        </pc:spChg>
        <pc:spChg chg="mod">
          <ac:chgData name="titi 23" userId="1c7b707be5ee4c5b" providerId="LiveId" clId="{65F49254-7717-47CF-9EC4-88BF276CEA2B}" dt="2026-08-03T09:28:49.012" v="11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titi 23" userId="1c7b707be5ee4c5b" providerId="LiveId" clId="{65F49254-7717-47CF-9EC4-88BF276CEA2B}" dt="2026-08-03T09:32:26.095" v="12" actId="122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20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4ACAC3-7932-4379-B917-F7F78C6F24BE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722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148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951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61397C-706D-4EB8-B1E1-D1B680D284C3}" type="datetime1">
              <a:rPr lang="en-US" smtClean="0"/>
              <a:t>9/8/2026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771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B9144B-27A2-4831-A05B-9434A462331E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927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895950-DBB3-436C-A1DD-7D3C30A336E3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4858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fr-FR"/>
              <a:t>Cliquez pour modifier les styles du texte du masque</a:t>
            </a:r>
          </a:p>
          <a:p>
            <a:pPr marL="228600" lvl="1" indent="-228600"/>
            <a:r>
              <a:rPr lang="fr-FR"/>
              <a:t>Deuxième niveau</a:t>
            </a:r>
          </a:p>
          <a:p>
            <a:pPr marL="228600" lvl="2" indent="-228600"/>
            <a:r>
              <a:rPr lang="fr-FR"/>
              <a:t>Troisième niveau</a:t>
            </a:r>
          </a:p>
          <a:p>
            <a:pPr marL="228600" lvl="3" indent="-228600"/>
            <a:r>
              <a:rPr lang="fr-FR"/>
              <a:t>Quatrième niveau</a:t>
            </a:r>
          </a:p>
          <a:p>
            <a:pPr marL="228600" lvl="4" indent="-228600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9376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034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2A6678-B47B-4355-B5D6-D7B9669114D3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601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093075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316506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3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160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200894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980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477970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2460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9905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6159403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096096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35E6B9-2D9C-4660-92C5-78965463CC8F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1529365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1098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22270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995DE8-BB4A-408C-A60C-374B496D02BA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273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C9DBE-31FF-4D71-B719-92EBAC3193C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0437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2CF504-FC97-4D7A-ADA4-4D7971A47BF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5017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40480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67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8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Relationship Id="rId9" Type="http://schemas.openxmlformats.org/officeDocument/2006/relationships/image" Target="../media/image2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9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png"/><Relationship Id="rId5" Type="http://schemas.openxmlformats.org/officeDocument/2006/relationships/image" Target="../media/image41.jpg"/><Relationship Id="rId4" Type="http://schemas.openxmlformats.org/officeDocument/2006/relationships/image" Target="../media/image40.jpg"/><Relationship Id="rId9" Type="http://schemas.openxmlformats.org/officeDocument/2006/relationships/image" Target="../media/image4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3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5.png"/><Relationship Id="rId5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6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8.png"/><Relationship Id="rId5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build/photos/bran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262550"/>
            <a:ext cx="5486400" cy="48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Numerique &amp; Reconditionnement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AGENT DE RECONDITIONNEMENT NUMERIQUE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0428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Materiel &amp; </a:t>
            </a:r>
            <a:r>
              <a:rPr lang="en-US" sz="4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logiciel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indispensables pour diagnostiquer, entretenir et remettre en service un ordinateur : du materiel qui le compose au systeme qui le fait fonctionner.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572000"/>
            <a:ext cx="5372100" cy="1554480"/>
          </a:xfrm>
          <a:prstGeom prst="roundRect">
            <a:avLst>
              <a:gd name="adj" fmla="val 470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822960" y="4846320"/>
            <a:ext cx="566928" cy="566928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9937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4828032"/>
            <a:ext cx="4137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— Hardware PC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54480" y="5193792"/>
            <a:ext cx="41376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composants qui constituent une unite centrale, leur role et leur reconnaissance visuelle.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40780" y="4572000"/>
            <a:ext cx="5372100" cy="1554480"/>
          </a:xfrm>
          <a:prstGeom prst="roundRect">
            <a:avLst>
              <a:gd name="adj" fmla="val 470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515100" y="4846320"/>
            <a:ext cx="566928" cy="566928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501" y="499372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46620" y="4828032"/>
            <a:ext cx="4137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— Logiciel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246620" y="5193792"/>
            <a:ext cx="41376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systeme d'exploitation, les pilotes materiels et les reflexes de securite logicielle.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8403C9C-8E0D-B19F-0295-8F5757FA7D03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modules pour maitriser les fondamentaux du PC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materiel qui compose la machine au systeme logiciel qui la fait fonctionner.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4320540"/>
          </a:xfrm>
          <a:prstGeom prst="roundRect">
            <a:avLst>
              <a:gd name="adj" fmla="val 1839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2392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78992" y="31089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mere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5821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78992" y="34518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Processeur (CPU)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9250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78992" y="37947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Memoire vive (RAM)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2679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78992" y="41376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(HDD / SSD / NVMe)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6108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78992" y="44805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&amp; refroidissement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9537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78992" y="48234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graphique</a:t>
            </a:r>
            <a:endParaRPr lang="en-US" sz="1250" dirty="0"/>
          </a:p>
        </p:txBody>
      </p:sp>
      <p:sp>
        <p:nvSpPr>
          <p:cNvPr id="45" name="Shape 44"/>
          <p:cNvSpPr/>
          <p:nvPr/>
        </p:nvSpPr>
        <p:spPr>
          <a:xfrm>
            <a:off x="868680" y="52966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5"/>
          <p:cNvSpPr/>
          <p:nvPr/>
        </p:nvSpPr>
        <p:spPr>
          <a:xfrm>
            <a:off x="1078992" y="51663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Connectique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56395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78992" y="55092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Wi-Fi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598246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78992" y="5852160"/>
            <a:ext cx="4526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materiel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20574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37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23317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Logiciel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83680" y="3263755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793992" y="3108960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systeme d'exploitation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3655641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793992" y="3500846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grandes familles d'OS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4047526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793992" y="3892731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un systeme d'exploitation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83680" y="4439412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793992" y="4284617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pilotes (drivers)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83680" y="4831298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793992" y="4676503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et installer les bons pilotes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83680" y="5223183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793992" y="5068389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et pare-feu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583680" y="5615069"/>
            <a:ext cx="82296" cy="822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793992" y="5460274"/>
            <a:ext cx="4526280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de securite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3958329-AB97-8E76-84FC-A63C9A8FB9F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composants d'un ordinateur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des elements qui composent une unite centrale : role de chaque piece, interactions et vocabulaire technique indispensable au diagnostic.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build/photos_cropped/cro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68296"/>
            <a:ext cx="1251422" cy="2450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mere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65822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165822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build/photos_cropped/cro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686" y="2368296"/>
            <a:ext cx="1251422" cy="2450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20686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Processeur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83003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3783003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2" descr="/home/claude/build/photos_cropped/crop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867" y="2368296"/>
            <a:ext cx="1251422" cy="2450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37867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Memoire vive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00185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5400185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build/photos_norm/stock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4505" y="3084184"/>
            <a:ext cx="812510" cy="10188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55049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017367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7017367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4" descr="/home/claude/build/photos_norm/aliment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1687" y="3187337"/>
            <a:ext cx="812510" cy="8125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72231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634549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8634549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5" descr="/home/claude/build/photos_norm/carte_graphiq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8869" y="3291348"/>
            <a:ext cx="812510" cy="6044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89413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graphique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10251730" y="2148840"/>
            <a:ext cx="1361150" cy="3520440"/>
          </a:xfrm>
          <a:prstGeom prst="roundRect">
            <a:avLst>
              <a:gd name="adj" fmla="val 604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2"/>
          <p:cNvSpPr/>
          <p:nvPr/>
        </p:nvSpPr>
        <p:spPr>
          <a:xfrm>
            <a:off x="10251730" y="2313432"/>
            <a:ext cx="1361150" cy="2560320"/>
          </a:xfrm>
          <a:prstGeom prst="roundRect">
            <a:avLst>
              <a:gd name="adj" fmla="val 6718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1" name="Image 6" descr="/home/claude/build/photos_cropped/crop_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6594" y="2368296"/>
            <a:ext cx="1251422" cy="2450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306594" y="5001768"/>
            <a:ext cx="1251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Wi-Fi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887F19F-CF04-49F8-397E-BAA959C0A74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 mere : le chef d'orchestre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mere relie et fait communiquer tous les composants entre eux. Elle determine la compatibilite de l'ensemble de la machine.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EAE2F6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build/photos_cropped/crop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112264"/>
            <a:ext cx="4919472" cy="3867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18541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199632" y="20574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99632" y="236829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qui pilote les echanges entre CPU, RAM, stockage et peripheriques. Determine les fonctionnalites disponibles (overclocking, nombre de ports...).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05181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943600" y="3179826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199632" y="305181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(form factor)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99632" y="336270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ATX (standard), Micro-ATX (compact), Mini-ITX (tres compact). Le format conditionne la taille du boitier et le nombre de slots.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0" y="404622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943600" y="4174236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199632" y="404622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processeur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435711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physique du CPU. Chaque socket (ex. LGA1700, AM5) n'accepte qu'une famille de processeurs precise.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43600" y="504063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943600" y="516864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199632" y="504063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Connectique embarquee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99632" y="535152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RAM (DIMM), emplacements PCIe pour carte graphique, ports SATA/M.2 pour le stockage, ports arriere USB/reseau/audio.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82141AD-A2F8-3A73-FCF2-2CD8966AB71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processeur (CPU) : le cerveau de la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CPU execute les instructions et effectue les calculs. Ses caracteristiques principales determinent la puissance de traitement disponible.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EAE2F6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build/photos_cropped/crop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112264"/>
            <a:ext cx="3822192" cy="3867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2185416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102352" y="2057400"/>
            <a:ext cx="6510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Coeurs et threads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02352" y="2368296"/>
            <a:ext cx="65105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CPU multicoeur execute plusieurs taches en parallele. L'hyperthreading (SMT) simule des coeurs supplementaires pour le multitache.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3051810"/>
            <a:ext cx="676656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846320" y="317982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102352" y="3051810"/>
            <a:ext cx="6510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Frequence (GHz)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02352" y="3362706"/>
            <a:ext cx="65105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cycles d'horloge par seconde. Plus elle est elevee, plus le CPU traite d'instructions rapidement, a architecture egale.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46320" y="4046220"/>
            <a:ext cx="676656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846320" y="4174236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102352" y="4046220"/>
            <a:ext cx="6510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L1 / L2 / L3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02352" y="4357116"/>
            <a:ext cx="65105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Memoire ultra-rapide integree au processeur qui stocke les donnees frequemment utilisees pour eviter les allers-retours vers la RAM.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0" y="5040630"/>
            <a:ext cx="676656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846320" y="516864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102352" y="5040630"/>
            <a:ext cx="6510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et compatibilite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02352" y="5351526"/>
            <a:ext cx="65105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CPU Intel ou AMD n'est compatible qu'avec les cartes meres dotees du bon socket et du chipset correspondant.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312FBF1-38C8-477B-27EA-6C17A4EBDB1E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memoire vive (RAM) : la memoire de travail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Memoire volatile qui stocke temporairement les donnees en cours d'utilisation. Plusieurs generations coexistent, non interchangeables.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AE2F6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build/photos_cropped/crop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66544"/>
            <a:ext cx="2633472" cy="1581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2011680"/>
            <a:ext cx="7955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: </a:t>
            </a: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memoire de travail temporaire ou le processeur lit et ecrit les donnees des programmes en cours d'execution.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: </a:t>
            </a: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contenu est efface a chaque extinction, contrairement au stockage.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Reconnaitre la generation d'une barrette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2702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simple : </a:t>
            </a:r>
            <a:r>
              <a:rPr lang="en-US" sz="11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l'etiquette du fabricant, qui indique presque toujours la generation (ex. "DDR3-1600", "PC3-12800"). Si elle est absente, effacee ou illisible, on se repere visuellement a la position de l'encoche et a la forme du connecteur.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18888"/>
          <a:ext cx="11064240" cy="1691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Marquage typique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Repere visuel si pas d'etiquette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PC-xxxx (ex. PC3200)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 broches, encoche proche du bord gauche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PC2-xxxx (ex. PC2-6400)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broches, encoche legerement a droite du centre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PC3-xxxx (ex. PC3-12800)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broches aussi, mais encoche decalee vs DDR2 : non interchangeables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PC4-xxxx (ex. PC4-19200)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 broches, bord de connecteur legerement incurve (bombe)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PC5-xxxx (ex. PC5-38400)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 broches, puce PMIC visible sur le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6583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compter les broches une a une n'est pas realiste en atelier. En pratique, on lit l'etiquette, ou a defaut on compare la position de l'encoche a une barrette de reference deja identifiee.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36ADD17-8D5E-5378-81F4-BDD7D52E5D8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stockage : HDD, SSD et NVMe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Memoire non volatile qui conserve durablement le systeme et les fichiers, meme hors tension. Trois technologies, trois niveaux de performance.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0" y="201168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build/photos_norm/sto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512" y="2286000"/>
            <a:ext cx="692775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201168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EAE2F6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build/photos_cropped/crop_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2066544"/>
            <a:ext cx="2862072" cy="1307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03920" y="201168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/home/claude/build/photos_norm/nv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286000"/>
            <a:ext cx="868680" cy="86868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2651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(SATA)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 (M.2)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 magnetiques rotatifs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Memoire 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Memoire flash sur bus PCIe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 (~150 Mo/s)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 (~550 Mo/s)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rapide (2000 a 7000 Mo/s)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via slot M.2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au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typique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de masse, sauvegarde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courant, 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exigeantes, montage, jeu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38DA5B1-2D9C-15CF-317F-B8CB5703B4ED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Alimentation et refroidissement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elements essentiels et souvent negliges : fournir une energie stable et evacuer la chaleur produite par les composants.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4983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build/photos_norm/ali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514600"/>
            <a:ext cx="1325880" cy="1325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Alimentation (PSU)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59028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(Watts) : </a:t>
            </a: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couvrir la consommation cumulee, avec marge de securite.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80+ : </a:t>
            </a: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a Platinum, indique le rendement energetique.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cles : </a:t>
            </a: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broches carte mere, 4/8 broches CPU, PCIe, SATA.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46520" y="2240280"/>
            <a:ext cx="4983480" cy="1874520"/>
          </a:xfrm>
          <a:prstGeom prst="roundRect">
            <a:avLst>
              <a:gd name="adj" fmla="val 4878"/>
            </a:avLst>
          </a:prstGeom>
          <a:solidFill>
            <a:srgbClr val="EAE2F6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build/photos_cropped/crop_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295144"/>
            <a:ext cx="4873752" cy="1764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Refroidissement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459028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: </a:t>
            </a: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ventirad (dissipateur + ventilateur), solution la plus courante et fiable.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 (watercooling) : </a:t>
            </a: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ferme (AIO) plus performant et silencieux pour charges elevees.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 thermique : </a:t>
            </a: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le contact thermique entre CPU et dissipateur.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89E43DE-2596-7FAF-E5A9-59367CDC51A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graphique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graphique traite les calculs d'affichage et transmet l'image a l'ecran.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Carte graphique" descr="Illustration d’une carte graphiq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68" y="2379506"/>
            <a:ext cx="5000143" cy="33334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185416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199632" y="20574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integre vs GPU dedie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99632" y="236829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GPU integre au CPU suffit pour la bureautique. Une carte dediee, avec sa propre memoire (VRAM), est necessaire pour le jeu, la 3D et la video.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05181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943600" y="317982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199632" y="305181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et refroidissement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99632" y="336270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VRAM stocke les textures et images en cours de calcul. Un bon refroidissement (ventirad) evite la surchauffe et le throttling.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0" y="404622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943600" y="4174236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199632" y="404622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&amp; alimentation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435711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dediee necessite souvent un connecteur d'alimentation PCIe (6/8 broches) et existe en format standard ou low-profile.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FAC34B-7E47-748F-86D6-55D3D87CF02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ports permettent de connecter ecrans, peripheriques et reseau a l'ordinateur.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Connectique" descr="Icones des principaux connecteurs (USB, HDMI, Ethernet, DisplayPort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68" y="2442719"/>
            <a:ext cx="5000143" cy="32070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185416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199632" y="20574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USB-A / USB-C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99632" y="236829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des peripheriques et du stockage externe. L'USB-C permet aussi la charge et l'affichage video.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05181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943600" y="317982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199632" y="305181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 / DisplayPort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99632" y="336270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image vers l'ecran, portee par la carte graphique (dediee ou integree).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0" y="404622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943600" y="4174236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199632" y="404622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435711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reseau filaire stable, generalement portee par la carte mere.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46CF87B-48DD-C319-2E74-1967981ECDC9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 Wi-Fi : la connexion sans fil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petite carte enfichable sur la carte mere assure la connexion au reseau Wi-Fi et souvent au Bluetooth.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EAE2F6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build/photos_cropped/crop_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112264"/>
            <a:ext cx="4919472" cy="3867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18541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199632" y="20574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Mini PCIe / M.2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99632" y="236829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carte d'extension enfichee directement sur un connecteur dedie de la carte mere, tres courante en portable et mini-PC.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05181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943600" y="3179826"/>
            <a:ext cx="128016" cy="1280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199632" y="305181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99632" y="336270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coaxiaux miniatures (u.FL) reliant la carte aux antennes Wi-Fi integrees au boitier ou a l'ecran du portable.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0" y="404622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943600" y="4174236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199632" y="404622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Normes Wi-Fi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435711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4/5/6 (802.11n/ac/ax) : debit, portee et bande de frequence utilisee (2,4 GHz et/ou 5 GHz).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43600" y="5040630"/>
            <a:ext cx="5669280" cy="0"/>
          </a:xfrm>
          <a:prstGeom prst="line">
            <a:avLst/>
          </a:prstGeom>
          <a:noFill/>
          <a:ln w="9525">
            <a:solidFill>
              <a:srgbClr val="D7C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943600" y="5168646"/>
            <a:ext cx="128016" cy="1280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199632" y="504063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combine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99632" y="5351526"/>
            <a:ext cx="54132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nombreuses cartes integrent aussi une puce Bluetooth, partageant parfois la meme antenne.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5CABB95-4A65-7B48-0267-53DEF90A171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L'entretien materiel d'un ordinateur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verifications physiques regulieres suffisent a prolonger la duree de vie d'un poste et a prevenir la majorite des pannes materielles.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86384" y="236829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48899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9923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Depoussierage interne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31012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grilles d'aeration, ventilateurs et dissipateurs : la poussiere est la premiere cause de surchauffe.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8160" y="214884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65904" y="236829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605" y="248899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5904" y="299923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des connexions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5904" y="331012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S'assurer que RAM, cables d'alimentation et cartes d'extension sont bien enclenches, sans jeu ni faux contact.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7680" y="214884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45424" y="236829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25" y="248899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5424" y="299923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Etat du ventirad et pate thermique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45424" y="331012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ventirad encrasse ou une pate thermique sechee degradent fortement le refroidissement du processeur.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786384" y="460857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5" y="4729277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523951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thermique et sonore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6384" y="555040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chauffe excessive ou un bruit inhabituel signale un probleme mecanique a traiter rapidement.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8160" y="43891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565904" y="460857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605" y="4729277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5904" y="523951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des ports et connecteurs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65904" y="555040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Poussiere et oxydation sur USB, HDMI ou alimentation peuvent provoquer de mauvais contacts.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7680" y="43891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45424" y="460857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125" y="4729277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45424" y="523951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visuel general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45424" y="555040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l'absence de vis desserrees, de composants gonfles (condensateurs) ou de traces d'humidite.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4C7B74E-DC88-A246-F145-AFDFCD6095F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HARDWARE 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 : le role de chaque composant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pieces, sept fonctions complementaires. Retenir le role de chacune est la base du diagnostic materiel.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13232" y="222199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build/photos_cropped/crop_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76856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0632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mere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335584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et fait communiquer tous les composants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20574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547872" y="222199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build/photos_cropped/crop_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276856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Processeur (CPU)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47872" y="335584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les calculs et instructions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20574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382512" y="222199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/home/claude/build/photos_cropped/crop_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276856"/>
            <a:ext cx="621792" cy="6217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0632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Memoire vive (RAM)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82512" y="335584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temporairement les donnees en cours d'usage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52560" y="20574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9217152" y="222199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3" descr="/home/claude/build/photos_norm/stock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988" y="2496312"/>
            <a:ext cx="145847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0632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17152" y="335584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 durablement systeme et fichiers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965960" y="42976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2130552" y="446227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4" descr="/home/claude/build/photos_norm/aliment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473659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130552" y="53035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2130552" y="559612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l'energie a l'ensemble des composants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800600" y="42976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4965192" y="446227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5" descr="/home/claude/build/photos_norm/carte_graphiq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9512" y="4760003"/>
            <a:ext cx="182880" cy="13605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965192" y="53035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graphique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965192" y="559612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et affiche les images a l'ecran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635240" y="42976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28"/>
          <p:cNvSpPr/>
          <p:nvPr/>
        </p:nvSpPr>
        <p:spPr>
          <a:xfrm>
            <a:off x="7799832" y="446227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0D3F0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7" name="Image 6" descr="/home/claude/build/photos_cropped/crop_1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4696" y="4517136"/>
            <a:ext cx="621792" cy="62179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799832" y="53035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Wi-Fi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7799832" y="5596128"/>
            <a:ext cx="22311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la connexion reseau sans fil et le Bluetooth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65C0E6F-CF2D-A2BA-8289-A5952EEFE4BC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5486400" cy="5486400"/>
          </a:xfrm>
          <a:prstGeom prst="ellipse">
            <a:avLst/>
          </a:prstGeom>
          <a:solidFill>
            <a:srgbClr val="6D28D9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0E7490">
              <a:alpha val="7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build/photos/bran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4206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YGGDRASIL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15568" y="731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Numerique &amp; Reconditionnement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Systeme, pilotes </a:t>
            </a:r>
            <a:r>
              <a:rPr lang="en-US" sz="4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securite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de formation — comprendre le systeme d'exploitation, le role des pilotes materiels et les bons reflexes de securite logicielle.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3505200" cy="1417320"/>
          </a:xfrm>
          <a:prstGeom prst="roundRect">
            <a:avLst>
              <a:gd name="adj" fmla="val 580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017776" y="4928616"/>
            <a:ext cx="566928" cy="566928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177" y="507601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560527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d'exploitation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28160" y="4709160"/>
            <a:ext cx="3505200" cy="1417320"/>
          </a:xfrm>
          <a:prstGeom prst="roundRect">
            <a:avLst>
              <a:gd name="adj" fmla="val 580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5797296" y="4928616"/>
            <a:ext cx="566928" cy="566928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697" y="507601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19600" y="560527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(drivers)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07680" y="4709160"/>
            <a:ext cx="3505200" cy="1417320"/>
          </a:xfrm>
          <a:prstGeom prst="roundRect">
            <a:avLst>
              <a:gd name="adj" fmla="val 5806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9576816" y="4928616"/>
            <a:ext cx="566928" cy="566928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217" y="507601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99120" y="560527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logicielle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3C45003-1217-4E3F-E03C-5D4C5DF51019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piliers du bon fonctionnement d'un PC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ordinateur fonctionne grace a la synergie entre son systeme d'exploitation, les pilotes qui pilotent son materiel, et les protections qui le securisent.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05200" cy="4023360"/>
          </a:xfrm>
          <a:prstGeom prst="roundRect">
            <a:avLst>
              <a:gd name="adj" fmla="val 2348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912620" y="2514600"/>
            <a:ext cx="777240" cy="77724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702" y="27166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d'exploitation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295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logiciel de base qui gere le materiel, les fichiers et permet d'executer tous les autres programmes (Windows, Linux, macOS).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8160" y="2057400"/>
            <a:ext cx="3505200" cy="4023360"/>
          </a:xfrm>
          <a:prstGeom prst="roundRect">
            <a:avLst>
              <a:gd name="adj" fmla="val 2348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692140" y="2514600"/>
            <a:ext cx="777240" cy="77724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222" y="271668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2480" y="356616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Pilotes (drivers)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02480" y="4160520"/>
            <a:ext cx="295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programmes qui traduisent le dialogue entre l'OS et chaque composant materiel : sans eux, le materiel n'est pas exploite correctement.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7680" y="2057400"/>
            <a:ext cx="3505200" cy="4023360"/>
          </a:xfrm>
          <a:prstGeom prst="roundRect">
            <a:avLst>
              <a:gd name="adj" fmla="val 2348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9471660" y="2514600"/>
            <a:ext cx="777240" cy="77724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742" y="271668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2000" y="356616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Securite logicielle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82000" y="4160520"/>
            <a:ext cx="295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Antivirus, pare-feu et bonnes pratiques qui protegent la machine et les donnees contre les menaces numeriques.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3F3410A-3F55-F44C-9AB0-E446F5D911AF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systeme d'exploitation (OS) : le chef d'orchestre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de base qui demarre au lancement de la machine et gere l'ensemble des ressources materielles et logicielles.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86384" y="227685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39755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077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ressources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21868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 la memoire, le temps processeur et l'acces au stockage entre les programmes en cours d'execution.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55664" y="227685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239755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55664" y="29077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55664" y="321868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l'environnement graphique (bureau, fenetres, menus) qui permet d'utiliser la machine sans commandes complexes.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786384" y="451713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5" y="463783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6384" y="51480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peripheriques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86384" y="545896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 et communique avec les composants et peripheriques via les pilotes appropries.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297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455664" y="451713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4637837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55664" y="51480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des programmes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55664" y="545896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Charge, execute et isole les applications les unes des autres pour eviter qu'une erreur ne bloque tout le systeme.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24C3697-3AC0-0C9C-D660-134CA034759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grandes familles de systemes d'exploitation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familles dominent le marche des ordinateurs personnels, avec des logiques et des usages differents.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05200" cy="4023360"/>
          </a:xfrm>
          <a:prstGeom prst="roundRect">
            <a:avLst>
              <a:gd name="adj" fmla="val 2348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912620" y="2514600"/>
            <a:ext cx="777240" cy="77724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702" y="27166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(Microsoft)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133088"/>
            <a:ext cx="295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repandu sur les PC grand public et professionnels. Large compatibilite materielle et logicielle.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8160" y="2057400"/>
            <a:ext cx="3505200" cy="4023360"/>
          </a:xfrm>
          <a:prstGeom prst="roundRect">
            <a:avLst>
              <a:gd name="adj" fmla="val 2348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692140" y="2514600"/>
            <a:ext cx="777240" cy="77724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222" y="271668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2480" y="356616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(Ubuntu, Debian...)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02480" y="4133088"/>
            <a:ext cx="295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libre et gratuit, tres utilise en reconditionnement pour redonner vie a du materiel ancien ou limite.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7680" y="2057400"/>
            <a:ext cx="3505200" cy="4023360"/>
          </a:xfrm>
          <a:prstGeom prst="roundRect">
            <a:avLst>
              <a:gd name="adj" fmla="val 2348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9471660" y="2514600"/>
            <a:ext cx="777240" cy="77724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742" y="271668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2000" y="356616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(Apple)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82000" y="4133088"/>
            <a:ext cx="295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aux machines Apple (Mac), integre etroitement au materiel du constructeur.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FF536D5-D105-4DF0-B779-65F9E5A20A2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un systeme d'exploitation : les etapes cles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installation reussie suit toujours la meme logique, quel que soit l'OS installe.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68096" y="2258568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68096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77063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Preparer le support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3081528"/>
            <a:ext cx="15910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une cle USB bootable avec l'outil officiel (Media Creation Tool, Rufus...).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07208" y="205740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026664" y="2258568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026664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26664" y="277063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le BIOS/UEFI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26664" y="3081528"/>
            <a:ext cx="15910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la cle USB en premier choix de demarrage (boot order).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65776" y="205740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285232" y="2258568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85232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85232" y="277063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Partitionner le disque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85232" y="3081528"/>
            <a:ext cx="15910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ou creer la partition d'installation, en effacant si besoin l'ancien systeme.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24344" y="205740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543800" y="2258568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5438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43800" y="277063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l'assistant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43800" y="3081528"/>
            <a:ext cx="15910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langue, compte utilisateur et parametres de base demandes par l'installateur.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82912" y="205740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802368" y="2258568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9802368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02368" y="277063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Mises a jour et pilotes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02368" y="3081528"/>
            <a:ext cx="15910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l'OS installe, lancer les mises a jour puis installer les pilotes manquants.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FA4C68D-329E-D6D4-EF06-F6E588A1377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pilotes : le lien entre l'OS et le materiel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pilote (driver) est le programme qui traduit le dialogue entre le systeme d'exploitation et un composant materiel precis.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86384" y="227685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39755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077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quoi sert un pilote 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21868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permet a l'OS de comprendre et d'exploiter pleinement les capacites d'un composant (carte graphique, carte reseau, imprimante...).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55664" y="227685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239755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55664" y="29077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le bon pilote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55664" y="321868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composant peut ne pas etre reconnu, fonctionner en mode degrade (ex. resolution d'ecran minimale) ou generer des erreurs.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786384" y="451713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5" y="463783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6384" y="51480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generique vs constructeur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86384" y="545896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installe souvent un pilote generique basique. Le pilote du fabricant est optimise et debloque toutes les fonctionnalites.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297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455664" y="451713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4637837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55664" y="51480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Compatibilite et versions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55664" y="5458968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pilote est specifique a un composant, une version d'OS et une architecture (32/64 bits) : il faut installer la bonne version.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056DFD0-B5AA-F8AC-4B6F-7B002089C29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Trouver et installer les bons pilotes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sources permettent de recuperer un pilote, avec des niveaux de fiabilite et de simplicite differents.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931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Automatique, simple, aucun risque de mauvaise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Pilotes parfois generiques ou en retard sur les dernieres 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Gestionnaire de peripheriques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Permet de diagnostiquer precisement un composant non reconnu (point d'exclamation)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telecharge pas toujours le pilote automatiquement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du fabricant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Pilote officiel, complet et optimise pour le composant 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Necessite de connaitre le modele precis du materiel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Outils tiers/generiques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Pratique pour identifier du materiel inconnu (carte mere sans reference)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utiliser avec prudence : privilegier des outils reconnus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92C3B1-8533-9CDA-D470-88FE78996E3F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logiciels de securite : antivirus et pare-feu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lignes de defense complementaires protegent la machine contre les menaces venues de fichiers ou du reseau.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4624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500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: 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detecte, bloque et supprime les logiciels malveillants (virus, ransomware, spyware, chevaux de Troie).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 temps reel des fichiers ouverts, plus des analyses planifiees de l'ensemble du disque.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Defender (integre et gratuit), solutions tierces (payantes ou gratuites) selon les besoins.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24624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3500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Pare-feu (firewall)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301752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: 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les connexions reseau entrantes et sortantes selon des regles de securite.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les tentatives d'acces non autorisees depuis internet ou un reseau local.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reflexe 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le pare-feu de l'OS active en permanence, meme avec un antivirus tiers installe.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F04B348-3FC6-089D-6604-A2CCD138C6A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 de securite logicielle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meilleure protection reste une combinaison d'outils a jour et de reflexes de prudence au quotidien.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86384" y="236829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48899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9923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Mises a jour regulieres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31012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antivirus et logiciels a jour pour corriger les failles de securite connues.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8160" y="214884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65904" y="236829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605" y="248899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5904" y="299923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planifiees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5904" y="331012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des analyses antivirus completes reguliere, pas seulement a la demande.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7680" y="214884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45424" y="236829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25" y="248899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5424" y="299923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Prudence face au phishing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45424" y="331012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mefier des emails, liens et pieces jointes inattendus, meme d'un expediteur connu.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786384" y="460857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5" y="4729277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523951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 de passe robustes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6384" y="555040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mots de passe longs et uniques, et activer la double authentification si possible.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8160" y="43891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565904" y="460857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605" y="4729277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5904" y="523951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utilisateur standard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65904" y="555040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 le compte administrateur aux taches qui le necessitent, au quotidien utiliser un compte standard.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7680" y="43891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45424" y="460857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125" y="4729277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45424" y="523951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Sauvegardes regulieres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45424" y="555040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sauvegarde a jour est la meilleure protection contre un ransomware ou une panne materielle.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E4A32DF-F9D4-A4A2-23DC-03B26F2CAEA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LOGICIEL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 : systeme, pilotes et securite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piliers logiciels qui, ensemble, conditionnent la stabilite et la longevite d'un poste informatique.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86384" y="227685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39755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077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d'exploitation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21868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le materiel et permet l'execution des programmes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8160" y="20574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65904" y="227685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605" y="239755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5904" y="29077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Familles d'OS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5904" y="321868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macOS : usages et compatibilites differents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7680" y="20574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45424" y="227685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25" y="239755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5424" y="29077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Pilotes (drivers)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45424" y="321868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Traduisent le dialogue entre l'OS et le materiel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786384" y="4517136"/>
            <a:ext cx="502920" cy="50292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5" y="4637837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514807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de pilotes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6384" y="545896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Update, gestionnaire de peripheriques, site fabricant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8160" y="42976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565904" y="4517136"/>
            <a:ext cx="502920" cy="5029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605" y="4637837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5904" y="514807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&amp; pare-feu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65904" y="545896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Detectent les menaces et filtrent les connexions reseau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7680" y="42976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3EFFA"/>
          </a:solidFill>
          <a:ln w="12700">
            <a:solidFill>
              <a:srgbClr val="D7CD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45424" y="4517136"/>
            <a:ext cx="502920" cy="502920"/>
          </a:xfrm>
          <a:prstGeom prst="ellipse">
            <a:avLst/>
          </a:prstGeom>
          <a:solidFill>
            <a:srgbClr val="B45309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125" y="4637837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45424" y="514807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45424" y="5458968"/>
            <a:ext cx="3029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a jour, sauvegardes et vigilance au quotidien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Yggdrasil — Agent de Reconditionnement Numerique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F0C9709-F1F5-7858-7155-07CAFE1FD32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71</TotalTime>
  <Words>3235</Words>
  <Application>Microsoft Office PowerPoint</Application>
  <PresentationFormat>Grand écran</PresentationFormat>
  <Paragraphs>410</Paragraphs>
  <Slides>23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Neue Haas Grotesk Text Pro</vt:lpstr>
      <vt:lpstr>Film Burn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composants d'un ordinateur</dc:title>
  <dc:subject>PptxGenJS Presentation</dc:subject>
  <dc:creator>Yggdrasil</dc:creator>
  <cp:lastModifiedBy>titi 23</cp:lastModifiedBy>
  <cp:revision>3</cp:revision>
  <dcterms:created xsi:type="dcterms:W3CDTF">2026-07-07T08:45:44Z</dcterms:created>
  <dcterms:modified xsi:type="dcterms:W3CDTF">2026-09-08T11:32:38Z</dcterms:modified>
</cp:coreProperties>
</file>