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3267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slide" Target="slide3.xml"/><Relationship Id="rId4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18" Type="http://schemas.openxmlformats.org/officeDocument/2006/relationships/slide" Target="slide22.xml"/><Relationship Id="rId3" Type="http://schemas.openxmlformats.org/officeDocument/2006/relationships/image" Target="../media/image1.png"/><Relationship Id="rId7" Type="http://schemas.openxmlformats.org/officeDocument/2006/relationships/slide" Target="slide7.xml"/><Relationship Id="rId12" Type="http://schemas.openxmlformats.org/officeDocument/2006/relationships/slide" Target="slide12.xml"/><Relationship Id="rId17" Type="http://schemas.openxmlformats.org/officeDocument/2006/relationships/slide" Target="slide21.xml"/><Relationship Id="rId2" Type="http://schemas.openxmlformats.org/officeDocument/2006/relationships/notesSlide" Target="../notesSlides/notesSlide3.xml"/><Relationship Id="rId16" Type="http://schemas.openxmlformats.org/officeDocument/2006/relationships/slide" Target="slide20.xml"/><Relationship Id="rId20" Type="http://schemas.openxmlformats.org/officeDocument/2006/relationships/slide" Target="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5" Type="http://schemas.openxmlformats.org/officeDocument/2006/relationships/slide" Target="slide5.xml"/><Relationship Id="rId15" Type="http://schemas.openxmlformats.org/officeDocument/2006/relationships/slide" Target="slide19.xml"/><Relationship Id="rId10" Type="http://schemas.openxmlformats.org/officeDocument/2006/relationships/slide" Target="slide10.xml"/><Relationship Id="rId19" Type="http://schemas.openxmlformats.org/officeDocument/2006/relationships/slide" Target="slide2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slide" Target="slide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slide" Target="slide5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3.xml"/><Relationship Id="rId5" Type="http://schemas.openxmlformats.org/officeDocument/2006/relationships/slide" Target="slide6.xml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7.xml"/><Relationship Id="rId5" Type="http://schemas.openxmlformats.org/officeDocument/2006/relationships/slide" Target="slide3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8.xml"/><Relationship Id="rId5" Type="http://schemas.openxmlformats.org/officeDocument/2006/relationships/slide" Target="slide3.xml"/><Relationship Id="rId4" Type="http://schemas.openxmlformats.org/officeDocument/2006/relationships/slide" Target="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9.xml"/><Relationship Id="rId5" Type="http://schemas.openxmlformats.org/officeDocument/2006/relationships/slide" Target="slide3.xml"/><Relationship Id="rId4" Type="http://schemas.openxmlformats.org/officeDocument/2006/relationships/slide" Target="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0.xml"/><Relationship Id="rId5" Type="http://schemas.openxmlformats.org/officeDocument/2006/relationships/slide" Target="slide3.xml"/><Relationship Id="rId4" Type="http://schemas.openxmlformats.org/officeDocument/2006/relationships/slide" Target="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1.xml"/><Relationship Id="rId5" Type="http://schemas.openxmlformats.org/officeDocument/2006/relationships/slide" Target="slide3.xml"/><Relationship Id="rId4" Type="http://schemas.openxmlformats.org/officeDocument/2006/relationships/slide" Target="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3.xml"/><Relationship Id="rId5" Type="http://schemas.openxmlformats.org/officeDocument/2006/relationships/slide" Target="slide12.xml"/><Relationship Id="rId4" Type="http://schemas.openxmlformats.org/officeDocument/2006/relationships/slide" Target="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3.xml"/><Relationship Id="rId5" Type="http://schemas.openxmlformats.org/officeDocument/2006/relationships/slide" Target="slide3.xml"/><Relationship Id="rId4" Type="http://schemas.openxmlformats.org/officeDocument/2006/relationships/slide" Target="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4.xml"/><Relationship Id="rId5" Type="http://schemas.openxmlformats.org/officeDocument/2006/relationships/slide" Target="slide3.xml"/><Relationship Id="rId4" Type="http://schemas.openxmlformats.org/officeDocument/2006/relationships/slide" Target="sl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5.xml"/><Relationship Id="rId5" Type="http://schemas.openxmlformats.org/officeDocument/2006/relationships/slide" Target="slide3.xml"/><Relationship Id="rId4" Type="http://schemas.openxmlformats.org/officeDocument/2006/relationships/slide" Target="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6.xml"/><Relationship Id="rId5" Type="http://schemas.openxmlformats.org/officeDocument/2006/relationships/slide" Target="slide3.xml"/><Relationship Id="rId4" Type="http://schemas.openxmlformats.org/officeDocument/2006/relationships/slide" Target="sl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7.xml"/><Relationship Id="rId5" Type="http://schemas.openxmlformats.org/officeDocument/2006/relationships/slide" Target="slide3.xml"/><Relationship Id="rId4" Type="http://schemas.openxmlformats.org/officeDocument/2006/relationships/slide" Target="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3.xml"/><Relationship Id="rId5" Type="http://schemas.openxmlformats.org/officeDocument/2006/relationships/slide" Target="slide18.xml"/><Relationship Id="rId4" Type="http://schemas.openxmlformats.org/officeDocument/2006/relationships/slide" Target="slide1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slide" Target="slide19.xml"/><Relationship Id="rId4" Type="http://schemas.openxmlformats.org/officeDocument/2006/relationships/image" Target="../media/image2.png"/><Relationship Id="rId9" Type="http://schemas.openxmlformats.org/officeDocument/2006/relationships/slide" Target="slide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0.xml"/><Relationship Id="rId5" Type="http://schemas.openxmlformats.org/officeDocument/2006/relationships/slide" Target="slide3.xml"/><Relationship Id="rId4" Type="http://schemas.openxmlformats.org/officeDocument/2006/relationships/slide" Target="slid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1.xml"/><Relationship Id="rId5" Type="http://schemas.openxmlformats.org/officeDocument/2006/relationships/slide" Target="slide3.xml"/><Relationship Id="rId4" Type="http://schemas.openxmlformats.org/officeDocument/2006/relationships/slide" Target="slid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2.xml"/><Relationship Id="rId5" Type="http://schemas.openxmlformats.org/officeDocument/2006/relationships/slide" Target="slide3.xml"/><Relationship Id="rId4" Type="http://schemas.openxmlformats.org/officeDocument/2006/relationships/slide" Target="slide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40080" y="-137160"/>
            <a:ext cx="7863840" cy="4023360"/>
          </a:xfrm>
          <a:prstGeom prst="ellipse">
            <a:avLst/>
          </a:prstGeom>
          <a:solidFill>
            <a:srgbClr val="7A1A1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554480" y="320040"/>
            <a:ext cx="6035040" cy="3108960"/>
          </a:xfrm>
          <a:prstGeom prst="ellipse">
            <a:avLst/>
          </a:prstGeom>
          <a:solidFill>
            <a:srgbClr val="7A1A10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377440" y="731520"/>
            <a:ext cx="4389120" cy="2286000"/>
          </a:xfrm>
          <a:prstGeom prst="ellipse">
            <a:avLst/>
          </a:prstGeom>
          <a:solidFill>
            <a:srgbClr val="7A1A10">
              <a:alpha val="2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108960" y="1097280"/>
            <a:ext cx="2926080" cy="1554480"/>
          </a:xfrm>
          <a:prstGeom prst="ellipse">
            <a:avLst/>
          </a:prstGeom>
          <a:solidFill>
            <a:srgbClr val="7A1A10">
              <a:alpha val="36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14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86868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SÉCURITÉ INTERNET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365760" y="178308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 ENFANTS</a:t>
            </a:r>
            <a:endParaRPr lang="en-US" sz="5200" dirty="0"/>
          </a:p>
        </p:txBody>
      </p:sp>
      <p:sp>
        <p:nvSpPr>
          <p:cNvPr id="10" name="Shape 7"/>
          <p:cNvSpPr/>
          <p:nvPr/>
        </p:nvSpPr>
        <p:spPr>
          <a:xfrm>
            <a:off x="2468880" y="2743200"/>
            <a:ext cx="4206240" cy="45720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365760" y="2852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ACCOMPAGNER  &amp;  PROTÉGER</a:t>
            </a:r>
            <a:endParaRPr lang="en-US" sz="1800" dirty="0"/>
          </a:p>
        </p:txBody>
      </p:sp>
      <p:sp>
        <p:nvSpPr>
          <p:cNvPr id="12" name="Shape 9">
            <a:hlinkClick r:id="rId4" action="ppaction://hlinksldjump" tooltip="Démarrer"/>
          </p:cNvPr>
          <p:cNvSpPr/>
          <p:nvPr/>
        </p:nvSpPr>
        <p:spPr>
          <a:xfrm>
            <a:off x="3246120" y="3456432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>
            <a:hlinkClick r:id="rId4" action="ppaction://hlinksldjump" tooltip="Démarrer"/>
          </p:cNvPr>
          <p:cNvSpPr/>
          <p:nvPr/>
        </p:nvSpPr>
        <p:spPr>
          <a:xfrm>
            <a:off x="3246120" y="34564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4" action="ppaction://hlinksldjump" tooltip="Démarr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DÉMARRER L'ATELIER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28600" y="3502152"/>
            <a:ext cx="2651760" cy="457200"/>
          </a:xfrm>
          <a:prstGeom prst="rect">
            <a:avLst/>
          </a:prstGeom>
          <a:solidFill>
            <a:srgbClr val="08090E"/>
          </a:solidFill>
          <a:ln w="15875">
            <a:solidFill>
              <a:srgbClr val="D841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228600" y="35021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 </a:t>
            </a: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 Cédric WALTENER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224528"/>
            <a:ext cx="9144000" cy="914400"/>
          </a:xfrm>
          <a:prstGeom prst="rect">
            <a:avLst/>
          </a:prstGeom>
          <a:solidFill>
            <a:srgbClr val="0C0D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274320" y="433425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👨‍👩‍👧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77240" y="433425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Parents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77240" y="46817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niveaux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2560320" y="433425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⏱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3063240" y="433425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heure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063240" y="46817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médiation numérique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846320" y="433425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5349240" y="433425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Guéret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349240" y="46817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MN — 2026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32320" y="433425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635240" y="433425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Ensemble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635240" y="46817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jugement</a:t>
            </a:r>
            <a:endParaRPr lang="en-US" sz="850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17F10437-F8B8-E424-DB7B-463AEB906517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097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Bienvenue — cet atelier est fait pour vous !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7498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que soit votre lien avec le numérique, vous êtes au bon endroit. Ici, on apprend ensemble, sans jugement.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11480" y="1325880"/>
            <a:ext cx="2679192" cy="201168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11480" y="1325880"/>
            <a:ext cx="2679192" cy="64008"/>
          </a:xfrm>
          <a:prstGeom prst="rect">
            <a:avLst/>
          </a:prstGeom>
          <a:solidFill>
            <a:srgbClr val="2E86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39496" y="1472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🙋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24712" y="1481328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86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Posez vos questions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76072" y="1984248"/>
            <a:ext cx="23500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n'y a pas de question bête. Si vous vous la posez, d'autres aussi.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73552" y="1325880"/>
            <a:ext cx="2679192" cy="201168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3273552" y="1325880"/>
            <a:ext cx="2679192" cy="64008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3401568" y="1472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986784" y="1481328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Vous n'êtes pas seul(e)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438144" y="1984248"/>
            <a:ext cx="23500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Accompagner un enfant en ligne, ça s'apprend. Personne ne maîtrise tout.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35624" y="1325880"/>
            <a:ext cx="2679192" cy="201168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6135624" y="1325880"/>
            <a:ext cx="2679192" cy="64008"/>
          </a:xfrm>
          <a:prstGeom prst="rect">
            <a:avLst/>
          </a:prstGeom>
          <a:solidFill>
            <a:srgbClr val="E97F1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6263640" y="1472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848856" y="1481328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97F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 de jugement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300216" y="1984248"/>
            <a:ext cx="23500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Surveiller n'est pas espionner. L'objectif : protéger sans casser la confiance.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11480" y="3611880"/>
            <a:ext cx="8321040" cy="868680"/>
          </a:xfrm>
          <a:prstGeom prst="rect">
            <a:avLst/>
          </a:prstGeom>
          <a:solidFill>
            <a:srgbClr val="1723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411480" y="3611880"/>
            <a:ext cx="73152" cy="868680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594360" y="361188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234440" y="36118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France, </a:t>
            </a:r>
            <a:r>
              <a:rPr lang="en-US" sz="1300" b="1" dirty="0">
                <a:solidFill>
                  <a:srgbClr val="D84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enfant sur 5</a:t>
            </a:r>
            <a:r>
              <a:rPr lang="en-US" sz="13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déjà connecté a été contacté par un inconnu en ligne. Le meilleur filtre reste le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</a:t>
            </a:r>
            <a:r>
              <a:rPr lang="en-US" sz="13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27" name="Shape 24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29" name="Shape 26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>
            <a:hlinkClick r:id="rId4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▶</a:t>
            </a:r>
            <a:endParaRPr lang="en-US" sz="900" dirty="0"/>
          </a:p>
        </p:txBody>
      </p:sp>
      <p:sp>
        <p:nvSpPr>
          <p:cNvPr id="31" name="Shape 28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3C215D52-CBAF-52A3-7420-4BDE74B84AC1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097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 programme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7498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déroulé de l'atelier, étape par étape.</a:t>
            </a:r>
            <a:endParaRPr lang="en-US" sz="1250" dirty="0"/>
          </a:p>
        </p:txBody>
      </p:sp>
      <p:sp>
        <p:nvSpPr>
          <p:cNvPr id="6" name="Shape 3">
            <a:hlinkClick r:id="rId4" action="ppaction://hlinksldjump" tooltip="Intro &amp; chiffres clés"/>
          </p:cNvPr>
          <p:cNvSpPr/>
          <p:nvPr/>
        </p:nvSpPr>
        <p:spPr>
          <a:xfrm>
            <a:off x="411480" y="1325880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11480" y="1399032"/>
            <a:ext cx="54864" cy="385877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>
            <a:hlinkClick r:id="rId4" action="ppaction://hlinksldjump" tooltip="Intro &amp; chiffres clés"/>
          </p:cNvPr>
          <p:cNvSpPr/>
          <p:nvPr/>
        </p:nvSpPr>
        <p:spPr>
          <a:xfrm>
            <a:off x="521208" y="1325880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4" action="ppaction://hlinksldjump" tooltip="Intro &amp; chiffres clé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🎬</a:t>
            </a:r>
            <a:endParaRPr lang="en-US" sz="1400" dirty="0"/>
          </a:p>
        </p:txBody>
      </p:sp>
      <p:sp>
        <p:nvSpPr>
          <p:cNvPr id="9" name="Text 6">
            <a:hlinkClick r:id="rId4" action="ppaction://hlinksldjump" tooltip="Intro &amp; chiffres clés"/>
          </p:cNvPr>
          <p:cNvSpPr/>
          <p:nvPr/>
        </p:nvSpPr>
        <p:spPr>
          <a:xfrm>
            <a:off x="978408" y="1325880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4" action="ppaction://hlinksldjump" tooltip="Intro &amp; chiffres clé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 &amp; chiffres clés</a:t>
            </a:r>
            <a:endParaRPr lang="en-US" sz="1050" dirty="0"/>
          </a:p>
        </p:txBody>
      </p:sp>
      <p:sp>
        <p:nvSpPr>
          <p:cNvPr id="10" name="Shape 7">
            <a:hlinkClick r:id="rId5" action="ppaction://hlinksldjump" tooltip="Les dangers d'Internet"/>
          </p:cNvPr>
          <p:cNvSpPr/>
          <p:nvPr/>
        </p:nvSpPr>
        <p:spPr>
          <a:xfrm>
            <a:off x="3252216" y="1325880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3252216" y="1399032"/>
            <a:ext cx="54864" cy="385877"/>
          </a:xfrm>
          <a:prstGeom prst="rect">
            <a:avLst/>
          </a:prstGeom>
          <a:solidFill>
            <a:srgbClr val="2E86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>
            <a:hlinkClick r:id="rId5" action="ppaction://hlinksldjump" tooltip="Les dangers d'Internet"/>
          </p:cNvPr>
          <p:cNvSpPr/>
          <p:nvPr/>
        </p:nvSpPr>
        <p:spPr>
          <a:xfrm>
            <a:off x="3361944" y="1325880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5" action="ppaction://hlinksldjump" tooltip="Les dangers d'Interne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⚠️</a:t>
            </a:r>
            <a:endParaRPr lang="en-US" sz="1400" dirty="0"/>
          </a:p>
        </p:txBody>
      </p:sp>
      <p:sp>
        <p:nvSpPr>
          <p:cNvPr id="13" name="Text 10">
            <a:hlinkClick r:id="rId5" action="ppaction://hlinksldjump" tooltip="Les dangers d'Internet"/>
          </p:cNvPr>
          <p:cNvSpPr/>
          <p:nvPr/>
        </p:nvSpPr>
        <p:spPr>
          <a:xfrm>
            <a:off x="3819144" y="1325880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5" action="ppaction://hlinksldjump" tooltip="Les dangers d'Interne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 dangers d'Internet</a:t>
            </a:r>
            <a:endParaRPr lang="en-US" sz="1050" dirty="0"/>
          </a:p>
        </p:txBody>
      </p:sp>
      <p:sp>
        <p:nvSpPr>
          <p:cNvPr id="14" name="Shape 11">
            <a:hlinkClick r:id="rId6" action="ppaction://hlinksldjump" tooltip="Où ils sont exposés"/>
          </p:cNvPr>
          <p:cNvSpPr/>
          <p:nvPr/>
        </p:nvSpPr>
        <p:spPr>
          <a:xfrm>
            <a:off x="6092952" y="1325880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6092952" y="1399032"/>
            <a:ext cx="54864" cy="385877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>
            <a:hlinkClick r:id="rId6" action="ppaction://hlinksldjump" tooltip="Où ils sont exposés"/>
          </p:cNvPr>
          <p:cNvSpPr/>
          <p:nvPr/>
        </p:nvSpPr>
        <p:spPr>
          <a:xfrm>
            <a:off x="6202680" y="1325880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6" action="ppaction://hlinksldjump" tooltip="Où ils sont exposé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🎮</a:t>
            </a:r>
            <a:endParaRPr lang="en-US" sz="1400" dirty="0"/>
          </a:p>
        </p:txBody>
      </p:sp>
      <p:sp>
        <p:nvSpPr>
          <p:cNvPr id="17" name="Text 14">
            <a:hlinkClick r:id="rId6" action="ppaction://hlinksldjump" tooltip="Où ils sont exposés"/>
          </p:cNvPr>
          <p:cNvSpPr/>
          <p:nvPr/>
        </p:nvSpPr>
        <p:spPr>
          <a:xfrm>
            <a:off x="6659880" y="1325880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6" action="ppaction://hlinksldjump" tooltip="Où ils sont exposé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Où ils sont exposés</a:t>
            </a:r>
            <a:endParaRPr lang="en-US" sz="1050" dirty="0"/>
          </a:p>
        </p:txBody>
      </p:sp>
      <p:sp>
        <p:nvSpPr>
          <p:cNvPr id="18" name="Shape 15">
            <a:hlinkClick r:id="rId7" action="ppaction://hlinksldjump" tooltip="À risque ou sans danger ?"/>
          </p:cNvPr>
          <p:cNvSpPr/>
          <p:nvPr/>
        </p:nvSpPr>
        <p:spPr>
          <a:xfrm>
            <a:off x="411480" y="2004365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411480" y="2077517"/>
            <a:ext cx="54864" cy="385877"/>
          </a:xfrm>
          <a:prstGeom prst="rect">
            <a:avLst/>
          </a:prstGeom>
          <a:solidFill>
            <a:srgbClr val="E97F1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>
            <a:hlinkClick r:id="rId7" action="ppaction://hlinksldjump" tooltip="À risque ou sans danger ?"/>
          </p:cNvPr>
          <p:cNvSpPr/>
          <p:nvPr/>
        </p:nvSpPr>
        <p:spPr>
          <a:xfrm>
            <a:off x="521208" y="2004365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7" action="ppaction://hlinksldjump" tooltip="À risque ou sans danger 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🔍</a:t>
            </a:r>
            <a:endParaRPr lang="en-US" sz="1400" dirty="0"/>
          </a:p>
        </p:txBody>
      </p:sp>
      <p:sp>
        <p:nvSpPr>
          <p:cNvPr id="21" name="Text 18">
            <a:hlinkClick r:id="rId7" action="ppaction://hlinksldjump" tooltip="À risque ou sans danger ?"/>
          </p:cNvPr>
          <p:cNvSpPr/>
          <p:nvPr/>
        </p:nvSpPr>
        <p:spPr>
          <a:xfrm>
            <a:off x="978408" y="2004365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7" action="ppaction://hlinksldjump" tooltip="À risque ou sans danger 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À risque ou sans danger ?</a:t>
            </a:r>
            <a:endParaRPr lang="en-US" sz="1050" dirty="0"/>
          </a:p>
        </p:txBody>
      </p:sp>
      <p:sp>
        <p:nvSpPr>
          <p:cNvPr id="22" name="Shape 19">
            <a:hlinkClick r:id="rId8" action="ppaction://hlinksldjump" tooltip="Inconnu dans un jeu"/>
          </p:cNvPr>
          <p:cNvSpPr/>
          <p:nvPr/>
        </p:nvSpPr>
        <p:spPr>
          <a:xfrm>
            <a:off x="3252216" y="2004365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3252216" y="2077517"/>
            <a:ext cx="54864" cy="385877"/>
          </a:xfrm>
          <a:prstGeom prst="rect">
            <a:avLst/>
          </a:prstGeom>
          <a:solidFill>
            <a:srgbClr val="9A4B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1">
            <a:hlinkClick r:id="rId8" action="ppaction://hlinksldjump" tooltip="Inconnu dans un jeu"/>
          </p:cNvPr>
          <p:cNvSpPr/>
          <p:nvPr/>
        </p:nvSpPr>
        <p:spPr>
          <a:xfrm>
            <a:off x="3361944" y="2004365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8" action="ppaction://hlinksldjump" tooltip="Inconnu dans un je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👤</a:t>
            </a:r>
            <a:endParaRPr lang="en-US" sz="1400" dirty="0"/>
          </a:p>
        </p:txBody>
      </p:sp>
      <p:sp>
        <p:nvSpPr>
          <p:cNvPr id="25" name="Text 22">
            <a:hlinkClick r:id="rId8" action="ppaction://hlinksldjump" tooltip="Inconnu dans un jeu"/>
          </p:cNvPr>
          <p:cNvSpPr/>
          <p:nvPr/>
        </p:nvSpPr>
        <p:spPr>
          <a:xfrm>
            <a:off x="3819144" y="2004365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8" action="ppaction://hlinksldjump" tooltip="Inconnu dans un je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Inconnu dans un jeu</a:t>
            </a:r>
            <a:endParaRPr lang="en-US" sz="1050" dirty="0"/>
          </a:p>
        </p:txBody>
      </p:sp>
      <p:sp>
        <p:nvSpPr>
          <p:cNvPr id="26" name="Shape 23">
            <a:hlinkClick r:id="rId9" action="ppaction://hlinksldjump" tooltip="Le cyberharcèlement"/>
          </p:cNvPr>
          <p:cNvSpPr/>
          <p:nvPr/>
        </p:nvSpPr>
        <p:spPr>
          <a:xfrm>
            <a:off x="6092952" y="2004365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4"/>
          <p:cNvSpPr/>
          <p:nvPr/>
        </p:nvSpPr>
        <p:spPr>
          <a:xfrm>
            <a:off x="6092952" y="2077517"/>
            <a:ext cx="54864" cy="385877"/>
          </a:xfrm>
          <a:prstGeom prst="rect">
            <a:avLst/>
          </a:prstGeom>
          <a:solidFill>
            <a:srgbClr val="17A2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>
            <a:hlinkClick r:id="rId9" action="ppaction://hlinksldjump" tooltip="Le cyberharcèlement"/>
          </p:cNvPr>
          <p:cNvSpPr/>
          <p:nvPr/>
        </p:nvSpPr>
        <p:spPr>
          <a:xfrm>
            <a:off x="6202680" y="2004365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9" action="ppaction://hlinksldjump" tooltip="Le cyberharcèl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😢</a:t>
            </a:r>
            <a:endParaRPr lang="en-US" sz="1400" dirty="0"/>
          </a:p>
        </p:txBody>
      </p:sp>
      <p:sp>
        <p:nvSpPr>
          <p:cNvPr id="29" name="Text 26">
            <a:hlinkClick r:id="rId9" action="ppaction://hlinksldjump" tooltip="Le cyberharcèlement"/>
          </p:cNvPr>
          <p:cNvSpPr/>
          <p:nvPr/>
        </p:nvSpPr>
        <p:spPr>
          <a:xfrm>
            <a:off x="6659880" y="2004365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9" action="ppaction://hlinksldjump" tooltip="Le cyberharcèl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 cyberharcèlement</a:t>
            </a:r>
            <a:endParaRPr lang="en-US" sz="1050" dirty="0"/>
          </a:p>
        </p:txBody>
      </p:sp>
      <p:sp>
        <p:nvSpPr>
          <p:cNvPr id="30" name="Shape 27">
            <a:hlinkClick r:id="rId10" action="ppaction://hlinksldjump" tooltip="Faux cadeaux &amp; arnaques"/>
          </p:cNvPr>
          <p:cNvSpPr/>
          <p:nvPr/>
        </p:nvSpPr>
        <p:spPr>
          <a:xfrm>
            <a:off x="411480" y="2682850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8"/>
          <p:cNvSpPr/>
          <p:nvPr/>
        </p:nvSpPr>
        <p:spPr>
          <a:xfrm>
            <a:off x="411480" y="2756002"/>
            <a:ext cx="54864" cy="385877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9">
            <a:hlinkClick r:id="rId10" action="ppaction://hlinksldjump" tooltip="Faux cadeaux &amp; arnaques"/>
          </p:cNvPr>
          <p:cNvSpPr/>
          <p:nvPr/>
        </p:nvSpPr>
        <p:spPr>
          <a:xfrm>
            <a:off x="521208" y="2682850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10" action="ppaction://hlinksldjump" tooltip="Faux cadeaux &amp; arnaqu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🎁</a:t>
            </a:r>
            <a:endParaRPr lang="en-US" sz="1400" dirty="0"/>
          </a:p>
        </p:txBody>
      </p:sp>
      <p:sp>
        <p:nvSpPr>
          <p:cNvPr id="33" name="Text 30">
            <a:hlinkClick r:id="rId10" action="ppaction://hlinksldjump" tooltip="Faux cadeaux &amp; arnaques"/>
          </p:cNvPr>
          <p:cNvSpPr/>
          <p:nvPr/>
        </p:nvSpPr>
        <p:spPr>
          <a:xfrm>
            <a:off x="978408" y="2682850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10" action="ppaction://hlinksldjump" tooltip="Faux cadeaux &amp; arnaqu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Faux cadeaux &amp; arnaques</a:t>
            </a:r>
            <a:endParaRPr lang="en-US" sz="1050" dirty="0"/>
          </a:p>
        </p:txBody>
      </p:sp>
      <p:sp>
        <p:nvSpPr>
          <p:cNvPr id="34" name="Shape 31">
            <a:hlinkClick r:id="rId11" action="ppaction://hlinksldjump" tooltip="Le contrôle parental"/>
          </p:cNvPr>
          <p:cNvSpPr/>
          <p:nvPr/>
        </p:nvSpPr>
        <p:spPr>
          <a:xfrm>
            <a:off x="3252216" y="2682850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2"/>
          <p:cNvSpPr/>
          <p:nvPr/>
        </p:nvSpPr>
        <p:spPr>
          <a:xfrm>
            <a:off x="3252216" y="2756002"/>
            <a:ext cx="54864" cy="385877"/>
          </a:xfrm>
          <a:prstGeom prst="rect">
            <a:avLst/>
          </a:prstGeom>
          <a:solidFill>
            <a:srgbClr val="2E86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3">
            <a:hlinkClick r:id="rId11" action="ppaction://hlinksldjump" tooltip="Le contrôle parental"/>
          </p:cNvPr>
          <p:cNvSpPr/>
          <p:nvPr/>
        </p:nvSpPr>
        <p:spPr>
          <a:xfrm>
            <a:off x="3361944" y="2682850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11" action="ppaction://hlinksldjump" tooltip="Le contrôle parent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🛡️</a:t>
            </a:r>
            <a:endParaRPr lang="en-US" sz="1400" dirty="0"/>
          </a:p>
        </p:txBody>
      </p:sp>
      <p:sp>
        <p:nvSpPr>
          <p:cNvPr id="37" name="Text 34">
            <a:hlinkClick r:id="rId11" action="ppaction://hlinksldjump" tooltip="Le contrôle parental"/>
          </p:cNvPr>
          <p:cNvSpPr/>
          <p:nvPr/>
        </p:nvSpPr>
        <p:spPr>
          <a:xfrm>
            <a:off x="3819144" y="2682850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11" action="ppaction://hlinksldjump" tooltip="Le contrôle parent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 contrôle parental</a:t>
            </a:r>
            <a:endParaRPr lang="en-US" sz="1050" dirty="0"/>
          </a:p>
        </p:txBody>
      </p:sp>
      <p:sp>
        <p:nvSpPr>
          <p:cNvPr id="38" name="Shape 35">
            <a:hlinkClick r:id="rId12" action="ppaction://hlinksldjump" tooltip="Les signaux d'alerte"/>
          </p:cNvPr>
          <p:cNvSpPr/>
          <p:nvPr/>
        </p:nvSpPr>
        <p:spPr>
          <a:xfrm>
            <a:off x="6092952" y="2682850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6"/>
          <p:cNvSpPr/>
          <p:nvPr/>
        </p:nvSpPr>
        <p:spPr>
          <a:xfrm>
            <a:off x="6092952" y="2756002"/>
            <a:ext cx="54864" cy="385877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7">
            <a:hlinkClick r:id="rId12" action="ppaction://hlinksldjump" tooltip="Les signaux d'alerte"/>
          </p:cNvPr>
          <p:cNvSpPr/>
          <p:nvPr/>
        </p:nvSpPr>
        <p:spPr>
          <a:xfrm>
            <a:off x="6202680" y="2682850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12" action="ppaction://hlinksldjump" tooltip="Les signaux d'aler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🚩</a:t>
            </a:r>
            <a:endParaRPr lang="en-US" sz="1400" dirty="0"/>
          </a:p>
        </p:txBody>
      </p:sp>
      <p:sp>
        <p:nvSpPr>
          <p:cNvPr id="41" name="Text 38">
            <a:hlinkClick r:id="rId12" action="ppaction://hlinksldjump" tooltip="Les signaux d'alerte"/>
          </p:cNvPr>
          <p:cNvSpPr/>
          <p:nvPr/>
        </p:nvSpPr>
        <p:spPr>
          <a:xfrm>
            <a:off x="6659880" y="2682850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12" action="ppaction://hlinksldjump" tooltip="Les signaux d'aler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 signaux d'alerte</a:t>
            </a:r>
            <a:endParaRPr lang="en-US" sz="1050" dirty="0"/>
          </a:p>
        </p:txBody>
      </p:sp>
      <p:sp>
        <p:nvSpPr>
          <p:cNvPr id="42" name="Shape 39">
            <a:hlinkClick r:id="rId13" action="ppaction://hlinksldjump" tooltip="Quiz interactif"/>
          </p:cNvPr>
          <p:cNvSpPr/>
          <p:nvPr/>
        </p:nvSpPr>
        <p:spPr>
          <a:xfrm>
            <a:off x="411480" y="3361334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0"/>
          <p:cNvSpPr/>
          <p:nvPr/>
        </p:nvSpPr>
        <p:spPr>
          <a:xfrm>
            <a:off x="411480" y="3434486"/>
            <a:ext cx="54864" cy="385877"/>
          </a:xfrm>
          <a:prstGeom prst="rect">
            <a:avLst/>
          </a:prstGeom>
          <a:solidFill>
            <a:srgbClr val="E97F1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1">
            <a:hlinkClick r:id="rId13" action="ppaction://hlinksldjump" tooltip="Quiz interactif"/>
          </p:cNvPr>
          <p:cNvSpPr/>
          <p:nvPr/>
        </p:nvSpPr>
        <p:spPr>
          <a:xfrm>
            <a:off x="521208" y="3361334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13" action="ppaction://hlinksldjump" tooltip="Quiz interacti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🎯</a:t>
            </a:r>
            <a:endParaRPr lang="en-US" sz="1400" dirty="0"/>
          </a:p>
        </p:txBody>
      </p:sp>
      <p:sp>
        <p:nvSpPr>
          <p:cNvPr id="45" name="Text 42">
            <a:hlinkClick r:id="rId13" action="ppaction://hlinksldjump" tooltip="Quiz interactif"/>
          </p:cNvPr>
          <p:cNvSpPr/>
          <p:nvPr/>
        </p:nvSpPr>
        <p:spPr>
          <a:xfrm>
            <a:off x="978408" y="3361334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13" action="ppaction://hlinksldjump" tooltip="Quiz interacti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Quiz interactif</a:t>
            </a:r>
            <a:endParaRPr lang="en-US" sz="1050" dirty="0"/>
          </a:p>
        </p:txBody>
      </p:sp>
      <p:sp>
        <p:nvSpPr>
          <p:cNvPr id="46" name="Shape 43">
            <a:hlinkClick r:id="rId14" action="ppaction://hlinksldjump" tooltip="Signaler &amp; se faire aider"/>
          </p:cNvPr>
          <p:cNvSpPr/>
          <p:nvPr/>
        </p:nvSpPr>
        <p:spPr>
          <a:xfrm>
            <a:off x="3252216" y="3361334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4"/>
          <p:cNvSpPr/>
          <p:nvPr/>
        </p:nvSpPr>
        <p:spPr>
          <a:xfrm>
            <a:off x="3252216" y="3434486"/>
            <a:ext cx="54864" cy="385877"/>
          </a:xfrm>
          <a:prstGeom prst="rect">
            <a:avLst/>
          </a:prstGeom>
          <a:solidFill>
            <a:srgbClr val="9A4B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5">
            <a:hlinkClick r:id="rId14" action="ppaction://hlinksldjump" tooltip="Signaler &amp; se faire aider"/>
          </p:cNvPr>
          <p:cNvSpPr/>
          <p:nvPr/>
        </p:nvSpPr>
        <p:spPr>
          <a:xfrm>
            <a:off x="3361944" y="3361334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14" action="ppaction://hlinksldjump" tooltip="Signaler &amp; se faire aid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📞</a:t>
            </a:r>
            <a:endParaRPr lang="en-US" sz="1400" dirty="0"/>
          </a:p>
        </p:txBody>
      </p:sp>
      <p:sp>
        <p:nvSpPr>
          <p:cNvPr id="49" name="Text 46">
            <a:hlinkClick r:id="rId14" action="ppaction://hlinksldjump" tooltip="Signaler &amp; se faire aider"/>
          </p:cNvPr>
          <p:cNvSpPr/>
          <p:nvPr/>
        </p:nvSpPr>
        <p:spPr>
          <a:xfrm>
            <a:off x="3819144" y="3361334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14" action="ppaction://hlinksldjump" tooltip="Signaler &amp; se faire aid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Signaler &amp; se faire aider</a:t>
            </a:r>
            <a:endParaRPr lang="en-US" sz="1050" dirty="0"/>
          </a:p>
        </p:txBody>
      </p:sp>
      <p:sp>
        <p:nvSpPr>
          <p:cNvPr id="50" name="Shape 47">
            <a:hlinkClick r:id="rId15" action="ppaction://hlinksldjump" tooltip="La charte familiale"/>
          </p:cNvPr>
          <p:cNvSpPr/>
          <p:nvPr/>
        </p:nvSpPr>
        <p:spPr>
          <a:xfrm>
            <a:off x="6092952" y="3361334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Shape 48"/>
          <p:cNvSpPr/>
          <p:nvPr/>
        </p:nvSpPr>
        <p:spPr>
          <a:xfrm>
            <a:off x="6092952" y="3434486"/>
            <a:ext cx="54864" cy="385877"/>
          </a:xfrm>
          <a:prstGeom prst="rect">
            <a:avLst/>
          </a:prstGeom>
          <a:solidFill>
            <a:srgbClr val="17A2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49">
            <a:hlinkClick r:id="rId15" action="ppaction://hlinksldjump" tooltip="La charte familiale"/>
          </p:cNvPr>
          <p:cNvSpPr/>
          <p:nvPr/>
        </p:nvSpPr>
        <p:spPr>
          <a:xfrm>
            <a:off x="6202680" y="3361334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15" action="ppaction://hlinksldjump" tooltip="La charte famili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📜</a:t>
            </a:r>
            <a:endParaRPr lang="en-US" sz="1400" dirty="0"/>
          </a:p>
        </p:txBody>
      </p:sp>
      <p:sp>
        <p:nvSpPr>
          <p:cNvPr id="53" name="Text 50">
            <a:hlinkClick r:id="rId15" action="ppaction://hlinksldjump" tooltip="La charte familiale"/>
          </p:cNvPr>
          <p:cNvSpPr/>
          <p:nvPr/>
        </p:nvSpPr>
        <p:spPr>
          <a:xfrm>
            <a:off x="6659880" y="3361334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15" action="ppaction://hlinksldjump" tooltip="La charte famili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 charte familiale</a:t>
            </a:r>
            <a:endParaRPr lang="en-US" sz="1050" dirty="0"/>
          </a:p>
        </p:txBody>
      </p:sp>
      <p:sp>
        <p:nvSpPr>
          <p:cNvPr id="54" name="Shape 51">
            <a:hlinkClick r:id="rId16" action="ppaction://hlinksldjump" tooltip="Parler avec son enfant"/>
          </p:cNvPr>
          <p:cNvSpPr/>
          <p:nvPr/>
        </p:nvSpPr>
        <p:spPr>
          <a:xfrm>
            <a:off x="411480" y="4039819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Shape 52"/>
          <p:cNvSpPr/>
          <p:nvPr/>
        </p:nvSpPr>
        <p:spPr>
          <a:xfrm>
            <a:off x="411480" y="4112971"/>
            <a:ext cx="54864" cy="385877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Text 53">
            <a:hlinkClick r:id="rId16" action="ppaction://hlinksldjump" tooltip="Parler avec son enfant"/>
          </p:cNvPr>
          <p:cNvSpPr/>
          <p:nvPr/>
        </p:nvSpPr>
        <p:spPr>
          <a:xfrm>
            <a:off x="521208" y="4039819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16" action="ppaction://hlinksldjump" tooltip="Parler avec son enf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💬</a:t>
            </a:r>
            <a:endParaRPr lang="en-US" sz="1400" dirty="0"/>
          </a:p>
        </p:txBody>
      </p:sp>
      <p:sp>
        <p:nvSpPr>
          <p:cNvPr id="57" name="Text 54">
            <a:hlinkClick r:id="rId16" action="ppaction://hlinksldjump" tooltip="Parler avec son enfant"/>
          </p:cNvPr>
          <p:cNvSpPr/>
          <p:nvPr/>
        </p:nvSpPr>
        <p:spPr>
          <a:xfrm>
            <a:off x="978408" y="4039819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16" action="ppaction://hlinksldjump" tooltip="Parler avec son enf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Parler avec son enfant</a:t>
            </a:r>
            <a:endParaRPr lang="en-US" sz="1050" dirty="0"/>
          </a:p>
        </p:txBody>
      </p:sp>
      <p:sp>
        <p:nvSpPr>
          <p:cNvPr id="58" name="Shape 55">
            <a:hlinkClick r:id="rId17" action="ppaction://hlinksldjump" tooltip="Mémo récapitulatif"/>
          </p:cNvPr>
          <p:cNvSpPr/>
          <p:nvPr/>
        </p:nvSpPr>
        <p:spPr>
          <a:xfrm>
            <a:off x="3252216" y="4039819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Shape 56"/>
          <p:cNvSpPr/>
          <p:nvPr/>
        </p:nvSpPr>
        <p:spPr>
          <a:xfrm>
            <a:off x="3252216" y="4112971"/>
            <a:ext cx="54864" cy="385877"/>
          </a:xfrm>
          <a:prstGeom prst="rect">
            <a:avLst/>
          </a:prstGeom>
          <a:solidFill>
            <a:srgbClr val="2E86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Text 57">
            <a:hlinkClick r:id="rId17" action="ppaction://hlinksldjump" tooltip="Mémo récapitulatif"/>
          </p:cNvPr>
          <p:cNvSpPr/>
          <p:nvPr/>
        </p:nvSpPr>
        <p:spPr>
          <a:xfrm>
            <a:off x="3361944" y="4039819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17" action="ppaction://hlinksldjump" tooltip="Mémo récapitulati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</a:t>
            </a:r>
            <a:endParaRPr lang="en-US" sz="1400" dirty="0"/>
          </a:p>
        </p:txBody>
      </p:sp>
      <p:sp>
        <p:nvSpPr>
          <p:cNvPr id="61" name="Text 58">
            <a:hlinkClick r:id="rId17" action="ppaction://hlinksldjump" tooltip="Mémo récapitulatif"/>
          </p:cNvPr>
          <p:cNvSpPr/>
          <p:nvPr/>
        </p:nvSpPr>
        <p:spPr>
          <a:xfrm>
            <a:off x="3819144" y="4039819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17" action="ppaction://hlinksldjump" tooltip="Mémo récapitulati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Mémo récapitulatif</a:t>
            </a:r>
            <a:endParaRPr lang="en-US" sz="1050" dirty="0"/>
          </a:p>
        </p:txBody>
      </p:sp>
      <p:sp>
        <p:nvSpPr>
          <p:cNvPr id="62" name="Shape 59">
            <a:hlinkClick r:id="rId18" action="ppaction://hlinksldjump" tooltip="Conclusion"/>
          </p:cNvPr>
          <p:cNvSpPr/>
          <p:nvPr/>
        </p:nvSpPr>
        <p:spPr>
          <a:xfrm>
            <a:off x="6092952" y="4039819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Shape 60"/>
          <p:cNvSpPr/>
          <p:nvPr/>
        </p:nvSpPr>
        <p:spPr>
          <a:xfrm>
            <a:off x="6092952" y="4112971"/>
            <a:ext cx="54864" cy="385877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Text 61">
            <a:hlinkClick r:id="rId18" action="ppaction://hlinksldjump" tooltip="Conclusion"/>
          </p:cNvPr>
          <p:cNvSpPr/>
          <p:nvPr/>
        </p:nvSpPr>
        <p:spPr>
          <a:xfrm>
            <a:off x="6202680" y="4039819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18" action="ppaction://hlinksldjump" tooltip="Conclu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🤝</a:t>
            </a:r>
            <a:endParaRPr lang="en-US" sz="1400" dirty="0"/>
          </a:p>
        </p:txBody>
      </p:sp>
      <p:sp>
        <p:nvSpPr>
          <p:cNvPr id="65" name="Text 62">
            <a:hlinkClick r:id="rId18" action="ppaction://hlinksldjump" tooltip="Conclusion"/>
          </p:cNvPr>
          <p:cNvSpPr/>
          <p:nvPr/>
        </p:nvSpPr>
        <p:spPr>
          <a:xfrm>
            <a:off x="6659880" y="4039819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18" action="ppaction://hlinksldjump" tooltip="Conclu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Conclusion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Text 64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68" name="Shape 65">
            <a:hlinkClick r:id="rId19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Text 66">
            <a:hlinkClick r:id="rId10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70" name="Shape 67">
            <a:hlinkClick r:id="rId4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Text 68">
            <a:hlinkClick r:id="rId18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▶</a:t>
            </a:r>
            <a:endParaRPr lang="en-US" sz="900" dirty="0"/>
          </a:p>
        </p:txBody>
      </p:sp>
      <p:sp>
        <p:nvSpPr>
          <p:cNvPr id="72" name="Shape 69">
            <a:hlinkClick r:id="rId20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Text 70">
            <a:hlinkClick r:id="rId20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33BDCE67-B4A7-8F25-3D1B-84AD4380F419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097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saviez-vous ?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7498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chiffres clés sur les enfants et Internet en France.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1965960" cy="246888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1965960" cy="64008"/>
          </a:xfrm>
          <a:prstGeom prst="rect">
            <a:avLst/>
          </a:prstGeom>
          <a:solidFill>
            <a:srgbClr val="E97F1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57200" y="161848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57200" y="213055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97F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73%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594360" y="29718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enfants de 10 ans ont déjà un smartphone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87752" y="1417320"/>
            <a:ext cx="1965960" cy="246888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2587752" y="1417320"/>
            <a:ext cx="1965960" cy="6400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2587752" y="161848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2587752" y="213055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sur 5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2724912" y="29718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enfants en ligne a été contacté par un inconnu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18304" y="1417320"/>
            <a:ext cx="1965960" cy="246888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4718304" y="1417320"/>
            <a:ext cx="1965960" cy="64008"/>
          </a:xfrm>
          <a:prstGeom prst="rect">
            <a:avLst/>
          </a:prstGeom>
          <a:solidFill>
            <a:srgbClr val="9A4B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4718304" y="161848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💢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4718304" y="213055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9A4B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4855464" y="29718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jeunes ont vécu du cyberharcèlement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848856" y="1417320"/>
            <a:ext cx="1965960" cy="246888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6848856" y="1417320"/>
            <a:ext cx="1965960" cy="64008"/>
          </a:xfrm>
          <a:prstGeom prst="rect">
            <a:avLst/>
          </a:prstGeom>
          <a:solidFill>
            <a:srgbClr val="2E86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6848856" y="161848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⏳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6848856" y="213055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E86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3h+</a:t>
            </a:r>
            <a:endParaRPr lang="en-US" sz="3800" dirty="0"/>
          </a:p>
        </p:txBody>
      </p:sp>
      <p:sp>
        <p:nvSpPr>
          <p:cNvPr id="25" name="Text 22"/>
          <p:cNvSpPr/>
          <p:nvPr/>
        </p:nvSpPr>
        <p:spPr>
          <a:xfrm>
            <a:off x="6986016" y="29718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jour en moyenne passées sur écrans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ARCOM · e-Enfance · CNIL · enquêtes 2024-2025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29" name="Shape 26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31" name="Shape 28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>
            <a:hlinkClick r:id="rId4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▶</a:t>
            </a:r>
            <a:endParaRPr lang="en-US" sz="900" dirty="0"/>
          </a:p>
        </p:txBody>
      </p:sp>
      <p:sp>
        <p:nvSpPr>
          <p:cNvPr id="33" name="Shape 30">
            <a:hlinkClick r:id="rId4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>
            <a:hlinkClick r:id="rId4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4B5CCCB2-6BC0-997B-21FF-D0D6D5909CE0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097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dangers d'Internet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7498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n'est pas l'ennemi — mais ces risques existent et se reconnaissent.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11480" y="1298448"/>
            <a:ext cx="2651760" cy="148132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11480" y="1298448"/>
            <a:ext cx="2651760" cy="6400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39496" y="1444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🕵️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24712" y="145389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Cyberprédateurs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76072" y="1956816"/>
            <a:ext cx="23225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adultes mal intentionnés cherchent le contact via les jeux, réseaux et messageries.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46120" y="1298448"/>
            <a:ext cx="2651760" cy="148132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3246120" y="1298448"/>
            <a:ext cx="2651760" cy="64008"/>
          </a:xfrm>
          <a:prstGeom prst="rect">
            <a:avLst/>
          </a:prstGeom>
          <a:solidFill>
            <a:srgbClr val="9A4B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3374136" y="1444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💢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959352" y="145389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A4B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Cyberharcèlement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410712" y="1956816"/>
            <a:ext cx="23225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Insultes, moqueries et menaces répétées en ligne, aux lourdes conséquences psychologiques.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80760" y="1298448"/>
            <a:ext cx="2651760" cy="148132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6080760" y="1298448"/>
            <a:ext cx="2651760" cy="64008"/>
          </a:xfrm>
          <a:prstGeom prst="rect">
            <a:avLst/>
          </a:prstGeom>
          <a:solidFill>
            <a:srgbClr val="E97F1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6208776" y="1444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🔞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793992" y="145389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7F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Contenus inappropriés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245352" y="1956816"/>
            <a:ext cx="23225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Violence, pornographie, haine ou dérives accessibles facilement, même sans les chercher.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11480" y="2980944"/>
            <a:ext cx="2651760" cy="148132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411480" y="2980944"/>
            <a:ext cx="2651760" cy="64008"/>
          </a:xfrm>
          <a:prstGeom prst="rect">
            <a:avLst/>
          </a:prstGeom>
          <a:solidFill>
            <a:srgbClr val="2E86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539496" y="31272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🎣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124712" y="3136392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6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Arnaques &amp; phishing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76072" y="3639312"/>
            <a:ext cx="23225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concours, liens piégés, demandes de données ciblant des enfants peu méfiants.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246120" y="2980944"/>
            <a:ext cx="2651760" cy="148132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4"/>
          <p:cNvSpPr/>
          <p:nvPr/>
        </p:nvSpPr>
        <p:spPr>
          <a:xfrm>
            <a:off x="3246120" y="2980944"/>
            <a:ext cx="2651760" cy="64008"/>
          </a:xfrm>
          <a:prstGeom prst="rect">
            <a:avLst/>
          </a:prstGeom>
          <a:solidFill>
            <a:srgbClr val="17A2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3374136" y="31272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3959352" y="3136392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A2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Addiction aux écrans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3410712" y="3639312"/>
            <a:ext cx="23225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excessif des réseaux, jeux et vidéos perturbant le sommeil et la vie sociale.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080760" y="2980944"/>
            <a:ext cx="2651760" cy="148132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29"/>
          <p:cNvSpPr/>
          <p:nvPr/>
        </p:nvSpPr>
        <p:spPr>
          <a:xfrm>
            <a:off x="6080760" y="2980944"/>
            <a:ext cx="2651760" cy="64008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6208776" y="31272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🪪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6793992" y="3136392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Usurpation d'identité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6245352" y="3639312"/>
            <a:ext cx="23225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et infos personnelles publiées puis exploitées à des fins malveillantes.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4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38" name="Shape 35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6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40" name="Shape 37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8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▶</a:t>
            </a:r>
            <a:endParaRPr lang="en-US" sz="900" dirty="0"/>
          </a:p>
        </p:txBody>
      </p:sp>
      <p:sp>
        <p:nvSpPr>
          <p:cNvPr id="42" name="Shape 39">
            <a:hlinkClick r:id="rId6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0">
            <a:hlinkClick r:id="rId6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57AF3F0E-C597-FB6B-DFE1-D4607E896338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097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Où les enfants sont-ils exposés ?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7498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risques n'arrivent pas que « sur Internet » en général — voici les principaux canaux.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2011680" cy="214884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2011680" cy="6400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85216" y="15636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70432" y="1572768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Jeux en ligne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21792" y="2075688"/>
            <a:ext cx="1682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 intégrés (Roblox, Fortnite, Minecraft) où des inconnus engagent la conversation.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2633472" y="1417320"/>
            <a:ext cx="2011680" cy="214884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2633472" y="1417320"/>
            <a:ext cx="2011680" cy="64008"/>
          </a:xfrm>
          <a:prstGeom prst="rect">
            <a:avLst/>
          </a:prstGeom>
          <a:solidFill>
            <a:srgbClr val="2E86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2761488" y="15636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346704" y="1572768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6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Réseaux sociaux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798064" y="2075688"/>
            <a:ext cx="1682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TikTok, Snapchat, Instagram : contacts, comparaison, harcèlement, contenus non filtrés.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4809744" y="1417320"/>
            <a:ext cx="2011680" cy="214884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4809744" y="1417320"/>
            <a:ext cx="2011680" cy="64008"/>
          </a:xfrm>
          <a:prstGeom prst="rect">
            <a:avLst/>
          </a:prstGeom>
          <a:solidFill>
            <a:srgbClr val="9A4B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4937760" y="15636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522976" y="1572768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A4B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Messageries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974336" y="2075688"/>
            <a:ext cx="1682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Discord, DM privés : là où la conversation quitte l'espace visible.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6986016" y="1417320"/>
            <a:ext cx="2011680" cy="214884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6986016" y="1417320"/>
            <a:ext cx="2011680" cy="64008"/>
          </a:xfrm>
          <a:prstGeom prst="rect">
            <a:avLst/>
          </a:prstGeom>
          <a:solidFill>
            <a:srgbClr val="E97F1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7114032" y="15636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▶️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699248" y="1572768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7F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Vidéos &amp; streaming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150608" y="2075688"/>
            <a:ext cx="1682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YouTube, lives : suggestions imprévisibles et contenus inadaptés à l'âge.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457200" y="3822192"/>
            <a:ext cx="8229600" cy="640080"/>
          </a:xfrm>
          <a:prstGeom prst="rect">
            <a:avLst/>
          </a:prstGeom>
          <a:solidFill>
            <a:srgbClr val="1723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4"/>
          <p:cNvSpPr/>
          <p:nvPr/>
        </p:nvSpPr>
        <p:spPr>
          <a:xfrm>
            <a:off x="457200" y="3822192"/>
            <a:ext cx="73152" cy="640080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685800" y="382219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Le point commun : </a:t>
            </a:r>
            <a:r>
              <a:rPr lang="en-US" sz="12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risque grandit quand l'échange devient privé et invisible. Gardez les écrans dans les espaces communs.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31" name="Shape 28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33" name="Shape 30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▶</a:t>
            </a:r>
            <a:endParaRPr lang="en-US" sz="900" dirty="0"/>
          </a:p>
        </p:txBody>
      </p:sp>
      <p:sp>
        <p:nvSpPr>
          <p:cNvPr id="35" name="Shape 32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3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3AE48AD2-7617-8845-9EEA-D028D8780C89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097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À risque vs sans danger — savoir faire la différence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11480" y="1143000"/>
            <a:ext cx="2679192" cy="274320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411480" y="1143000"/>
            <a:ext cx="2679192" cy="64008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576072" y="1344168"/>
            <a:ext cx="2350008" cy="384048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76072" y="1344168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SANS DANGER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801368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Vidéos dans le salon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2221992"/>
            <a:ext cx="23134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Appli/profil enfant activé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Écran dans un espace commun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Temps d'écran défini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Aucun inconnu ne le contacte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73552" y="1143000"/>
            <a:ext cx="2679192" cy="274320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3273552" y="1143000"/>
            <a:ext cx="2679192" cy="6400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3438144" y="1344168"/>
            <a:ext cx="2350008" cy="3840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3438144" y="1344168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⛔ À RISQUE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456432" y="1801368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Inconnu dans un jeu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56432" y="2221992"/>
            <a:ext cx="23134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« On continue en privé ? »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Demande une photo / l'adresse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« N'en parle pas à tes parents »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Promet des cadeaux dans le jeu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35624" y="1143000"/>
            <a:ext cx="2679192" cy="274320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6135624" y="1143000"/>
            <a:ext cx="2679192" cy="6400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6300216" y="1344168"/>
            <a:ext cx="2350008" cy="3840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6300216" y="1344168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⛔ À RISQUE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18504" y="1801368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Faux cadeau / concours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18504" y="2221992"/>
            <a:ext cx="23134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« Tu as gagné un téléphone ! »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Demande la carte bancaire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« Clique vite, offre limitée »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Urgence pour empêcher de réfléchir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11480" y="4041648"/>
            <a:ext cx="8321040" cy="548640"/>
          </a:xfrm>
          <a:prstGeom prst="rect">
            <a:avLst/>
          </a:prstGeom>
          <a:solidFill>
            <a:srgbClr val="1723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640080" y="40416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A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d'or : </a:t>
            </a:r>
            <a:r>
              <a:rPr lang="en-US" sz="12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situation saine reste visible et partagée. Dès qu'on demande le secret, une photo ou de l'argent → on en parle.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27" name="Shape 24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29" name="Shape 26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▶</a:t>
            </a:r>
            <a:endParaRPr lang="en-US" sz="900" dirty="0"/>
          </a:p>
        </p:txBody>
      </p:sp>
      <p:sp>
        <p:nvSpPr>
          <p:cNvPr id="31" name="Shape 28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ADD3E85C-7D63-D255-1635-040AC63074FC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Situation 01 — Un inconnu dans un jeu en ligne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411480" y="868680"/>
            <a:ext cx="5120640" cy="3246120"/>
          </a:xfrm>
          <a:prstGeom prst="rect">
            <a:avLst/>
          </a:prstGeom>
          <a:solidFill>
            <a:srgbClr val="141B2B"/>
          </a:solidFill>
          <a:ln w="12700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411480" y="868680"/>
            <a:ext cx="5120640" cy="365760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48640" y="868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Tchat du jeu — joueur inconnu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6072" y="1325880"/>
            <a:ext cx="4791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: Inconnu (rencontré dans la partie)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6072" y="1709928"/>
            <a:ext cx="4791456" cy="0"/>
          </a:xfrm>
          <a:prstGeom prst="line">
            <a:avLst/>
          </a:prstGeom>
          <a:noFill/>
          <a:ln w="12700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76072" y="1801368"/>
            <a:ext cx="47914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Salut ! Tu joues trop bien. On continue en privé sur Discord ? Envoie-moi une photo de toi et ton adresse, je t'enverrai des cadeaux dans le jeu. Surtout n'en parle pas à tes parents, c'est notre secret. »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76072" y="3611880"/>
            <a:ext cx="4791456" cy="365760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76072" y="3611880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⛔  GROOMING — DANGER, ne jamais répondre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15000" y="868680"/>
            <a:ext cx="3017520" cy="324612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5715000" y="868680"/>
            <a:ext cx="3017520" cy="420624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824728" y="868680"/>
            <a:ext cx="2798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Indices à repérer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788152" y="1289304"/>
            <a:ext cx="5029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💬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281928" y="1289304"/>
            <a:ext cx="2340864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Veut basculer en privé, hors du jeu (Discord)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5824728" y="1995678"/>
            <a:ext cx="2798064" cy="0"/>
          </a:xfrm>
          <a:prstGeom prst="line">
            <a:avLst/>
          </a:prstGeom>
          <a:noFill/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5788152" y="1995678"/>
            <a:ext cx="5029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📷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281928" y="1995678"/>
            <a:ext cx="2340864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une photo et l'adresse de l'enfant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5824728" y="2702052"/>
            <a:ext cx="2798064" cy="0"/>
          </a:xfrm>
          <a:prstGeom prst="line">
            <a:avLst/>
          </a:prstGeom>
          <a:noFill/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5788152" y="2702052"/>
            <a:ext cx="5029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🤫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281928" y="2702052"/>
            <a:ext cx="2340864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N'en parle pas à tes parents » = secret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5824728" y="3408426"/>
            <a:ext cx="2798064" cy="0"/>
          </a:xfrm>
          <a:prstGeom prst="line">
            <a:avLst/>
          </a:prstGeom>
          <a:noFill/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5788152" y="3408426"/>
            <a:ext cx="5029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🎁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281928" y="3408426"/>
            <a:ext cx="2340864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 des cadeaux pour gagner la confiance</a:t>
            </a:r>
            <a:endParaRPr lang="en-US" sz="930" dirty="0"/>
          </a:p>
        </p:txBody>
      </p:sp>
      <p:sp>
        <p:nvSpPr>
          <p:cNvPr id="27" name="Shape 24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29" name="Shape 26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31" name="Shape 28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▶</a:t>
            </a:r>
            <a:endParaRPr lang="en-US" sz="900" dirty="0"/>
          </a:p>
        </p:txBody>
      </p:sp>
      <p:sp>
        <p:nvSpPr>
          <p:cNvPr id="33" name="Shape 30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7792F425-6320-76E4-C8B3-BBAE4225535E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Situation 02 — Le cyberharcèlement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411480" y="868680"/>
            <a:ext cx="5120640" cy="3246120"/>
          </a:xfrm>
          <a:prstGeom prst="rect">
            <a:avLst/>
          </a:prstGeom>
          <a:solidFill>
            <a:srgbClr val="141B2B"/>
          </a:solidFill>
          <a:ln w="12700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411480" y="868680"/>
            <a:ext cx="5120640" cy="365760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48640" y="868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social — messages reçus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6072" y="1325880"/>
            <a:ext cx="4791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: un camarade de classe (chaque soir)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6072" y="1709928"/>
            <a:ext cx="4791456" cy="0"/>
          </a:xfrm>
          <a:prstGeom prst="line">
            <a:avLst/>
          </a:prstGeom>
          <a:noFill/>
          <a:ln w="12700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76072" y="1801368"/>
            <a:ext cx="47914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T'es nul, personne ne t'aime, retourne te cacher. »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Insultes et moqueries répétées chaque soir. L'enfant devient triste, dort mal et ne veut plus aller à l'école.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76072" y="3611880"/>
            <a:ext cx="4791456" cy="365760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76072" y="3611880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⛔  CYBERHARCÈLEMENT — conserver les preuves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15000" y="868680"/>
            <a:ext cx="3017520" cy="324612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5715000" y="868680"/>
            <a:ext cx="3017520" cy="420624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824728" y="868680"/>
            <a:ext cx="2798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Indices à repérer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788152" y="1289304"/>
            <a:ext cx="5029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🔁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281928" y="1289304"/>
            <a:ext cx="2340864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répétés, blessants ou menaçants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5824728" y="1995678"/>
            <a:ext cx="2798064" cy="0"/>
          </a:xfrm>
          <a:prstGeom prst="line">
            <a:avLst/>
          </a:prstGeom>
          <a:noFill/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5788152" y="1995678"/>
            <a:ext cx="5029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😞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281928" y="1995678"/>
            <a:ext cx="2340864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d'humeur, repli, refus de l'école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5824728" y="2702052"/>
            <a:ext cx="2798064" cy="0"/>
          </a:xfrm>
          <a:prstGeom prst="line">
            <a:avLst/>
          </a:prstGeom>
          <a:noFill/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5788152" y="2702052"/>
            <a:ext cx="5029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📸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281928" y="2702052"/>
            <a:ext cx="2340864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Conserver les preuves (captures d'écran)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5824728" y="3408426"/>
            <a:ext cx="2798064" cy="0"/>
          </a:xfrm>
          <a:prstGeom prst="line">
            <a:avLst/>
          </a:prstGeom>
          <a:noFill/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5788152" y="3408426"/>
            <a:ext cx="5029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📞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281928" y="3408426"/>
            <a:ext cx="2340864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parler : 3018, et l'établissement scolaire</a:t>
            </a:r>
            <a:endParaRPr lang="en-US" sz="930" dirty="0"/>
          </a:p>
        </p:txBody>
      </p:sp>
      <p:sp>
        <p:nvSpPr>
          <p:cNvPr id="27" name="Shape 24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29" name="Shape 26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31" name="Shape 28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▶</a:t>
            </a:r>
            <a:endParaRPr lang="en-US" sz="900" dirty="0"/>
          </a:p>
        </p:txBody>
      </p:sp>
      <p:sp>
        <p:nvSpPr>
          <p:cNvPr id="33" name="Shape 30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9697B487-A53D-E02B-DFCB-DF256D9DF99C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Situation 03 — Faux cadeau / concours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411480" y="868680"/>
            <a:ext cx="5120640" cy="3246120"/>
          </a:xfrm>
          <a:prstGeom prst="rect">
            <a:avLst/>
          </a:prstGeom>
          <a:solidFill>
            <a:srgbClr val="141B2B"/>
          </a:solidFill>
          <a:ln w="12700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411480" y="868680"/>
            <a:ext cx="5120640" cy="365760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48640" y="868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 surgissante pendant le jeu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6072" y="1325880"/>
            <a:ext cx="4791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: pop-up « Félicitations ! »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6072" y="1709928"/>
            <a:ext cx="4791456" cy="0"/>
          </a:xfrm>
          <a:prstGeom prst="line">
            <a:avLst/>
          </a:prstGeom>
          <a:noFill/>
          <a:ln w="12700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76072" y="1801368"/>
            <a:ext cx="47914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BRAVO ! Tu es le 1000e visiteur, tu as gagné un téléphone et 1000 V-Bucks ! Clique ici et entre vite l'adresse et la carte bancaire de tes parents pour recevoir ton cadeau. »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76072" y="3611880"/>
            <a:ext cx="4791456" cy="365760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76072" y="3611880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⛔  ARNAQUE — ne jamais cliquer ni saisir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15000" y="868680"/>
            <a:ext cx="3017520" cy="324612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5715000" y="868680"/>
            <a:ext cx="3017520" cy="420624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824728" y="868680"/>
            <a:ext cx="2798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Indices à repérer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788152" y="1289304"/>
            <a:ext cx="5029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🎁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281928" y="1289304"/>
            <a:ext cx="2340864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 un gain énorme pour attirer le clic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5824728" y="1995678"/>
            <a:ext cx="2798064" cy="0"/>
          </a:xfrm>
          <a:prstGeom prst="line">
            <a:avLst/>
          </a:prstGeom>
          <a:noFill/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5788152" y="1995678"/>
            <a:ext cx="5029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💳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281928" y="1995678"/>
            <a:ext cx="2340864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Réclame des données bancaires / personnelles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5824728" y="2702052"/>
            <a:ext cx="2798064" cy="0"/>
          </a:xfrm>
          <a:prstGeom prst="line">
            <a:avLst/>
          </a:prstGeom>
          <a:noFill/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5788152" y="2702052"/>
            <a:ext cx="5029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⏱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281928" y="2702052"/>
            <a:ext cx="2340864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 : « clique vite » pour court-circuiter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5824728" y="3408426"/>
            <a:ext cx="2798064" cy="0"/>
          </a:xfrm>
          <a:prstGeom prst="line">
            <a:avLst/>
          </a:prstGeom>
          <a:noFill/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5788152" y="3408426"/>
            <a:ext cx="5029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🚫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281928" y="3408426"/>
            <a:ext cx="2340864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vrai cadeau n'exige jamais la carte bancaire</a:t>
            </a:r>
            <a:endParaRPr lang="en-US" sz="930" dirty="0"/>
          </a:p>
        </p:txBody>
      </p:sp>
      <p:sp>
        <p:nvSpPr>
          <p:cNvPr id="27" name="Shape 24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29" name="Shape 26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31" name="Shape 28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▶</a:t>
            </a:r>
            <a:endParaRPr lang="en-US" sz="900" dirty="0"/>
          </a:p>
        </p:txBody>
      </p:sp>
      <p:sp>
        <p:nvSpPr>
          <p:cNvPr id="33" name="Shape 30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4E315EFF-8DA5-B7C6-10F8-37B8A4951114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097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contrôle parental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7498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outil, pas un mur : il accompagne, il ne remplace pas le dialogue.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11480" y="1325880"/>
            <a:ext cx="4069080" cy="324612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11480" y="1325880"/>
            <a:ext cx="4069080" cy="420624"/>
          </a:xfrm>
          <a:prstGeom prst="rect">
            <a:avLst/>
          </a:prstGeom>
          <a:solidFill>
            <a:srgbClr val="2E86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48640" y="1325880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  Outils recommandés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746504"/>
            <a:ext cx="274320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86C4"/>
                </a:solidFill>
              </a:rPr>
              <a:t>•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5528" y="1746504"/>
            <a:ext cx="3566160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Family Link  </a:t>
            </a:r>
            <a:r>
              <a:rPr lang="en-US" sz="100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Apps, temps d'écran et localisation (Android)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311603"/>
            <a:ext cx="3794760" cy="0"/>
          </a:xfrm>
          <a:prstGeom prst="line">
            <a:avLst/>
          </a:prstGeom>
          <a:noFill/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02920" y="2311603"/>
            <a:ext cx="274320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86C4"/>
                </a:solidFill>
              </a:rPr>
              <a:t>•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95528" y="2311603"/>
            <a:ext cx="3566160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d'écran (Apple)  </a:t>
            </a:r>
            <a:r>
              <a:rPr lang="en-US" sz="100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Limiter apps et sites sur iPhone / iPad / Mac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2876702"/>
            <a:ext cx="3794760" cy="0"/>
          </a:xfrm>
          <a:prstGeom prst="line">
            <a:avLst/>
          </a:prstGeom>
          <a:noFill/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02920" y="2876702"/>
            <a:ext cx="274320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86C4"/>
                </a:solidFill>
              </a:rPr>
              <a:t>•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95528" y="2876702"/>
            <a:ext cx="3566160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Family Safety  </a:t>
            </a:r>
            <a:r>
              <a:rPr lang="en-US" sz="100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Contrôle complet sur Windows et Xbox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3441802"/>
            <a:ext cx="3794760" cy="0"/>
          </a:xfrm>
          <a:prstGeom prst="line">
            <a:avLst/>
          </a:prstGeom>
          <a:noFill/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502920" y="3441802"/>
            <a:ext cx="274320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86C4"/>
                </a:solidFill>
              </a:rPr>
              <a:t>•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95528" y="3441802"/>
            <a:ext cx="3566160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Qustodio / Net Nanny  </a:t>
            </a:r>
            <a:r>
              <a:rPr lang="en-US" sz="100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Solutions multi-plateformes avec rapports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4006901"/>
            <a:ext cx="3794760" cy="0"/>
          </a:xfrm>
          <a:prstGeom prst="line">
            <a:avLst/>
          </a:prstGeom>
          <a:noFill/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502920" y="4006901"/>
            <a:ext cx="274320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86C4"/>
                </a:solidFill>
              </a:rPr>
              <a:t>•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95528" y="4006901"/>
            <a:ext cx="3566160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de la box  </a:t>
            </a:r>
            <a:r>
              <a:rPr lang="en-US" sz="100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Bloquer des catégories de sites sur le routeur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663440" y="1325880"/>
            <a:ext cx="4069080" cy="324612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4663440" y="1325880"/>
            <a:ext cx="4069080" cy="420624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4800600" y="1325880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Bonnes pratiques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892040" y="1892808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Installez-le dès le 1er appareil</a:t>
            </a:r>
            <a:endParaRPr lang="en-US" sz="11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Expliquez à l'enfant POURQUOI ces règles</a:t>
            </a:r>
            <a:endParaRPr lang="en-US" sz="11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Placez les écrans dans les espaces communs</a:t>
            </a:r>
            <a:endParaRPr lang="en-US" sz="11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bloquez pas sans discussion — dialoguez</a:t>
            </a:r>
            <a:endParaRPr lang="en-US" sz="11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Révisez les paramètres régulièrement</a:t>
            </a:r>
            <a:endParaRPr lang="en-US" sz="11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Vérifiez la confidentialité des réseaux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29" name="Shape 26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31" name="Shape 28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▶</a:t>
            </a:r>
            <a:endParaRPr lang="en-US" sz="900" dirty="0"/>
          </a:p>
        </p:txBody>
      </p:sp>
      <p:sp>
        <p:nvSpPr>
          <p:cNvPr id="33" name="Shape 30">
            <a:hlinkClick r:id="rId6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>
            <a:hlinkClick r:id="rId6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6986E501-5765-061E-A617-E16D3B167E64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097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signaux d'alerte à surveiller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7498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signe isolé ne prouve un problème — c'est l'accumulation qui doit alerter.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11480" y="1298448"/>
            <a:ext cx="2651760" cy="129844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11480" y="1298448"/>
            <a:ext cx="2651760" cy="6400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39496" y="1444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🙈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24712" y="145389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Cache son écran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6072" y="1956816"/>
            <a:ext cx="2322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ou masque l'écran dès qu'un adulte s'approche.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3246120" y="1298448"/>
            <a:ext cx="2651760" cy="129844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3246120" y="1298448"/>
            <a:ext cx="2651760" cy="64008"/>
          </a:xfrm>
          <a:prstGeom prst="rect">
            <a:avLst/>
          </a:prstGeom>
          <a:solidFill>
            <a:srgbClr val="9A4B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3374136" y="1444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🚪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959352" y="145389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4B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S'isole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10712" y="1956816"/>
            <a:ext cx="2322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replie, s'éloigne de sa famille et de ses amis habituels.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6080760" y="1298448"/>
            <a:ext cx="2651760" cy="129844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6080760" y="1298448"/>
            <a:ext cx="2651760" cy="64008"/>
          </a:xfrm>
          <a:prstGeom prst="rect">
            <a:avLst/>
          </a:prstGeom>
          <a:solidFill>
            <a:srgbClr val="E97F1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6208776" y="1444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😟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793992" y="145389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F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Humeur qui change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45352" y="1956816"/>
            <a:ext cx="2322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Nerveux, triste ou agité après avoir été en ligne.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411480" y="2779776"/>
            <a:ext cx="2651760" cy="129844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411480" y="2779776"/>
            <a:ext cx="2651760" cy="64008"/>
          </a:xfrm>
          <a:prstGeom prst="rect">
            <a:avLst/>
          </a:prstGeom>
          <a:solidFill>
            <a:srgbClr val="2E86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539496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🎁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124712" y="2935224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Messages d'inconnus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76072" y="3438144"/>
            <a:ext cx="2322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 des messages, photos ou cadeaux de personnes inconnues.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3246120" y="2779776"/>
            <a:ext cx="2651760" cy="129844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4"/>
          <p:cNvSpPr/>
          <p:nvPr/>
        </p:nvSpPr>
        <p:spPr>
          <a:xfrm>
            <a:off x="3246120" y="2779776"/>
            <a:ext cx="2651760" cy="64008"/>
          </a:xfrm>
          <a:prstGeom prst="rect">
            <a:avLst/>
          </a:prstGeom>
          <a:solidFill>
            <a:srgbClr val="17A2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3374136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🌙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3959352" y="2935224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2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 lève la nuit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410712" y="3438144"/>
            <a:ext cx="2322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 les appareils en cachette, son humeur dépend de l'accès.</a:t>
            </a:r>
            <a:endParaRPr lang="en-US" sz="930" dirty="0"/>
          </a:p>
        </p:txBody>
      </p:sp>
      <p:sp>
        <p:nvSpPr>
          <p:cNvPr id="31" name="Shape 28"/>
          <p:cNvSpPr/>
          <p:nvPr/>
        </p:nvSpPr>
        <p:spPr>
          <a:xfrm>
            <a:off x="6080760" y="2779776"/>
            <a:ext cx="2651760" cy="129844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29"/>
          <p:cNvSpPr/>
          <p:nvPr/>
        </p:nvSpPr>
        <p:spPr>
          <a:xfrm>
            <a:off x="6080760" y="2779776"/>
            <a:ext cx="2651760" cy="64008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6208776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🧑‍💻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6793992" y="2935224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« Ami » en ligne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245352" y="3438144"/>
            <a:ext cx="2322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 d'un(e) ami(e) rencontré(e) uniquement sur Internet.</a:t>
            </a:r>
            <a:endParaRPr lang="en-US" sz="930" dirty="0"/>
          </a:p>
        </p:txBody>
      </p:sp>
      <p:sp>
        <p:nvSpPr>
          <p:cNvPr id="36" name="Shape 33"/>
          <p:cNvSpPr/>
          <p:nvPr/>
        </p:nvSpPr>
        <p:spPr>
          <a:xfrm>
            <a:off x="411480" y="4114800"/>
            <a:ext cx="8321040" cy="457200"/>
          </a:xfrm>
          <a:prstGeom prst="rect">
            <a:avLst/>
          </a:prstGeom>
          <a:solidFill>
            <a:srgbClr val="1723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4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En cas de doute : </a:t>
            </a:r>
            <a:r>
              <a:rPr lang="en-US" sz="12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parlez-en sans attendre à votre enfant — sans colère, avec bienveillance.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6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40" name="Shape 37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8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42" name="Shape 39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0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▶</a:t>
            </a:r>
            <a:endParaRPr lang="en-US" sz="900" dirty="0"/>
          </a:p>
        </p:txBody>
      </p:sp>
      <p:sp>
        <p:nvSpPr>
          <p:cNvPr id="44" name="Shape 41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2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D46B519C-B26E-631D-EC3C-15BB32CF168F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3504" y="1097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7F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1 / 5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926080" y="10972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À risque ou sans danger ?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11480" y="777240"/>
            <a:ext cx="8321040" cy="1783080"/>
          </a:xfrm>
          <a:prstGeom prst="rect">
            <a:avLst/>
          </a:prstGeom>
          <a:solidFill>
            <a:srgbClr val="141B2B"/>
          </a:solidFill>
          <a:ln w="12700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11480" y="777240"/>
            <a:ext cx="8321040" cy="365760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76072" y="777240"/>
            <a:ext cx="7991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Téléphone de l'enfant — SMS reçu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19786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: </a:t>
            </a:r>
            <a:r>
              <a:rPr lang="en-US" sz="11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enfant reçoit ce SMS sur son téléphone.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1527048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TikTok : ton compte va être supprimé dans 24h ! Confirme vite ton mot de passe ici : tiktok-verif-compte.net »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1480" y="269748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0F1626"/>
          </a:solidFill>
          <a:ln w="19050">
            <a:solidFill>
              <a:srgbClr val="D841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1148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⛔  À RISQUE — C'est dangereux !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257800" y="269748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0F1626"/>
          </a:solidFill>
          <a:ln w="19050">
            <a:solidFill>
              <a:srgbClr val="26AF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25780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SANS DANGER — C'est OK !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977640" y="27660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2A2410"/>
          </a:solidFill>
          <a:ln w="12700">
            <a:solidFill>
              <a:srgbClr val="E8B6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3977640" y="27660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Indice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" y="3337560"/>
            <a:ext cx="8321040" cy="1298448"/>
          </a:xfrm>
          <a:prstGeom prst="rect">
            <a:avLst/>
          </a:prstGeom>
          <a:solidFill>
            <a:srgbClr val="141B2B"/>
          </a:solidFill>
          <a:ln w="15875">
            <a:solidFill>
              <a:srgbClr val="D841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566928" y="3392424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Réponse : À RISQUE — </a:t>
            </a: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phishing imitant un réseau social.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66928" y="3758184"/>
            <a:ext cx="801014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Domaine inventé (.net) — ce n'est pas le vrai site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Urgence artificielle (24h) pour empêcher de réfléchir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Aucun réseau ne demande le mot de passe par SMS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Réflexe : ne pas cliquer, en parler à un adulte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22" name="Shape 19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24" name="Shape 21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▶</a:t>
            </a:r>
            <a:endParaRPr lang="en-US" sz="900" dirty="0"/>
          </a:p>
        </p:txBody>
      </p:sp>
      <p:sp>
        <p:nvSpPr>
          <p:cNvPr id="26" name="Shape 23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1C58D43A-C665-6FE0-6AF1-C71DC72797AC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3504" y="1097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7F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2 / 5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926080" y="10972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À risque ou sans danger ?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11480" y="777240"/>
            <a:ext cx="8321040" cy="1783080"/>
          </a:xfrm>
          <a:prstGeom prst="rect">
            <a:avLst/>
          </a:prstGeom>
          <a:solidFill>
            <a:srgbClr val="141B2B"/>
          </a:solidFill>
          <a:ln w="12700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11480" y="777240"/>
            <a:ext cx="8321040" cy="365760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76072" y="777240"/>
            <a:ext cx="7991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Tablette — appli vidéos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19786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: </a:t>
            </a:r>
            <a:r>
              <a:rPr lang="en-US" sz="11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enfant (8 ans) regarde des vidéos dans le salon.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1527048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enfant activé, contrôle parental en place, 30 minutes définies à l'avance — et il vous montre ce qu'il regarde.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1480" y="269748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0F1626"/>
          </a:solidFill>
          <a:ln w="19050">
            <a:solidFill>
              <a:srgbClr val="D841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1148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⛔  À RISQUE — C'est dangereux !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257800" y="269748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0F1626"/>
          </a:solidFill>
          <a:ln w="19050">
            <a:solidFill>
              <a:srgbClr val="26AF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25780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SANS DANGER — C'est OK !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977640" y="27660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2A2410"/>
          </a:solidFill>
          <a:ln w="12700">
            <a:solidFill>
              <a:srgbClr val="E8B6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3977640" y="27660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Indice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" y="3337560"/>
            <a:ext cx="8321040" cy="1298448"/>
          </a:xfrm>
          <a:prstGeom prst="rect">
            <a:avLst/>
          </a:prstGeom>
          <a:solidFill>
            <a:srgbClr val="141B2B"/>
          </a:solidFill>
          <a:ln w="15875">
            <a:solidFill>
              <a:srgbClr val="26AF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566928" y="3392424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Réponse : SANS DANGER — </a:t>
            </a: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usage sain et encadré.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66928" y="3758184"/>
            <a:ext cx="801014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Application adaptée à son âge (profil enfant)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Écran dans un espace commun, à votre vue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Temps d'écran défini à l'avance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Aucun inconnu n'entre en contact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22" name="Shape 19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24" name="Shape 21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▶</a:t>
            </a:r>
            <a:endParaRPr lang="en-US" sz="900" dirty="0"/>
          </a:p>
        </p:txBody>
      </p:sp>
      <p:sp>
        <p:nvSpPr>
          <p:cNvPr id="26" name="Shape 23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DBCF8A49-F957-0513-E5EA-8FE27C93E1B8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3504" y="1097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7F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3 / 5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926080" y="10972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À risque ou sans danger ?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11480" y="777240"/>
            <a:ext cx="8321040" cy="1783080"/>
          </a:xfrm>
          <a:prstGeom prst="rect">
            <a:avLst/>
          </a:prstGeom>
          <a:solidFill>
            <a:srgbClr val="141B2B"/>
          </a:solidFill>
          <a:ln w="12700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11480" y="777240"/>
            <a:ext cx="8321040" cy="365760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76072" y="777240"/>
            <a:ext cx="7991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en ligne — message privé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19786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: </a:t>
            </a:r>
            <a:r>
              <a:rPr lang="en-US" sz="11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« ami » rencontré dans un jeu écrit à votre enfant.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1527048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On se parle en privé ? Envoie une photo de toi, je t'enverrai des skins gratuits. Surtout n'en parle pas à tes parents. »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1480" y="269748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0F1626"/>
          </a:solidFill>
          <a:ln w="19050">
            <a:solidFill>
              <a:srgbClr val="D841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1148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⛔  À RISQUE — C'est dangereux !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257800" y="269748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0F1626"/>
          </a:solidFill>
          <a:ln w="19050">
            <a:solidFill>
              <a:srgbClr val="26AF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25780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SANS DANGER — C'est OK !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977640" y="27660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2A2410"/>
          </a:solidFill>
          <a:ln w="12700">
            <a:solidFill>
              <a:srgbClr val="E8B6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3977640" y="27660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Indice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" y="3337560"/>
            <a:ext cx="8321040" cy="1298448"/>
          </a:xfrm>
          <a:prstGeom prst="rect">
            <a:avLst/>
          </a:prstGeom>
          <a:solidFill>
            <a:srgbClr val="141B2B"/>
          </a:solidFill>
          <a:ln w="15875">
            <a:solidFill>
              <a:srgbClr val="D841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566928" y="3392424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Réponse : À RISQUE — </a:t>
            </a: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tentative de grooming par un inconnu.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66928" y="3758184"/>
            <a:ext cx="801014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Veut un échange privé, hors du jeu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Demande une photo de l'enfant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Exige le secret vis-à-vis des parents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Promet des cadeaux pour gagner la confiance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22" name="Shape 19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24" name="Shape 21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▶</a:t>
            </a:r>
            <a:endParaRPr lang="en-US" sz="900" dirty="0"/>
          </a:p>
        </p:txBody>
      </p:sp>
      <p:sp>
        <p:nvSpPr>
          <p:cNvPr id="26" name="Shape 23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F63D977-320F-CF37-98D6-F484BCD70916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3504" y="1097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7F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4 / 5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926080" y="10972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À risque ou sans danger ?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11480" y="777240"/>
            <a:ext cx="8321040" cy="1783080"/>
          </a:xfrm>
          <a:prstGeom prst="rect">
            <a:avLst/>
          </a:prstGeom>
          <a:solidFill>
            <a:srgbClr val="141B2B"/>
          </a:solidFill>
          <a:ln w="12700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11480" y="777240"/>
            <a:ext cx="8321040" cy="365760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76072" y="777240"/>
            <a:ext cx="7991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Ordinateur — recherche scolaire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19786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: </a:t>
            </a:r>
            <a:r>
              <a:rPr lang="en-US" sz="11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enfant prépare un exposé sur les volcans.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1527048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fait sa recherche sur un moteur pour enfants (Qwant Junior), le contrôle parental est activé, et il vient vous montrer ce qu'il a trouvé.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1480" y="269748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0F1626"/>
          </a:solidFill>
          <a:ln w="19050">
            <a:solidFill>
              <a:srgbClr val="D841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1148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⛔  À RISQUE — C'est dangereux !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257800" y="269748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0F1626"/>
          </a:solidFill>
          <a:ln w="19050">
            <a:solidFill>
              <a:srgbClr val="26AF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25780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SANS DANGER — C'est OK !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977640" y="27660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2A2410"/>
          </a:solidFill>
          <a:ln w="12700">
            <a:solidFill>
              <a:srgbClr val="E8B6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3977640" y="27660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Indice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" y="3337560"/>
            <a:ext cx="8321040" cy="1298448"/>
          </a:xfrm>
          <a:prstGeom prst="rect">
            <a:avLst/>
          </a:prstGeom>
          <a:solidFill>
            <a:srgbClr val="141B2B"/>
          </a:solidFill>
          <a:ln w="15875">
            <a:solidFill>
              <a:srgbClr val="26AF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566928" y="3392424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Réponse : SANS DANGER — </a:t>
            </a: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activité adaptée et partagée.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66928" y="3758184"/>
            <a:ext cx="801014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Outil de recherche conçu pour les enfants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Contrôle parental activé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Partage librement son activité avec vous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Aucune donnée personnelle demandée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22" name="Shape 19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24" name="Shape 21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▶</a:t>
            </a:r>
            <a:endParaRPr lang="en-US" sz="900" dirty="0"/>
          </a:p>
        </p:txBody>
      </p:sp>
      <p:sp>
        <p:nvSpPr>
          <p:cNvPr id="26" name="Shape 23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8FC8A972-497C-7C24-5B35-1897965A487D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3504" y="1097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7F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5 / 5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926080" y="10972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À risque ou sans danger ?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11480" y="777240"/>
            <a:ext cx="8321040" cy="1783080"/>
          </a:xfrm>
          <a:prstGeom prst="rect">
            <a:avLst/>
          </a:prstGeom>
          <a:solidFill>
            <a:srgbClr val="141B2B"/>
          </a:solidFill>
          <a:ln w="12700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11480" y="777240"/>
            <a:ext cx="8321040" cy="365760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76072" y="777240"/>
            <a:ext cx="7991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Snapchat — message d'un inconnu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19786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: </a:t>
            </a:r>
            <a:r>
              <a:rPr lang="en-US" sz="11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inconnu envoie un message privé à votre enfant.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1527048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Tu es trop mignon(ne) 😍 Envoie-moi une photo et je t'ajoute dans mon groupe VIP. C'est notre secret, hein ? »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1480" y="269748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0F1626"/>
          </a:solidFill>
          <a:ln w="19050">
            <a:solidFill>
              <a:srgbClr val="D841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1148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⛔  À RISQUE — C'est dangereux !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257800" y="269748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0F1626"/>
          </a:solidFill>
          <a:ln w="19050">
            <a:solidFill>
              <a:srgbClr val="26AF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25780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SANS DANGER — C'est OK !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977640" y="27660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2A2410"/>
          </a:solidFill>
          <a:ln w="12700">
            <a:solidFill>
              <a:srgbClr val="E8B6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3977640" y="27660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Indice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" y="3337560"/>
            <a:ext cx="8321040" cy="1298448"/>
          </a:xfrm>
          <a:prstGeom prst="rect">
            <a:avLst/>
          </a:prstGeom>
          <a:solidFill>
            <a:srgbClr val="141B2B"/>
          </a:solidFill>
          <a:ln w="15875">
            <a:solidFill>
              <a:srgbClr val="D841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566928" y="3392424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Réponse : À RISQUE — </a:t>
            </a: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approche typique d'un prédateur.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66928" y="3758184"/>
            <a:ext cx="801014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Flatterie d'un inconnu pour mettre en confiance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Demande une photo personnelle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Promesse d'un « groupe VIP » comme appât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Exige le secret — signal d'alerte majeur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22" name="Shape 19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24" name="Shape 21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▶</a:t>
            </a:r>
            <a:endParaRPr lang="en-US" sz="900" dirty="0"/>
          </a:p>
        </p:txBody>
      </p:sp>
      <p:sp>
        <p:nvSpPr>
          <p:cNvPr id="26" name="Shape 23">
            <a:hlinkClick r:id="rId6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>
            <a:hlinkClick r:id="rId6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BD2B404D-ABB4-A5A2-45CA-3AA7F8EAA74A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097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Signaler &amp; se faire aider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7498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Gratuit, rapide et confidentiel. Conservez toujours les preuves.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11480" y="1280160"/>
            <a:ext cx="2011680" cy="178308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2011680" cy="54864"/>
          </a:xfrm>
          <a:prstGeom prst="rect">
            <a:avLst/>
          </a:prstGeom>
          <a:solidFill>
            <a:srgbClr val="2E86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02920" y="1389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14984" y="138988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2E86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cybermalveillance.gouv.fr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21208" y="1865376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Aide, signalement, prestataires. Gratuit.</a:t>
            </a:r>
            <a:endParaRPr lang="en-US" sz="880" dirty="0"/>
          </a:p>
        </p:txBody>
      </p:sp>
      <p:pic>
        <p:nvPicPr>
          <p:cNvPr id="11" name="Image 1" descr="qr_cy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912" y="2221992"/>
            <a:ext cx="731520" cy="7315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578608" y="1280160"/>
            <a:ext cx="2011680" cy="178308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2578608" y="1280160"/>
            <a:ext cx="2011680" cy="54864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2670048" y="1389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📞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182112" y="138988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3018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2688336" y="1865376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Cyberharcèlement : écoute &amp; aide. 7j/7.</a:t>
            </a:r>
            <a:endParaRPr lang="en-US" sz="880" dirty="0"/>
          </a:p>
        </p:txBody>
      </p:sp>
      <p:pic>
        <p:nvPicPr>
          <p:cNvPr id="17" name="Image 2" descr="qr_30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2221992"/>
            <a:ext cx="731520" cy="7315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745736" y="1280160"/>
            <a:ext cx="2011680" cy="178308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4"/>
          <p:cNvSpPr/>
          <p:nvPr/>
        </p:nvSpPr>
        <p:spPr>
          <a:xfrm>
            <a:off x="4745736" y="1280160"/>
            <a:ext cx="2011680" cy="54864"/>
          </a:xfrm>
          <a:prstGeom prst="rect">
            <a:avLst/>
          </a:prstGeom>
          <a:solidFill>
            <a:srgbClr val="E97F1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5"/>
          <p:cNvSpPr/>
          <p:nvPr/>
        </p:nvSpPr>
        <p:spPr>
          <a:xfrm>
            <a:off x="4837176" y="1389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5349240" y="138988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E97F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internet-signalement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4855464" y="1865376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illégal (PHAROS).</a:t>
            </a:r>
            <a:endParaRPr lang="en-US" sz="880" dirty="0"/>
          </a:p>
        </p:txBody>
      </p:sp>
      <p:pic>
        <p:nvPicPr>
          <p:cNvPr id="23" name="Image 3" descr="qr_phar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6168" y="2221992"/>
            <a:ext cx="731520" cy="73152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912864" y="1280160"/>
            <a:ext cx="2011680" cy="178308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19"/>
          <p:cNvSpPr/>
          <p:nvPr/>
        </p:nvSpPr>
        <p:spPr>
          <a:xfrm>
            <a:off x="6912864" y="1280160"/>
            <a:ext cx="2011680" cy="54864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0"/>
          <p:cNvSpPr/>
          <p:nvPr/>
        </p:nvSpPr>
        <p:spPr>
          <a:xfrm>
            <a:off x="7004304" y="1389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🧒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7516368" y="138988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e-enfance.org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7022592" y="1865376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de l'enfance en ligne.</a:t>
            </a:r>
            <a:endParaRPr lang="en-US" sz="880" dirty="0"/>
          </a:p>
        </p:txBody>
      </p:sp>
      <p:pic>
        <p:nvPicPr>
          <p:cNvPr id="29" name="Image 4" descr="qr_eenf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3296" y="2221992"/>
            <a:ext cx="731520" cy="73152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411480" y="3200400"/>
            <a:ext cx="4114800" cy="960120"/>
          </a:xfrm>
          <a:prstGeom prst="rect">
            <a:avLst/>
          </a:prstGeom>
          <a:solidFill>
            <a:srgbClr val="2A1512"/>
          </a:solidFill>
          <a:ln w="12700">
            <a:solidFill>
              <a:srgbClr val="D841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4"/>
          <p:cNvSpPr/>
          <p:nvPr/>
        </p:nvSpPr>
        <p:spPr>
          <a:xfrm>
            <a:off x="548640" y="32644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94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🛑  Mon enfant a un problème — que faire ?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548640" y="3602736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Rester calme  •  2. Conserver les preuves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Bloquer &amp; signaler  •  4. Appeler le 3018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4617720" y="3200400"/>
            <a:ext cx="4114800" cy="960120"/>
          </a:xfrm>
          <a:prstGeom prst="rect">
            <a:avLst/>
          </a:prstGeom>
          <a:solidFill>
            <a:srgbClr val="172339"/>
          </a:solidFill>
          <a:ln w="12700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27"/>
          <p:cNvSpPr/>
          <p:nvPr/>
        </p:nvSpPr>
        <p:spPr>
          <a:xfrm>
            <a:off x="4754880" y="32644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⚖️  Porter plainte &amp; protéger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4754880" y="3602736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ligne : masecurite.interieur.gouv.fr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Gendarmerie + captures  •  ne rien supprimer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411480" y="4279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Scannez les QR codes avec votre téléphone pour ouvrir les sites officiels.   Enfance en danger : 119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1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39" name="Shape 32">
            <a:hlinkClick r:id="rId8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3">
            <a:hlinkClick r:id="rId9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41" name="Shape 34">
            <a:hlinkClick r:id="rId10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35">
            <a:hlinkClick r:id="rId10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▶</a:t>
            </a:r>
            <a:endParaRPr lang="en-US" sz="900" dirty="0"/>
          </a:p>
        </p:txBody>
      </p:sp>
      <p:sp>
        <p:nvSpPr>
          <p:cNvPr id="43" name="Shape 36">
            <a:hlinkClick r:id="rId9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37">
            <a:hlinkClick r:id="rId9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143D1046-9EA6-AA19-9EF5-82D126A96082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097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charte familiale numérique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7498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Établir des règles claires AVEC votre enfant — pas contre lui.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11480" y="1298448"/>
            <a:ext cx="2651760" cy="141732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11480" y="1298448"/>
            <a:ext cx="2651760" cy="64008"/>
          </a:xfrm>
          <a:prstGeom prst="rect">
            <a:avLst/>
          </a:prstGeom>
          <a:solidFill>
            <a:srgbClr val="2E86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39496" y="1444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24712" y="145389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Temps d'écran défini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6072" y="1956816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1h en semaine, 2h le week-end. Rien avant l'école ni avant le coucher.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3246120" y="1298448"/>
            <a:ext cx="2651760" cy="141732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3246120" y="1298448"/>
            <a:ext cx="2651760" cy="64008"/>
          </a:xfrm>
          <a:prstGeom prst="rect">
            <a:avLst/>
          </a:prstGeom>
          <a:solidFill>
            <a:srgbClr val="17A2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3374136" y="1444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🛏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959352" y="145389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2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Zones sans écran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10712" y="1956816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Chambre et table du repas. L'écran reste dans les espaces communs.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6080760" y="1298448"/>
            <a:ext cx="2651760" cy="141732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6080760" y="1298448"/>
            <a:ext cx="2651760" cy="64008"/>
          </a:xfrm>
          <a:prstGeom prst="rect">
            <a:avLst/>
          </a:prstGeom>
          <a:solidFill>
            <a:srgbClr val="9A4B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6208776" y="1444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793992" y="145389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4B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Profils &amp; mots de passe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45352" y="1956816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parents connaissent les identifiants. Aucun compte sans accord.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411480" y="2898648"/>
            <a:ext cx="2651760" cy="141732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411480" y="2898648"/>
            <a:ext cx="2651760" cy="64008"/>
          </a:xfrm>
          <a:prstGeom prst="rect">
            <a:avLst/>
          </a:prstGeom>
          <a:solidFill>
            <a:srgbClr val="E97F1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539496" y="30449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👁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124712" y="305409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F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Transparence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76072" y="3557016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L'enfant accepte une vérification des échanges en cas de doute.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3246120" y="2898648"/>
            <a:ext cx="2651760" cy="141732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4"/>
          <p:cNvSpPr/>
          <p:nvPr/>
        </p:nvSpPr>
        <p:spPr>
          <a:xfrm>
            <a:off x="3246120" y="2898648"/>
            <a:ext cx="2651760" cy="64008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3374136" y="30449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💚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3959352" y="305409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 en ligne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410712" y="3557016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publie rien de blessant, d'intime ou de vexant pour autrui.</a:t>
            </a:r>
            <a:endParaRPr lang="en-US" sz="930" dirty="0"/>
          </a:p>
        </p:txBody>
      </p:sp>
      <p:sp>
        <p:nvSpPr>
          <p:cNvPr id="31" name="Shape 28"/>
          <p:cNvSpPr/>
          <p:nvPr/>
        </p:nvSpPr>
        <p:spPr>
          <a:xfrm>
            <a:off x="6080760" y="2898648"/>
            <a:ext cx="2651760" cy="141732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29"/>
          <p:cNvSpPr/>
          <p:nvPr/>
        </p:nvSpPr>
        <p:spPr>
          <a:xfrm>
            <a:off x="6080760" y="2898648"/>
            <a:ext cx="2651760" cy="6400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6208776" y="30449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🆘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6793992" y="305409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Alerte immédiate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245352" y="3557016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quelque chose gêne ou fait peur, on en parle — SANS punition.</a:t>
            </a:r>
            <a:endParaRPr lang="en-US" sz="930" dirty="0"/>
          </a:p>
        </p:txBody>
      </p:sp>
      <p:sp>
        <p:nvSpPr>
          <p:cNvPr id="36" name="Shape 33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4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38" name="Shape 35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6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40" name="Shape 37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8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▶</a:t>
            </a:r>
            <a:endParaRPr lang="en-US" sz="900" dirty="0"/>
          </a:p>
        </p:txBody>
      </p:sp>
      <p:sp>
        <p:nvSpPr>
          <p:cNvPr id="42" name="Shape 39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0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8D4369C5-3038-69FE-BC95-A097B9E8C527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097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Parler avec votre enfant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7498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ouvertes pour installer le dialogue, sans interroger.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11480" y="1371600"/>
            <a:ext cx="4046220" cy="84124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11480" y="1371600"/>
            <a:ext cx="64008" cy="8412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❝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005840" y="1371600"/>
            <a:ext cx="33147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tu fais en ligne quand je ne suis pas là ?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86300" y="1371600"/>
            <a:ext cx="4046220" cy="84124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686300" y="1371600"/>
            <a:ext cx="64008" cy="841248"/>
          </a:xfrm>
          <a:prstGeom prst="rect">
            <a:avLst/>
          </a:prstGeom>
          <a:solidFill>
            <a:srgbClr val="2E86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823460" y="141732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E86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❝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280660" y="1371600"/>
            <a:ext cx="33147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As-tu des amis que tu connais uniquement sur Internet ?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11480" y="2395728"/>
            <a:ext cx="4046220" cy="84124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411480" y="2395728"/>
            <a:ext cx="64008" cy="841248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548640" y="2441448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❝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1005840" y="2395728"/>
            <a:ext cx="33147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Quelqu'un t'a-t-il déjà mis mal à l'aise en ligne ?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686300" y="2395728"/>
            <a:ext cx="4046220" cy="84124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4686300" y="2395728"/>
            <a:ext cx="64008" cy="841248"/>
          </a:xfrm>
          <a:prstGeom prst="rect">
            <a:avLst/>
          </a:prstGeom>
          <a:solidFill>
            <a:srgbClr val="E97F1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4823460" y="2441448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E97F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❝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5280660" y="2395728"/>
            <a:ext cx="33147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ferais-tu si on te demandait une photo de toi ?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11480" y="3419856"/>
            <a:ext cx="4046220" cy="84124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411480" y="3419856"/>
            <a:ext cx="64008" cy="841248"/>
          </a:xfrm>
          <a:prstGeom prst="rect">
            <a:avLst/>
          </a:prstGeom>
          <a:solidFill>
            <a:srgbClr val="9A4B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548640" y="346557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9A4B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❝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1005840" y="3419856"/>
            <a:ext cx="33147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a-t-il des choses en ligne qui t'inquiètent ?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686300" y="3419856"/>
            <a:ext cx="4046220" cy="84124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4"/>
          <p:cNvSpPr/>
          <p:nvPr/>
        </p:nvSpPr>
        <p:spPr>
          <a:xfrm>
            <a:off x="4686300" y="3419856"/>
            <a:ext cx="64008" cy="841248"/>
          </a:xfrm>
          <a:prstGeom prst="rect">
            <a:avLst/>
          </a:prstGeom>
          <a:solidFill>
            <a:srgbClr val="17A2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4823460" y="346557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7A2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❝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5280660" y="3419856"/>
            <a:ext cx="33147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qui pourrais-tu parler si quelque chose de bizarre arrivait ?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32" name="Shape 29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0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34" name="Shape 31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2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▶</a:t>
            </a:r>
            <a:endParaRPr lang="en-US" sz="900" dirty="0"/>
          </a:p>
        </p:txBody>
      </p:sp>
      <p:sp>
        <p:nvSpPr>
          <p:cNvPr id="36" name="Shape 33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4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3FAACA4B-0D39-34FD-AB2E-2281C71A06DD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097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Ce que je retiens de cet atelier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11480" y="1051560"/>
            <a:ext cx="2679192" cy="338328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411480" y="1051560"/>
            <a:ext cx="2679192" cy="6400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76072" y="1197864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🚩 SIGNAUX D'ALERTE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1645920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son écran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qu'on approche</a:t>
            </a:r>
            <a:endParaRPr lang="en-US" sz="980" dirty="0"/>
          </a:p>
        </p:txBody>
      </p:sp>
      <p:sp>
        <p:nvSpPr>
          <p:cNvPr id="9" name="Text 6"/>
          <p:cNvSpPr/>
          <p:nvPr/>
        </p:nvSpPr>
        <p:spPr>
          <a:xfrm>
            <a:off x="594360" y="2203704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S'isole / change d'humeur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les écrans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4360" y="2761488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Inconnu insistant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messages, cadeaux, secret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594360" y="3319272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nocturne caché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lève la nuit</a:t>
            </a:r>
            <a:endParaRPr lang="en-US" sz="980" dirty="0"/>
          </a:p>
        </p:txBody>
      </p:sp>
      <p:sp>
        <p:nvSpPr>
          <p:cNvPr id="12" name="Text 9"/>
          <p:cNvSpPr/>
          <p:nvPr/>
        </p:nvSpPr>
        <p:spPr>
          <a:xfrm>
            <a:off x="594360" y="3877056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de photo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d'argent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3273552" y="1051560"/>
            <a:ext cx="2679192" cy="338328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3273552" y="1051560"/>
            <a:ext cx="2679192" cy="64008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3438144" y="1197864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BONS RÉFLEXES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56432" y="1645920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Écrans dans le salon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espaces communs</a:t>
            </a:r>
            <a:endParaRPr lang="en-US" sz="980" dirty="0"/>
          </a:p>
        </p:txBody>
      </p:sp>
      <p:sp>
        <p:nvSpPr>
          <p:cNvPr id="17" name="Text 14"/>
          <p:cNvSpPr/>
          <p:nvPr/>
        </p:nvSpPr>
        <p:spPr>
          <a:xfrm>
            <a:off x="3456432" y="2203704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parental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le 1er appareil</a:t>
            </a:r>
            <a:endParaRPr lang="en-US" sz="980" dirty="0"/>
          </a:p>
        </p:txBody>
      </p:sp>
      <p:sp>
        <p:nvSpPr>
          <p:cNvPr id="18" name="Text 15"/>
          <p:cNvSpPr/>
          <p:nvPr/>
        </p:nvSpPr>
        <p:spPr>
          <a:xfrm>
            <a:off x="3456432" y="2761488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 familiale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d'écran défini</a:t>
            </a:r>
            <a:endParaRPr lang="en-US" sz="980" dirty="0"/>
          </a:p>
        </p:txBody>
      </p:sp>
      <p:sp>
        <p:nvSpPr>
          <p:cNvPr id="19" name="Text 16"/>
          <p:cNvSpPr/>
          <p:nvPr/>
        </p:nvSpPr>
        <p:spPr>
          <a:xfrm>
            <a:off x="3456432" y="3319272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ouvert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plutôt qu'interdire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3456432" y="3877056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Conserver les preuves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d'écran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6135624" y="1051560"/>
            <a:ext cx="2679192" cy="338328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6135624" y="1051560"/>
            <a:ext cx="2679192" cy="64008"/>
          </a:xfrm>
          <a:prstGeom prst="rect">
            <a:avLst/>
          </a:prstGeom>
          <a:solidFill>
            <a:srgbClr val="2E86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6300216" y="1197864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📞 EN CAS DE DOUTE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318504" y="1645920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Cyberharcèlement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3018</a:t>
            </a:r>
            <a:endParaRPr lang="en-US" sz="980" dirty="0"/>
          </a:p>
        </p:txBody>
      </p:sp>
      <p:sp>
        <p:nvSpPr>
          <p:cNvPr id="25" name="Text 22"/>
          <p:cNvSpPr/>
          <p:nvPr/>
        </p:nvSpPr>
        <p:spPr>
          <a:xfrm>
            <a:off x="6318504" y="2203704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illégal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PHAROS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6318504" y="2761488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&amp; conseils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cybermalveillance</a:t>
            </a:r>
            <a:endParaRPr lang="en-US" sz="980" dirty="0"/>
          </a:p>
        </p:txBody>
      </p:sp>
      <p:sp>
        <p:nvSpPr>
          <p:cNvPr id="27" name="Text 24"/>
          <p:cNvSpPr/>
          <p:nvPr/>
        </p:nvSpPr>
        <p:spPr>
          <a:xfrm>
            <a:off x="6318504" y="3319272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Enfance en danger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119</a:t>
            </a:r>
            <a:endParaRPr lang="en-US" sz="980" dirty="0"/>
          </a:p>
        </p:txBody>
      </p:sp>
      <p:sp>
        <p:nvSpPr>
          <p:cNvPr id="28" name="Text 25"/>
          <p:cNvSpPr/>
          <p:nvPr/>
        </p:nvSpPr>
        <p:spPr>
          <a:xfrm>
            <a:off x="6318504" y="3877056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 parler, sans punir</a:t>
            </a:r>
            <a:endParaRPr lang="en-US" sz="980" dirty="0"/>
          </a:p>
        </p:txBody>
      </p:sp>
      <p:sp>
        <p:nvSpPr>
          <p:cNvPr id="29" name="Shape 2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31" name="Shape 28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33" name="Shape 30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▶</a:t>
            </a:r>
            <a:endParaRPr lang="en-US" sz="900" dirty="0"/>
          </a:p>
        </p:txBody>
      </p:sp>
      <p:sp>
        <p:nvSpPr>
          <p:cNvPr id="35" name="Shape 32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3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69B4D29-30A4-D071-B55B-B4F215D55E59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22960" y="91440"/>
            <a:ext cx="7498080" cy="3657600"/>
          </a:xfrm>
          <a:prstGeom prst="ellipse">
            <a:avLst/>
          </a:prstGeom>
          <a:solidFill>
            <a:srgbClr val="0C2A22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828800" y="548640"/>
            <a:ext cx="5486400" cy="2743200"/>
          </a:xfrm>
          <a:prstGeom prst="ellipse">
            <a:avLst/>
          </a:prstGeom>
          <a:solidFill>
            <a:srgbClr val="0C2A22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0" y="1005840"/>
            <a:ext cx="3657600" cy="1828800"/>
          </a:xfrm>
          <a:prstGeom prst="ellipse">
            <a:avLst/>
          </a:prstGeom>
          <a:solidFill>
            <a:srgbClr val="0C2A22">
              <a:alpha val="2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DAA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clé, c'est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confiance.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n'est pas l'ennemi — l'ignorance, si. Accompagnez plutôt que surveiller, éduquez plutôt qu'interdire.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2788920"/>
            <a:ext cx="6217920" cy="150876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1463040" y="2788920"/>
            <a:ext cx="64008" cy="1508760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783080" y="2907792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connais les principaux dangers et les signaux d'alerte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garde les écrans visibles et je mets un contrôle parental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J'ai posé une charte familiale claire, AVEC mon enfant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dialogue sans punir — mon enfant peut tout me dire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sais signaler : 3018, PHAROS, cybermalveillance, 119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Restez la personne de confiance de votre enfant.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845A4AF-8EE9-3C2B-ADBA-91EF631473C7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3081</Words>
  <Application>Microsoft Office PowerPoint</Application>
  <PresentationFormat>Affichage à l'écran (16:9)</PresentationFormat>
  <Paragraphs>490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Securite Internet des enfants</dc:title>
  <dc:subject>PptxGenJS Presentation</dc:subject>
  <dc:creator>Cedric WALTENER</dc:creator>
  <cp:lastModifiedBy>titi 23</cp:lastModifiedBy>
  <cp:revision>4</cp:revision>
  <dcterms:created xsi:type="dcterms:W3CDTF">2026-06-03T09:55:59Z</dcterms:created>
  <dcterms:modified xsi:type="dcterms:W3CDTF">2026-09-08T11:35:48Z</dcterms:modified>
</cp:coreProperties>
</file>