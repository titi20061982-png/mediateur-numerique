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15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6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Slide de titre</a:t>
            </a:r>
          </a:p>
          <a:p>
            <a:endParaRPr/>
          </a:p>
          <a:p>
            <a:r>
              <a:t>[INTRO] Bonjour à tous. Aujourd'hui on va parler d'un sujet que tout le monde entend partout en ce moment : l'intelligence artificielle. L'idée n'est pas de vous transformer en experts techniques, mais de vous donner des repères simples : qu'est-ce que c'est vraiment, qu'est-ce que ça peut vous apporter, et à quoi il faut faire attention.</a:t>
            </a:r>
          </a:p>
          <a:p>
            <a:endParaRPr/>
          </a:p>
          <a:p>
            <a:r>
              <a:t>[OBJECTIF] On va enchaîner une petite histoire de l'IA, comment elle est fabriquée, ses bienfaits et ses risques, un panorama des outils qui existent aujourd'hui, et on terminera par des conseils concrets pour bien l'utiliser au quotidien.</a:t>
            </a:r>
          </a:p>
          <a:p>
            <a:endParaRPr/>
          </a:p>
          <a:p>
            <a:r>
              <a:t>[TRANSITION] On commence tout de suite par le sommaire, pour que vous ayez une vue d'ensemble avant de rentrer dans le détail.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Sommaire</a:t>
            </a:r>
          </a:p>
          <a:p>
            <a:endParaRPr/>
          </a:p>
          <a:p>
            <a:r>
              <a:t>[INTRO] Voici le plan de la présentation, en 11 points. Je vous le montre juste pour que vous ayez les repères — on n'a pas besoin de tout lire en détail maintenant.</a:t>
            </a:r>
          </a:p>
          <a:p>
            <a:endParaRPr/>
          </a:p>
          <a:p>
            <a:r>
              <a:t>[STRUCTURE] On commence par la théorie (qu'est-ce que l'IA, son histoire, comment elle est créée, ce qu'il y a "dans sa tête"), puis on passe au concret : bienfaits, risques, panorama des outils, les agents IA et les objets connectés. On termine par la partie légale — droit d'auteur, RGPD, dérives — et des conseils pratiques pour bien s'en servir.</a:t>
            </a:r>
          </a:p>
          <a:p>
            <a:endParaRPr/>
          </a:p>
          <a:p>
            <a:r>
              <a:t>[TRANSITION] N'hésitez pas à noter vos questions au fur et à mesure, on gardera du temps pour en discuter à la fin de chaque grande partie.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L'IA en France : où en est-on ?</a:t>
            </a:r>
          </a:p>
          <a:p>
            <a:endParaRPr/>
          </a:p>
          <a:p>
            <a:r>
              <a:t>[INTRO] Avant de définir ce qu'est l'IA, je voulais vous montrer que ce n'est pas un sujet lointain : elle est déjà très présente en France, et l'adoption va très vite.</a:t>
            </a:r>
          </a:p>
          <a:p>
            <a:endParaRPr/>
          </a:p>
          <a:p>
            <a:r>
              <a:t>[CHIFFRE 1] 48% des Français ont déjà utilisé l'IA générative en 2026 — c'est la technologie qui s'est adoptée le plus vite en 25 ans de mesure. Concrètement, presque un Français sur deux a déjà testé un outil comme ChatGPT ou Le Chat.</a:t>
            </a:r>
          </a:p>
          <a:p>
            <a:endParaRPr/>
          </a:p>
          <a:p>
            <a:r>
              <a:t>[CHIFFRE 2] Côté entreprises, seulement 10% des entreprises françaises utilisaient l'IA en 2024, contre 6% en 2023 — ça a presque doublé en un an. Et 26% des PME l'utilisent déjà au quotidien selon Bpifrance.</a:t>
            </a:r>
          </a:p>
          <a:p>
            <a:endParaRPr/>
          </a:p>
          <a:p>
            <a:r>
              <a:t>[CHIFFRE 3 — VIGILANCE] Un chiffre plus sensible : jusqu'à 5 millions d'emplois en France pourraient être exposés à l'automatisation d'ici 2030. J'y reviendrai dans la partie "risques".</a:t>
            </a:r>
          </a:p>
          <a:p>
            <a:endParaRPr/>
          </a:p>
          <a:p>
            <a:r>
              <a:t>[CHIFFRE 4] L'État vise 2 millions de Français sensibilisés à l'IA d'ici 2027 — c'est un peu l'objectif de cet atelier, à notre échelle !</a:t>
            </a:r>
          </a:p>
          <a:p>
            <a:endParaRPr/>
          </a:p>
          <a:p>
            <a:r>
              <a:t>[REPÈRE FRANÇAIS] Et pour la partie souveraineté : Le Chat, l'assistant IA développé par la société française Mistral AI, est déjà utilisé par 6% des Français.</a:t>
            </a:r>
          </a:p>
          <a:p>
            <a:endParaRPr/>
          </a:p>
          <a:p>
            <a:r>
              <a:t>[TRANSITION] Maintenant qu'on voit que le sujet est bien réel et proche de nous, revenons à la base : qu'est-ce que l'IA, concrètement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Qu'est-ce que l'IA ?</a:t>
            </a:r>
          </a:p>
          <a:p>
            <a:endParaRPr/>
          </a:p>
          <a:p>
            <a:r>
              <a:t>[INTRO] Alors, qu'est-ce que c'est vraiment, l'intelligence artificielle ? Pas de jargon ici, une définition simple.</a:t>
            </a:r>
          </a:p>
          <a:p>
            <a:endParaRPr/>
          </a:p>
          <a:p>
            <a:r>
              <a:t>[DÉFINITION] C'est un programme informatique entraîné sur d'énormes quantités de données, pour reconnaître des schémas et produire une réponse plausible. C'est tout — pas de magie derrière.</a:t>
            </a:r>
          </a:p>
          <a:p>
            <a:endParaRPr/>
          </a:p>
          <a:p>
            <a:r>
              <a:t>[POINTS CLÉS — à détailler un par un]</a:t>
            </a:r>
          </a:p>
          <a:p>
            <a:r>
              <a:t>→ Elle ne "comprend" pas comme un humain : elle prédit le mot ou le pixel le plus probable, un peu comme un système de prédiction de texte très évolué sur votre téléphone.</a:t>
            </a:r>
          </a:p>
          <a:p>
            <a:r>
              <a:t>→ Elle n'a pas de conscience ni d'intention : elle imite des schémas appris dans ses données.</a:t>
            </a:r>
          </a:p>
          <a:p>
            <a:r>
              <a:t>→ Elle peut se tromper avec assurance : on appelle ça une "hallucination" — elle invente une réponse fausse mais la formule avec la même confiance qu'une réponse vraie. C'est le point le plus important à retenir.</a:t>
            </a:r>
          </a:p>
          <a:p>
            <a:r>
              <a:t>→ Il existe plusieurs familles : texte, image, vidéo, voix — chacune avec ses propres outils, qu'on verra dans le panorama plus tard.</a:t>
            </a:r>
          </a:p>
          <a:p>
            <a:endParaRPr/>
          </a:p>
          <a:p>
            <a:r>
              <a:t>[PHRASE CLÉ — à lire lentement] "L'IA générative devine — de façon très sophistiquée — ce qui vient probablement après, à partir de tout ce qu'elle a lu, vu ou entendu." D'où l'importance de garder son esprit critique : c'est le message qu'on va retrouver tout au long de la présentation.</a:t>
            </a:r>
          </a:p>
          <a:p>
            <a:endParaRPr/>
          </a:p>
          <a:p>
            <a:r>
              <a:t>[DÉFINITION OFFICIELLE] Pour ceux qui veulent la version "officielle" : selon le Parlement européen et l'AI Act, l'IA est un outil capable de reproduire des comportements liés à l'intelligence humaine — raisonnement, planification, créativité.</a:t>
            </a:r>
          </a:p>
          <a:p>
            <a:endParaRPr/>
          </a:p>
          <a:p>
            <a:r>
              <a:t>[TRANSITION] Voyons maintenant comment on en est arrivé là, avec quelques repères historiques récents.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dirty="0"/>
              <a:t>DISCOURS — </a:t>
            </a:r>
            <a:r>
              <a:rPr dirty="0" err="1"/>
              <a:t>Quelques</a:t>
            </a:r>
            <a:r>
              <a:rPr dirty="0"/>
              <a:t> </a:t>
            </a:r>
            <a:r>
              <a:rPr dirty="0" err="1"/>
              <a:t>repères</a:t>
            </a:r>
            <a:r>
              <a:rPr dirty="0"/>
              <a:t> </a:t>
            </a:r>
            <a:r>
              <a:rPr dirty="0" err="1"/>
              <a:t>historiques</a:t>
            </a:r>
            <a:endParaRPr dirty="0"/>
          </a:p>
          <a:p>
            <a:endParaRPr dirty="0"/>
          </a:p>
          <a:p>
            <a:r>
              <a:rPr dirty="0"/>
              <a:t>[INTRO] L'IA ne date pas </a:t>
            </a:r>
            <a:r>
              <a:rPr dirty="0" err="1"/>
              <a:t>d'hier</a:t>
            </a:r>
            <a:r>
              <a:rPr dirty="0"/>
              <a:t>, </a:t>
            </a:r>
            <a:r>
              <a:rPr dirty="0" err="1"/>
              <a:t>mais</a:t>
            </a:r>
            <a:r>
              <a:rPr dirty="0"/>
              <a:t> </a:t>
            </a:r>
            <a:r>
              <a:rPr dirty="0" err="1"/>
              <a:t>l'accélération</a:t>
            </a:r>
            <a:r>
              <a:rPr dirty="0"/>
              <a:t> de </a:t>
            </a:r>
            <a:r>
              <a:rPr dirty="0" err="1"/>
              <a:t>ces</a:t>
            </a:r>
            <a:r>
              <a:rPr dirty="0"/>
              <a:t> </a:t>
            </a:r>
            <a:r>
              <a:rPr dirty="0" err="1"/>
              <a:t>dernières</a:t>
            </a:r>
            <a:r>
              <a:rPr dirty="0"/>
              <a:t> </a:t>
            </a:r>
            <a:r>
              <a:rPr dirty="0" err="1"/>
              <a:t>années</a:t>
            </a:r>
            <a:r>
              <a:rPr dirty="0"/>
              <a:t> est </a:t>
            </a:r>
            <a:r>
              <a:rPr dirty="0" err="1"/>
              <a:t>vraiment</a:t>
            </a:r>
            <a:r>
              <a:rPr dirty="0"/>
              <a:t> </a:t>
            </a:r>
            <a:r>
              <a:rPr dirty="0" err="1"/>
              <a:t>impressionnante</a:t>
            </a:r>
            <a:r>
              <a:rPr dirty="0"/>
              <a:t>. Petit rappel </a:t>
            </a:r>
            <a:r>
              <a:rPr dirty="0" err="1"/>
              <a:t>en</a:t>
            </a:r>
            <a:r>
              <a:rPr dirty="0"/>
              <a:t> 4 étapes.</a:t>
            </a:r>
          </a:p>
          <a:p>
            <a:endParaRPr dirty="0"/>
          </a:p>
          <a:p>
            <a:r>
              <a:rPr dirty="0"/>
              <a:t>[2012-2020] Pendant </a:t>
            </a:r>
            <a:r>
              <a:rPr dirty="0" err="1"/>
              <a:t>cette</a:t>
            </a:r>
            <a:r>
              <a:rPr dirty="0"/>
              <a:t> </a:t>
            </a:r>
            <a:r>
              <a:rPr dirty="0" err="1"/>
              <a:t>période</a:t>
            </a:r>
            <a:r>
              <a:rPr dirty="0"/>
              <a:t>, </a:t>
            </a:r>
            <a:r>
              <a:rPr dirty="0" err="1"/>
              <a:t>l'IA</a:t>
            </a:r>
            <a:r>
              <a:rPr dirty="0"/>
              <a:t> </a:t>
            </a:r>
            <a:r>
              <a:rPr dirty="0" err="1"/>
              <a:t>progresse</a:t>
            </a:r>
            <a:r>
              <a:rPr dirty="0"/>
              <a:t> surtout "</a:t>
            </a:r>
            <a:r>
              <a:rPr dirty="0" err="1"/>
              <a:t>en</a:t>
            </a:r>
            <a:r>
              <a:rPr dirty="0"/>
              <a:t> coulisses" : reconnaissance </a:t>
            </a:r>
            <a:r>
              <a:rPr dirty="0" err="1"/>
              <a:t>d'image</a:t>
            </a:r>
            <a:r>
              <a:rPr dirty="0"/>
              <a:t>, </a:t>
            </a:r>
            <a:r>
              <a:rPr dirty="0" err="1"/>
              <a:t>traduction</a:t>
            </a:r>
            <a:r>
              <a:rPr dirty="0"/>
              <a:t> </a:t>
            </a:r>
            <a:r>
              <a:rPr dirty="0" err="1"/>
              <a:t>automatique</a:t>
            </a:r>
            <a:r>
              <a:rPr dirty="0"/>
              <a:t>, les </a:t>
            </a:r>
            <a:r>
              <a:rPr dirty="0" err="1"/>
              <a:t>recommandations</a:t>
            </a:r>
            <a:r>
              <a:rPr dirty="0"/>
              <a:t> Netflix </a:t>
            </a:r>
            <a:r>
              <a:rPr dirty="0" err="1"/>
              <a:t>ou</a:t>
            </a:r>
            <a:r>
              <a:rPr dirty="0"/>
              <a:t> YouTube. Le grand public ne </a:t>
            </a:r>
            <a:r>
              <a:rPr dirty="0" err="1"/>
              <a:t>s'en</a:t>
            </a:r>
            <a:r>
              <a:rPr dirty="0"/>
              <a:t> rend pas </a:t>
            </a:r>
            <a:r>
              <a:rPr dirty="0" err="1"/>
              <a:t>vraiment</a:t>
            </a:r>
            <a:r>
              <a:rPr dirty="0"/>
              <a:t> compte.</a:t>
            </a:r>
          </a:p>
          <a:p>
            <a:endParaRPr dirty="0"/>
          </a:p>
          <a:p>
            <a:r>
              <a:rPr dirty="0"/>
              <a:t>[NOVEMBRE 2022] Tournant </a:t>
            </a:r>
            <a:r>
              <a:rPr dirty="0" err="1"/>
              <a:t>majeur</a:t>
            </a:r>
            <a:r>
              <a:rPr dirty="0"/>
              <a:t> : sortie de ChatGPT, premier chatbot IA accessible à </a:t>
            </a:r>
            <a:r>
              <a:rPr dirty="0" err="1"/>
              <a:t>tous</a:t>
            </a:r>
            <a:r>
              <a:rPr dirty="0"/>
              <a:t>. </a:t>
            </a:r>
            <a:r>
              <a:rPr dirty="0" err="1"/>
              <a:t>C'est</a:t>
            </a:r>
            <a:r>
              <a:rPr dirty="0"/>
              <a:t> le moment </a:t>
            </a:r>
            <a:r>
              <a:rPr dirty="0" err="1"/>
              <a:t>où</a:t>
            </a:r>
            <a:r>
              <a:rPr dirty="0"/>
              <a:t> le grand public </a:t>
            </a:r>
            <a:r>
              <a:rPr dirty="0" err="1"/>
              <a:t>découvre</a:t>
            </a:r>
            <a:r>
              <a:rPr dirty="0"/>
              <a:t> </a:t>
            </a:r>
            <a:r>
              <a:rPr dirty="0" err="1"/>
              <a:t>l'IA</a:t>
            </a:r>
            <a:r>
              <a:rPr dirty="0"/>
              <a:t> </a:t>
            </a:r>
            <a:r>
              <a:rPr dirty="0" err="1"/>
              <a:t>générative</a:t>
            </a:r>
            <a:r>
              <a:rPr dirty="0"/>
              <a:t> — beaucoup </a:t>
            </a:r>
            <a:r>
              <a:rPr dirty="0" err="1"/>
              <a:t>d'entre</a:t>
            </a:r>
            <a:r>
              <a:rPr dirty="0"/>
              <a:t> vous </a:t>
            </a:r>
            <a:r>
              <a:rPr dirty="0" err="1"/>
              <a:t>en</a:t>
            </a:r>
            <a:r>
              <a:rPr dirty="0"/>
              <a:t> </a:t>
            </a:r>
            <a:r>
              <a:rPr dirty="0" err="1"/>
              <a:t>ont</a:t>
            </a:r>
            <a:r>
              <a:rPr dirty="0"/>
              <a:t> </a:t>
            </a:r>
            <a:r>
              <a:rPr dirty="0" err="1"/>
              <a:t>sûrement</a:t>
            </a:r>
            <a:r>
              <a:rPr dirty="0"/>
              <a:t> entendu </a:t>
            </a:r>
            <a:r>
              <a:rPr dirty="0" err="1"/>
              <a:t>parler</a:t>
            </a:r>
            <a:r>
              <a:rPr dirty="0"/>
              <a:t> à </a:t>
            </a:r>
            <a:r>
              <a:rPr dirty="0" err="1"/>
              <a:t>ce</a:t>
            </a:r>
            <a:r>
              <a:rPr dirty="0"/>
              <a:t> moment-</a:t>
            </a:r>
            <a:r>
              <a:rPr dirty="0" err="1"/>
              <a:t>là</a:t>
            </a:r>
            <a:r>
              <a:rPr dirty="0"/>
              <a:t>.</a:t>
            </a:r>
          </a:p>
          <a:p>
            <a:endParaRPr dirty="0"/>
          </a:p>
          <a:p>
            <a:r>
              <a:rPr dirty="0"/>
              <a:t>[2023-2024] Course aux </a:t>
            </a:r>
            <a:r>
              <a:rPr dirty="0" err="1"/>
              <a:t>modèles</a:t>
            </a:r>
            <a:r>
              <a:rPr dirty="0"/>
              <a:t> : Gemini, Claude, Mistral, Copilot… </a:t>
            </a:r>
            <a:r>
              <a:rPr dirty="0" err="1"/>
              <a:t>l'IA</a:t>
            </a:r>
            <a:r>
              <a:rPr dirty="0"/>
              <a:t> </a:t>
            </a:r>
            <a:r>
              <a:rPr dirty="0" err="1"/>
              <a:t>s'intègre</a:t>
            </a:r>
            <a:r>
              <a:rPr dirty="0"/>
              <a:t> </a:t>
            </a:r>
            <a:r>
              <a:rPr dirty="0" err="1"/>
              <a:t>partout</a:t>
            </a:r>
            <a:r>
              <a:rPr dirty="0"/>
              <a:t>, dans les </a:t>
            </a:r>
            <a:r>
              <a:rPr dirty="0" err="1"/>
              <a:t>téléphones</a:t>
            </a:r>
            <a:r>
              <a:rPr dirty="0"/>
              <a:t>, les </a:t>
            </a:r>
            <a:r>
              <a:rPr dirty="0" err="1"/>
              <a:t>logiciels</a:t>
            </a:r>
            <a:r>
              <a:rPr dirty="0"/>
              <a:t> </a:t>
            </a:r>
            <a:r>
              <a:rPr dirty="0" err="1"/>
              <a:t>bureautiques</a:t>
            </a:r>
            <a:r>
              <a:rPr dirty="0"/>
              <a:t>.</a:t>
            </a:r>
          </a:p>
          <a:p>
            <a:endParaRPr dirty="0"/>
          </a:p>
          <a:p>
            <a:r>
              <a:rPr dirty="0"/>
              <a:t>[2025-2026] On arrive à </a:t>
            </a:r>
            <a:r>
              <a:rPr dirty="0" err="1"/>
              <a:t>l'IA</a:t>
            </a:r>
            <a:r>
              <a:rPr dirty="0"/>
              <a:t> </a:t>
            </a:r>
            <a:r>
              <a:rPr dirty="0" err="1"/>
              <a:t>multimodale</a:t>
            </a:r>
            <a:r>
              <a:rPr dirty="0"/>
              <a:t> et aux agents : </a:t>
            </a:r>
            <a:r>
              <a:rPr dirty="0" err="1"/>
              <a:t>texte</a:t>
            </a:r>
            <a:r>
              <a:rPr dirty="0"/>
              <a:t>, image, </a:t>
            </a:r>
            <a:r>
              <a:rPr dirty="0" err="1"/>
              <a:t>vidéo</a:t>
            </a:r>
            <a:r>
              <a:rPr dirty="0"/>
              <a:t> et voix </a:t>
            </a:r>
            <a:r>
              <a:rPr dirty="0" err="1"/>
              <a:t>combinés</a:t>
            </a:r>
            <a:r>
              <a:rPr dirty="0"/>
              <a:t> dans un </a:t>
            </a:r>
            <a:r>
              <a:rPr dirty="0" err="1"/>
              <a:t>même</a:t>
            </a:r>
            <a:r>
              <a:rPr dirty="0"/>
              <a:t> </a:t>
            </a:r>
            <a:r>
              <a:rPr dirty="0" err="1"/>
              <a:t>outil</a:t>
            </a:r>
            <a:r>
              <a:rPr dirty="0"/>
              <a:t>, et les IA </a:t>
            </a:r>
            <a:r>
              <a:rPr dirty="0" err="1"/>
              <a:t>commencent</a:t>
            </a:r>
            <a:r>
              <a:rPr dirty="0"/>
              <a:t> à </a:t>
            </a:r>
            <a:r>
              <a:rPr dirty="0" err="1"/>
              <a:t>agir</a:t>
            </a:r>
            <a:r>
              <a:rPr dirty="0"/>
              <a:t> </a:t>
            </a:r>
            <a:r>
              <a:rPr dirty="0" err="1"/>
              <a:t>seules</a:t>
            </a:r>
            <a:r>
              <a:rPr dirty="0"/>
              <a:t> sur des </a:t>
            </a:r>
            <a:r>
              <a:rPr dirty="0" err="1"/>
              <a:t>tâches</a:t>
            </a:r>
            <a:r>
              <a:rPr dirty="0"/>
              <a:t> — on </a:t>
            </a:r>
            <a:r>
              <a:rPr dirty="0" err="1"/>
              <a:t>en</a:t>
            </a:r>
            <a:r>
              <a:rPr dirty="0"/>
              <a:t> </a:t>
            </a:r>
            <a:r>
              <a:rPr dirty="0" err="1"/>
              <a:t>reparle</a:t>
            </a:r>
            <a:r>
              <a:rPr dirty="0"/>
              <a:t> plus tard dans la </a:t>
            </a:r>
            <a:r>
              <a:rPr dirty="0" err="1"/>
              <a:t>présentation</a:t>
            </a:r>
            <a:r>
              <a:rPr dirty="0"/>
              <a:t>.</a:t>
            </a:r>
          </a:p>
          <a:p>
            <a:endParaRPr dirty="0"/>
          </a:p>
          <a:p>
            <a:r>
              <a:rPr dirty="0"/>
              <a:t>[REPÈRE FRANÇAIS] Petite note locale : le </a:t>
            </a:r>
            <a:r>
              <a:rPr dirty="0" err="1"/>
              <a:t>supercalculateur</a:t>
            </a:r>
            <a:r>
              <a:rPr dirty="0"/>
              <a:t> Jean Zay, </a:t>
            </a:r>
            <a:r>
              <a:rPr dirty="0" err="1"/>
              <a:t>gecré</a:t>
            </a:r>
            <a:r>
              <a:rPr dirty="0"/>
              <a:t> par le CNRS/IDRIS, </a:t>
            </a:r>
            <a:r>
              <a:rPr dirty="0" err="1"/>
              <a:t>sert</a:t>
            </a:r>
            <a:r>
              <a:rPr dirty="0"/>
              <a:t> la recherche IA publique </a:t>
            </a:r>
            <a:r>
              <a:rPr dirty="0" err="1"/>
              <a:t>en</a:t>
            </a:r>
            <a:r>
              <a:rPr dirty="0"/>
              <a:t> France — et </a:t>
            </a:r>
            <a:r>
              <a:rPr dirty="0" err="1"/>
              <a:t>sa</a:t>
            </a:r>
            <a:r>
              <a:rPr dirty="0"/>
              <a:t> </a:t>
            </a:r>
            <a:r>
              <a:rPr dirty="0" err="1"/>
              <a:t>chaleur</a:t>
            </a:r>
            <a:r>
              <a:rPr dirty="0"/>
              <a:t> </a:t>
            </a:r>
            <a:r>
              <a:rPr dirty="0" err="1"/>
              <a:t>dégagée</a:t>
            </a:r>
            <a:r>
              <a:rPr dirty="0"/>
              <a:t> </a:t>
            </a:r>
            <a:r>
              <a:rPr dirty="0" err="1"/>
              <a:t>chauffe</a:t>
            </a:r>
            <a:r>
              <a:rPr dirty="0"/>
              <a:t> </a:t>
            </a:r>
            <a:r>
              <a:rPr dirty="0" err="1"/>
              <a:t>l'équivalent</a:t>
            </a:r>
            <a:r>
              <a:rPr dirty="0"/>
              <a:t> de 1 500 foyers. Un bon </a:t>
            </a:r>
            <a:r>
              <a:rPr dirty="0" err="1"/>
              <a:t>exemple</a:t>
            </a:r>
            <a:r>
              <a:rPr dirty="0"/>
              <a:t> </a:t>
            </a:r>
            <a:r>
              <a:rPr dirty="0" err="1"/>
              <a:t>concret</a:t>
            </a:r>
            <a:r>
              <a:rPr dirty="0"/>
              <a:t> de </a:t>
            </a:r>
            <a:r>
              <a:rPr dirty="0" err="1"/>
              <a:t>l'impact</a:t>
            </a:r>
            <a:r>
              <a:rPr dirty="0"/>
              <a:t> physique de </a:t>
            </a:r>
            <a:r>
              <a:rPr dirty="0" err="1"/>
              <a:t>ces</a:t>
            </a:r>
            <a:r>
              <a:rPr dirty="0"/>
              <a:t> technologies.</a:t>
            </a:r>
          </a:p>
          <a:p>
            <a:endParaRPr dirty="0"/>
          </a:p>
          <a:p>
            <a:r>
              <a:rPr dirty="0"/>
              <a:t>[TRANSITION] </a:t>
            </a:r>
            <a:r>
              <a:rPr dirty="0" err="1"/>
              <a:t>Maintenant</a:t>
            </a:r>
            <a:r>
              <a:rPr dirty="0"/>
              <a:t> </a:t>
            </a:r>
            <a:r>
              <a:rPr dirty="0" err="1"/>
              <a:t>qu'on</a:t>
            </a:r>
            <a:r>
              <a:rPr dirty="0"/>
              <a:t> a la </a:t>
            </a:r>
            <a:r>
              <a:rPr dirty="0" err="1"/>
              <a:t>chronologie</a:t>
            </a:r>
            <a:r>
              <a:rPr dirty="0"/>
              <a:t>, </a:t>
            </a:r>
            <a:r>
              <a:rPr dirty="0" err="1"/>
              <a:t>voyons</a:t>
            </a:r>
            <a:r>
              <a:rPr dirty="0"/>
              <a:t> </a:t>
            </a:r>
            <a:r>
              <a:rPr dirty="0" err="1"/>
              <a:t>concrètement</a:t>
            </a:r>
            <a:r>
              <a:rPr dirty="0"/>
              <a:t> comment on </a:t>
            </a:r>
            <a:r>
              <a:rPr dirty="0" err="1"/>
              <a:t>fabrique</a:t>
            </a:r>
            <a:r>
              <a:rPr dirty="0"/>
              <a:t> </a:t>
            </a:r>
            <a:r>
              <a:rPr dirty="0" err="1"/>
              <a:t>une</a:t>
            </a:r>
            <a:r>
              <a:rPr dirty="0"/>
              <a:t> IA.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Comment est créée l'IA ?</a:t>
            </a:r>
          </a:p>
          <a:p>
            <a:endParaRPr/>
          </a:p>
          <a:p>
            <a:r>
              <a:t>[INTRO] On a vu la théorie et l'histoire, passons à la fabrication : comment on construit un modèle d'IA, du début jusqu'au déploiement. Quatre grandes étapes.</a:t>
            </a:r>
          </a:p>
          <a:p>
            <a:endParaRPr/>
          </a:p>
          <a:p>
            <a:r>
              <a:t>[ÉTAPE 1 — Collecte de données] Des milliards de textes, images et sons sont aspirés sur le web, dans des livres, des articles. C'est la matière première.</a:t>
            </a:r>
          </a:p>
          <a:p>
            <a:endParaRPr/>
          </a:p>
          <a:p>
            <a:r>
              <a:t>[ÉTAPE 2 — Entraînement] Ces données traversent des milliers de fois un réseau de neurones, qui ajuste des milliards de paramètres. Ça tourne sur des clusters de GPU pendant des mois — c'est très coûteux en temps et en énergie.</a:t>
            </a:r>
          </a:p>
          <a:p>
            <a:endParaRPr/>
          </a:p>
          <a:p>
            <a:r>
              <a:t>[ÉTAPE 3 — Alignement (RLHF)] Des humains notent et corrigent les réponses du modèle pour le rendre utile, honnête et sûr. C'est aussi à cette étape qu'on teste sa sécurité, avant de le rendre public.</a:t>
            </a:r>
          </a:p>
          <a:p>
            <a:endParaRPr/>
          </a:p>
          <a:p>
            <a:r>
              <a:t>[ÉTAPE 4 — Déploiement] Le modèle est enfin publié comme produit ou service — et il continue d'être surveillé et amélioré au fil des usages, ce n'est jamais figé.</a:t>
            </a:r>
          </a:p>
          <a:p>
            <a:endParaRPr/>
          </a:p>
          <a:p>
            <a:r>
              <a:t>[REPÈRE CHIFFRÉ] Pour donner une idée d'échelle : entraîner un grand modèle comme GPT-4 coûterait plus de 100 millions de dollars, pour plusieurs milliers de MWh consommés. On reviendra sur l'impact environnemental dans la partie "risques".</a:t>
            </a:r>
          </a:p>
          <a:p>
            <a:endParaRPr/>
          </a:p>
          <a:p>
            <a:r>
              <a:t>[TRANSITION] Justement, voyons maintenant ce qui se passe "à l'intérieur" d'une IA, avec un schéma du cerveau d'une 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DISCOURS — Le cerveau d'une IA (avec repères de position sur le schéma)
[INTRO] Voilà, dans les grandes lignes, comment fonctionne une IA. C'est une image pédagogique, pas une vraie anatomie — mais chaque bulle correspond à un vrai mécanisme.
[LES 4 BULLES AUTOUR DU CERVEAU, en haut/droite/bas/gauche] Tout commence par ce qui entre : texte (en haut), image (à droite), son (en bas), vidéo (à gauche). C'est la matière première.
[PETITE BULLE À CONTOUR EN HAUT À GAUCHE, à côté de "Texte"] → "Tokenisation". Avant même de réfléchir, le texte est découpé en petits morceaux, des tokens — pas des mots entiers. Première étape, avant tout le reste.
[EN HAUT, juste sous "Texte"] → "Neurones" : la brique de base de toute IA — de simples unités de calcul, connectées par milliers. Ce n'est pas un concept dépassé : même les modèles les plus récents (Transformers, ceux qui font tourner Claude ou ChatGPT) reposent encore entièrement sur des neurones artificiels. "Attention" ou "Réflexion" sont des évolutions qui s'appuient dessus, pas des remplacements.
[AUTOUR DU CENTRE, les autres bulles du cercle intérieur]
→ En haut à droite : "Paramètres" — les milliards de réglages appris à l'entraînement.
→ En haut à gauche : "Couches" — l'info traverse des dizaines de couches successives.
→ À droite : "Attention" — repère les liens importants entre les mots d'une phrase.
→ À gauche : "Réflexion" — les modèles récents raisonnent en plusieurs étapes avant de répondre.
[BAS À DROITE DU CENTRE] → "Recherche" : certains modèles vont chercher l'info en temps réel sur le web. Juste en dessous, les 3 petits points en pointillés montrent le détail : Requête → Résultats → Vérifié (on recoupe les sources).
[PETITE BULLE À CONTOUR EN HAUT À DROITE, vers "Image"] → "Outils" : au-delà de la recherche, une IA peut exécuter du code, créer des fichiers, agir sur des systèmes.
[BAS À GAUCHE DU CENTRE] → "Génération" : la construction de la réponse. Les 3 petits points en dessous montrent le détail : Source → Paraphrase → Citation limitée (règles de droit d'auteur).
[PETITE BULLE À CONTOUR JUSTE SOUS "Génération"] → "Température" : un réglage qui contrôle si la réponse est rigide (toujours la plus probable) ou créative (un peu de variation).
[TOUT À GAUCHE, EN DEHORS DU CERCLE] → "GARDE-FOUS" : deux bulles, "Mémoire" (garde le contexte de la conversation) et "Sécurité" — celle-ci est plus grande, avec ses 3 points en dessous : Analyse → Règles → Décision (accepter ou refuser une demande).
[PETITES BULLES À CONTOUR juste À CÔTÉ de chaque entrée — haut/droite/bas/gauche] → Les sorties : même famille que l'entrée (texte→texte, image→image, son→son, vidéo→vidéo), reliées en pointillés à leur entrée respective.
[CENTRE, grande bulle blanche] → "IA" : tout converge ici.
[CONCLUSION] Tout ça tourne en quelques secondes, à chaque question posée. Et c'est important de le dire : c'est une version simplifiée. La réalité, à l'intérieur d'un vrai modèle, est encore plus complexe que ce qu'on peut mettre sur une seule image.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Les bienfaits de l'IA</a:t>
            </a:r>
          </a:p>
          <a:p>
            <a:endParaRPr/>
          </a:p>
          <a:p>
            <a:r>
              <a:t>[INTRO] Après la théorie, on passe au très concret : qu'est-ce que l'IA apporte réellement au quotidien ? On va balayer 7 domaines.</a:t>
            </a:r>
          </a:p>
          <a:p>
            <a:endParaRPr/>
          </a:p>
          <a:p>
            <a:r>
              <a:t>[Gain de temps] Rédiger, résumer, planifier : des tâches longues sont accélérées en quelques secondes.</a:t>
            </a:r>
          </a:p>
          <a:p>
            <a:endParaRPr/>
          </a:p>
          <a:p>
            <a:r>
              <a:t>[Accessibilité] Synthèse vocale, sous-titres automatiques, aide à la lecture : un vrai appui pour les personnes en situation de handicap.</a:t>
            </a:r>
          </a:p>
          <a:p>
            <a:endParaRPr/>
          </a:p>
          <a:p>
            <a:r>
              <a:t>[Santé] Aide au diagnostic, suivi de traitement, détection précoce de certaines maladies.</a:t>
            </a:r>
          </a:p>
          <a:p>
            <a:endParaRPr/>
          </a:p>
          <a:p>
            <a:r>
              <a:t>[Éducation] Un tuteur personnalisé, des explications adaptées au niveau de chacun, une aide aux devoirs.</a:t>
            </a:r>
          </a:p>
          <a:p>
            <a:endParaRPr/>
          </a:p>
          <a:p>
            <a:r>
              <a:t>[Créativité] Génération d'images, de musique, d'idées : un outil de brainstorming puissant, même pour quelqu'un qui n'est "pas créatif".</a:t>
            </a:r>
          </a:p>
          <a:p>
            <a:endParaRPr/>
          </a:p>
          <a:p>
            <a:r>
              <a:t>[Traduction] Traduction et interprétation quasi instantanées — très utile pour l'accueil multilingue.</a:t>
            </a:r>
          </a:p>
          <a:p>
            <a:endParaRPr/>
          </a:p>
          <a:p>
            <a:r>
              <a:t>[Médiation multilingue — à souligner pour ce public] C'est particulièrement parlant pour nous : un appui concret pour accompagner des usagers non-francophones pendant nos ateliers.</a:t>
            </a:r>
          </a:p>
          <a:p>
            <a:endParaRPr/>
          </a:p>
          <a:p>
            <a:r>
              <a:t>[TRANSITION] Après ces bons côtés, il faut être honnête et regarder aussi les risques — c'est tout aussi important.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Les risques et conséquences</a:t>
            </a:r>
          </a:p>
          <a:p>
            <a:endParaRPr/>
          </a:p>
          <a:p>
            <a:r>
              <a:t>[INTRO] On vient de voir les bienfaits, voici maintenant à quoi il faut faire attention. C'est la partie la plus importante pour votre esprit critique.</a:t>
            </a:r>
          </a:p>
          <a:p>
            <a:endParaRPr/>
          </a:p>
          <a:p>
            <a:r>
              <a:t>[Désinformation] Les IA peuvent inventer des faits avec assurance — les fameuses "hallucinations" — ou générer de fausses images ou vidéos très crédibles.</a:t>
            </a:r>
          </a:p>
          <a:p>
            <a:endParaRPr/>
          </a:p>
          <a:p>
            <a:r>
              <a:t>[Biais] Une IA reproduit les biais présents dans ses données d'entraînement : genre, origine, stéréotypes. Elle n'est pas neutre, même si elle en a l'air.</a:t>
            </a:r>
          </a:p>
          <a:p>
            <a:endParaRPr/>
          </a:p>
          <a:p>
            <a:r>
              <a:t>[Emploi] Certaines tâches répétitives sont automatisées, mais de nouveaux métiers émergent aussi — on l'a vu avec le chiffre des 5 millions d'emplois exposés en France.</a:t>
            </a:r>
          </a:p>
          <a:p>
            <a:endParaRPr/>
          </a:p>
          <a:p>
            <a:r>
              <a:t>[Dépendance cognitive] Utiliser l'IA pour tout peut affaiblir la mémoire, l'écriture et l'esprit critique si on ne varie pas les usages — un point à surveiller pour soi-même.</a:t>
            </a:r>
          </a:p>
          <a:p>
            <a:endParaRPr/>
          </a:p>
          <a:p>
            <a:r>
              <a:t>[Vie privée] Les données saisies peuvent être conservées ou réutilisées : attention aux informations sensibles qu'on tape dans un chatbot.</a:t>
            </a:r>
          </a:p>
          <a:p>
            <a:endParaRPr/>
          </a:p>
          <a:p>
            <a:r>
              <a:t>[Impact environnemental — chiffre fort] Ces modèles consomment énormément de ressources : environ 415 TWh d'électricité en 2024 et 560 milliards de litres d'eau en 2023 pour les data centers mondiaux, selon l'AIE.</a:t>
            </a:r>
          </a:p>
          <a:p>
            <a:endParaRPr/>
          </a:p>
          <a:p>
            <a:r>
              <a:t>[REPÈRE CHIFFRÉ — à bien faire comprendre] 415 TWh, c'est presque la consommation électrique annuelle de toute la France, qui est de 449 TWh en 2024. Le vrai enjeu n'est pas une seule requête, mais le volume : des milliards de requêtes par jour dans le monde.</a:t>
            </a:r>
          </a:p>
          <a:p>
            <a:endParaRPr/>
          </a:p>
          <a:p>
            <a:r>
              <a:t>[TRANSITION] Passons maintenant à quelque chose de plus léger : un panorama des outils d'IA qui existent aujourd'hui.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Panorama des IA existantes (page d'intro)</a:t>
            </a:r>
          </a:p>
          <a:p>
            <a:endParaRPr/>
          </a:p>
          <a:p>
            <a:r>
              <a:t>[INTRO] On va maintenant faire un tour d'horizon des principaux outils d'IA, classés par usage. C'est une liste non exhaustive — il en sort de nouveaux chaque semaine — mais ça donne de bons repères.</a:t>
            </a:r>
          </a:p>
          <a:p>
            <a:endParaRPr/>
          </a:p>
          <a:p>
            <a:r>
              <a:t>[5 CATÉGORIES] On a organisé ça en 5 grandes catégories : texte (chatbots et rédaction), image (création visuelle), vidéo (génération de séquences), musique (composition sonore), et voix (synthèse et clonage vocal).</a:t>
            </a:r>
          </a:p>
          <a:p>
            <a:endParaRPr/>
          </a:p>
          <a:p>
            <a:r>
              <a:t>[LÉGENDE — à bien expliquer avant de continuer] Pour chaque outil, vous verrez une étiquette : Gratuit, Freemium (une version gratuite limitée avec des options payantes), ou Payant. C'est important de le savoir avant de recommander un outil à quelqu'un.</a:t>
            </a:r>
          </a:p>
          <a:p>
            <a:endParaRPr/>
          </a:p>
          <a:p>
            <a:r>
              <a:t>[TRANSITION] On regarde maintenant chaque catégorie en détail, en commençant par le texte.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Panorama : Texte (1/5)</a:t>
            </a:r>
          </a:p>
          <a:p>
            <a:endParaRPr/>
          </a:p>
          <a:p>
            <a:r>
              <a:t>[INTRO] Première catégorie : les IA de texte, pour la rédaction, le code, l'analyse et la recherche.</a:t>
            </a:r>
          </a:p>
          <a:p>
            <a:endParaRPr/>
          </a:p>
          <a:p>
            <a:r>
              <a:t>[ChatGPT] L'assistant le plus connu du grand public : polyvalent, pour l'écriture, le code, l'analyse. Freemium.</a:t>
            </a:r>
          </a:p>
          <a:p>
            <a:endParaRPr/>
          </a:p>
          <a:p>
            <a:r>
              <a:t>[Claude] Plutôt orienté écriture longue et raisonnement soigné — c'est l'outil que j'utilise pour construire cette présentation, d'ailleurs ! Freemium.</a:t>
            </a:r>
          </a:p>
          <a:p>
            <a:endParaRPr/>
          </a:p>
          <a:p>
            <a:r>
              <a:t>[Gemini] L'IA de Google, orientée recherche et multimodale. Freemium.</a:t>
            </a:r>
          </a:p>
          <a:p>
            <a:endParaRPr/>
          </a:p>
          <a:p>
            <a:r>
              <a:t>[Mistral] Modèles ouverts, c'est l'alternative européenne — dont Le Chat qu'on a mentionné dans les chiffres France. Freemium.</a:t>
            </a:r>
          </a:p>
          <a:p>
            <a:endParaRPr/>
          </a:p>
          <a:p>
            <a:r>
              <a:t>[Perplexity] Se distingue par des réponses sourcées directement depuis le web — utile quand on veut vérifier une info. Freemium.</a:t>
            </a:r>
          </a:p>
          <a:p>
            <a:endParaRPr/>
          </a:p>
          <a:p>
            <a:r>
              <a:t>[TRANSITION] Passons à la catégorie suivante : l'image.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Panorama : Image (2/5)</a:t>
            </a:r>
          </a:p>
          <a:p>
            <a:endParaRPr/>
          </a:p>
          <a:p>
            <a:r>
              <a:t>[INTRO] Deuxième catégorie : les IA d'image, pour la création et la retouche visuelle.</a:t>
            </a:r>
          </a:p>
          <a:p>
            <a:endParaRPr/>
          </a:p>
          <a:p>
            <a:r>
              <a:t>[Midjourney] Des images artistiques très abouties, mais payant.</a:t>
            </a:r>
          </a:p>
          <a:p>
            <a:endParaRPr/>
          </a:p>
          <a:p>
            <a:r>
              <a:t>[DALL·E 3] Génération d'images intégrée directement à ChatGPT — accessible en freemium.</a:t>
            </a:r>
          </a:p>
          <a:p>
            <a:endParaRPr/>
          </a:p>
          <a:p>
            <a:r>
              <a:t>[Stable Diffusion] Un modèle open-source qu'on peut exécuter en local sur son propre ordinateur — gratuit, mais demande un peu plus de technique.</a:t>
            </a:r>
          </a:p>
          <a:p>
            <a:endParaRPr/>
          </a:p>
          <a:p>
            <a:r>
              <a:t>[Adobe Firefly] Génératif intégré directement à Photoshop, en freemium.</a:t>
            </a:r>
          </a:p>
          <a:p>
            <a:endParaRPr/>
          </a:p>
          <a:p>
            <a:r>
              <a:t>[Ideogram] Se distingue par sa capacité à produire du texte net et lisible dans l'image — un point souvent raté par les autres outils. Freemium.</a:t>
            </a:r>
          </a:p>
          <a:p>
            <a:endParaRPr/>
          </a:p>
          <a:p>
            <a:r>
              <a:t>[TRANSITION] On continue avec la catégorie vidéo.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Panorama : Vidéo (3/5)</a:t>
            </a:r>
          </a:p>
          <a:p>
            <a:endParaRPr/>
          </a:p>
          <a:p>
            <a:r>
              <a:t>[INTRO] Troisième catégorie : les IA de génération et de montage vidéo.</a:t>
            </a:r>
          </a:p>
          <a:p>
            <a:endParaRPr/>
          </a:p>
          <a:p>
            <a:r>
              <a:t>[Sora] L'outil d'OpenAI, capable de générer des vidéos réalistes à partir d'un simple texte. Payant.</a:t>
            </a:r>
          </a:p>
          <a:p>
            <a:endParaRPr/>
          </a:p>
          <a:p>
            <a:r>
              <a:t>[Runway] Montage et effets assistés par IA. Freemium.</a:t>
            </a:r>
          </a:p>
          <a:p>
            <a:endParaRPr/>
          </a:p>
          <a:p>
            <a:r>
              <a:t>[Kling] Des clips réalistes avec des mouvements fluides. Freemium.</a:t>
            </a:r>
          </a:p>
          <a:p>
            <a:endParaRPr/>
          </a:p>
          <a:p>
            <a:r>
              <a:t>[Veo] L'outil vidéo haute qualité de Google. Payant.</a:t>
            </a:r>
          </a:p>
          <a:p>
            <a:endParaRPr/>
          </a:p>
          <a:p>
            <a:r>
              <a:t>[Pika] Pour des animations courtes et rapides. Freemium.</a:t>
            </a:r>
          </a:p>
          <a:p>
            <a:endParaRPr/>
          </a:p>
          <a:p>
            <a:r>
              <a:t>[TRANSITION] Voyons maintenant la musique.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Panorama : Musique (4/5)</a:t>
            </a:r>
          </a:p>
          <a:p>
            <a:endParaRPr/>
          </a:p>
          <a:p>
            <a:r>
              <a:t>[INTRO] Quatrième catégorie : les IA de composition musicale et de bandes sonores.</a:t>
            </a:r>
          </a:p>
          <a:p>
            <a:endParaRPr/>
          </a:p>
          <a:p>
            <a:r>
              <a:t>[Suno] Génère des chansons complètes avec paroles, à partir d'une simple description. Freemium.</a:t>
            </a:r>
          </a:p>
          <a:p>
            <a:endParaRPr/>
          </a:p>
          <a:p>
            <a:r>
              <a:t>[Udio] Produit des morceaux de qualité studio. Freemium.</a:t>
            </a:r>
          </a:p>
          <a:p>
            <a:endParaRPr/>
          </a:p>
          <a:p>
            <a:r>
              <a:t>[ElevenLabs Music] Plutôt orienté bandes sonores et habillage sonore. Payant.</a:t>
            </a:r>
          </a:p>
          <a:p>
            <a:endParaRPr/>
          </a:p>
          <a:p>
            <a:r>
              <a:t>[TRANSITION] Dernière catégorie du panorama : la voix.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Panorama : Voix (5/5)</a:t>
            </a:r>
          </a:p>
          <a:p>
            <a:endParaRPr/>
          </a:p>
          <a:p>
            <a:r>
              <a:t>[INTRO] Cinquième et dernière catégorie : la synthèse et le clonage vocal.</a:t>
            </a:r>
          </a:p>
          <a:p>
            <a:endParaRPr/>
          </a:p>
          <a:p>
            <a:r>
              <a:t>[ElevenLabs] Synthèse et clonage vocal très réalistes — on en reparlera dans la partie sur les dérives (Dark IA), car ce même outil peut être détourné.</a:t>
            </a:r>
          </a:p>
          <a:p>
            <a:endParaRPr/>
          </a:p>
          <a:p>
            <a:r>
              <a:t>[Murf] Plutôt pour des voix-off professionnelles. Payant.</a:t>
            </a:r>
          </a:p>
          <a:p>
            <a:endParaRPr/>
          </a:p>
          <a:p>
            <a:r>
              <a:t>[PlayHT] Des voix naturelles et multilingues. Freemium.</a:t>
            </a:r>
          </a:p>
          <a:p>
            <a:endParaRPr/>
          </a:p>
          <a:p>
            <a:r>
              <a:t>[TRANSITION] Maintenant qu'on a vu les 5 catégories une par une, faisons une synthèse globale de tout le panorama.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Synthèse du panorama</a:t>
            </a:r>
          </a:p>
          <a:p>
            <a:endParaRPr/>
          </a:p>
          <a:p>
            <a:r>
              <a:t>[INTRO] Voici un récapitulatif de tous les outils qu'on vient de voir, avec leur catégorie et leur modèle d'accès — pratique à garder sous les yeux ou à donner en support.</a:t>
            </a:r>
          </a:p>
          <a:p>
            <a:endParaRPr/>
          </a:p>
          <a:p>
            <a:r>
              <a:t>[LECTURE DU TABLEAU] Vous retrouvez les 5 catégories vues juste avant : texte, image, vidéo, musique, voix — avec pour chacune les outils et leur statut (gratuit, freemium, payant).</a:t>
            </a:r>
          </a:p>
          <a:p>
            <a:endParaRPr/>
          </a:p>
          <a:p>
            <a:r>
              <a:t>[6E LIGNE — DARK IA, À SOULIGNER] On a ajouté une 6e catégorie : "Dark IA" — WormGPT, FraudGPT, DarkBERT. Ce ne sont pas des outils à utiliser, ce sont des usages détournés et illégaux qu'on va détailler un peu plus loin dans la présentation, pour que vous sachiez que ça existe et que vous restiez vigilants.</a:t>
            </a:r>
          </a:p>
          <a:p>
            <a:endParaRPr/>
          </a:p>
          <a:p>
            <a:r>
              <a:t>[TRANSITION] Avant de parler de ces dérives, voyons une évolution récente et importante : les agents IA.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Les agents IA</a:t>
            </a:r>
          </a:p>
          <a:p>
            <a:endParaRPr/>
          </a:p>
          <a:p>
            <a:r>
              <a:t>[INTRO] Nouveauté de 2025-2026 : l'IA ne se contente plus de répondre, elle commence à agir.</a:t>
            </a:r>
          </a:p>
          <a:p>
            <a:endParaRPr/>
          </a:p>
          <a:p>
            <a:r>
              <a:t>[DÉFINITION] Un agent IA planifie et exécute seul une suite d'actions pour atteindre un objectif, sans validation à chaque étape — c'est la grande différence avec un chatbot classique.</a:t>
            </a:r>
          </a:p>
          <a:p>
            <a:endParaRPr/>
          </a:p>
          <a:p>
            <a:r>
              <a:t>[EXEMPLES CONCRETS] Claude Code écrit et exécute du code tout seul, ChatGPT Agent peut naviguer sur le web et remplir des formulaires, Copilot Studio automatise des tâches bureautiques.</a:t>
            </a:r>
          </a:p>
          <a:p>
            <a:endParaRPr/>
          </a:p>
          <a:p>
            <a:r>
              <a:t>[AVANTAGE] Le vrai gain, c'est sur des tâches longues et répétitives, avec plusieurs étapes enchaînées automatiquement, sans qu'on ait à intervenir à chaque fois.</a:t>
            </a:r>
          </a:p>
          <a:p>
            <a:endParaRPr/>
          </a:p>
          <a:p>
            <a:r>
              <a:t>[VIGILANCE — point important] Mais un agent qui agit seul peut aussi se tromper seul : il faut toujours superviser les actions sensibles, comme les achats, les envois d'e-mails ou les suppressions de fichiers.</a:t>
            </a:r>
          </a:p>
          <a:p>
            <a:endParaRPr/>
          </a:p>
          <a:p>
            <a:r>
              <a:t>[REPÈRE CHIFFRÉ] Gartner, qui identifie les tendances technologiques stratégiques chaque année, prévoit que 33% des applications d'entreprise intégreront de l'IA agentique d'ici 2028, contre moins de 1% en 2024. Une évolution très rapide à suivre.</a:t>
            </a:r>
          </a:p>
          <a:p>
            <a:endParaRPr/>
          </a:p>
          <a:p>
            <a:r>
              <a:t>[TRANSITION] Ces agents ne sont qu'une partie de l'histoire : l'IA est en fait déjà partout autour de nous, souvent sans qu'on le sache.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L'IA déjà partout, sans le savoir</a:t>
            </a:r>
          </a:p>
          <a:p>
            <a:endParaRPr/>
          </a:p>
          <a:p>
            <a:r>
              <a:t>[INTRO] On pense souvent à l'IA seulement via les chatbots, mais elle est en fait intégrée dans énormément d'objets qu'on utilise déjà tous les jours.</a:t>
            </a:r>
          </a:p>
          <a:p>
            <a:endParaRPr/>
          </a:p>
          <a:p>
            <a:r>
              <a:t>[Smartphone] Retouche photo automatique, reconnaissance faciale, clavier prédictif — vous l'utilisez sûrement déjà sans y penser.</a:t>
            </a:r>
          </a:p>
          <a:p>
            <a:endParaRPr/>
          </a:p>
          <a:p>
            <a:r>
              <a:t>[Voiture] Aide à la conduite, régulateur adaptatif, détection d'obstacles.</a:t>
            </a:r>
          </a:p>
          <a:p>
            <a:endParaRPr/>
          </a:p>
          <a:p>
            <a:r>
              <a:t>[Maison connectée] Thermostats intelligents, caméras de surveillance, enceintes connectées.</a:t>
            </a:r>
          </a:p>
          <a:p>
            <a:endParaRPr/>
          </a:p>
          <a:p>
            <a:r>
              <a:t>[Oreillettes traductrices — écho avec nos ateliers] Traduction et interprétation en temps réel dans une conversation — un exemple qu'on utilise nous-mêmes en médiation numérique.</a:t>
            </a:r>
          </a:p>
          <a:p>
            <a:endParaRPr/>
          </a:p>
          <a:p>
            <a:r>
              <a:t>[Banque] Détection de fraude en temps réel, chatbots du service client.</a:t>
            </a:r>
          </a:p>
          <a:p>
            <a:endParaRPr/>
          </a:p>
          <a:p>
            <a:r>
              <a:t>[Réseaux sociaux] Fils d'actualité personnalisés, modération et filtrage de contenu.</a:t>
            </a:r>
          </a:p>
          <a:p>
            <a:endParaRPr/>
          </a:p>
          <a:p>
            <a:r>
              <a:t>[TRANSITION] Maintenant qu'on voit à quel point l'IA est partout, il faut parler du cadre légal : droit d'auteur, données personnelles, et dérives.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Droit d'auteur et IA</a:t>
            </a:r>
          </a:p>
          <a:p>
            <a:endParaRPr/>
          </a:p>
          <a:p>
            <a:r>
              <a:t>[INTRO] Question fréquente : qui possède un contenu généré par IA ? La réponse en France est assez claire, mais souvent mal comprise.</a:t>
            </a:r>
          </a:p>
          <a:p>
            <a:endParaRPr/>
          </a:p>
          <a:p>
            <a:r>
              <a:t>[PRINCIPE] En France, une œuvre n'est protégée par le droit d'auteur que si elle porte l'empreinte de la personnalité d'un auteur humain.</a:t>
            </a:r>
          </a:p>
          <a:p>
            <a:endParaRPr/>
          </a:p>
          <a:p>
            <a:r>
              <a:t>[CONSÉQUENCE 1] Un contenu 100% généré par IA, sans intervention humaine créative, n'est donc pas protégeable en l'état actuel du droit — vous ne pouvez pas déposer un copyright dessus tel quel.</a:t>
            </a:r>
          </a:p>
          <a:p>
            <a:endParaRPr/>
          </a:p>
          <a:p>
            <a:r>
              <a:t>[CONSÉQUENCE 2 — risque inverse] À l'inverse, une IA peut reproduire le style ou des éléments d'œuvres protégées présentes dans ses données d'entraînement, ce qui expose à un risque de contrefaçon si on l'utilise mal.</a:t>
            </a:r>
          </a:p>
          <a:p>
            <a:endParaRPr/>
          </a:p>
          <a:p>
            <a:r>
              <a:t>[ACTUALITÉ] Plusieurs procès sont en cours dans le monde — auteurs, artistes, presse — contre des éditeurs d'IA, pour usage de contenus protégés sans autorisation. C'est un sujet juridique encore mouvant.</a:t>
            </a:r>
          </a:p>
          <a:p>
            <a:endParaRPr/>
          </a:p>
          <a:p>
            <a:r>
              <a:t>[BONNE PRATIQUE — à retenir] Vérifiez toujours les conditions d'utilisation de l'outil avant un usage commercial, et évitez de publier tel quel un contenu généré sans relecture ni adaptation humaine — surtout dans un cadre professionnel ou de médiation.</a:t>
            </a:r>
          </a:p>
          <a:p>
            <a:endParaRPr/>
          </a:p>
          <a:p>
            <a:r>
              <a:t>[TRANSITION] Autre sujet légal important quand on utilise l'IA au travail : le RGPD.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RGPD : usage professionnel de l'IA</a:t>
            </a:r>
          </a:p>
          <a:p>
            <a:endParaRPr/>
          </a:p>
          <a:p>
            <a:r>
              <a:t>[INTRO] Si on utilise l'IA dans une structure qui reçoit du public — comme la nôtre — il y a des règles à connaître avant de s'en servir avec des données d'usagers.</a:t>
            </a:r>
          </a:p>
          <a:p>
            <a:endParaRPr/>
          </a:p>
          <a:p>
            <a:r>
              <a:t>[Base légale] On n'a pas le droit d'utiliser l'IA avec des données personnelles "juste parce que c'est pratique" : il faut une raison légale valable, le plus souvent l'accord explicite de la personne concernée.</a:t>
            </a:r>
          </a:p>
          <a:p>
            <a:endParaRPr/>
          </a:p>
          <a:p>
            <a:r>
              <a:t>[Données sensibles — point de vigilance fort] Ne jamais saisir de données de santé, d'origine ou d'opinions dans un chatbot sans consentement explicite et sans nécessité claire. C'est le point le plus sensible pour nous en accueil du public.</a:t>
            </a:r>
          </a:p>
          <a:p>
            <a:endParaRPr/>
          </a:p>
          <a:p>
            <a:r>
              <a:t>[Hébergement des données] Mistral, avec Le Chat, héberge en France et en Union européenne. ChatGPT, Claude et Gemini hébergent majoritairement aux États-Unis, avec des garanties légales encadrant ce transfert de données à l'étranger.</a:t>
            </a:r>
          </a:p>
          <a:p>
            <a:endParaRPr/>
          </a:p>
          <a:p>
            <a:r>
              <a:t>[Durée de conservation &amp; DPO] Il faut vérifier les conditions d'utilisation sur la conservation des échanges, et consulter le responsable de la protection des données — le DPO — avant tout déploiement dans une structure.</a:t>
            </a:r>
          </a:p>
          <a:p>
            <a:endParaRPr/>
          </a:p>
          <a:p>
            <a:r>
              <a:t>[TRANSITION] Après ce cadre légal, voyons un sujet plus sombre : les usages détournés de l'IA, ce qu'on appelle la "Dark 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La « Dark IA »</a:t>
            </a:r>
          </a:p>
          <a:p>
            <a:endParaRPr/>
          </a:p>
          <a:p>
            <a:r>
              <a:t>[INTRO] On a parlé des usages professionnels et légaux, voici maintenant l'envers du décor : quand l'IA est détournée à des fins malveillantes.</a:t>
            </a:r>
          </a:p>
          <a:p>
            <a:endParaRPr/>
          </a:p>
          <a:p>
            <a:r>
              <a:t>[Qu'est-ce que c'est] Des IA gratuites et publiques sont bricolées pour supprimer leurs limites de sécurité habituelles, puis vendues sur le dark web comme un abonnement — parfois dès 200 dollars par mois.</a:t>
            </a:r>
          </a:p>
          <a:p>
            <a:endParaRPr/>
          </a:p>
          <a:p>
            <a:r>
              <a:t>[WormGPT &amp; FraudGPT] Ces outils génèrent du code malveillant, de fausses pages bancaires et des e-mails de phishing indétectables — sans compétence technique requise de la part de celui qui les utilise. C'est ce qui rend la menace accessible à n'importe qui.</a:t>
            </a:r>
          </a:p>
          <a:p>
            <a:endParaRPr/>
          </a:p>
          <a:p>
            <a:r>
              <a:t>[Deepfakes &amp; clonage vocal — exemple marquant] Une voix peut être clonée à partir de seulement 3 secondes d'audio. Une entreprise a perdu 25 millions de dollars en 2024 sur une visioconférence entièrement simulée par IA — un exemple à donner pour marquer les esprits.</a:t>
            </a:r>
          </a:p>
          <a:p>
            <a:endParaRPr/>
          </a:p>
          <a:p>
            <a:r>
              <a:t>[Le bon réflexe] Ce n'est pas un outil à tester par curiosité : c'est un usage illégal, et même la simple recherche sur ces sujets expose à des arnaques — fausses applications à installer, faux sites.</a:t>
            </a:r>
          </a:p>
          <a:p>
            <a:endParaRPr/>
          </a:p>
          <a:p>
            <a:r>
              <a:t>[REPÈRE CHIFFRÉ] Un e-mail de phishing généré par IA obtient un taux de clic 37% supérieur à un phishing artisanal, selon IBM X-Force (2025) — un bon lien à faire avec nos ateliers phishing.</a:t>
            </a:r>
          </a:p>
          <a:p>
            <a:endParaRPr/>
          </a:p>
          <a:p>
            <a:r>
              <a:t>[TRANSITION] Après tout ce qu'on vient de voir, terminons sur du positif : comment bien utiliser l'IA au quotidien.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Pour un bon usage de l'IA</a:t>
            </a:r>
          </a:p>
          <a:p>
            <a:endParaRPr/>
          </a:p>
          <a:p>
            <a:r>
              <a:t>[INTRO] Pour conclure la partie pratique, voici 4 réflexes simples à adopter — et à transmettre autour de vous.</a:t>
            </a:r>
          </a:p>
          <a:p>
            <a:endParaRPr/>
          </a:p>
          <a:p>
            <a:r>
              <a:t>[Toujours vérifier] Une IA peut se tromper avec assurance. Recoupez toujours les informations importantes avec une autre source, surtout si c'est important (santé, droit, argent).</a:t>
            </a:r>
          </a:p>
          <a:p>
            <a:endParaRPr/>
          </a:p>
          <a:p>
            <a:r>
              <a:t>[Protéger ses données] Ne saisissez jamais de mot de passe, de numéro de sécurité sociale, ou de données médicales ou bancaires dans un chatbot.</a:t>
            </a:r>
          </a:p>
          <a:p>
            <a:endParaRPr/>
          </a:p>
          <a:p>
            <a:r>
              <a:t>[Garder l'esprit critique] Utilisez l'IA comme un assistant, pas comme une vérité absolue. Gardez vos propres compétences actives — ne laissez pas l'IA faire à votre place tout le temps.</a:t>
            </a:r>
          </a:p>
          <a:p>
            <a:endParaRPr/>
          </a:p>
          <a:p>
            <a:r>
              <a:t>[Lire les CGU] Essayez de savoir si vos données servent à entraîner le modèle, et si vous pouvez vous y opposer (option "opt-out") si c'est possible.</a:t>
            </a:r>
          </a:p>
          <a:p>
            <a:endParaRPr/>
          </a:p>
          <a:p>
            <a:r>
              <a:t>[TRANSITION] On arrive à la fin de cette présentation, un dernier message pour conclure.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t>DISCOURS — Conclusion</a:t>
            </a:r>
          </a:p>
          <a:p>
            <a:endParaRPr/>
          </a:p>
          <a:p>
            <a:r>
              <a:t>[MESSAGE FINAL — à dire posément] L'IA est un outil — pas une vérité. À utiliser avec curiosité, avec méthode, et toujours avec un regard critique.</a:t>
            </a:r>
          </a:p>
          <a:p>
            <a:endParaRPr/>
          </a:p>
          <a:p>
            <a:r>
              <a:t>[CLÔTURE] C'est le message que je veux que vous reteniez avant tout : ce n'est ni à diaboliser, ni à suivre les yeux fermés. C'est un outil parmi d'autres, à utiliser intelligemment.</a:t>
            </a:r>
          </a:p>
          <a:p>
            <a:endParaRPr/>
          </a:p>
          <a:p>
            <a:r>
              <a:t>[OUVERTURE DÉBAT] Je vous propose maintenant un temps de questions et d'échanges — n'hésitez pas si vous avez des exemples personnels, des inquiétudes ou des outils que vous avez déjà testés.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6.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5.png"/><Relationship Id="rId10" Type="http://schemas.openxmlformats.org/officeDocument/2006/relationships/image" Target="../media/image25.png"/><Relationship Id="rId4" Type="http://schemas.openxmlformats.org/officeDocument/2006/relationships/image" Target="../media/image34.png"/><Relationship Id="rId9"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9.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8.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219"/>
        </a:solidFill>
        <a:effectLst/>
      </p:bgPr>
    </p:bg>
    <p:spTree>
      <p:nvGrpSpPr>
        <p:cNvPr id="1" name=""/>
        <p:cNvGrpSpPr/>
        <p:nvPr/>
      </p:nvGrpSpPr>
      <p:grpSpPr>
        <a:xfrm>
          <a:off x="0" y="0"/>
          <a:ext cx="0" cy="0"/>
          <a:chOff x="0" y="0"/>
          <a:chExt cx="0" cy="0"/>
        </a:xfrm>
      </p:grpSpPr>
      <p:pic>
        <p:nvPicPr>
          <p:cNvPr id="2" name="Image 0" descr="/home/claude/ia_deck/images/cover_bg.png"/>
          <p:cNvPicPr>
            <a:picLocks noChangeAspect="1"/>
          </p:cNvPicPr>
          <p:nvPr/>
        </p:nvPicPr>
        <p:blipFill>
          <a:blip r:embed="rId3"/>
          <a:srcRect/>
          <a:stretch/>
        </p:blipFill>
        <p:spPr>
          <a:xfrm>
            <a:off x="6126480" y="0"/>
            <a:ext cx="6035040" cy="6858000"/>
          </a:xfrm>
          <a:prstGeom prst="rect">
            <a:avLst/>
          </a:prstGeom>
        </p:spPr>
      </p:pic>
      <p:sp>
        <p:nvSpPr>
          <p:cNvPr id="3" name="Shape 0"/>
          <p:cNvSpPr/>
          <p:nvPr/>
        </p:nvSpPr>
        <p:spPr>
          <a:xfrm>
            <a:off x="6126480" y="0"/>
            <a:ext cx="6035040" cy="6858000"/>
          </a:xfrm>
          <a:prstGeom prst="rect">
            <a:avLst/>
          </a:prstGeom>
          <a:solidFill>
            <a:srgbClr val="161219">
              <a:alpha val="22000"/>
            </a:srgbClr>
          </a:solidFill>
          <a:ln/>
        </p:spPr>
        <p:txBody>
          <a:bodyPr/>
          <a:lstStyle/>
          <a:p>
            <a:endParaRPr lang="fr-FR"/>
          </a:p>
        </p:txBody>
      </p:sp>
      <p:sp>
        <p:nvSpPr>
          <p:cNvPr id="4" name="Shape 1"/>
          <p:cNvSpPr/>
          <p:nvPr/>
        </p:nvSpPr>
        <p:spPr>
          <a:xfrm>
            <a:off x="6126480" y="0"/>
            <a:ext cx="320040" cy="6858000"/>
          </a:xfrm>
          <a:prstGeom prst="rect">
            <a:avLst/>
          </a:prstGeom>
          <a:solidFill>
            <a:srgbClr val="161219">
              <a:alpha val="95000"/>
            </a:srgbClr>
          </a:solidFill>
          <a:ln/>
        </p:spPr>
        <p:txBody>
          <a:bodyPr/>
          <a:lstStyle/>
          <a:p>
            <a:endParaRPr lang="fr-FR"/>
          </a:p>
        </p:txBody>
      </p:sp>
      <p:sp>
        <p:nvSpPr>
          <p:cNvPr id="5" name="Shape 2"/>
          <p:cNvSpPr/>
          <p:nvPr/>
        </p:nvSpPr>
        <p:spPr>
          <a:xfrm>
            <a:off x="6446520" y="0"/>
            <a:ext cx="365760" cy="6858000"/>
          </a:xfrm>
          <a:prstGeom prst="rect">
            <a:avLst/>
          </a:prstGeom>
          <a:solidFill>
            <a:srgbClr val="161219">
              <a:alpha val="65000"/>
            </a:srgbClr>
          </a:solidFill>
          <a:ln/>
        </p:spPr>
        <p:txBody>
          <a:bodyPr/>
          <a:lstStyle/>
          <a:p>
            <a:endParaRPr lang="fr-FR"/>
          </a:p>
        </p:txBody>
      </p:sp>
      <p:sp>
        <p:nvSpPr>
          <p:cNvPr id="6" name="Shape 3"/>
          <p:cNvSpPr/>
          <p:nvPr/>
        </p:nvSpPr>
        <p:spPr>
          <a:xfrm>
            <a:off x="6812280" y="0"/>
            <a:ext cx="411480" cy="6858000"/>
          </a:xfrm>
          <a:prstGeom prst="rect">
            <a:avLst/>
          </a:prstGeom>
          <a:solidFill>
            <a:srgbClr val="161219">
              <a:alpha val="40000"/>
            </a:srgbClr>
          </a:solidFill>
          <a:ln/>
        </p:spPr>
        <p:txBody>
          <a:bodyPr/>
          <a:lstStyle/>
          <a:p>
            <a:endParaRPr lang="fr-FR"/>
          </a:p>
        </p:txBody>
      </p:sp>
      <p:sp>
        <p:nvSpPr>
          <p:cNvPr id="7" name="Shape 4"/>
          <p:cNvSpPr/>
          <p:nvPr/>
        </p:nvSpPr>
        <p:spPr>
          <a:xfrm>
            <a:off x="7223760" y="0"/>
            <a:ext cx="457200" cy="6858000"/>
          </a:xfrm>
          <a:prstGeom prst="rect">
            <a:avLst/>
          </a:prstGeom>
          <a:solidFill>
            <a:srgbClr val="161219">
              <a:alpha val="20000"/>
            </a:srgbClr>
          </a:solidFill>
          <a:ln/>
        </p:spPr>
        <p:txBody>
          <a:bodyPr/>
          <a:lstStyle/>
          <a:p>
            <a:endParaRPr lang="fr-FR"/>
          </a:p>
        </p:txBody>
      </p:sp>
      <p:pic>
        <p:nvPicPr>
          <p:cNvPr id="8" name="Image 1" descr="/home/claude/ia_deck/images/logo.png"/>
          <p:cNvPicPr>
            <a:picLocks noChangeAspect="1"/>
          </p:cNvPicPr>
          <p:nvPr/>
        </p:nvPicPr>
        <p:blipFill>
          <a:blip r:embed="rId4"/>
          <a:stretch>
            <a:fillRect/>
          </a:stretch>
        </p:blipFill>
        <p:spPr>
          <a:xfrm>
            <a:off x="266778" y="246887"/>
            <a:ext cx="1379141" cy="1379141"/>
          </a:xfrm>
          <a:prstGeom prst="rect">
            <a:avLst/>
          </a:prstGeom>
        </p:spPr>
      </p:pic>
      <p:sp>
        <p:nvSpPr>
          <p:cNvPr id="9" name="Text 5"/>
          <p:cNvSpPr/>
          <p:nvPr/>
        </p:nvSpPr>
        <p:spPr>
          <a:xfrm>
            <a:off x="841248" y="1892807"/>
            <a:ext cx="5120640" cy="731521"/>
          </a:xfrm>
          <a:prstGeom prst="rect">
            <a:avLst/>
          </a:prstGeom>
          <a:noFill/>
          <a:ln/>
        </p:spPr>
        <p:txBody>
          <a:bodyPr wrap="square" lIns="0" tIns="0" rIns="0" bIns="0" rtlCol="0" anchor="ctr"/>
          <a:lstStyle/>
          <a:p>
            <a:pPr marL="0" indent="0" algn="ctr">
              <a:buNone/>
            </a:pPr>
            <a:r>
              <a:rPr lang="en-US" sz="2000" kern="0" spc="220" dirty="0">
                <a:solidFill>
                  <a:srgbClr val="D9A883"/>
                </a:solidFill>
                <a:latin typeface="IBM Plex Mono" pitchFamily="34" charset="0"/>
                <a:ea typeface="IBM Plex Mono" pitchFamily="34" charset="-122"/>
                <a:cs typeface="IBM Plex Mono" pitchFamily="34" charset="-120"/>
              </a:rPr>
              <a:t>MÉDIATION NUMÉRIQUE</a:t>
            </a:r>
            <a:endParaRPr lang="en-US" sz="2000" dirty="0"/>
          </a:p>
        </p:txBody>
      </p:sp>
      <p:sp>
        <p:nvSpPr>
          <p:cNvPr id="10" name="Text 6"/>
          <p:cNvSpPr/>
          <p:nvPr/>
        </p:nvSpPr>
        <p:spPr>
          <a:xfrm>
            <a:off x="822960" y="2697480"/>
            <a:ext cx="5212080" cy="1554480"/>
          </a:xfrm>
          <a:prstGeom prst="rect">
            <a:avLst/>
          </a:prstGeom>
          <a:noFill/>
          <a:ln/>
        </p:spPr>
        <p:txBody>
          <a:bodyPr wrap="square" lIns="0" tIns="0" rIns="0" bIns="0" rtlCol="0" anchor="ctr"/>
          <a:lstStyle/>
          <a:p>
            <a:pPr marL="0" indent="0" algn="ctr">
              <a:lnSpc>
                <a:spcPct val="102000"/>
              </a:lnSpc>
              <a:buNone/>
            </a:pPr>
            <a:r>
              <a:rPr lang="en-US" sz="3800" b="1" dirty="0">
                <a:solidFill>
                  <a:srgbClr val="FAF6F0"/>
                </a:solidFill>
                <a:latin typeface="Space Grotesk" pitchFamily="34" charset="0"/>
                <a:ea typeface="Space Grotesk" pitchFamily="34" charset="-122"/>
                <a:cs typeface="Space Grotesk" pitchFamily="34" charset="-120"/>
              </a:rPr>
              <a:t>L'intelligence</a:t>
            </a:r>
            <a:endParaRPr lang="en-US" sz="3800" dirty="0"/>
          </a:p>
          <a:p>
            <a:pPr marL="0" indent="0" algn="ctr">
              <a:lnSpc>
                <a:spcPct val="102000"/>
              </a:lnSpc>
              <a:buNone/>
            </a:pPr>
            <a:r>
              <a:rPr lang="en-US" sz="3800" b="1" dirty="0">
                <a:solidFill>
                  <a:srgbClr val="FAF6F0"/>
                </a:solidFill>
                <a:latin typeface="Space Grotesk" pitchFamily="34" charset="0"/>
                <a:ea typeface="Space Grotesk" pitchFamily="34" charset="-122"/>
                <a:cs typeface="Space Grotesk" pitchFamily="34" charset="-120"/>
              </a:rPr>
              <a:t>artificielle</a:t>
            </a:r>
            <a:endParaRPr lang="en-US" sz="3800" dirty="0"/>
          </a:p>
        </p:txBody>
      </p:sp>
      <p:sp>
        <p:nvSpPr>
          <p:cNvPr id="11" name="Text 7"/>
          <p:cNvSpPr/>
          <p:nvPr/>
        </p:nvSpPr>
        <p:spPr>
          <a:xfrm>
            <a:off x="822960" y="4251960"/>
            <a:ext cx="5120640" cy="822960"/>
          </a:xfrm>
          <a:prstGeom prst="rect">
            <a:avLst/>
          </a:prstGeom>
          <a:noFill/>
          <a:ln/>
        </p:spPr>
        <p:txBody>
          <a:bodyPr wrap="square" lIns="0" tIns="0" rIns="0" bIns="0" rtlCol="0" anchor="ctr"/>
          <a:lstStyle/>
          <a:p>
            <a:pPr marL="0" indent="0" algn="ctr">
              <a:lnSpc>
                <a:spcPct val="125000"/>
              </a:lnSpc>
              <a:buNone/>
            </a:pPr>
            <a:r>
              <a:rPr lang="en-US" sz="1350" dirty="0">
                <a:solidFill>
                  <a:srgbClr val="A89F95"/>
                </a:solidFill>
                <a:latin typeface="IBM Plex Sans" pitchFamily="34" charset="0"/>
                <a:ea typeface="IBM Plex Sans" pitchFamily="34" charset="-122"/>
                <a:cs typeface="IBM Plex Sans" pitchFamily="34" charset="-120"/>
              </a:rPr>
              <a:t>Comprendre les IA du quotidien : bienfaits, risques et panorama des outils</a:t>
            </a:r>
            <a:endParaRPr lang="en-US" sz="1350" dirty="0"/>
          </a:p>
        </p:txBody>
      </p:sp>
      <p:sp>
        <p:nvSpPr>
          <p:cNvPr id="12" name="Shape 8"/>
          <p:cNvSpPr/>
          <p:nvPr/>
        </p:nvSpPr>
        <p:spPr>
          <a:xfrm>
            <a:off x="822959" y="5212080"/>
            <a:ext cx="5049939" cy="0"/>
          </a:xfrm>
          <a:prstGeom prst="line">
            <a:avLst/>
          </a:prstGeom>
          <a:noFill/>
          <a:ln w="19050">
            <a:solidFill>
              <a:srgbClr val="F0965A"/>
            </a:solidFill>
            <a:prstDash val="solid"/>
          </a:ln>
        </p:spPr>
        <p:txBody>
          <a:bodyPr/>
          <a:lstStyle/>
          <a:p>
            <a:endParaRPr lang="fr-FR"/>
          </a:p>
        </p:txBody>
      </p:sp>
      <p:sp>
        <p:nvSpPr>
          <p:cNvPr id="13" name="Text 9"/>
          <p:cNvSpPr/>
          <p:nvPr/>
        </p:nvSpPr>
        <p:spPr>
          <a:xfrm>
            <a:off x="822960" y="6035040"/>
            <a:ext cx="5212080" cy="365760"/>
          </a:xfrm>
          <a:prstGeom prst="rect">
            <a:avLst/>
          </a:prstGeom>
          <a:noFill/>
          <a:ln/>
        </p:spPr>
        <p:txBody>
          <a:bodyPr wrap="square" lIns="0" tIns="0" rIns="0" bIns="0" rtlCol="0" anchor="ctr"/>
          <a:lstStyle/>
          <a:p>
            <a:pPr marL="0" indent="0" algn="ctr">
              <a:buNone/>
            </a:pPr>
            <a:r>
              <a:rPr lang="en-US" sz="1050" dirty="0">
                <a:solidFill>
                  <a:srgbClr val="9A9089"/>
                </a:solidFill>
                <a:latin typeface="IBM Plex Sans" pitchFamily="34" charset="0"/>
                <a:ea typeface="IBM Plex Sans" pitchFamily="34" charset="-122"/>
                <a:cs typeface="IBM Plex Sans" pitchFamily="34" charset="-120"/>
              </a:rPr>
              <a:t>Support de formation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822960" y="502920"/>
            <a:ext cx="10607040" cy="502920"/>
          </a:xfrm>
          <a:prstGeom prst="rect">
            <a:avLst/>
          </a:prstGeom>
          <a:noFill/>
          <a:ln/>
        </p:spPr>
        <p:txBody>
          <a:bodyPr wrap="square" lIns="0" tIns="0" rIns="0" bIns="0" rtlCol="0" anchor="ctr"/>
          <a:lstStyle/>
          <a:p>
            <a:pPr marL="0" indent="0" algn="ctr">
              <a:buNone/>
            </a:pPr>
            <a:r>
              <a:rPr lang="en-US" sz="2600" b="1" dirty="0">
                <a:solidFill>
                  <a:srgbClr val="FAF6F0"/>
                </a:solidFill>
                <a:latin typeface="Space Grotesk" pitchFamily="34" charset="0"/>
                <a:ea typeface="Space Grotesk" pitchFamily="34" charset="-122"/>
                <a:cs typeface="Space Grotesk" pitchFamily="34" charset="-120"/>
              </a:rPr>
              <a:t>   </a:t>
            </a:r>
            <a:r>
              <a:rPr lang="en-US" sz="2600" b="1" dirty="0">
                <a:solidFill>
                  <a:srgbClr val="FF0000"/>
                </a:solidFill>
                <a:latin typeface="Space Grotesk" pitchFamily="34" charset="0"/>
                <a:ea typeface="Space Grotesk" pitchFamily="34" charset="-122"/>
                <a:cs typeface="Space Grotesk" pitchFamily="34" charset="-120"/>
              </a:rPr>
              <a:t>SOMMAIRE</a:t>
            </a:r>
            <a:endParaRPr lang="en-US" sz="2600" dirty="0">
              <a:solidFill>
                <a:srgbClr val="FF0000"/>
              </a:solidFill>
            </a:endParaRPr>
          </a:p>
        </p:txBody>
      </p:sp>
      <p:sp>
        <p:nvSpPr>
          <p:cNvPr id="3" name="Shape 1"/>
          <p:cNvSpPr/>
          <p:nvPr/>
        </p:nvSpPr>
        <p:spPr>
          <a:xfrm>
            <a:off x="822960" y="1188720"/>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4" name="Text 2"/>
          <p:cNvSpPr/>
          <p:nvPr/>
        </p:nvSpPr>
        <p:spPr>
          <a:xfrm>
            <a:off x="1024128" y="1243584"/>
            <a:ext cx="822960" cy="640080"/>
          </a:xfrm>
          <a:prstGeom prst="rect">
            <a:avLst/>
          </a:prstGeom>
          <a:noFill/>
          <a:ln/>
        </p:spPr>
        <p:txBody>
          <a:bodyPr wrap="square" lIns="0" tIns="0" rIns="0" bIns="0" rtlCol="0" anchor="ctr"/>
          <a:lstStyle/>
          <a:p>
            <a:pPr marL="0" indent="0">
              <a:buNone/>
            </a:pPr>
            <a:r>
              <a:rPr lang="en-US" sz="1800" b="1" dirty="0">
                <a:solidFill>
                  <a:srgbClr val="78B4DC"/>
                </a:solidFill>
                <a:latin typeface="IBM Plex Mono" pitchFamily="34" charset="0"/>
                <a:ea typeface="IBM Plex Mono" pitchFamily="34" charset="-122"/>
                <a:cs typeface="IBM Plex Mono" pitchFamily="34" charset="-120"/>
              </a:rPr>
              <a:t>01</a:t>
            </a:r>
            <a:endParaRPr lang="en-US" sz="1800" dirty="0"/>
          </a:p>
        </p:txBody>
      </p:sp>
      <p:sp>
        <p:nvSpPr>
          <p:cNvPr id="5" name="Text 3"/>
          <p:cNvSpPr/>
          <p:nvPr/>
        </p:nvSpPr>
        <p:spPr>
          <a:xfrm>
            <a:off x="1874520" y="1243584"/>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Qu'est-ce que l'IA ?</a:t>
            </a:r>
            <a:endParaRPr lang="en-US" sz="1250" dirty="0"/>
          </a:p>
        </p:txBody>
      </p:sp>
      <p:sp>
        <p:nvSpPr>
          <p:cNvPr id="6" name="Text 4"/>
          <p:cNvSpPr/>
          <p:nvPr/>
        </p:nvSpPr>
        <p:spPr>
          <a:xfrm>
            <a:off x="1874520" y="1572768"/>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Définition simple et repères</a:t>
            </a:r>
            <a:endParaRPr lang="en-US" sz="900" dirty="0"/>
          </a:p>
        </p:txBody>
      </p:sp>
      <p:sp>
        <p:nvSpPr>
          <p:cNvPr id="7" name="Shape 5"/>
          <p:cNvSpPr/>
          <p:nvPr/>
        </p:nvSpPr>
        <p:spPr>
          <a:xfrm>
            <a:off x="6355080" y="1188720"/>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8" name="Text 6"/>
          <p:cNvSpPr/>
          <p:nvPr/>
        </p:nvSpPr>
        <p:spPr>
          <a:xfrm>
            <a:off x="6556248" y="1243584"/>
            <a:ext cx="822960" cy="640080"/>
          </a:xfrm>
          <a:prstGeom prst="rect">
            <a:avLst/>
          </a:prstGeom>
          <a:noFill/>
          <a:ln/>
        </p:spPr>
        <p:txBody>
          <a:bodyPr wrap="square" lIns="0" tIns="0" rIns="0" bIns="0" rtlCol="0" anchor="ctr"/>
          <a:lstStyle/>
          <a:p>
            <a:pPr marL="0" indent="0">
              <a:buNone/>
            </a:pPr>
            <a:r>
              <a:rPr lang="en-US" sz="1800" b="1" dirty="0">
                <a:solidFill>
                  <a:srgbClr val="F0965A"/>
                </a:solidFill>
                <a:latin typeface="IBM Plex Mono" pitchFamily="34" charset="0"/>
                <a:ea typeface="IBM Plex Mono" pitchFamily="34" charset="-122"/>
                <a:cs typeface="IBM Plex Mono" pitchFamily="34" charset="-120"/>
              </a:rPr>
              <a:t>02</a:t>
            </a:r>
            <a:endParaRPr lang="en-US" sz="1800" dirty="0"/>
          </a:p>
        </p:txBody>
      </p:sp>
      <p:sp>
        <p:nvSpPr>
          <p:cNvPr id="9" name="Text 7"/>
          <p:cNvSpPr/>
          <p:nvPr/>
        </p:nvSpPr>
        <p:spPr>
          <a:xfrm>
            <a:off x="7406640" y="1243584"/>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Petite histoire de l'IA</a:t>
            </a:r>
            <a:endParaRPr lang="en-US" sz="1250" dirty="0"/>
          </a:p>
        </p:txBody>
      </p:sp>
      <p:sp>
        <p:nvSpPr>
          <p:cNvPr id="10" name="Text 8"/>
          <p:cNvSpPr/>
          <p:nvPr/>
        </p:nvSpPr>
        <p:spPr>
          <a:xfrm>
            <a:off x="7406640" y="1572768"/>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Les grandes étapes récentes</a:t>
            </a:r>
            <a:endParaRPr lang="en-US" sz="900" dirty="0"/>
          </a:p>
        </p:txBody>
      </p:sp>
      <p:sp>
        <p:nvSpPr>
          <p:cNvPr id="11" name="Shape 9"/>
          <p:cNvSpPr/>
          <p:nvPr/>
        </p:nvSpPr>
        <p:spPr>
          <a:xfrm>
            <a:off x="822960" y="2048256"/>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12" name="Text 10"/>
          <p:cNvSpPr/>
          <p:nvPr/>
        </p:nvSpPr>
        <p:spPr>
          <a:xfrm>
            <a:off x="1024128" y="2103120"/>
            <a:ext cx="822960" cy="640080"/>
          </a:xfrm>
          <a:prstGeom prst="rect">
            <a:avLst/>
          </a:prstGeom>
          <a:noFill/>
          <a:ln/>
        </p:spPr>
        <p:txBody>
          <a:bodyPr wrap="square" lIns="0" tIns="0" rIns="0" bIns="0" rtlCol="0" anchor="ctr"/>
          <a:lstStyle/>
          <a:p>
            <a:pPr marL="0" indent="0">
              <a:buNone/>
            </a:pPr>
            <a:r>
              <a:rPr lang="en-US" sz="1800" b="1" dirty="0">
                <a:solidFill>
                  <a:srgbClr val="C896DC"/>
                </a:solidFill>
                <a:latin typeface="IBM Plex Mono" pitchFamily="34" charset="0"/>
                <a:ea typeface="IBM Plex Mono" pitchFamily="34" charset="-122"/>
                <a:cs typeface="IBM Plex Mono" pitchFamily="34" charset="-120"/>
              </a:rPr>
              <a:t>03</a:t>
            </a:r>
            <a:endParaRPr lang="en-US" sz="1800" dirty="0"/>
          </a:p>
        </p:txBody>
      </p:sp>
      <p:sp>
        <p:nvSpPr>
          <p:cNvPr id="13" name="Text 11"/>
          <p:cNvSpPr/>
          <p:nvPr/>
        </p:nvSpPr>
        <p:spPr>
          <a:xfrm>
            <a:off x="1874520" y="2103120"/>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L'IA en France</a:t>
            </a:r>
            <a:endParaRPr lang="en-US" sz="1250" dirty="0"/>
          </a:p>
        </p:txBody>
      </p:sp>
      <p:sp>
        <p:nvSpPr>
          <p:cNvPr id="14" name="Text 12"/>
          <p:cNvSpPr/>
          <p:nvPr/>
        </p:nvSpPr>
        <p:spPr>
          <a:xfrm>
            <a:off x="1874520" y="2432304"/>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Adoption, chiffres du territoire</a:t>
            </a:r>
            <a:endParaRPr lang="en-US" sz="900" dirty="0"/>
          </a:p>
        </p:txBody>
      </p:sp>
      <p:sp>
        <p:nvSpPr>
          <p:cNvPr id="15" name="Shape 13"/>
          <p:cNvSpPr/>
          <p:nvPr/>
        </p:nvSpPr>
        <p:spPr>
          <a:xfrm>
            <a:off x="6355080" y="2048256"/>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16" name="Text 14"/>
          <p:cNvSpPr/>
          <p:nvPr/>
        </p:nvSpPr>
        <p:spPr>
          <a:xfrm>
            <a:off x="6556248" y="2103120"/>
            <a:ext cx="822960" cy="640080"/>
          </a:xfrm>
          <a:prstGeom prst="rect">
            <a:avLst/>
          </a:prstGeom>
          <a:noFill/>
          <a:ln/>
        </p:spPr>
        <p:txBody>
          <a:bodyPr wrap="square" lIns="0" tIns="0" rIns="0" bIns="0" rtlCol="0" anchor="ctr"/>
          <a:lstStyle/>
          <a:p>
            <a:pPr marL="0" indent="0">
              <a:buNone/>
            </a:pPr>
            <a:r>
              <a:rPr lang="en-US" sz="1800" b="1" dirty="0">
                <a:solidFill>
                  <a:srgbClr val="E6C86E"/>
                </a:solidFill>
                <a:latin typeface="IBM Plex Mono" pitchFamily="34" charset="0"/>
                <a:ea typeface="IBM Plex Mono" pitchFamily="34" charset="-122"/>
                <a:cs typeface="IBM Plex Mono" pitchFamily="34" charset="-120"/>
              </a:rPr>
              <a:t>04</a:t>
            </a:r>
            <a:endParaRPr lang="en-US" sz="1800" dirty="0"/>
          </a:p>
        </p:txBody>
      </p:sp>
      <p:sp>
        <p:nvSpPr>
          <p:cNvPr id="17" name="Text 15"/>
          <p:cNvSpPr/>
          <p:nvPr/>
        </p:nvSpPr>
        <p:spPr>
          <a:xfrm>
            <a:off x="7406640" y="2103120"/>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Comment est créée l'IA ?</a:t>
            </a:r>
            <a:endParaRPr lang="en-US" sz="1250" dirty="0"/>
          </a:p>
        </p:txBody>
      </p:sp>
      <p:sp>
        <p:nvSpPr>
          <p:cNvPr id="18" name="Text 16"/>
          <p:cNvSpPr/>
          <p:nvPr/>
        </p:nvSpPr>
        <p:spPr>
          <a:xfrm>
            <a:off x="7406640" y="2432304"/>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Les 4 étapes de fabrication</a:t>
            </a:r>
            <a:endParaRPr lang="en-US" sz="900" dirty="0"/>
          </a:p>
        </p:txBody>
      </p:sp>
      <p:sp>
        <p:nvSpPr>
          <p:cNvPr id="19" name="Shape 17"/>
          <p:cNvSpPr/>
          <p:nvPr/>
        </p:nvSpPr>
        <p:spPr>
          <a:xfrm>
            <a:off x="822960" y="2907792"/>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20" name="Text 18"/>
          <p:cNvSpPr/>
          <p:nvPr/>
        </p:nvSpPr>
        <p:spPr>
          <a:xfrm>
            <a:off x="1024128" y="2962656"/>
            <a:ext cx="822960" cy="640080"/>
          </a:xfrm>
          <a:prstGeom prst="rect">
            <a:avLst/>
          </a:prstGeom>
          <a:noFill/>
          <a:ln/>
        </p:spPr>
        <p:txBody>
          <a:bodyPr wrap="square" lIns="0" tIns="0" rIns="0" bIns="0" rtlCol="0" anchor="ctr"/>
          <a:lstStyle/>
          <a:p>
            <a:pPr marL="0" indent="0">
              <a:buNone/>
            </a:pPr>
            <a:r>
              <a:rPr lang="en-US" sz="1800" b="1" dirty="0">
                <a:solidFill>
                  <a:srgbClr val="78C88C"/>
                </a:solidFill>
                <a:latin typeface="IBM Plex Mono" pitchFamily="34" charset="0"/>
                <a:ea typeface="IBM Plex Mono" pitchFamily="34" charset="-122"/>
                <a:cs typeface="IBM Plex Mono" pitchFamily="34" charset="-120"/>
              </a:rPr>
              <a:t>05</a:t>
            </a:r>
            <a:endParaRPr lang="en-US" sz="1800" dirty="0"/>
          </a:p>
        </p:txBody>
      </p:sp>
      <p:sp>
        <p:nvSpPr>
          <p:cNvPr id="21" name="Text 19"/>
          <p:cNvSpPr/>
          <p:nvPr/>
        </p:nvSpPr>
        <p:spPr>
          <a:xfrm>
            <a:off x="1874520" y="2962656"/>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Le « cerveau » d'une IA</a:t>
            </a:r>
            <a:endParaRPr lang="en-US" sz="1250" dirty="0"/>
          </a:p>
        </p:txBody>
      </p:sp>
      <p:sp>
        <p:nvSpPr>
          <p:cNvPr id="22" name="Text 20"/>
          <p:cNvSpPr/>
          <p:nvPr/>
        </p:nvSpPr>
        <p:spPr>
          <a:xfrm>
            <a:off x="1874520" y="3291840"/>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Réseau de neurones, en image</a:t>
            </a:r>
            <a:endParaRPr lang="en-US" sz="900" dirty="0"/>
          </a:p>
        </p:txBody>
      </p:sp>
      <p:sp>
        <p:nvSpPr>
          <p:cNvPr id="23" name="Shape 21"/>
          <p:cNvSpPr/>
          <p:nvPr/>
        </p:nvSpPr>
        <p:spPr>
          <a:xfrm>
            <a:off x="6355080" y="2907792"/>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24" name="Text 22"/>
          <p:cNvSpPr/>
          <p:nvPr/>
        </p:nvSpPr>
        <p:spPr>
          <a:xfrm>
            <a:off x="6556248" y="2962656"/>
            <a:ext cx="822960" cy="640080"/>
          </a:xfrm>
          <a:prstGeom prst="rect">
            <a:avLst/>
          </a:prstGeom>
          <a:noFill/>
          <a:ln/>
        </p:spPr>
        <p:txBody>
          <a:bodyPr wrap="square" lIns="0" tIns="0" rIns="0" bIns="0" rtlCol="0" anchor="ctr"/>
          <a:lstStyle/>
          <a:p>
            <a:pPr marL="0" indent="0">
              <a:buNone/>
            </a:pPr>
            <a:r>
              <a:rPr lang="en-US" sz="1800" b="1" dirty="0">
                <a:solidFill>
                  <a:srgbClr val="78B4DC"/>
                </a:solidFill>
                <a:latin typeface="IBM Plex Mono" pitchFamily="34" charset="0"/>
                <a:ea typeface="IBM Plex Mono" pitchFamily="34" charset="-122"/>
                <a:cs typeface="IBM Plex Mono" pitchFamily="34" charset="-120"/>
              </a:rPr>
              <a:t>06</a:t>
            </a:r>
            <a:endParaRPr lang="en-US" sz="1800" dirty="0"/>
          </a:p>
        </p:txBody>
      </p:sp>
      <p:sp>
        <p:nvSpPr>
          <p:cNvPr id="25" name="Text 23"/>
          <p:cNvSpPr/>
          <p:nvPr/>
        </p:nvSpPr>
        <p:spPr>
          <a:xfrm>
            <a:off x="7406640" y="2962656"/>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Les bienfaits</a:t>
            </a:r>
            <a:endParaRPr lang="en-US" sz="1250" dirty="0"/>
          </a:p>
        </p:txBody>
      </p:sp>
      <p:sp>
        <p:nvSpPr>
          <p:cNvPr id="26" name="Text 24"/>
          <p:cNvSpPr/>
          <p:nvPr/>
        </p:nvSpPr>
        <p:spPr>
          <a:xfrm>
            <a:off x="7406640" y="3291840"/>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Ce que l'IA apporte au quotidien</a:t>
            </a:r>
            <a:endParaRPr lang="en-US" sz="900" dirty="0"/>
          </a:p>
        </p:txBody>
      </p:sp>
      <p:sp>
        <p:nvSpPr>
          <p:cNvPr id="27" name="Shape 25"/>
          <p:cNvSpPr/>
          <p:nvPr/>
        </p:nvSpPr>
        <p:spPr>
          <a:xfrm>
            <a:off x="822960" y="3767328"/>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28" name="Text 26"/>
          <p:cNvSpPr/>
          <p:nvPr/>
        </p:nvSpPr>
        <p:spPr>
          <a:xfrm>
            <a:off x="1024128" y="3822192"/>
            <a:ext cx="822960" cy="640080"/>
          </a:xfrm>
          <a:prstGeom prst="rect">
            <a:avLst/>
          </a:prstGeom>
          <a:noFill/>
          <a:ln/>
        </p:spPr>
        <p:txBody>
          <a:bodyPr wrap="square" lIns="0" tIns="0" rIns="0" bIns="0" rtlCol="0" anchor="ctr"/>
          <a:lstStyle/>
          <a:p>
            <a:pPr marL="0" indent="0">
              <a:buNone/>
            </a:pPr>
            <a:r>
              <a:rPr lang="en-US" sz="1800" b="1" dirty="0">
                <a:solidFill>
                  <a:srgbClr val="F0965A"/>
                </a:solidFill>
                <a:latin typeface="IBM Plex Mono" pitchFamily="34" charset="0"/>
                <a:ea typeface="IBM Plex Mono" pitchFamily="34" charset="-122"/>
                <a:cs typeface="IBM Plex Mono" pitchFamily="34" charset="-120"/>
              </a:rPr>
              <a:t>07</a:t>
            </a:r>
            <a:endParaRPr lang="en-US" sz="1800" dirty="0"/>
          </a:p>
        </p:txBody>
      </p:sp>
      <p:sp>
        <p:nvSpPr>
          <p:cNvPr id="29" name="Text 27"/>
          <p:cNvSpPr/>
          <p:nvPr/>
        </p:nvSpPr>
        <p:spPr>
          <a:xfrm>
            <a:off x="1874520" y="3822192"/>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Les risques</a:t>
            </a:r>
            <a:endParaRPr lang="en-US" sz="1250" dirty="0"/>
          </a:p>
        </p:txBody>
      </p:sp>
      <p:sp>
        <p:nvSpPr>
          <p:cNvPr id="30" name="Text 28"/>
          <p:cNvSpPr/>
          <p:nvPr/>
        </p:nvSpPr>
        <p:spPr>
          <a:xfrm>
            <a:off x="1874520" y="4151376"/>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Ce à quoi il faut faire attention</a:t>
            </a:r>
            <a:endParaRPr lang="en-US" sz="900" dirty="0"/>
          </a:p>
        </p:txBody>
      </p:sp>
      <p:sp>
        <p:nvSpPr>
          <p:cNvPr id="31" name="Shape 29"/>
          <p:cNvSpPr/>
          <p:nvPr/>
        </p:nvSpPr>
        <p:spPr>
          <a:xfrm>
            <a:off x="6355080" y="3767328"/>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32" name="Text 30"/>
          <p:cNvSpPr/>
          <p:nvPr/>
        </p:nvSpPr>
        <p:spPr>
          <a:xfrm>
            <a:off x="6556248" y="3822192"/>
            <a:ext cx="822960" cy="640080"/>
          </a:xfrm>
          <a:prstGeom prst="rect">
            <a:avLst/>
          </a:prstGeom>
          <a:noFill/>
          <a:ln/>
        </p:spPr>
        <p:txBody>
          <a:bodyPr wrap="square" lIns="0" tIns="0" rIns="0" bIns="0" rtlCol="0" anchor="ctr"/>
          <a:lstStyle/>
          <a:p>
            <a:pPr marL="0" indent="0">
              <a:buNone/>
            </a:pPr>
            <a:r>
              <a:rPr lang="en-US" sz="1800" b="1" dirty="0">
                <a:solidFill>
                  <a:srgbClr val="C896DC"/>
                </a:solidFill>
                <a:latin typeface="IBM Plex Mono" pitchFamily="34" charset="0"/>
                <a:ea typeface="IBM Plex Mono" pitchFamily="34" charset="-122"/>
                <a:cs typeface="IBM Plex Mono" pitchFamily="34" charset="-120"/>
              </a:rPr>
              <a:t>08</a:t>
            </a:r>
            <a:endParaRPr lang="en-US" sz="1800" dirty="0"/>
          </a:p>
        </p:txBody>
      </p:sp>
      <p:sp>
        <p:nvSpPr>
          <p:cNvPr id="33" name="Text 31"/>
          <p:cNvSpPr/>
          <p:nvPr/>
        </p:nvSpPr>
        <p:spPr>
          <a:xfrm>
            <a:off x="7406640" y="3822192"/>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Panorama des IA</a:t>
            </a:r>
            <a:endParaRPr lang="en-US" sz="1250" dirty="0"/>
          </a:p>
        </p:txBody>
      </p:sp>
      <p:sp>
        <p:nvSpPr>
          <p:cNvPr id="34" name="Text 32"/>
          <p:cNvSpPr/>
          <p:nvPr/>
        </p:nvSpPr>
        <p:spPr>
          <a:xfrm>
            <a:off x="7406640" y="4151376"/>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Texte, image, vidéo, musique, voix</a:t>
            </a:r>
            <a:endParaRPr lang="en-US" sz="900" dirty="0"/>
          </a:p>
        </p:txBody>
      </p:sp>
      <p:sp>
        <p:nvSpPr>
          <p:cNvPr id="35" name="Shape 33"/>
          <p:cNvSpPr/>
          <p:nvPr/>
        </p:nvSpPr>
        <p:spPr>
          <a:xfrm>
            <a:off x="822960" y="4626864"/>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36" name="Text 34"/>
          <p:cNvSpPr/>
          <p:nvPr/>
        </p:nvSpPr>
        <p:spPr>
          <a:xfrm>
            <a:off x="1024128" y="4681728"/>
            <a:ext cx="822960" cy="640080"/>
          </a:xfrm>
          <a:prstGeom prst="rect">
            <a:avLst/>
          </a:prstGeom>
          <a:noFill/>
          <a:ln/>
        </p:spPr>
        <p:txBody>
          <a:bodyPr wrap="square" lIns="0" tIns="0" rIns="0" bIns="0" rtlCol="0" anchor="ctr"/>
          <a:lstStyle/>
          <a:p>
            <a:pPr marL="0" indent="0">
              <a:buNone/>
            </a:pPr>
            <a:r>
              <a:rPr lang="en-US" sz="1800" b="1" dirty="0">
                <a:solidFill>
                  <a:srgbClr val="E6C86E"/>
                </a:solidFill>
                <a:latin typeface="IBM Plex Mono" pitchFamily="34" charset="0"/>
                <a:ea typeface="IBM Plex Mono" pitchFamily="34" charset="-122"/>
                <a:cs typeface="IBM Plex Mono" pitchFamily="34" charset="-120"/>
              </a:rPr>
              <a:t>09</a:t>
            </a:r>
            <a:endParaRPr lang="en-US" sz="1800" dirty="0"/>
          </a:p>
        </p:txBody>
      </p:sp>
      <p:sp>
        <p:nvSpPr>
          <p:cNvPr id="37" name="Text 35"/>
          <p:cNvSpPr/>
          <p:nvPr/>
        </p:nvSpPr>
        <p:spPr>
          <a:xfrm>
            <a:off x="1874520" y="4681728"/>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Agents &amp; objets connectés</a:t>
            </a:r>
            <a:endParaRPr lang="en-US" sz="1250" dirty="0"/>
          </a:p>
        </p:txBody>
      </p:sp>
      <p:sp>
        <p:nvSpPr>
          <p:cNvPr id="38" name="Text 36"/>
          <p:cNvSpPr/>
          <p:nvPr/>
        </p:nvSpPr>
        <p:spPr>
          <a:xfrm>
            <a:off x="1874520" y="5010912"/>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Quand l'IA agit seule, déjà partout</a:t>
            </a:r>
            <a:endParaRPr lang="en-US" sz="900" dirty="0"/>
          </a:p>
        </p:txBody>
      </p:sp>
      <p:sp>
        <p:nvSpPr>
          <p:cNvPr id="39" name="Shape 37"/>
          <p:cNvSpPr/>
          <p:nvPr/>
        </p:nvSpPr>
        <p:spPr>
          <a:xfrm>
            <a:off x="6355080" y="4626864"/>
            <a:ext cx="5074920"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40" name="Text 38"/>
          <p:cNvSpPr/>
          <p:nvPr/>
        </p:nvSpPr>
        <p:spPr>
          <a:xfrm>
            <a:off x="6556248" y="4681728"/>
            <a:ext cx="822960" cy="640080"/>
          </a:xfrm>
          <a:prstGeom prst="rect">
            <a:avLst/>
          </a:prstGeom>
          <a:noFill/>
          <a:ln/>
        </p:spPr>
        <p:txBody>
          <a:bodyPr wrap="square" lIns="0" tIns="0" rIns="0" bIns="0" rtlCol="0" anchor="ctr"/>
          <a:lstStyle/>
          <a:p>
            <a:pPr marL="0" indent="0">
              <a:buNone/>
            </a:pPr>
            <a:r>
              <a:rPr lang="en-US" sz="1800" b="1" dirty="0">
                <a:solidFill>
                  <a:srgbClr val="78C88C"/>
                </a:solidFill>
                <a:latin typeface="IBM Plex Mono" pitchFamily="34" charset="0"/>
                <a:ea typeface="IBM Plex Mono" pitchFamily="34" charset="-122"/>
                <a:cs typeface="IBM Plex Mono" pitchFamily="34" charset="-120"/>
              </a:rPr>
              <a:t>10</a:t>
            </a:r>
            <a:endParaRPr lang="en-US" sz="1800" dirty="0"/>
          </a:p>
        </p:txBody>
      </p:sp>
      <p:sp>
        <p:nvSpPr>
          <p:cNvPr id="41" name="Text 39"/>
          <p:cNvSpPr/>
          <p:nvPr/>
        </p:nvSpPr>
        <p:spPr>
          <a:xfrm>
            <a:off x="7406640" y="4681728"/>
            <a:ext cx="3840480"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Droit d'auteur, RGPD &amp; Dark IA</a:t>
            </a:r>
            <a:endParaRPr lang="en-US" sz="1250" dirty="0"/>
          </a:p>
        </p:txBody>
      </p:sp>
      <p:sp>
        <p:nvSpPr>
          <p:cNvPr id="42" name="Text 40"/>
          <p:cNvSpPr/>
          <p:nvPr/>
        </p:nvSpPr>
        <p:spPr>
          <a:xfrm>
            <a:off x="7406640" y="5010912"/>
            <a:ext cx="384048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Ce que dit la loi et les dérives</a:t>
            </a:r>
            <a:endParaRPr lang="en-US" sz="900" dirty="0"/>
          </a:p>
        </p:txBody>
      </p:sp>
      <p:sp>
        <p:nvSpPr>
          <p:cNvPr id="43" name="Shape 41"/>
          <p:cNvSpPr/>
          <p:nvPr/>
        </p:nvSpPr>
        <p:spPr>
          <a:xfrm>
            <a:off x="2362955" y="5517182"/>
            <a:ext cx="5730844" cy="749808"/>
          </a:xfrm>
          <a:prstGeom prst="roundRect">
            <a:avLst>
              <a:gd name="adj" fmla="val 12195"/>
            </a:avLst>
          </a:prstGeom>
          <a:solidFill>
            <a:srgbClr val="FFFFFF">
              <a:alpha val="10000"/>
            </a:srgbClr>
          </a:solidFill>
          <a:ln w="9525">
            <a:solidFill>
              <a:srgbClr val="F2ECE4">
                <a:alpha val="22000"/>
              </a:srgbClr>
            </a:solidFill>
            <a:prstDash val="solid"/>
          </a:ln>
        </p:spPr>
        <p:txBody>
          <a:bodyPr/>
          <a:lstStyle/>
          <a:p>
            <a:endParaRPr lang="fr-FR"/>
          </a:p>
        </p:txBody>
      </p:sp>
      <p:sp>
        <p:nvSpPr>
          <p:cNvPr id="44" name="Text 42"/>
          <p:cNvSpPr/>
          <p:nvPr/>
        </p:nvSpPr>
        <p:spPr>
          <a:xfrm>
            <a:off x="3702868" y="5541264"/>
            <a:ext cx="588476" cy="640080"/>
          </a:xfrm>
          <a:prstGeom prst="rect">
            <a:avLst/>
          </a:prstGeom>
          <a:noFill/>
          <a:ln/>
        </p:spPr>
        <p:txBody>
          <a:bodyPr wrap="square" lIns="0" tIns="0" rIns="0" bIns="0" rtlCol="0" anchor="ctr"/>
          <a:lstStyle/>
          <a:p>
            <a:pPr marL="0" indent="0">
              <a:buNone/>
            </a:pPr>
            <a:r>
              <a:rPr lang="en-US" sz="1800" b="1" dirty="0">
                <a:solidFill>
                  <a:srgbClr val="78B4DC"/>
                </a:solidFill>
                <a:latin typeface="IBM Plex Mono" pitchFamily="34" charset="0"/>
                <a:ea typeface="IBM Plex Mono" pitchFamily="34" charset="-122"/>
                <a:cs typeface="IBM Plex Mono" pitchFamily="34" charset="-120"/>
              </a:rPr>
              <a:t>11</a:t>
            </a:r>
            <a:endParaRPr lang="en-US" sz="1800" dirty="0"/>
          </a:p>
        </p:txBody>
      </p:sp>
      <p:sp>
        <p:nvSpPr>
          <p:cNvPr id="45" name="Text 43"/>
          <p:cNvSpPr/>
          <p:nvPr/>
        </p:nvSpPr>
        <p:spPr>
          <a:xfrm>
            <a:off x="4146487" y="5541264"/>
            <a:ext cx="2409761" cy="310896"/>
          </a:xfrm>
          <a:prstGeom prst="rect">
            <a:avLst/>
          </a:prstGeom>
          <a:noFill/>
          <a:ln/>
        </p:spPr>
        <p:txBody>
          <a:bodyPr wrap="square" lIns="0" tIns="0" rIns="0" bIns="0" rtlCol="0" anchor="ctr"/>
          <a:lstStyle/>
          <a:p>
            <a:pPr marL="0" indent="0">
              <a:buNone/>
            </a:pPr>
            <a:r>
              <a:rPr lang="en-US" sz="1250" b="1" dirty="0">
                <a:solidFill>
                  <a:srgbClr val="FAF6F0"/>
                </a:solidFill>
                <a:latin typeface="Space Grotesk" pitchFamily="34" charset="0"/>
                <a:ea typeface="Space Grotesk" pitchFamily="34" charset="-122"/>
                <a:cs typeface="Space Grotesk" pitchFamily="34" charset="-120"/>
              </a:rPr>
              <a:t>Bon usage</a:t>
            </a:r>
            <a:endParaRPr lang="en-US" sz="1250" dirty="0"/>
          </a:p>
        </p:txBody>
      </p:sp>
      <p:sp>
        <p:nvSpPr>
          <p:cNvPr id="46" name="Text 44"/>
          <p:cNvSpPr/>
          <p:nvPr/>
        </p:nvSpPr>
        <p:spPr>
          <a:xfrm>
            <a:off x="4146488" y="5870448"/>
            <a:ext cx="3865830" cy="310896"/>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Conseils pour une utilisation sereine</a:t>
            </a:r>
            <a:endParaRPr lang="en-US" sz="900" dirty="0"/>
          </a:p>
        </p:txBody>
      </p:sp>
      <p:pic>
        <p:nvPicPr>
          <p:cNvPr id="48" name="Image 1" descr="/home/claude/ia_deck/images/logo.png">
            <a:extLst>
              <a:ext uri="{FF2B5EF4-FFF2-40B4-BE49-F238E27FC236}">
                <a16:creationId xmlns:a16="http://schemas.microsoft.com/office/drawing/2014/main" id="{E90EFB1D-D03A-F149-869B-861E72B2E855}"/>
              </a:ext>
            </a:extLst>
          </p:cNvPr>
          <p:cNvPicPr>
            <a:picLocks noChangeAspect="1"/>
          </p:cNvPicPr>
          <p:nvPr/>
        </p:nvPicPr>
        <p:blipFill>
          <a:blip r:embed="rId3"/>
          <a:stretch>
            <a:fillRect/>
          </a:stretch>
        </p:blipFill>
        <p:spPr>
          <a:xfrm>
            <a:off x="266778" y="246887"/>
            <a:ext cx="828691" cy="7589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02920"/>
          </a:xfrm>
          <a:prstGeom prst="rect">
            <a:avLst/>
          </a:prstGeom>
          <a:noFill/>
          <a:ln/>
        </p:spPr>
        <p:txBody>
          <a:bodyPr wrap="square" lIns="0" tIns="0" rIns="0" bIns="0" rtlCol="0" anchor="ctr"/>
          <a:lstStyle/>
          <a:p>
            <a:pPr marL="0" indent="0" algn="ctr">
              <a:buNone/>
            </a:pPr>
            <a:r>
              <a:rPr lang="en-US" sz="2600" b="1" dirty="0">
                <a:solidFill>
                  <a:srgbClr val="FF0000"/>
                </a:solidFill>
                <a:latin typeface="Space Grotesk" pitchFamily="34" charset="0"/>
                <a:ea typeface="Space Grotesk" pitchFamily="34" charset="-122"/>
                <a:cs typeface="Space Grotesk" pitchFamily="34" charset="-120"/>
              </a:rPr>
              <a:t>L'IA EN FRANCE : OÙ EN EST-ON ?</a:t>
            </a:r>
            <a:endParaRPr lang="en-US" sz="2600" dirty="0">
              <a:solidFill>
                <a:srgbClr val="FF0000"/>
              </a:solidFill>
            </a:endParaRPr>
          </a:p>
        </p:txBody>
      </p:sp>
      <p:sp>
        <p:nvSpPr>
          <p:cNvPr id="3" name="Text 1"/>
          <p:cNvSpPr/>
          <p:nvPr/>
        </p:nvSpPr>
        <p:spPr>
          <a:xfrm>
            <a:off x="640080" y="960120"/>
            <a:ext cx="8229600" cy="320040"/>
          </a:xfrm>
          <a:prstGeom prst="rect">
            <a:avLst/>
          </a:prstGeom>
          <a:noFill/>
          <a:ln/>
        </p:spPr>
        <p:txBody>
          <a:bodyPr wrap="square" lIns="0" tIns="0" rIns="0" bIns="0" rtlCol="0" anchor="ctr"/>
          <a:lstStyle/>
          <a:p>
            <a:pPr marL="0" indent="0" algn="ctr">
              <a:buNone/>
            </a:pPr>
            <a:r>
              <a:rPr lang="en-US" sz="1250" dirty="0">
                <a:solidFill>
                  <a:srgbClr val="A89F95"/>
                </a:solidFill>
                <a:highlight>
                  <a:srgbClr val="000000"/>
                </a:highlight>
                <a:latin typeface="IBM Plex Sans" pitchFamily="34" charset="0"/>
                <a:ea typeface="IBM Plex Sans" pitchFamily="34" charset="-122"/>
                <a:cs typeface="IBM Plex Sans" pitchFamily="34" charset="-120"/>
              </a:rPr>
              <a:t>Quelques chiffres pour situer le territoire français</a:t>
            </a:r>
            <a:endParaRPr lang="en-US" sz="1250" dirty="0">
              <a:highlight>
                <a:srgbClr val="000000"/>
              </a:highlight>
            </a:endParaRPr>
          </a:p>
        </p:txBody>
      </p:sp>
      <p:sp>
        <p:nvSpPr>
          <p:cNvPr id="4" name="Shape 2"/>
          <p:cNvSpPr/>
          <p:nvPr/>
        </p:nvSpPr>
        <p:spPr>
          <a:xfrm>
            <a:off x="77724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5" name="Shape 3"/>
          <p:cNvSpPr/>
          <p:nvPr/>
        </p:nvSpPr>
        <p:spPr>
          <a:xfrm>
            <a:off x="1005840" y="1828800"/>
            <a:ext cx="548640" cy="54864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sp>
        <p:nvSpPr>
          <p:cNvPr id="7" name="Text 4"/>
          <p:cNvSpPr/>
          <p:nvPr/>
        </p:nvSpPr>
        <p:spPr>
          <a:xfrm>
            <a:off x="1737360" y="1801368"/>
            <a:ext cx="2179320" cy="4572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48 % des Français</a:t>
            </a:r>
            <a:endParaRPr lang="en-US" sz="1300" dirty="0"/>
          </a:p>
        </p:txBody>
      </p:sp>
      <p:sp>
        <p:nvSpPr>
          <p:cNvPr id="8" name="Text 5"/>
          <p:cNvSpPr/>
          <p:nvPr/>
        </p:nvSpPr>
        <p:spPr>
          <a:xfrm>
            <a:off x="1005840" y="2514600"/>
            <a:ext cx="2865120" cy="9601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ont utilisé l'IA générative en 2026 — la technologie adoptée le plus vite en 25 ans de mesure (CREDOC/Arcep).</a:t>
            </a:r>
            <a:endParaRPr lang="en-US" sz="1000" dirty="0"/>
          </a:p>
        </p:txBody>
      </p:sp>
      <p:sp>
        <p:nvSpPr>
          <p:cNvPr id="9" name="Shape 6"/>
          <p:cNvSpPr/>
          <p:nvPr/>
        </p:nvSpPr>
        <p:spPr>
          <a:xfrm>
            <a:off x="441960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0" name="Shape 7"/>
          <p:cNvSpPr/>
          <p:nvPr/>
        </p:nvSpPr>
        <p:spPr>
          <a:xfrm>
            <a:off x="4648200" y="1828800"/>
            <a:ext cx="548640" cy="54864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11" name="Image 1" descr="preencoded.png"/>
          <p:cNvPicPr>
            <a:picLocks noChangeAspect="1"/>
          </p:cNvPicPr>
          <p:nvPr/>
        </p:nvPicPr>
        <p:blipFill>
          <a:blip r:embed="rId3"/>
          <a:stretch>
            <a:fillRect/>
          </a:stretch>
        </p:blipFill>
        <p:spPr>
          <a:xfrm>
            <a:off x="4719523" y="1900123"/>
            <a:ext cx="405994" cy="405994"/>
          </a:xfrm>
          <a:prstGeom prst="rect">
            <a:avLst/>
          </a:prstGeom>
        </p:spPr>
      </p:pic>
      <p:sp>
        <p:nvSpPr>
          <p:cNvPr id="12" name="Text 8"/>
          <p:cNvSpPr/>
          <p:nvPr/>
        </p:nvSpPr>
        <p:spPr>
          <a:xfrm>
            <a:off x="5379720" y="1801368"/>
            <a:ext cx="2179320" cy="4572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10 % des entreprises</a:t>
            </a:r>
            <a:endParaRPr lang="en-US" sz="1300" dirty="0"/>
          </a:p>
        </p:txBody>
      </p:sp>
      <p:sp>
        <p:nvSpPr>
          <p:cNvPr id="13" name="Text 9"/>
          <p:cNvSpPr/>
          <p:nvPr/>
        </p:nvSpPr>
        <p:spPr>
          <a:xfrm>
            <a:off x="4648200" y="2514600"/>
            <a:ext cx="2865120" cy="9601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françaises (10 salariés ou plus) utilisent l'IA en 2024, contre 6 % en 2023 — l'adoption a presque doublé en un an (INSEE).</a:t>
            </a:r>
            <a:endParaRPr lang="en-US" sz="1000" dirty="0"/>
          </a:p>
        </p:txBody>
      </p:sp>
      <p:sp>
        <p:nvSpPr>
          <p:cNvPr id="14" name="Shape 10"/>
          <p:cNvSpPr/>
          <p:nvPr/>
        </p:nvSpPr>
        <p:spPr>
          <a:xfrm>
            <a:off x="806196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5" name="Shape 11"/>
          <p:cNvSpPr/>
          <p:nvPr/>
        </p:nvSpPr>
        <p:spPr>
          <a:xfrm>
            <a:off x="8290560" y="1828800"/>
            <a:ext cx="548640" cy="54864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16" name="Image 2" descr="preencoded.png"/>
          <p:cNvPicPr>
            <a:picLocks noChangeAspect="1"/>
          </p:cNvPicPr>
          <p:nvPr/>
        </p:nvPicPr>
        <p:blipFill>
          <a:blip r:embed="rId4"/>
          <a:stretch>
            <a:fillRect/>
          </a:stretch>
        </p:blipFill>
        <p:spPr>
          <a:xfrm>
            <a:off x="8361883" y="1900123"/>
            <a:ext cx="405994" cy="405994"/>
          </a:xfrm>
          <a:prstGeom prst="rect">
            <a:avLst/>
          </a:prstGeom>
        </p:spPr>
      </p:pic>
      <p:sp>
        <p:nvSpPr>
          <p:cNvPr id="17" name="Text 12"/>
          <p:cNvSpPr/>
          <p:nvPr/>
        </p:nvSpPr>
        <p:spPr>
          <a:xfrm>
            <a:off x="9022080" y="1801368"/>
            <a:ext cx="2179320" cy="4572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26 % des PME</a:t>
            </a:r>
            <a:endParaRPr lang="en-US" sz="1300" dirty="0"/>
          </a:p>
        </p:txBody>
      </p:sp>
      <p:sp>
        <p:nvSpPr>
          <p:cNvPr id="18" name="Text 13"/>
          <p:cNvSpPr/>
          <p:nvPr/>
        </p:nvSpPr>
        <p:spPr>
          <a:xfrm>
            <a:off x="8290560" y="2514600"/>
            <a:ext cx="2865120" cy="9601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françaises utilisent déjà l'IA au quotidien dans leur activité (Bpifrance, 2026).</a:t>
            </a:r>
            <a:endParaRPr lang="en-US" sz="1000" dirty="0"/>
          </a:p>
        </p:txBody>
      </p:sp>
      <p:sp>
        <p:nvSpPr>
          <p:cNvPr id="19" name="Shape 14"/>
          <p:cNvSpPr/>
          <p:nvPr/>
        </p:nvSpPr>
        <p:spPr>
          <a:xfrm>
            <a:off x="77724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20" name="Shape 15"/>
          <p:cNvSpPr/>
          <p:nvPr/>
        </p:nvSpPr>
        <p:spPr>
          <a:xfrm>
            <a:off x="1005840" y="4069080"/>
            <a:ext cx="548640" cy="54864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21" name="Image 3" descr="preencoded.png"/>
          <p:cNvPicPr>
            <a:picLocks noChangeAspect="1"/>
          </p:cNvPicPr>
          <p:nvPr/>
        </p:nvPicPr>
        <p:blipFill>
          <a:blip r:embed="rId5"/>
          <a:stretch>
            <a:fillRect/>
          </a:stretch>
        </p:blipFill>
        <p:spPr>
          <a:xfrm>
            <a:off x="1077163" y="4140403"/>
            <a:ext cx="405994" cy="405994"/>
          </a:xfrm>
          <a:prstGeom prst="rect">
            <a:avLst/>
          </a:prstGeom>
        </p:spPr>
      </p:pic>
      <p:sp>
        <p:nvSpPr>
          <p:cNvPr id="22" name="Text 16"/>
          <p:cNvSpPr/>
          <p:nvPr/>
        </p:nvSpPr>
        <p:spPr>
          <a:xfrm>
            <a:off x="1737360" y="4041648"/>
            <a:ext cx="2179320" cy="4572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5 millions d'emplois</a:t>
            </a:r>
            <a:endParaRPr lang="en-US" sz="1300" dirty="0"/>
          </a:p>
        </p:txBody>
      </p:sp>
      <p:sp>
        <p:nvSpPr>
          <p:cNvPr id="23" name="Text 17"/>
          <p:cNvSpPr/>
          <p:nvPr/>
        </p:nvSpPr>
        <p:spPr>
          <a:xfrm>
            <a:off x="1005840" y="4754880"/>
            <a:ext cx="2865120" cy="9601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en France seraient potentiellement exposés à l'automatisation par l'IA d'ici 2030 (étude Coface).</a:t>
            </a:r>
            <a:endParaRPr lang="en-US" sz="1000" dirty="0"/>
          </a:p>
        </p:txBody>
      </p:sp>
      <p:sp>
        <p:nvSpPr>
          <p:cNvPr id="24" name="Shape 18"/>
          <p:cNvSpPr/>
          <p:nvPr/>
        </p:nvSpPr>
        <p:spPr>
          <a:xfrm>
            <a:off x="441960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25" name="Shape 19"/>
          <p:cNvSpPr/>
          <p:nvPr/>
        </p:nvSpPr>
        <p:spPr>
          <a:xfrm>
            <a:off x="4648200" y="4069080"/>
            <a:ext cx="548640" cy="548640"/>
          </a:xfrm>
          <a:prstGeom prst="roundRect">
            <a:avLst>
              <a:gd name="adj" fmla="val 22000"/>
            </a:avLst>
          </a:prstGeom>
          <a:solidFill>
            <a:srgbClr val="78C88C">
              <a:alpha val="30000"/>
            </a:srgbClr>
          </a:solidFill>
          <a:ln w="9525">
            <a:solidFill>
              <a:srgbClr val="78C88C">
                <a:alpha val="65000"/>
              </a:srgbClr>
            </a:solidFill>
            <a:prstDash val="solid"/>
          </a:ln>
        </p:spPr>
        <p:txBody>
          <a:bodyPr/>
          <a:lstStyle/>
          <a:p>
            <a:endParaRPr lang="fr-FR"/>
          </a:p>
        </p:txBody>
      </p:sp>
      <p:pic>
        <p:nvPicPr>
          <p:cNvPr id="26" name="Image 4" descr="preencoded.png"/>
          <p:cNvPicPr>
            <a:picLocks noChangeAspect="1"/>
          </p:cNvPicPr>
          <p:nvPr/>
        </p:nvPicPr>
        <p:blipFill>
          <a:blip r:embed="rId6"/>
          <a:stretch>
            <a:fillRect/>
          </a:stretch>
        </p:blipFill>
        <p:spPr>
          <a:xfrm>
            <a:off x="4719523" y="4140403"/>
            <a:ext cx="405994" cy="405994"/>
          </a:xfrm>
          <a:prstGeom prst="rect">
            <a:avLst/>
          </a:prstGeom>
        </p:spPr>
      </p:pic>
      <p:sp>
        <p:nvSpPr>
          <p:cNvPr id="27" name="Text 20"/>
          <p:cNvSpPr/>
          <p:nvPr/>
        </p:nvSpPr>
        <p:spPr>
          <a:xfrm>
            <a:off x="5379720" y="4041648"/>
            <a:ext cx="2179320" cy="4572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2 millions de Français</a:t>
            </a:r>
            <a:endParaRPr lang="en-US" sz="1300" dirty="0"/>
          </a:p>
        </p:txBody>
      </p:sp>
      <p:sp>
        <p:nvSpPr>
          <p:cNvPr id="28" name="Text 21"/>
          <p:cNvSpPr/>
          <p:nvPr/>
        </p:nvSpPr>
        <p:spPr>
          <a:xfrm>
            <a:off x="4648200" y="4754880"/>
            <a:ext cx="2865120" cy="9601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c'est l'objectif de sensibilisation à l'IA fixé par l'État d'ici 2027.</a:t>
            </a:r>
            <a:endParaRPr lang="en-US" sz="1000" dirty="0"/>
          </a:p>
        </p:txBody>
      </p:sp>
      <p:sp>
        <p:nvSpPr>
          <p:cNvPr id="29" name="Shape 22"/>
          <p:cNvSpPr/>
          <p:nvPr/>
        </p:nvSpPr>
        <p:spPr>
          <a:xfrm>
            <a:off x="806196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30" name="Shape 23"/>
          <p:cNvSpPr/>
          <p:nvPr/>
        </p:nvSpPr>
        <p:spPr>
          <a:xfrm>
            <a:off x="8290560" y="4069080"/>
            <a:ext cx="548640" cy="54864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31" name="Image 5" descr="preencoded.png"/>
          <p:cNvPicPr>
            <a:picLocks noChangeAspect="1"/>
          </p:cNvPicPr>
          <p:nvPr/>
        </p:nvPicPr>
        <p:blipFill>
          <a:blip r:embed="rId7"/>
          <a:stretch>
            <a:fillRect/>
          </a:stretch>
        </p:blipFill>
        <p:spPr>
          <a:xfrm>
            <a:off x="8361883" y="4140403"/>
            <a:ext cx="405994" cy="405994"/>
          </a:xfrm>
          <a:prstGeom prst="rect">
            <a:avLst/>
          </a:prstGeom>
        </p:spPr>
      </p:pic>
      <p:sp>
        <p:nvSpPr>
          <p:cNvPr id="32" name="Text 24"/>
          <p:cNvSpPr/>
          <p:nvPr/>
        </p:nvSpPr>
        <p:spPr>
          <a:xfrm>
            <a:off x="9022080" y="4041648"/>
            <a:ext cx="2179320" cy="4572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Le Chat (Mistral AI)</a:t>
            </a:r>
            <a:endParaRPr lang="en-US" sz="1300" dirty="0"/>
          </a:p>
        </p:txBody>
      </p:sp>
      <p:sp>
        <p:nvSpPr>
          <p:cNvPr id="33" name="Text 25"/>
          <p:cNvSpPr/>
          <p:nvPr/>
        </p:nvSpPr>
        <p:spPr>
          <a:xfrm>
            <a:off x="8290560" y="4754880"/>
            <a:ext cx="2865120" cy="9601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l'assistant IA français est déjà utilisé par 6 % des Français, en forte croissance.</a:t>
            </a:r>
            <a:endParaRPr lang="en-US" sz="1000" dirty="0"/>
          </a:p>
        </p:txBody>
      </p:sp>
      <p:sp>
        <p:nvSpPr>
          <p:cNvPr id="34" name="Text 26"/>
          <p:cNvSpPr/>
          <p:nvPr/>
        </p:nvSpPr>
        <p:spPr>
          <a:xfrm>
            <a:off x="777240" y="5806440"/>
            <a:ext cx="10607040" cy="320040"/>
          </a:xfrm>
          <a:prstGeom prst="rect">
            <a:avLst/>
          </a:prstGeom>
          <a:noFill/>
          <a:ln/>
        </p:spPr>
        <p:txBody>
          <a:bodyPr wrap="square" lIns="0" tIns="0" rIns="0" bIns="0" rtlCol="0" anchor="ctr"/>
          <a:lstStyle/>
          <a:p>
            <a:pPr marL="0" indent="0">
              <a:buNone/>
            </a:pPr>
            <a:r>
              <a:rPr lang="en-US" sz="850" i="1" dirty="0">
                <a:solidFill>
                  <a:srgbClr val="9A9089"/>
                </a:solidFill>
                <a:latin typeface="IBM Plex Sans" pitchFamily="34" charset="0"/>
                <a:ea typeface="IBM Plex Sans" pitchFamily="34" charset="-122"/>
                <a:cs typeface="IBM Plex Sans" pitchFamily="34" charset="-120"/>
              </a:rPr>
              <a:t>Sources : CREDOC/Arcep (Baromètre du numérique 2026), INSEE (enquête TIC entreprises 2024), Bpifrance Le Lab (2026), Coface.</a:t>
            </a:r>
            <a:endParaRPr lang="en-US" sz="850" dirty="0"/>
          </a:p>
        </p:txBody>
      </p:sp>
      <p:sp>
        <p:nvSpPr>
          <p:cNvPr id="35" name="Text 27"/>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36" name="Text 28"/>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3</a:t>
            </a:r>
            <a:endParaRPr lang="en-US" sz="900" dirty="0"/>
          </a:p>
        </p:txBody>
      </p:sp>
      <p:pic>
        <p:nvPicPr>
          <p:cNvPr id="38" name="Image 37">
            <a:extLst>
              <a:ext uri="{FF2B5EF4-FFF2-40B4-BE49-F238E27FC236}">
                <a16:creationId xmlns:a16="http://schemas.microsoft.com/office/drawing/2014/main" id="{9DC6CC7A-B205-1531-5C35-40A34FFAD10F}"/>
              </a:ext>
            </a:extLst>
          </p:cNvPr>
          <p:cNvPicPr>
            <a:picLocks noChangeAspect="1"/>
          </p:cNvPicPr>
          <p:nvPr/>
        </p:nvPicPr>
        <p:blipFill>
          <a:blip r:embed="rId8"/>
          <a:stretch>
            <a:fillRect/>
          </a:stretch>
        </p:blipFill>
        <p:spPr>
          <a:xfrm>
            <a:off x="113329" y="74556"/>
            <a:ext cx="1053502" cy="1045584"/>
          </a:xfrm>
          <a:prstGeom prst="rect">
            <a:avLst/>
          </a:prstGeom>
        </p:spPr>
      </p:pic>
      <p:pic>
        <p:nvPicPr>
          <p:cNvPr id="45" name="Image 44">
            <a:extLst>
              <a:ext uri="{FF2B5EF4-FFF2-40B4-BE49-F238E27FC236}">
                <a16:creationId xmlns:a16="http://schemas.microsoft.com/office/drawing/2014/main" id="{C50F49B4-EA1B-7D4A-3B7F-80F62BE5D874}"/>
              </a:ext>
            </a:extLst>
          </p:cNvPr>
          <p:cNvPicPr>
            <a:picLocks noChangeAspect="1"/>
          </p:cNvPicPr>
          <p:nvPr/>
        </p:nvPicPr>
        <p:blipFill>
          <a:blip r:embed="rId9"/>
          <a:stretch>
            <a:fillRect/>
          </a:stretch>
        </p:blipFill>
        <p:spPr>
          <a:xfrm>
            <a:off x="1077163" y="1900123"/>
            <a:ext cx="405994" cy="4059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02920"/>
          </a:xfrm>
          <a:prstGeom prst="rect">
            <a:avLst/>
          </a:prstGeom>
          <a:noFill/>
          <a:ln/>
        </p:spPr>
        <p:txBody>
          <a:bodyPr wrap="square" lIns="0" tIns="0" rIns="0" bIns="0" rtlCol="0" anchor="ctr"/>
          <a:lstStyle/>
          <a:p>
            <a:pPr marL="0" indent="0" algn="ctr">
              <a:buNone/>
            </a:pPr>
            <a:r>
              <a:rPr lang="en-US" sz="2600" b="1" dirty="0">
                <a:solidFill>
                  <a:srgbClr val="FAF6F0"/>
                </a:solidFill>
                <a:latin typeface="Space Grotesk" pitchFamily="34" charset="0"/>
                <a:ea typeface="Space Grotesk" pitchFamily="34" charset="-122"/>
                <a:cs typeface="Space Grotesk" pitchFamily="34" charset="-120"/>
              </a:rPr>
              <a:t>                           </a:t>
            </a:r>
            <a:r>
              <a:rPr lang="en-US" sz="2600" b="1" dirty="0">
                <a:solidFill>
                  <a:srgbClr val="FF0000"/>
                </a:solidFill>
                <a:latin typeface="Space Grotesk" pitchFamily="34" charset="0"/>
                <a:ea typeface="Space Grotesk" pitchFamily="34" charset="-122"/>
                <a:cs typeface="Space Grotesk" pitchFamily="34" charset="-120"/>
              </a:rPr>
              <a:t>QU'EST-CE QUE L'IA ?</a:t>
            </a:r>
            <a:endParaRPr lang="en-US" sz="2600" dirty="0">
              <a:solidFill>
                <a:srgbClr val="FF0000"/>
              </a:solidFill>
            </a:endParaRPr>
          </a:p>
        </p:txBody>
      </p:sp>
      <p:sp>
        <p:nvSpPr>
          <p:cNvPr id="3" name="Text 1"/>
          <p:cNvSpPr/>
          <p:nvPr/>
        </p:nvSpPr>
        <p:spPr>
          <a:xfrm>
            <a:off x="640080" y="960120"/>
            <a:ext cx="8229599"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                                                                                                     Une définition simple, sans jargon</a:t>
            </a:r>
            <a:endParaRPr lang="en-US" sz="1250" dirty="0"/>
          </a:p>
        </p:txBody>
      </p:sp>
      <p:sp>
        <p:nvSpPr>
          <p:cNvPr id="4" name="Shape 2"/>
          <p:cNvSpPr/>
          <p:nvPr/>
        </p:nvSpPr>
        <p:spPr>
          <a:xfrm>
            <a:off x="640080" y="1554480"/>
            <a:ext cx="6492240" cy="4389120"/>
          </a:xfrm>
          <a:prstGeom prst="roundRect">
            <a:avLst>
              <a:gd name="adj" fmla="val 2708"/>
            </a:avLst>
          </a:prstGeom>
          <a:solidFill>
            <a:srgbClr val="FFFFFF">
              <a:alpha val="10000"/>
            </a:srgbClr>
          </a:solidFill>
          <a:ln w="9525">
            <a:solidFill>
              <a:srgbClr val="F2ECE4">
                <a:alpha val="22000"/>
              </a:srgbClr>
            </a:solidFill>
            <a:prstDash val="solid"/>
          </a:ln>
        </p:spPr>
        <p:txBody>
          <a:bodyPr/>
          <a:lstStyle/>
          <a:p>
            <a:endParaRPr lang="fr-FR"/>
          </a:p>
        </p:txBody>
      </p:sp>
      <p:sp>
        <p:nvSpPr>
          <p:cNvPr id="5" name="Shape 3"/>
          <p:cNvSpPr/>
          <p:nvPr/>
        </p:nvSpPr>
        <p:spPr>
          <a:xfrm>
            <a:off x="960120" y="1874520"/>
            <a:ext cx="685800" cy="68580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1049274" y="1963674"/>
            <a:ext cx="507492" cy="507492"/>
          </a:xfrm>
          <a:prstGeom prst="rect">
            <a:avLst/>
          </a:prstGeom>
        </p:spPr>
      </p:pic>
      <p:sp>
        <p:nvSpPr>
          <p:cNvPr id="7" name="Text 4"/>
          <p:cNvSpPr/>
          <p:nvPr/>
        </p:nvSpPr>
        <p:spPr>
          <a:xfrm>
            <a:off x="1828800" y="1828800"/>
            <a:ext cx="5120640" cy="914400"/>
          </a:xfrm>
          <a:prstGeom prst="rect">
            <a:avLst/>
          </a:prstGeom>
          <a:noFill/>
          <a:ln/>
        </p:spPr>
        <p:txBody>
          <a:bodyPr wrap="square" lIns="0" tIns="0" rIns="0" bIns="0" rtlCol="0" anchor="ctr"/>
          <a:lstStyle/>
          <a:p>
            <a:pPr marL="0" indent="0">
              <a:buNone/>
            </a:pPr>
            <a:r>
              <a:rPr lang="en-US" sz="1300" dirty="0">
                <a:solidFill>
                  <a:srgbClr val="F2ECE4"/>
                </a:solidFill>
                <a:latin typeface="IBM Plex Sans" pitchFamily="34" charset="0"/>
                <a:ea typeface="IBM Plex Sans" pitchFamily="34" charset="-122"/>
                <a:cs typeface="IBM Plex Sans" pitchFamily="34" charset="-120"/>
              </a:rPr>
              <a:t>L'intelligence artificielle, c'est un programme informatique entraîné sur d'énormes quantités de données pour reconnaître des schémas et produire une réponse plausible.</a:t>
            </a:r>
            <a:endParaRPr lang="en-US" sz="1300" dirty="0"/>
          </a:p>
        </p:txBody>
      </p:sp>
      <p:sp>
        <p:nvSpPr>
          <p:cNvPr id="8" name="Shape 5"/>
          <p:cNvSpPr/>
          <p:nvPr/>
        </p:nvSpPr>
        <p:spPr>
          <a:xfrm>
            <a:off x="914400" y="2971800"/>
            <a:ext cx="5943600" cy="0"/>
          </a:xfrm>
          <a:prstGeom prst="line">
            <a:avLst/>
          </a:prstGeom>
          <a:noFill/>
          <a:ln w="12700">
            <a:solidFill>
              <a:srgbClr val="37312A"/>
            </a:solidFill>
            <a:prstDash val="solid"/>
          </a:ln>
        </p:spPr>
        <p:txBody>
          <a:bodyPr/>
          <a:lstStyle/>
          <a:p>
            <a:endParaRPr lang="fr-FR"/>
          </a:p>
        </p:txBody>
      </p:sp>
      <p:sp>
        <p:nvSpPr>
          <p:cNvPr id="9" name="Text 6"/>
          <p:cNvSpPr/>
          <p:nvPr/>
        </p:nvSpPr>
        <p:spPr>
          <a:xfrm>
            <a:off x="914400" y="3200400"/>
            <a:ext cx="5943600" cy="260604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B3AAA0"/>
                </a:solidFill>
                <a:latin typeface="IBM Plex Sans" pitchFamily="34" charset="0"/>
                <a:ea typeface="IBM Plex Sans" pitchFamily="34" charset="-122"/>
                <a:cs typeface="IBM Plex Sans" pitchFamily="34" charset="-120"/>
              </a:rPr>
              <a:t>Elle ne « comprend » pas comme un humain : elle prédit le mot ou le pixel le plus probable.</a:t>
            </a:r>
            <a:endParaRPr lang="en-US" sz="1200" dirty="0"/>
          </a:p>
          <a:p>
            <a:pPr marL="342900" indent="-342900">
              <a:lnSpc>
                <a:spcPct val="120000"/>
              </a:lnSpc>
              <a:spcAft>
                <a:spcPts val="1000"/>
              </a:spcAft>
              <a:buSzPct val="100000"/>
              <a:buChar char="–"/>
            </a:pPr>
            <a:r>
              <a:rPr lang="en-US" sz="1200" dirty="0">
                <a:solidFill>
                  <a:srgbClr val="B3AAA0"/>
                </a:solidFill>
                <a:latin typeface="IBM Plex Sans" pitchFamily="34" charset="0"/>
                <a:ea typeface="IBM Plex Sans" pitchFamily="34" charset="-122"/>
                <a:cs typeface="IBM Plex Sans" pitchFamily="34" charset="-120"/>
              </a:rPr>
              <a:t>Elle n'a pas de conscience, pas d'intention, pas de vérité absolue — elle imite des schémas appris.</a:t>
            </a:r>
            <a:endParaRPr lang="en-US" sz="1200" dirty="0"/>
          </a:p>
          <a:p>
            <a:pPr marL="342900" indent="-342900">
              <a:lnSpc>
                <a:spcPct val="120000"/>
              </a:lnSpc>
              <a:spcAft>
                <a:spcPts val="1000"/>
              </a:spcAft>
              <a:buSzPct val="100000"/>
              <a:buChar char="–"/>
            </a:pPr>
            <a:r>
              <a:rPr lang="en-US" sz="1200" dirty="0">
                <a:solidFill>
                  <a:srgbClr val="B3AAA0"/>
                </a:solidFill>
                <a:latin typeface="IBM Plex Sans" pitchFamily="34" charset="0"/>
                <a:ea typeface="IBM Plex Sans" pitchFamily="34" charset="-122"/>
                <a:cs typeface="IBM Plex Sans" pitchFamily="34" charset="-120"/>
              </a:rPr>
              <a:t>Elle peut se tromper avec assurance : on parle d'« hallucination ».</a:t>
            </a:r>
            <a:endParaRPr lang="en-US" sz="1200" dirty="0"/>
          </a:p>
          <a:p>
            <a:pPr marL="342900" indent="-342900">
              <a:lnSpc>
                <a:spcPct val="120000"/>
              </a:lnSpc>
              <a:spcAft>
                <a:spcPts val="1000"/>
              </a:spcAft>
              <a:buSzPct val="100000"/>
              <a:buChar char="–"/>
            </a:pPr>
            <a:r>
              <a:rPr lang="en-US" sz="1200" dirty="0">
                <a:solidFill>
                  <a:srgbClr val="B3AAA0"/>
                </a:solidFill>
                <a:latin typeface="IBM Plex Sans" pitchFamily="34" charset="0"/>
                <a:ea typeface="IBM Plex Sans" pitchFamily="34" charset="-122"/>
                <a:cs typeface="IBM Plex Sans" pitchFamily="34" charset="-120"/>
              </a:rPr>
              <a:t>Il existe plusieurs familles : texte (chatbots), image, vidéo, voix, chacune avec ses outils.</a:t>
            </a:r>
            <a:endParaRPr lang="en-US" sz="1200" dirty="0"/>
          </a:p>
        </p:txBody>
      </p:sp>
      <p:sp>
        <p:nvSpPr>
          <p:cNvPr id="10" name="Shape 7"/>
          <p:cNvSpPr/>
          <p:nvPr/>
        </p:nvSpPr>
        <p:spPr>
          <a:xfrm>
            <a:off x="7360920" y="1554480"/>
            <a:ext cx="4160520" cy="4389120"/>
          </a:xfrm>
          <a:prstGeom prst="roundRect">
            <a:avLst>
              <a:gd name="adj" fmla="val 2857"/>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8"/>
          <p:cNvSpPr/>
          <p:nvPr/>
        </p:nvSpPr>
        <p:spPr>
          <a:xfrm>
            <a:off x="7680960" y="1828800"/>
            <a:ext cx="3566160" cy="320040"/>
          </a:xfrm>
          <a:prstGeom prst="rect">
            <a:avLst/>
          </a:prstGeom>
          <a:noFill/>
          <a:ln/>
        </p:spPr>
        <p:txBody>
          <a:bodyPr wrap="square" lIns="0" tIns="0" rIns="0" bIns="0" rtlCol="0" anchor="ctr"/>
          <a:lstStyle/>
          <a:p>
            <a:pPr marL="0" indent="0">
              <a:buNone/>
            </a:pPr>
            <a:r>
              <a:rPr lang="en-US" sz="1050" kern="0" spc="200" dirty="0">
                <a:solidFill>
                  <a:srgbClr val="D9A883"/>
                </a:solidFill>
                <a:latin typeface="IBM Plex Mono" pitchFamily="34" charset="0"/>
                <a:ea typeface="IBM Plex Mono" pitchFamily="34" charset="-122"/>
                <a:cs typeface="IBM Plex Mono" pitchFamily="34" charset="-120"/>
              </a:rPr>
              <a:t>EN UNE PHRASE</a:t>
            </a:r>
            <a:endParaRPr lang="en-US" sz="1050" dirty="0"/>
          </a:p>
        </p:txBody>
      </p:sp>
      <p:sp>
        <p:nvSpPr>
          <p:cNvPr id="12" name="Text 9"/>
          <p:cNvSpPr/>
          <p:nvPr/>
        </p:nvSpPr>
        <p:spPr>
          <a:xfrm>
            <a:off x="7680960" y="2286000"/>
            <a:ext cx="3520440" cy="2377440"/>
          </a:xfrm>
          <a:prstGeom prst="rect">
            <a:avLst/>
          </a:prstGeom>
          <a:noFill/>
          <a:ln/>
        </p:spPr>
        <p:txBody>
          <a:bodyPr wrap="square" lIns="0" tIns="0" rIns="0" bIns="0" rtlCol="0" anchor="t"/>
          <a:lstStyle/>
          <a:p>
            <a:pPr marL="0" indent="0">
              <a:lnSpc>
                <a:spcPct val="125000"/>
              </a:lnSpc>
              <a:buNone/>
            </a:pPr>
            <a:r>
              <a:rPr lang="en-US" sz="1500" i="1" dirty="0">
                <a:solidFill>
                  <a:srgbClr val="FAF6F0"/>
                </a:solidFill>
                <a:latin typeface="Space Grotesk" pitchFamily="34" charset="0"/>
                <a:ea typeface="Space Grotesk" pitchFamily="34" charset="-122"/>
                <a:cs typeface="Space Grotesk" pitchFamily="34" charset="-120"/>
              </a:rPr>
              <a:t>« L'IA générative devine — de façon très sophistiquée — ce qui vient probablement après, à partir de tout ce qu'elle a lu, vu ou entendu. »</a:t>
            </a:r>
            <a:endParaRPr lang="en-US" sz="1500" dirty="0"/>
          </a:p>
        </p:txBody>
      </p:sp>
      <p:sp>
        <p:nvSpPr>
          <p:cNvPr id="13" name="Shape 10"/>
          <p:cNvSpPr/>
          <p:nvPr/>
        </p:nvSpPr>
        <p:spPr>
          <a:xfrm>
            <a:off x="7680960" y="5074920"/>
            <a:ext cx="914400" cy="0"/>
          </a:xfrm>
          <a:prstGeom prst="line">
            <a:avLst/>
          </a:prstGeom>
          <a:noFill/>
          <a:ln w="19050">
            <a:solidFill>
              <a:srgbClr val="F0965A"/>
            </a:solidFill>
            <a:prstDash val="solid"/>
          </a:ln>
        </p:spPr>
        <p:txBody>
          <a:bodyPr/>
          <a:lstStyle/>
          <a:p>
            <a:endParaRPr lang="fr-FR"/>
          </a:p>
        </p:txBody>
      </p:sp>
      <p:sp>
        <p:nvSpPr>
          <p:cNvPr id="14" name="Text 11"/>
          <p:cNvSpPr/>
          <p:nvPr/>
        </p:nvSpPr>
        <p:spPr>
          <a:xfrm>
            <a:off x="7680960" y="5257800"/>
            <a:ext cx="3520440" cy="548640"/>
          </a:xfrm>
          <a:prstGeom prst="rect">
            <a:avLst/>
          </a:prstGeom>
          <a:noFill/>
          <a:ln/>
        </p:spPr>
        <p:txBody>
          <a:bodyPr wrap="square" lIns="0" tIns="0" rIns="0" bIns="0" rtlCol="0" anchor="ctr"/>
          <a:lstStyle/>
          <a:p>
            <a:pPr marL="0" indent="0">
              <a:buNone/>
            </a:pPr>
            <a:r>
              <a:rPr lang="en-US" sz="1050" dirty="0">
                <a:solidFill>
                  <a:srgbClr val="A89F95"/>
                </a:solidFill>
                <a:latin typeface="IBM Plex Sans" pitchFamily="34" charset="0"/>
                <a:ea typeface="IBM Plex Sans" pitchFamily="34" charset="-122"/>
                <a:cs typeface="IBM Plex Sans" pitchFamily="34" charset="-120"/>
              </a:rPr>
              <a:t>D'où l'importance de garder son esprit critique.</a:t>
            </a:r>
            <a:endParaRPr lang="en-US" sz="1050" dirty="0"/>
          </a:p>
        </p:txBody>
      </p:sp>
      <p:sp>
        <p:nvSpPr>
          <p:cNvPr id="15" name="Text 12"/>
          <p:cNvSpPr/>
          <p:nvPr/>
        </p:nvSpPr>
        <p:spPr>
          <a:xfrm>
            <a:off x="640080" y="6016752"/>
            <a:ext cx="10881360" cy="411480"/>
          </a:xfrm>
          <a:prstGeom prst="rect">
            <a:avLst/>
          </a:prstGeom>
          <a:noFill/>
          <a:ln/>
        </p:spPr>
        <p:txBody>
          <a:bodyPr wrap="square" lIns="0" tIns="0" rIns="0" bIns="0" rtlCol="0" anchor="ctr"/>
          <a:lstStyle/>
          <a:p>
            <a:pPr marL="0" indent="0">
              <a:lnSpc>
                <a:spcPct val="115000"/>
              </a:lnSpc>
              <a:buNone/>
            </a:pPr>
            <a:r>
              <a:rPr lang="en-US" sz="900" i="1" dirty="0">
                <a:solidFill>
                  <a:srgbClr val="9A9089"/>
                </a:solidFill>
                <a:latin typeface="IBM Plex Sans" pitchFamily="34" charset="0"/>
                <a:ea typeface="IBM Plex Sans" pitchFamily="34" charset="-122"/>
                <a:cs typeface="IBM Plex Sans" pitchFamily="34" charset="-120"/>
              </a:rPr>
              <a:t>Définition officielle : selon le Parlement européen et l'AI Act, l'IA est un outil capable de reproduire des comportements liés à l'intelligence humaine — raisonnement, planification, créativité.</a:t>
            </a:r>
            <a:endParaRPr lang="en-US" sz="900" dirty="0"/>
          </a:p>
        </p:txBody>
      </p:sp>
      <p:sp>
        <p:nvSpPr>
          <p:cNvPr id="16" name="Text 1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17" name="Text 1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4</a:t>
            </a:r>
            <a:endParaRPr lang="en-US" sz="900" dirty="0"/>
          </a:p>
        </p:txBody>
      </p:sp>
      <p:pic>
        <p:nvPicPr>
          <p:cNvPr id="19" name="Image 18">
            <a:extLst>
              <a:ext uri="{FF2B5EF4-FFF2-40B4-BE49-F238E27FC236}">
                <a16:creationId xmlns:a16="http://schemas.microsoft.com/office/drawing/2014/main" id="{9001FA07-B771-AE40-03CF-5E263D2D389B}"/>
              </a:ext>
            </a:extLst>
          </p:cNvPr>
          <p:cNvPicPr>
            <a:picLocks noChangeAspect="1"/>
          </p:cNvPicPr>
          <p:nvPr/>
        </p:nvPicPr>
        <p:blipFill>
          <a:blip r:embed="rId4"/>
          <a:stretch>
            <a:fillRect/>
          </a:stretch>
        </p:blipFill>
        <p:spPr>
          <a:xfrm>
            <a:off x="390098" y="170643"/>
            <a:ext cx="1048603" cy="10486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02920"/>
          </a:xfrm>
          <a:prstGeom prst="rect">
            <a:avLst/>
          </a:prstGeom>
          <a:noFill/>
          <a:ln/>
        </p:spPr>
        <p:txBody>
          <a:bodyPr wrap="square" lIns="0" tIns="0" rIns="0" bIns="0" rtlCol="0" anchor="ctr"/>
          <a:lstStyle/>
          <a:p>
            <a:pPr marL="0" indent="0">
              <a:buNone/>
            </a:pPr>
            <a:r>
              <a:rPr lang="en-US" sz="2600" b="1" dirty="0">
                <a:solidFill>
                  <a:srgbClr val="FF0000"/>
                </a:solidFill>
                <a:latin typeface="Space Grotesk" pitchFamily="34" charset="0"/>
                <a:ea typeface="Space Grotesk" pitchFamily="34" charset="-122"/>
                <a:cs typeface="Space Grotesk" pitchFamily="34" charset="-120"/>
              </a:rPr>
              <a:t>                                               QUELQUES REPÈRES</a:t>
            </a:r>
            <a:endParaRPr lang="en-US" sz="2600" dirty="0">
              <a:solidFill>
                <a:srgbClr val="FF0000"/>
              </a:solidFill>
            </a:endParaRPr>
          </a:p>
        </p:txBody>
      </p:sp>
      <p:sp>
        <p:nvSpPr>
          <p:cNvPr id="3" name="Text 1"/>
          <p:cNvSpPr/>
          <p:nvPr/>
        </p:nvSpPr>
        <p:spPr>
          <a:xfrm>
            <a:off x="640080" y="960120"/>
            <a:ext cx="8229600"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                                                                                              L'accélération de ces dernières années</a:t>
            </a:r>
            <a:endParaRPr lang="en-US" sz="1250" dirty="0"/>
          </a:p>
        </p:txBody>
      </p:sp>
      <p:sp>
        <p:nvSpPr>
          <p:cNvPr id="4" name="Shape 2"/>
          <p:cNvSpPr/>
          <p:nvPr/>
        </p:nvSpPr>
        <p:spPr>
          <a:xfrm>
            <a:off x="2017395" y="2286000"/>
            <a:ext cx="8126730" cy="0"/>
          </a:xfrm>
          <a:prstGeom prst="line">
            <a:avLst/>
          </a:prstGeom>
          <a:noFill/>
          <a:ln w="25400">
            <a:solidFill>
              <a:srgbClr val="37312A"/>
            </a:solidFill>
            <a:prstDash val="solid"/>
          </a:ln>
        </p:spPr>
        <p:txBody>
          <a:bodyPr/>
          <a:lstStyle/>
          <a:p>
            <a:endParaRPr lang="fr-FR"/>
          </a:p>
        </p:txBody>
      </p:sp>
      <p:sp>
        <p:nvSpPr>
          <p:cNvPr id="5" name="Shape 3"/>
          <p:cNvSpPr/>
          <p:nvPr/>
        </p:nvSpPr>
        <p:spPr>
          <a:xfrm>
            <a:off x="1852803" y="2121408"/>
            <a:ext cx="329184" cy="329184"/>
          </a:xfrm>
          <a:prstGeom prst="ellipse">
            <a:avLst/>
          </a:prstGeom>
          <a:solidFill>
            <a:srgbClr val="78B4DC"/>
          </a:solidFill>
          <a:ln w="25400">
            <a:solidFill>
              <a:srgbClr val="161219"/>
            </a:solidFill>
            <a:prstDash val="solid"/>
          </a:ln>
        </p:spPr>
        <p:txBody>
          <a:bodyPr/>
          <a:lstStyle/>
          <a:p>
            <a:endParaRPr lang="fr-FR"/>
          </a:p>
        </p:txBody>
      </p:sp>
      <p:sp>
        <p:nvSpPr>
          <p:cNvPr id="6" name="Shape 4"/>
          <p:cNvSpPr/>
          <p:nvPr/>
        </p:nvSpPr>
        <p:spPr>
          <a:xfrm>
            <a:off x="900684" y="2755875"/>
            <a:ext cx="2388870" cy="3291840"/>
          </a:xfrm>
          <a:prstGeom prst="roundRect">
            <a:avLst>
              <a:gd name="adj" fmla="val 4976"/>
            </a:avLst>
          </a:prstGeom>
          <a:solidFill>
            <a:srgbClr val="FFFFFF">
              <a:alpha val="10000"/>
            </a:srgbClr>
          </a:solidFill>
          <a:ln w="9525">
            <a:solidFill>
              <a:srgbClr val="F2ECE4">
                <a:alpha val="22000"/>
              </a:srgbClr>
            </a:solidFill>
            <a:prstDash val="solid"/>
          </a:ln>
        </p:spPr>
        <p:txBody>
          <a:bodyPr/>
          <a:lstStyle/>
          <a:p>
            <a:endParaRPr lang="fr-FR"/>
          </a:p>
        </p:txBody>
      </p:sp>
      <p:sp>
        <p:nvSpPr>
          <p:cNvPr id="7" name="Text 5"/>
          <p:cNvSpPr/>
          <p:nvPr/>
        </p:nvSpPr>
        <p:spPr>
          <a:xfrm>
            <a:off x="987552" y="2926080"/>
            <a:ext cx="2059686" cy="365760"/>
          </a:xfrm>
          <a:prstGeom prst="rect">
            <a:avLst/>
          </a:prstGeom>
          <a:noFill/>
          <a:ln/>
        </p:spPr>
        <p:txBody>
          <a:bodyPr wrap="square" lIns="0" tIns="0" rIns="0" bIns="0" rtlCol="0" anchor="ctr"/>
          <a:lstStyle/>
          <a:p>
            <a:pPr marL="0" indent="0" algn="ctr">
              <a:buNone/>
            </a:pPr>
            <a:r>
              <a:rPr lang="en-US" sz="1300" b="1" dirty="0">
                <a:solidFill>
                  <a:srgbClr val="78B4DC"/>
                </a:solidFill>
                <a:latin typeface="IBM Plex Mono" pitchFamily="34" charset="0"/>
                <a:ea typeface="IBM Plex Mono" pitchFamily="34" charset="-122"/>
                <a:cs typeface="IBM Plex Mono" pitchFamily="34" charset="-120"/>
              </a:rPr>
              <a:t>2012-2020</a:t>
            </a:r>
            <a:endParaRPr lang="en-US" sz="1300" dirty="0"/>
          </a:p>
        </p:txBody>
      </p:sp>
      <p:sp>
        <p:nvSpPr>
          <p:cNvPr id="8" name="Text 6"/>
          <p:cNvSpPr/>
          <p:nvPr/>
        </p:nvSpPr>
        <p:spPr>
          <a:xfrm>
            <a:off x="987552" y="3337560"/>
            <a:ext cx="2059686" cy="6858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L'IA progresse en coulisses</a:t>
            </a:r>
            <a:endParaRPr lang="en-US" sz="1300" dirty="0"/>
          </a:p>
        </p:txBody>
      </p:sp>
      <p:sp>
        <p:nvSpPr>
          <p:cNvPr id="9" name="Text 7"/>
          <p:cNvSpPr/>
          <p:nvPr/>
        </p:nvSpPr>
        <p:spPr>
          <a:xfrm>
            <a:off x="987552" y="4023360"/>
            <a:ext cx="2059686" cy="18745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Reconnaissance d'image, traduction automatique, recommandations (Netflix, YouTube).</a:t>
            </a:r>
            <a:endParaRPr lang="en-US" sz="1000" dirty="0"/>
          </a:p>
        </p:txBody>
      </p:sp>
      <p:sp>
        <p:nvSpPr>
          <p:cNvPr id="10" name="Shape 8"/>
          <p:cNvSpPr/>
          <p:nvPr/>
        </p:nvSpPr>
        <p:spPr>
          <a:xfrm>
            <a:off x="4561713" y="2121408"/>
            <a:ext cx="329184" cy="329184"/>
          </a:xfrm>
          <a:prstGeom prst="ellipse">
            <a:avLst/>
          </a:prstGeom>
          <a:solidFill>
            <a:srgbClr val="F0965A"/>
          </a:solidFill>
          <a:ln w="25400">
            <a:solidFill>
              <a:srgbClr val="161219"/>
            </a:solidFill>
            <a:prstDash val="solid"/>
          </a:ln>
        </p:spPr>
        <p:txBody>
          <a:bodyPr/>
          <a:lstStyle/>
          <a:p>
            <a:endParaRPr lang="fr-FR"/>
          </a:p>
        </p:txBody>
      </p:sp>
      <p:sp>
        <p:nvSpPr>
          <p:cNvPr id="11" name="Shape 9"/>
          <p:cNvSpPr/>
          <p:nvPr/>
        </p:nvSpPr>
        <p:spPr>
          <a:xfrm>
            <a:off x="3531870" y="2743200"/>
            <a:ext cx="2388870" cy="3291840"/>
          </a:xfrm>
          <a:prstGeom prst="roundRect">
            <a:avLst>
              <a:gd name="adj" fmla="val 4976"/>
            </a:avLst>
          </a:prstGeom>
          <a:solidFill>
            <a:srgbClr val="FFFFFF">
              <a:alpha val="10000"/>
            </a:srgbClr>
          </a:solidFill>
          <a:ln w="9525">
            <a:solidFill>
              <a:srgbClr val="F2ECE4">
                <a:alpha val="22000"/>
              </a:srgbClr>
            </a:solidFill>
            <a:prstDash val="solid"/>
          </a:ln>
        </p:spPr>
        <p:txBody>
          <a:bodyPr/>
          <a:lstStyle/>
          <a:p>
            <a:endParaRPr lang="fr-FR"/>
          </a:p>
        </p:txBody>
      </p:sp>
      <p:sp>
        <p:nvSpPr>
          <p:cNvPr id="12" name="Text 10"/>
          <p:cNvSpPr/>
          <p:nvPr/>
        </p:nvSpPr>
        <p:spPr>
          <a:xfrm>
            <a:off x="3696462" y="2926080"/>
            <a:ext cx="2059686" cy="365760"/>
          </a:xfrm>
          <a:prstGeom prst="rect">
            <a:avLst/>
          </a:prstGeom>
          <a:noFill/>
          <a:ln/>
        </p:spPr>
        <p:txBody>
          <a:bodyPr wrap="square" lIns="0" tIns="0" rIns="0" bIns="0" rtlCol="0" anchor="ctr"/>
          <a:lstStyle/>
          <a:p>
            <a:pPr marL="0" indent="0" algn="ctr">
              <a:buNone/>
            </a:pPr>
            <a:r>
              <a:rPr lang="en-US" sz="1300" b="1" dirty="0">
                <a:solidFill>
                  <a:srgbClr val="F0965A"/>
                </a:solidFill>
                <a:latin typeface="IBM Plex Mono" pitchFamily="34" charset="0"/>
                <a:ea typeface="IBM Plex Mono" pitchFamily="34" charset="-122"/>
                <a:cs typeface="IBM Plex Mono" pitchFamily="34" charset="-120"/>
              </a:rPr>
              <a:t>Nov. 2022</a:t>
            </a:r>
            <a:endParaRPr lang="en-US" sz="1300" dirty="0"/>
          </a:p>
        </p:txBody>
      </p:sp>
      <p:sp>
        <p:nvSpPr>
          <p:cNvPr id="13" name="Text 11"/>
          <p:cNvSpPr/>
          <p:nvPr/>
        </p:nvSpPr>
        <p:spPr>
          <a:xfrm>
            <a:off x="3696462" y="3337560"/>
            <a:ext cx="2059686" cy="6858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Grand public : ChatGPT</a:t>
            </a:r>
            <a:endParaRPr lang="en-US" sz="1300" dirty="0"/>
          </a:p>
        </p:txBody>
      </p:sp>
      <p:sp>
        <p:nvSpPr>
          <p:cNvPr id="14" name="Text 12"/>
          <p:cNvSpPr/>
          <p:nvPr/>
        </p:nvSpPr>
        <p:spPr>
          <a:xfrm>
            <a:off x="3696462" y="4023360"/>
            <a:ext cx="2059686" cy="18745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Premier chatbot IA accessible à tous. Le grand public découvre l'IA générative.</a:t>
            </a:r>
            <a:endParaRPr lang="en-US" sz="1000" dirty="0"/>
          </a:p>
        </p:txBody>
      </p:sp>
      <p:sp>
        <p:nvSpPr>
          <p:cNvPr id="15" name="Shape 13"/>
          <p:cNvSpPr/>
          <p:nvPr/>
        </p:nvSpPr>
        <p:spPr>
          <a:xfrm>
            <a:off x="7270623" y="2121408"/>
            <a:ext cx="329184" cy="329184"/>
          </a:xfrm>
          <a:prstGeom prst="ellipse">
            <a:avLst/>
          </a:prstGeom>
          <a:solidFill>
            <a:srgbClr val="C896DC"/>
          </a:solidFill>
          <a:ln w="25400">
            <a:solidFill>
              <a:srgbClr val="161219"/>
            </a:solidFill>
            <a:prstDash val="solid"/>
          </a:ln>
        </p:spPr>
        <p:txBody>
          <a:bodyPr/>
          <a:lstStyle/>
          <a:p>
            <a:endParaRPr lang="fr-FR"/>
          </a:p>
        </p:txBody>
      </p:sp>
      <p:sp>
        <p:nvSpPr>
          <p:cNvPr id="16" name="Shape 14"/>
          <p:cNvSpPr/>
          <p:nvPr/>
        </p:nvSpPr>
        <p:spPr>
          <a:xfrm>
            <a:off x="6240780" y="2743200"/>
            <a:ext cx="2388870" cy="3291840"/>
          </a:xfrm>
          <a:prstGeom prst="roundRect">
            <a:avLst>
              <a:gd name="adj" fmla="val 4976"/>
            </a:avLst>
          </a:prstGeom>
          <a:solidFill>
            <a:srgbClr val="FFFFFF">
              <a:alpha val="10000"/>
            </a:srgbClr>
          </a:solidFill>
          <a:ln w="9525">
            <a:solidFill>
              <a:srgbClr val="F2ECE4">
                <a:alpha val="22000"/>
              </a:srgbClr>
            </a:solidFill>
            <a:prstDash val="solid"/>
          </a:ln>
        </p:spPr>
        <p:txBody>
          <a:bodyPr/>
          <a:lstStyle/>
          <a:p>
            <a:endParaRPr lang="fr-FR"/>
          </a:p>
        </p:txBody>
      </p:sp>
      <p:sp>
        <p:nvSpPr>
          <p:cNvPr id="17" name="Text 15"/>
          <p:cNvSpPr/>
          <p:nvPr/>
        </p:nvSpPr>
        <p:spPr>
          <a:xfrm>
            <a:off x="6405372" y="2926080"/>
            <a:ext cx="2059686" cy="365760"/>
          </a:xfrm>
          <a:prstGeom prst="rect">
            <a:avLst/>
          </a:prstGeom>
          <a:noFill/>
          <a:ln/>
        </p:spPr>
        <p:txBody>
          <a:bodyPr wrap="square" lIns="0" tIns="0" rIns="0" bIns="0" rtlCol="0" anchor="ctr"/>
          <a:lstStyle/>
          <a:p>
            <a:pPr marL="0" indent="0" algn="ctr">
              <a:buNone/>
            </a:pPr>
            <a:r>
              <a:rPr lang="en-US" sz="1300" b="1" dirty="0">
                <a:solidFill>
                  <a:srgbClr val="C896DC"/>
                </a:solidFill>
                <a:latin typeface="IBM Plex Mono" pitchFamily="34" charset="0"/>
                <a:ea typeface="IBM Plex Mono" pitchFamily="34" charset="-122"/>
                <a:cs typeface="IBM Plex Mono" pitchFamily="34" charset="-120"/>
              </a:rPr>
              <a:t>2023-2024</a:t>
            </a:r>
            <a:endParaRPr lang="en-US" sz="1300" dirty="0"/>
          </a:p>
        </p:txBody>
      </p:sp>
      <p:sp>
        <p:nvSpPr>
          <p:cNvPr id="18" name="Text 16"/>
          <p:cNvSpPr/>
          <p:nvPr/>
        </p:nvSpPr>
        <p:spPr>
          <a:xfrm>
            <a:off x="6405372" y="3337560"/>
            <a:ext cx="2059686" cy="6858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Course aux modèles</a:t>
            </a:r>
            <a:endParaRPr lang="en-US" sz="1300" dirty="0"/>
          </a:p>
        </p:txBody>
      </p:sp>
      <p:sp>
        <p:nvSpPr>
          <p:cNvPr id="19" name="Text 17"/>
          <p:cNvSpPr/>
          <p:nvPr/>
        </p:nvSpPr>
        <p:spPr>
          <a:xfrm>
            <a:off x="6405372" y="4023360"/>
            <a:ext cx="2059686" cy="18745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Gemini, Claude, Mistral, Copilot… l'IA s'intègre partout (téléphones, logiciels bureautiques).</a:t>
            </a:r>
            <a:endParaRPr lang="en-US" sz="1000" dirty="0"/>
          </a:p>
        </p:txBody>
      </p:sp>
      <p:sp>
        <p:nvSpPr>
          <p:cNvPr id="20" name="Shape 18"/>
          <p:cNvSpPr/>
          <p:nvPr/>
        </p:nvSpPr>
        <p:spPr>
          <a:xfrm>
            <a:off x="9979533" y="2121408"/>
            <a:ext cx="329184" cy="329184"/>
          </a:xfrm>
          <a:prstGeom prst="ellipse">
            <a:avLst/>
          </a:prstGeom>
          <a:solidFill>
            <a:srgbClr val="E6C86E"/>
          </a:solidFill>
          <a:ln w="25400">
            <a:solidFill>
              <a:srgbClr val="161219"/>
            </a:solidFill>
            <a:prstDash val="solid"/>
          </a:ln>
        </p:spPr>
        <p:txBody>
          <a:bodyPr/>
          <a:lstStyle/>
          <a:p>
            <a:endParaRPr lang="fr-FR"/>
          </a:p>
        </p:txBody>
      </p:sp>
      <p:sp>
        <p:nvSpPr>
          <p:cNvPr id="21" name="Shape 19"/>
          <p:cNvSpPr/>
          <p:nvPr/>
        </p:nvSpPr>
        <p:spPr>
          <a:xfrm>
            <a:off x="8949690" y="2743200"/>
            <a:ext cx="2388870" cy="3291840"/>
          </a:xfrm>
          <a:prstGeom prst="roundRect">
            <a:avLst>
              <a:gd name="adj" fmla="val 4976"/>
            </a:avLst>
          </a:prstGeom>
          <a:solidFill>
            <a:srgbClr val="FFFFFF">
              <a:alpha val="10000"/>
            </a:srgbClr>
          </a:solidFill>
          <a:ln w="9525">
            <a:solidFill>
              <a:srgbClr val="F2ECE4">
                <a:alpha val="22000"/>
              </a:srgbClr>
            </a:solidFill>
            <a:prstDash val="solid"/>
          </a:ln>
        </p:spPr>
        <p:txBody>
          <a:bodyPr/>
          <a:lstStyle/>
          <a:p>
            <a:endParaRPr lang="fr-FR"/>
          </a:p>
        </p:txBody>
      </p:sp>
      <p:sp>
        <p:nvSpPr>
          <p:cNvPr id="22" name="Text 20"/>
          <p:cNvSpPr/>
          <p:nvPr/>
        </p:nvSpPr>
        <p:spPr>
          <a:xfrm>
            <a:off x="9114282" y="2926080"/>
            <a:ext cx="2059686" cy="365760"/>
          </a:xfrm>
          <a:prstGeom prst="rect">
            <a:avLst/>
          </a:prstGeom>
          <a:noFill/>
          <a:ln/>
        </p:spPr>
        <p:txBody>
          <a:bodyPr wrap="square" lIns="0" tIns="0" rIns="0" bIns="0" rtlCol="0" anchor="ctr"/>
          <a:lstStyle/>
          <a:p>
            <a:pPr marL="0" indent="0" algn="ctr">
              <a:buNone/>
            </a:pPr>
            <a:r>
              <a:rPr lang="en-US" sz="1300" b="1" dirty="0">
                <a:solidFill>
                  <a:srgbClr val="E6C86E"/>
                </a:solidFill>
                <a:latin typeface="IBM Plex Mono" pitchFamily="34" charset="0"/>
                <a:ea typeface="IBM Plex Mono" pitchFamily="34" charset="-122"/>
                <a:cs typeface="IBM Plex Mono" pitchFamily="34" charset="-120"/>
              </a:rPr>
              <a:t>2025-2026</a:t>
            </a:r>
            <a:endParaRPr lang="en-US" sz="1300" dirty="0"/>
          </a:p>
        </p:txBody>
      </p:sp>
      <p:sp>
        <p:nvSpPr>
          <p:cNvPr id="23" name="Text 21"/>
          <p:cNvSpPr/>
          <p:nvPr/>
        </p:nvSpPr>
        <p:spPr>
          <a:xfrm>
            <a:off x="9114282" y="3337560"/>
            <a:ext cx="2059686" cy="68580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IA multimodale et agents</a:t>
            </a:r>
            <a:endParaRPr lang="en-US" sz="1300" dirty="0"/>
          </a:p>
        </p:txBody>
      </p:sp>
      <p:sp>
        <p:nvSpPr>
          <p:cNvPr id="24" name="Text 22"/>
          <p:cNvSpPr/>
          <p:nvPr/>
        </p:nvSpPr>
        <p:spPr>
          <a:xfrm>
            <a:off x="9114282" y="4023360"/>
            <a:ext cx="2059686" cy="187452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Texte, image, vidéo et voix combinés. Les IA commencent à agir seules sur des tâches.</a:t>
            </a:r>
            <a:endParaRPr lang="en-US" sz="1000" dirty="0"/>
          </a:p>
        </p:txBody>
      </p:sp>
      <p:sp>
        <p:nvSpPr>
          <p:cNvPr id="25" name="Text 23"/>
          <p:cNvSpPr/>
          <p:nvPr/>
        </p:nvSpPr>
        <p:spPr>
          <a:xfrm>
            <a:off x="822960" y="6108192"/>
            <a:ext cx="10332720" cy="320040"/>
          </a:xfrm>
          <a:prstGeom prst="rect">
            <a:avLst/>
          </a:prstGeom>
          <a:noFill/>
          <a:ln/>
        </p:spPr>
        <p:txBody>
          <a:bodyPr wrap="square" lIns="0" tIns="0" rIns="0" bIns="0" rtlCol="0" anchor="ctr"/>
          <a:lstStyle/>
          <a:p>
            <a:pPr marL="0" indent="0">
              <a:buNone/>
            </a:pPr>
            <a:r>
              <a:rPr lang="en-US" sz="900" i="1" dirty="0">
                <a:solidFill>
                  <a:srgbClr val="9A9089"/>
                </a:solidFill>
                <a:latin typeface="IBM Plex Sans" pitchFamily="34" charset="0"/>
                <a:ea typeface="IBM Plex Sans" pitchFamily="34" charset="-122"/>
                <a:cs typeface="IBM Plex Sans" pitchFamily="34" charset="-120"/>
              </a:rPr>
              <a:t>Repère français : le supercalculateur Jean Zay (CNRS/IDRIS) sert la recherche IA publique en France — sa chaleur dégagée chauffe l'équivalent de 1 500 foyers.</a:t>
            </a:r>
            <a:endParaRPr lang="en-US" sz="90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27" name="Text 25"/>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5</a:t>
            </a:r>
            <a:endParaRPr lang="en-US" sz="900" dirty="0"/>
          </a:p>
        </p:txBody>
      </p:sp>
      <p:pic>
        <p:nvPicPr>
          <p:cNvPr id="29" name="Image 28">
            <a:extLst>
              <a:ext uri="{FF2B5EF4-FFF2-40B4-BE49-F238E27FC236}">
                <a16:creationId xmlns:a16="http://schemas.microsoft.com/office/drawing/2014/main" id="{101A2702-ABA6-1FF1-26D6-7F51E00D0AC8}"/>
              </a:ext>
            </a:extLst>
          </p:cNvPr>
          <p:cNvPicPr>
            <a:picLocks noChangeAspect="1"/>
          </p:cNvPicPr>
          <p:nvPr/>
        </p:nvPicPr>
        <p:blipFill>
          <a:blip r:embed="rId3"/>
          <a:stretch>
            <a:fillRect/>
          </a:stretch>
        </p:blipFill>
        <p:spPr>
          <a:xfrm>
            <a:off x="298658" y="231557"/>
            <a:ext cx="1048603" cy="10486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8686800" cy="502920"/>
          </a:xfrm>
          <a:prstGeom prst="rect">
            <a:avLst/>
          </a:prstGeom>
          <a:noFill/>
          <a:ln/>
        </p:spPr>
        <p:txBody>
          <a:bodyPr wrap="square" lIns="0" tIns="0" rIns="0" bIns="0" rtlCol="0" anchor="ctr"/>
          <a:lstStyle/>
          <a:p>
            <a:pPr marL="0" indent="0">
              <a:buNone/>
            </a:pPr>
            <a:r>
              <a:rPr lang="en-US" sz="2600" b="1" dirty="0">
                <a:solidFill>
                  <a:srgbClr val="FF0000"/>
                </a:solidFill>
                <a:latin typeface="Space Grotesk" pitchFamily="34" charset="0"/>
                <a:ea typeface="Space Grotesk" pitchFamily="34" charset="-122"/>
                <a:cs typeface="Space Grotesk" pitchFamily="34" charset="-120"/>
              </a:rPr>
              <a:t>                                           COMMENT EST CRÉÉE L'IA ?</a:t>
            </a:r>
            <a:endParaRPr lang="en-US" sz="2600" dirty="0">
              <a:solidFill>
                <a:srgbClr val="FF0000"/>
              </a:solidFill>
            </a:endParaRPr>
          </a:p>
        </p:txBody>
      </p:sp>
      <p:sp>
        <p:nvSpPr>
          <p:cNvPr id="3" name="Text 1"/>
          <p:cNvSpPr/>
          <p:nvPr/>
        </p:nvSpPr>
        <p:spPr>
          <a:xfrm>
            <a:off x="640080" y="960120"/>
            <a:ext cx="8686800"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                                                                Le pipeline de fabrication d'un modèle d'IA, du début jusqu'au déploiement</a:t>
            </a:r>
            <a:endParaRPr lang="en-US" sz="1250" dirty="0"/>
          </a:p>
        </p:txBody>
      </p:sp>
      <p:sp>
        <p:nvSpPr>
          <p:cNvPr id="4" name="Shape 2"/>
          <p:cNvSpPr/>
          <p:nvPr/>
        </p:nvSpPr>
        <p:spPr>
          <a:xfrm>
            <a:off x="685800" y="1554480"/>
            <a:ext cx="2286000" cy="1920240"/>
          </a:xfrm>
          <a:prstGeom prst="roundRect">
            <a:avLst>
              <a:gd name="adj" fmla="val 6190"/>
            </a:avLst>
          </a:prstGeom>
          <a:solidFill>
            <a:srgbClr val="FFFFFF">
              <a:alpha val="10000"/>
            </a:srgbClr>
          </a:solidFill>
          <a:ln w="9525">
            <a:solidFill>
              <a:srgbClr val="F2ECE4">
                <a:alpha val="22000"/>
              </a:srgbClr>
            </a:solidFill>
            <a:prstDash val="solid"/>
          </a:ln>
        </p:spPr>
        <p:txBody>
          <a:bodyPr/>
          <a:lstStyle/>
          <a:p>
            <a:endParaRPr lang="fr-FR"/>
          </a:p>
        </p:txBody>
      </p:sp>
      <p:sp>
        <p:nvSpPr>
          <p:cNvPr id="5" name="Text 3"/>
          <p:cNvSpPr/>
          <p:nvPr/>
        </p:nvSpPr>
        <p:spPr>
          <a:xfrm>
            <a:off x="777240" y="2935224"/>
            <a:ext cx="2103120" cy="457200"/>
          </a:xfrm>
          <a:prstGeom prst="rect">
            <a:avLst/>
          </a:prstGeom>
          <a:noFill/>
          <a:ln/>
        </p:spPr>
        <p:txBody>
          <a:bodyPr wrap="square" lIns="0" tIns="0" rIns="0" bIns="0" rtlCol="0" anchor="t"/>
          <a:lstStyle/>
          <a:p>
            <a:pPr marL="0" indent="0" algn="ctr">
              <a:lnSpc>
                <a:spcPct val="105000"/>
              </a:lnSpc>
              <a:buNone/>
            </a:pPr>
            <a:r>
              <a:rPr lang="en-US" sz="1250" b="1" dirty="0">
                <a:solidFill>
                  <a:srgbClr val="FAF6F0"/>
                </a:solidFill>
                <a:latin typeface="Space Grotesk" pitchFamily="34" charset="0"/>
                <a:ea typeface="Space Grotesk" pitchFamily="34" charset="-122"/>
                <a:cs typeface="Space Grotesk" pitchFamily="34" charset="-120"/>
              </a:rPr>
              <a:t>Collecte de données</a:t>
            </a:r>
            <a:endParaRPr lang="en-US" sz="1250" dirty="0"/>
          </a:p>
        </p:txBody>
      </p:sp>
      <p:sp>
        <p:nvSpPr>
          <p:cNvPr id="6" name="Shape 4"/>
          <p:cNvSpPr/>
          <p:nvPr/>
        </p:nvSpPr>
        <p:spPr>
          <a:xfrm>
            <a:off x="3026664" y="2139696"/>
            <a:ext cx="393192" cy="292608"/>
          </a:xfrm>
          <a:prstGeom prst="rightArrow">
            <a:avLst/>
          </a:prstGeom>
          <a:solidFill>
            <a:srgbClr val="78B4DC">
              <a:alpha val="75000"/>
            </a:srgbClr>
          </a:solidFill>
          <a:ln/>
        </p:spPr>
        <p:txBody>
          <a:bodyPr/>
          <a:lstStyle/>
          <a:p>
            <a:endParaRPr lang="fr-FR"/>
          </a:p>
        </p:txBody>
      </p:sp>
      <p:sp>
        <p:nvSpPr>
          <p:cNvPr id="7" name="Shape 5"/>
          <p:cNvSpPr/>
          <p:nvPr/>
        </p:nvSpPr>
        <p:spPr>
          <a:xfrm>
            <a:off x="3474720" y="1554480"/>
            <a:ext cx="2286000" cy="1920240"/>
          </a:xfrm>
          <a:prstGeom prst="roundRect">
            <a:avLst>
              <a:gd name="adj" fmla="val 6190"/>
            </a:avLst>
          </a:prstGeom>
          <a:solidFill>
            <a:srgbClr val="FFFFFF">
              <a:alpha val="10000"/>
            </a:srgbClr>
          </a:solidFill>
          <a:ln w="9525">
            <a:solidFill>
              <a:srgbClr val="F2ECE4">
                <a:alpha val="22000"/>
              </a:srgbClr>
            </a:solidFill>
            <a:prstDash val="solid"/>
          </a:ln>
        </p:spPr>
        <p:txBody>
          <a:bodyPr/>
          <a:lstStyle/>
          <a:p>
            <a:endParaRPr lang="fr-FR"/>
          </a:p>
        </p:txBody>
      </p:sp>
      <p:sp>
        <p:nvSpPr>
          <p:cNvPr id="8" name="Text 6"/>
          <p:cNvSpPr/>
          <p:nvPr/>
        </p:nvSpPr>
        <p:spPr>
          <a:xfrm>
            <a:off x="3566160" y="2935224"/>
            <a:ext cx="2103120" cy="457200"/>
          </a:xfrm>
          <a:prstGeom prst="rect">
            <a:avLst/>
          </a:prstGeom>
          <a:noFill/>
          <a:ln/>
        </p:spPr>
        <p:txBody>
          <a:bodyPr wrap="square" lIns="0" tIns="0" rIns="0" bIns="0" rtlCol="0" anchor="t"/>
          <a:lstStyle/>
          <a:p>
            <a:pPr marL="0" indent="0" algn="ctr">
              <a:lnSpc>
                <a:spcPct val="105000"/>
              </a:lnSpc>
              <a:buNone/>
            </a:pPr>
            <a:r>
              <a:rPr lang="en-US" sz="1250" b="1" dirty="0">
                <a:solidFill>
                  <a:srgbClr val="FAF6F0"/>
                </a:solidFill>
                <a:latin typeface="Space Grotesk" pitchFamily="34" charset="0"/>
                <a:ea typeface="Space Grotesk" pitchFamily="34" charset="-122"/>
                <a:cs typeface="Space Grotesk" pitchFamily="34" charset="-120"/>
              </a:rPr>
              <a:t>Entraînement</a:t>
            </a:r>
            <a:endParaRPr lang="en-US" sz="1250" dirty="0"/>
          </a:p>
        </p:txBody>
      </p:sp>
      <p:sp>
        <p:nvSpPr>
          <p:cNvPr id="9" name="Shape 7"/>
          <p:cNvSpPr/>
          <p:nvPr/>
        </p:nvSpPr>
        <p:spPr>
          <a:xfrm>
            <a:off x="5815584" y="2139696"/>
            <a:ext cx="393192" cy="292608"/>
          </a:xfrm>
          <a:prstGeom prst="rightArrow">
            <a:avLst/>
          </a:prstGeom>
          <a:solidFill>
            <a:srgbClr val="F0965A">
              <a:alpha val="75000"/>
            </a:srgbClr>
          </a:solidFill>
          <a:ln/>
        </p:spPr>
        <p:txBody>
          <a:bodyPr/>
          <a:lstStyle/>
          <a:p>
            <a:endParaRPr lang="fr-FR"/>
          </a:p>
        </p:txBody>
      </p:sp>
      <p:sp>
        <p:nvSpPr>
          <p:cNvPr id="10" name="Shape 8"/>
          <p:cNvSpPr/>
          <p:nvPr/>
        </p:nvSpPr>
        <p:spPr>
          <a:xfrm>
            <a:off x="6263640" y="1554480"/>
            <a:ext cx="2286000" cy="1920240"/>
          </a:xfrm>
          <a:prstGeom prst="roundRect">
            <a:avLst>
              <a:gd name="adj" fmla="val 6190"/>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9"/>
          <p:cNvSpPr/>
          <p:nvPr/>
        </p:nvSpPr>
        <p:spPr>
          <a:xfrm>
            <a:off x="6355080" y="2935224"/>
            <a:ext cx="2103120" cy="457200"/>
          </a:xfrm>
          <a:prstGeom prst="rect">
            <a:avLst/>
          </a:prstGeom>
          <a:noFill/>
          <a:ln/>
        </p:spPr>
        <p:txBody>
          <a:bodyPr wrap="square" lIns="0" tIns="0" rIns="0" bIns="0" rtlCol="0" anchor="t"/>
          <a:lstStyle/>
          <a:p>
            <a:pPr marL="0" indent="0" algn="ctr">
              <a:lnSpc>
                <a:spcPct val="105000"/>
              </a:lnSpc>
              <a:buNone/>
            </a:pPr>
            <a:r>
              <a:rPr lang="en-US" sz="1250" b="1" dirty="0">
                <a:solidFill>
                  <a:srgbClr val="FAF6F0"/>
                </a:solidFill>
                <a:latin typeface="Space Grotesk" pitchFamily="34" charset="0"/>
                <a:ea typeface="Space Grotesk" pitchFamily="34" charset="-122"/>
                <a:cs typeface="Space Grotesk" pitchFamily="34" charset="-120"/>
              </a:rPr>
              <a:t>Alignement (RLHF)</a:t>
            </a:r>
            <a:endParaRPr lang="en-US" sz="1250" dirty="0"/>
          </a:p>
        </p:txBody>
      </p:sp>
      <p:sp>
        <p:nvSpPr>
          <p:cNvPr id="12" name="Shape 10"/>
          <p:cNvSpPr/>
          <p:nvPr/>
        </p:nvSpPr>
        <p:spPr>
          <a:xfrm>
            <a:off x="8604504" y="2139696"/>
            <a:ext cx="393192" cy="292608"/>
          </a:xfrm>
          <a:prstGeom prst="rightArrow">
            <a:avLst/>
          </a:prstGeom>
          <a:solidFill>
            <a:srgbClr val="C896DC">
              <a:alpha val="75000"/>
            </a:srgbClr>
          </a:solidFill>
          <a:ln/>
        </p:spPr>
        <p:txBody>
          <a:bodyPr/>
          <a:lstStyle/>
          <a:p>
            <a:endParaRPr lang="fr-FR"/>
          </a:p>
        </p:txBody>
      </p:sp>
      <p:sp>
        <p:nvSpPr>
          <p:cNvPr id="13" name="Shape 11"/>
          <p:cNvSpPr/>
          <p:nvPr/>
        </p:nvSpPr>
        <p:spPr>
          <a:xfrm>
            <a:off x="9052560" y="1554480"/>
            <a:ext cx="2286000" cy="1920240"/>
          </a:xfrm>
          <a:prstGeom prst="roundRect">
            <a:avLst>
              <a:gd name="adj" fmla="val 6190"/>
            </a:avLst>
          </a:prstGeom>
          <a:solidFill>
            <a:srgbClr val="FFFFFF">
              <a:alpha val="10000"/>
            </a:srgbClr>
          </a:solidFill>
          <a:ln w="9525">
            <a:solidFill>
              <a:srgbClr val="F2ECE4">
                <a:alpha val="22000"/>
              </a:srgbClr>
            </a:solidFill>
            <a:prstDash val="solid"/>
          </a:ln>
        </p:spPr>
        <p:txBody>
          <a:bodyPr/>
          <a:lstStyle/>
          <a:p>
            <a:endParaRPr lang="fr-FR"/>
          </a:p>
        </p:txBody>
      </p:sp>
      <p:sp>
        <p:nvSpPr>
          <p:cNvPr id="14" name="Text 12"/>
          <p:cNvSpPr/>
          <p:nvPr/>
        </p:nvSpPr>
        <p:spPr>
          <a:xfrm>
            <a:off x="9144000" y="2935224"/>
            <a:ext cx="2103120" cy="457200"/>
          </a:xfrm>
          <a:prstGeom prst="rect">
            <a:avLst/>
          </a:prstGeom>
          <a:noFill/>
          <a:ln/>
        </p:spPr>
        <p:txBody>
          <a:bodyPr wrap="square" lIns="0" tIns="0" rIns="0" bIns="0" rtlCol="0" anchor="t"/>
          <a:lstStyle/>
          <a:p>
            <a:pPr marL="0" indent="0" algn="ctr">
              <a:lnSpc>
                <a:spcPct val="105000"/>
              </a:lnSpc>
              <a:buNone/>
            </a:pPr>
            <a:r>
              <a:rPr lang="en-US" sz="1250" b="1" dirty="0">
                <a:solidFill>
                  <a:srgbClr val="FAF6F0"/>
                </a:solidFill>
                <a:latin typeface="Space Grotesk" pitchFamily="34" charset="0"/>
                <a:ea typeface="Space Grotesk" pitchFamily="34" charset="-122"/>
                <a:cs typeface="Space Grotesk" pitchFamily="34" charset="-120"/>
              </a:rPr>
              <a:t>Déploiement</a:t>
            </a:r>
            <a:endParaRPr lang="en-US" sz="1250" dirty="0"/>
          </a:p>
        </p:txBody>
      </p:sp>
      <p:sp>
        <p:nvSpPr>
          <p:cNvPr id="15" name="Shape 13"/>
          <p:cNvSpPr/>
          <p:nvPr/>
        </p:nvSpPr>
        <p:spPr>
          <a:xfrm>
            <a:off x="909828" y="2034540"/>
            <a:ext cx="502920" cy="50292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16" name="Image 0" descr="preencoded.png"/>
          <p:cNvPicPr>
            <a:picLocks noChangeAspect="1"/>
          </p:cNvPicPr>
          <p:nvPr/>
        </p:nvPicPr>
        <p:blipFill>
          <a:blip r:embed="rId3"/>
          <a:stretch>
            <a:fillRect/>
          </a:stretch>
        </p:blipFill>
        <p:spPr>
          <a:xfrm>
            <a:off x="975208" y="2099920"/>
            <a:ext cx="372161" cy="372161"/>
          </a:xfrm>
          <a:prstGeom prst="rect">
            <a:avLst/>
          </a:prstGeom>
        </p:spPr>
      </p:pic>
      <p:sp>
        <p:nvSpPr>
          <p:cNvPr id="17" name="Shape 14"/>
          <p:cNvSpPr/>
          <p:nvPr/>
        </p:nvSpPr>
        <p:spPr>
          <a:xfrm>
            <a:off x="1577340" y="2034540"/>
            <a:ext cx="502920" cy="50292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18" name="Image 1" descr="preencoded.png"/>
          <p:cNvPicPr>
            <a:picLocks noChangeAspect="1"/>
          </p:cNvPicPr>
          <p:nvPr/>
        </p:nvPicPr>
        <p:blipFill>
          <a:blip r:embed="rId4"/>
          <a:stretch>
            <a:fillRect/>
          </a:stretch>
        </p:blipFill>
        <p:spPr>
          <a:xfrm>
            <a:off x="1642720" y="2099920"/>
            <a:ext cx="372161" cy="372161"/>
          </a:xfrm>
          <a:prstGeom prst="rect">
            <a:avLst/>
          </a:prstGeom>
        </p:spPr>
      </p:pic>
      <p:sp>
        <p:nvSpPr>
          <p:cNvPr id="19" name="Shape 15"/>
          <p:cNvSpPr/>
          <p:nvPr/>
        </p:nvSpPr>
        <p:spPr>
          <a:xfrm>
            <a:off x="2244852" y="2034540"/>
            <a:ext cx="502920" cy="50292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20" name="Image 2" descr="preencoded.png"/>
          <p:cNvPicPr>
            <a:picLocks noChangeAspect="1"/>
          </p:cNvPicPr>
          <p:nvPr/>
        </p:nvPicPr>
        <p:blipFill>
          <a:blip r:embed="rId5"/>
          <a:stretch>
            <a:fillRect/>
          </a:stretch>
        </p:blipFill>
        <p:spPr>
          <a:xfrm>
            <a:off x="2310232" y="2099920"/>
            <a:ext cx="372161" cy="372161"/>
          </a:xfrm>
          <a:prstGeom prst="rect">
            <a:avLst/>
          </a:prstGeom>
        </p:spPr>
      </p:pic>
      <p:sp>
        <p:nvSpPr>
          <p:cNvPr id="21" name="Shape 16"/>
          <p:cNvSpPr/>
          <p:nvPr/>
        </p:nvSpPr>
        <p:spPr>
          <a:xfrm>
            <a:off x="3744468" y="1737360"/>
            <a:ext cx="873252" cy="914"/>
          </a:xfrm>
          <a:prstGeom prst="line">
            <a:avLst/>
          </a:prstGeom>
          <a:noFill/>
          <a:ln w="6350">
            <a:solidFill>
              <a:srgbClr val="F0965A">
                <a:alpha val="60000"/>
              </a:srgbClr>
            </a:solidFill>
            <a:prstDash val="solid"/>
          </a:ln>
        </p:spPr>
        <p:txBody>
          <a:bodyPr/>
          <a:lstStyle/>
          <a:p>
            <a:endParaRPr lang="fr-FR"/>
          </a:p>
        </p:txBody>
      </p:sp>
      <p:sp>
        <p:nvSpPr>
          <p:cNvPr id="22" name="Shape 17"/>
          <p:cNvSpPr/>
          <p:nvPr/>
        </p:nvSpPr>
        <p:spPr>
          <a:xfrm>
            <a:off x="3744468" y="1737360"/>
            <a:ext cx="873252" cy="365760"/>
          </a:xfrm>
          <a:prstGeom prst="line">
            <a:avLst/>
          </a:prstGeom>
          <a:noFill/>
          <a:ln w="6350">
            <a:solidFill>
              <a:srgbClr val="F0965A">
                <a:alpha val="60000"/>
              </a:srgbClr>
            </a:solidFill>
            <a:prstDash val="solid"/>
          </a:ln>
        </p:spPr>
        <p:txBody>
          <a:bodyPr/>
          <a:lstStyle/>
          <a:p>
            <a:endParaRPr lang="fr-FR"/>
          </a:p>
        </p:txBody>
      </p:sp>
      <p:sp>
        <p:nvSpPr>
          <p:cNvPr id="23" name="Shape 18"/>
          <p:cNvSpPr/>
          <p:nvPr/>
        </p:nvSpPr>
        <p:spPr>
          <a:xfrm>
            <a:off x="3744468" y="1737360"/>
            <a:ext cx="873252" cy="731520"/>
          </a:xfrm>
          <a:prstGeom prst="line">
            <a:avLst/>
          </a:prstGeom>
          <a:noFill/>
          <a:ln w="6350">
            <a:solidFill>
              <a:srgbClr val="F0965A">
                <a:alpha val="60000"/>
              </a:srgbClr>
            </a:solidFill>
            <a:prstDash val="solid"/>
          </a:ln>
        </p:spPr>
        <p:txBody>
          <a:bodyPr/>
          <a:lstStyle/>
          <a:p>
            <a:endParaRPr lang="fr-FR"/>
          </a:p>
        </p:txBody>
      </p:sp>
      <p:sp>
        <p:nvSpPr>
          <p:cNvPr id="24" name="Shape 19"/>
          <p:cNvSpPr/>
          <p:nvPr/>
        </p:nvSpPr>
        <p:spPr>
          <a:xfrm>
            <a:off x="3744468" y="1737360"/>
            <a:ext cx="873252" cy="1097280"/>
          </a:xfrm>
          <a:prstGeom prst="line">
            <a:avLst/>
          </a:prstGeom>
          <a:noFill/>
          <a:ln w="6350">
            <a:solidFill>
              <a:srgbClr val="F0965A">
                <a:alpha val="60000"/>
              </a:srgbClr>
            </a:solidFill>
            <a:prstDash val="solid"/>
          </a:ln>
        </p:spPr>
        <p:txBody>
          <a:bodyPr/>
          <a:lstStyle/>
          <a:p>
            <a:endParaRPr lang="fr-FR"/>
          </a:p>
        </p:txBody>
      </p:sp>
      <p:sp>
        <p:nvSpPr>
          <p:cNvPr id="25" name="Shape 20"/>
          <p:cNvSpPr/>
          <p:nvPr/>
        </p:nvSpPr>
        <p:spPr>
          <a:xfrm flipV="1">
            <a:off x="3744468" y="1737360"/>
            <a:ext cx="873252" cy="548640"/>
          </a:xfrm>
          <a:prstGeom prst="line">
            <a:avLst/>
          </a:prstGeom>
          <a:noFill/>
          <a:ln w="6350">
            <a:solidFill>
              <a:srgbClr val="F0965A">
                <a:alpha val="60000"/>
              </a:srgbClr>
            </a:solidFill>
            <a:prstDash val="solid"/>
          </a:ln>
        </p:spPr>
        <p:txBody>
          <a:bodyPr/>
          <a:lstStyle/>
          <a:p>
            <a:endParaRPr lang="fr-FR"/>
          </a:p>
        </p:txBody>
      </p:sp>
      <p:sp>
        <p:nvSpPr>
          <p:cNvPr id="26" name="Shape 21"/>
          <p:cNvSpPr/>
          <p:nvPr/>
        </p:nvSpPr>
        <p:spPr>
          <a:xfrm flipV="1">
            <a:off x="3744468" y="2103120"/>
            <a:ext cx="873252" cy="182880"/>
          </a:xfrm>
          <a:prstGeom prst="line">
            <a:avLst/>
          </a:prstGeom>
          <a:noFill/>
          <a:ln w="6350">
            <a:solidFill>
              <a:srgbClr val="F0965A">
                <a:alpha val="60000"/>
              </a:srgbClr>
            </a:solidFill>
            <a:prstDash val="solid"/>
          </a:ln>
        </p:spPr>
        <p:txBody>
          <a:bodyPr/>
          <a:lstStyle/>
          <a:p>
            <a:endParaRPr lang="fr-FR"/>
          </a:p>
        </p:txBody>
      </p:sp>
      <p:sp>
        <p:nvSpPr>
          <p:cNvPr id="27" name="Shape 22"/>
          <p:cNvSpPr/>
          <p:nvPr/>
        </p:nvSpPr>
        <p:spPr>
          <a:xfrm>
            <a:off x="3744468" y="2286000"/>
            <a:ext cx="873252" cy="182880"/>
          </a:xfrm>
          <a:prstGeom prst="line">
            <a:avLst/>
          </a:prstGeom>
          <a:noFill/>
          <a:ln w="6350">
            <a:solidFill>
              <a:srgbClr val="F0965A">
                <a:alpha val="60000"/>
              </a:srgbClr>
            </a:solidFill>
            <a:prstDash val="solid"/>
          </a:ln>
        </p:spPr>
        <p:txBody>
          <a:bodyPr/>
          <a:lstStyle/>
          <a:p>
            <a:endParaRPr lang="fr-FR"/>
          </a:p>
        </p:txBody>
      </p:sp>
      <p:sp>
        <p:nvSpPr>
          <p:cNvPr id="28" name="Shape 23"/>
          <p:cNvSpPr/>
          <p:nvPr/>
        </p:nvSpPr>
        <p:spPr>
          <a:xfrm>
            <a:off x="3744468" y="2286000"/>
            <a:ext cx="873252" cy="548640"/>
          </a:xfrm>
          <a:prstGeom prst="line">
            <a:avLst/>
          </a:prstGeom>
          <a:noFill/>
          <a:ln w="6350">
            <a:solidFill>
              <a:srgbClr val="F0965A">
                <a:alpha val="60000"/>
              </a:srgbClr>
            </a:solidFill>
            <a:prstDash val="solid"/>
          </a:ln>
        </p:spPr>
        <p:txBody>
          <a:bodyPr/>
          <a:lstStyle/>
          <a:p>
            <a:endParaRPr lang="fr-FR"/>
          </a:p>
        </p:txBody>
      </p:sp>
      <p:sp>
        <p:nvSpPr>
          <p:cNvPr id="29" name="Shape 24"/>
          <p:cNvSpPr/>
          <p:nvPr/>
        </p:nvSpPr>
        <p:spPr>
          <a:xfrm flipV="1">
            <a:off x="3744468" y="1737360"/>
            <a:ext cx="873252" cy="1097280"/>
          </a:xfrm>
          <a:prstGeom prst="line">
            <a:avLst/>
          </a:prstGeom>
          <a:noFill/>
          <a:ln w="6350">
            <a:solidFill>
              <a:srgbClr val="F0965A">
                <a:alpha val="60000"/>
              </a:srgbClr>
            </a:solidFill>
            <a:prstDash val="solid"/>
          </a:ln>
        </p:spPr>
        <p:txBody>
          <a:bodyPr/>
          <a:lstStyle/>
          <a:p>
            <a:endParaRPr lang="fr-FR"/>
          </a:p>
        </p:txBody>
      </p:sp>
      <p:sp>
        <p:nvSpPr>
          <p:cNvPr id="30" name="Shape 25"/>
          <p:cNvSpPr/>
          <p:nvPr/>
        </p:nvSpPr>
        <p:spPr>
          <a:xfrm flipV="1">
            <a:off x="3744468" y="2103120"/>
            <a:ext cx="873252" cy="731520"/>
          </a:xfrm>
          <a:prstGeom prst="line">
            <a:avLst/>
          </a:prstGeom>
          <a:noFill/>
          <a:ln w="6350">
            <a:solidFill>
              <a:srgbClr val="F0965A">
                <a:alpha val="60000"/>
              </a:srgbClr>
            </a:solidFill>
            <a:prstDash val="solid"/>
          </a:ln>
        </p:spPr>
        <p:txBody>
          <a:bodyPr/>
          <a:lstStyle/>
          <a:p>
            <a:endParaRPr lang="fr-FR"/>
          </a:p>
        </p:txBody>
      </p:sp>
      <p:sp>
        <p:nvSpPr>
          <p:cNvPr id="31" name="Shape 26"/>
          <p:cNvSpPr/>
          <p:nvPr/>
        </p:nvSpPr>
        <p:spPr>
          <a:xfrm flipV="1">
            <a:off x="3744468" y="2468880"/>
            <a:ext cx="873252" cy="365760"/>
          </a:xfrm>
          <a:prstGeom prst="line">
            <a:avLst/>
          </a:prstGeom>
          <a:noFill/>
          <a:ln w="6350">
            <a:solidFill>
              <a:srgbClr val="F0965A">
                <a:alpha val="60000"/>
              </a:srgbClr>
            </a:solidFill>
            <a:prstDash val="solid"/>
          </a:ln>
        </p:spPr>
        <p:txBody>
          <a:bodyPr/>
          <a:lstStyle/>
          <a:p>
            <a:endParaRPr lang="fr-FR"/>
          </a:p>
        </p:txBody>
      </p:sp>
      <p:sp>
        <p:nvSpPr>
          <p:cNvPr id="32" name="Shape 27"/>
          <p:cNvSpPr/>
          <p:nvPr/>
        </p:nvSpPr>
        <p:spPr>
          <a:xfrm>
            <a:off x="3744468" y="2834640"/>
            <a:ext cx="873252" cy="914"/>
          </a:xfrm>
          <a:prstGeom prst="line">
            <a:avLst/>
          </a:prstGeom>
          <a:noFill/>
          <a:ln w="6350">
            <a:solidFill>
              <a:srgbClr val="F0965A">
                <a:alpha val="60000"/>
              </a:srgbClr>
            </a:solidFill>
            <a:prstDash val="solid"/>
          </a:ln>
        </p:spPr>
        <p:txBody>
          <a:bodyPr/>
          <a:lstStyle/>
          <a:p>
            <a:endParaRPr lang="fr-FR"/>
          </a:p>
        </p:txBody>
      </p:sp>
      <p:sp>
        <p:nvSpPr>
          <p:cNvPr id="33" name="Shape 28"/>
          <p:cNvSpPr/>
          <p:nvPr/>
        </p:nvSpPr>
        <p:spPr>
          <a:xfrm>
            <a:off x="4617720" y="1737360"/>
            <a:ext cx="873252" cy="914"/>
          </a:xfrm>
          <a:prstGeom prst="line">
            <a:avLst/>
          </a:prstGeom>
          <a:noFill/>
          <a:ln w="6350">
            <a:solidFill>
              <a:srgbClr val="F0965A">
                <a:alpha val="60000"/>
              </a:srgbClr>
            </a:solidFill>
            <a:prstDash val="solid"/>
          </a:ln>
        </p:spPr>
        <p:txBody>
          <a:bodyPr/>
          <a:lstStyle/>
          <a:p>
            <a:endParaRPr lang="fr-FR"/>
          </a:p>
        </p:txBody>
      </p:sp>
      <p:sp>
        <p:nvSpPr>
          <p:cNvPr id="34" name="Shape 29"/>
          <p:cNvSpPr/>
          <p:nvPr/>
        </p:nvSpPr>
        <p:spPr>
          <a:xfrm>
            <a:off x="4617720" y="1737360"/>
            <a:ext cx="873252" cy="1097280"/>
          </a:xfrm>
          <a:prstGeom prst="line">
            <a:avLst/>
          </a:prstGeom>
          <a:noFill/>
          <a:ln w="6350">
            <a:solidFill>
              <a:srgbClr val="F0965A">
                <a:alpha val="60000"/>
              </a:srgbClr>
            </a:solidFill>
            <a:prstDash val="solid"/>
          </a:ln>
        </p:spPr>
        <p:txBody>
          <a:bodyPr/>
          <a:lstStyle/>
          <a:p>
            <a:endParaRPr lang="fr-FR"/>
          </a:p>
        </p:txBody>
      </p:sp>
      <p:sp>
        <p:nvSpPr>
          <p:cNvPr id="35" name="Shape 30"/>
          <p:cNvSpPr/>
          <p:nvPr/>
        </p:nvSpPr>
        <p:spPr>
          <a:xfrm flipV="1">
            <a:off x="4617720" y="1737360"/>
            <a:ext cx="873252" cy="365760"/>
          </a:xfrm>
          <a:prstGeom prst="line">
            <a:avLst/>
          </a:prstGeom>
          <a:noFill/>
          <a:ln w="6350">
            <a:solidFill>
              <a:srgbClr val="F0965A">
                <a:alpha val="60000"/>
              </a:srgbClr>
            </a:solidFill>
            <a:prstDash val="solid"/>
          </a:ln>
        </p:spPr>
        <p:txBody>
          <a:bodyPr/>
          <a:lstStyle/>
          <a:p>
            <a:endParaRPr lang="fr-FR"/>
          </a:p>
        </p:txBody>
      </p:sp>
      <p:sp>
        <p:nvSpPr>
          <p:cNvPr id="36" name="Shape 31"/>
          <p:cNvSpPr/>
          <p:nvPr/>
        </p:nvSpPr>
        <p:spPr>
          <a:xfrm>
            <a:off x="4617720" y="2103120"/>
            <a:ext cx="873252" cy="731520"/>
          </a:xfrm>
          <a:prstGeom prst="line">
            <a:avLst/>
          </a:prstGeom>
          <a:noFill/>
          <a:ln w="6350">
            <a:solidFill>
              <a:srgbClr val="F0965A">
                <a:alpha val="60000"/>
              </a:srgbClr>
            </a:solidFill>
            <a:prstDash val="solid"/>
          </a:ln>
        </p:spPr>
        <p:txBody>
          <a:bodyPr/>
          <a:lstStyle/>
          <a:p>
            <a:endParaRPr lang="fr-FR"/>
          </a:p>
        </p:txBody>
      </p:sp>
      <p:sp>
        <p:nvSpPr>
          <p:cNvPr id="37" name="Shape 32"/>
          <p:cNvSpPr/>
          <p:nvPr/>
        </p:nvSpPr>
        <p:spPr>
          <a:xfrm flipV="1">
            <a:off x="4617720" y="1737360"/>
            <a:ext cx="873252" cy="731520"/>
          </a:xfrm>
          <a:prstGeom prst="line">
            <a:avLst/>
          </a:prstGeom>
          <a:noFill/>
          <a:ln w="6350">
            <a:solidFill>
              <a:srgbClr val="F0965A">
                <a:alpha val="60000"/>
              </a:srgbClr>
            </a:solidFill>
            <a:prstDash val="solid"/>
          </a:ln>
        </p:spPr>
        <p:txBody>
          <a:bodyPr/>
          <a:lstStyle/>
          <a:p>
            <a:endParaRPr lang="fr-FR"/>
          </a:p>
        </p:txBody>
      </p:sp>
      <p:sp>
        <p:nvSpPr>
          <p:cNvPr id="38" name="Shape 33"/>
          <p:cNvSpPr/>
          <p:nvPr/>
        </p:nvSpPr>
        <p:spPr>
          <a:xfrm>
            <a:off x="4617720" y="2468880"/>
            <a:ext cx="873252" cy="365760"/>
          </a:xfrm>
          <a:prstGeom prst="line">
            <a:avLst/>
          </a:prstGeom>
          <a:noFill/>
          <a:ln w="6350">
            <a:solidFill>
              <a:srgbClr val="F0965A">
                <a:alpha val="60000"/>
              </a:srgbClr>
            </a:solidFill>
            <a:prstDash val="solid"/>
          </a:ln>
        </p:spPr>
        <p:txBody>
          <a:bodyPr/>
          <a:lstStyle/>
          <a:p>
            <a:endParaRPr lang="fr-FR"/>
          </a:p>
        </p:txBody>
      </p:sp>
      <p:sp>
        <p:nvSpPr>
          <p:cNvPr id="39" name="Shape 34"/>
          <p:cNvSpPr/>
          <p:nvPr/>
        </p:nvSpPr>
        <p:spPr>
          <a:xfrm flipV="1">
            <a:off x="4617720" y="1737360"/>
            <a:ext cx="873252" cy="1097280"/>
          </a:xfrm>
          <a:prstGeom prst="line">
            <a:avLst/>
          </a:prstGeom>
          <a:noFill/>
          <a:ln w="6350">
            <a:solidFill>
              <a:srgbClr val="F0965A">
                <a:alpha val="60000"/>
              </a:srgbClr>
            </a:solidFill>
            <a:prstDash val="solid"/>
          </a:ln>
        </p:spPr>
        <p:txBody>
          <a:bodyPr/>
          <a:lstStyle/>
          <a:p>
            <a:endParaRPr lang="fr-FR"/>
          </a:p>
        </p:txBody>
      </p:sp>
      <p:sp>
        <p:nvSpPr>
          <p:cNvPr id="40" name="Shape 35"/>
          <p:cNvSpPr/>
          <p:nvPr/>
        </p:nvSpPr>
        <p:spPr>
          <a:xfrm>
            <a:off x="4617720" y="2834640"/>
            <a:ext cx="873252" cy="914"/>
          </a:xfrm>
          <a:prstGeom prst="line">
            <a:avLst/>
          </a:prstGeom>
          <a:noFill/>
          <a:ln w="6350">
            <a:solidFill>
              <a:srgbClr val="F0965A">
                <a:alpha val="60000"/>
              </a:srgbClr>
            </a:solidFill>
            <a:prstDash val="solid"/>
          </a:ln>
        </p:spPr>
        <p:txBody>
          <a:bodyPr/>
          <a:lstStyle/>
          <a:p>
            <a:endParaRPr lang="fr-FR"/>
          </a:p>
        </p:txBody>
      </p:sp>
      <p:sp>
        <p:nvSpPr>
          <p:cNvPr id="41" name="Shape 36"/>
          <p:cNvSpPr/>
          <p:nvPr/>
        </p:nvSpPr>
        <p:spPr>
          <a:xfrm>
            <a:off x="3698748" y="1691640"/>
            <a:ext cx="91440" cy="91440"/>
          </a:xfrm>
          <a:prstGeom prst="ellipse">
            <a:avLst/>
          </a:prstGeom>
          <a:solidFill>
            <a:srgbClr val="F0965A"/>
          </a:solidFill>
          <a:ln w="9525">
            <a:solidFill>
              <a:srgbClr val="161219"/>
            </a:solidFill>
            <a:prstDash val="solid"/>
          </a:ln>
        </p:spPr>
        <p:txBody>
          <a:bodyPr/>
          <a:lstStyle/>
          <a:p>
            <a:endParaRPr lang="fr-FR"/>
          </a:p>
        </p:txBody>
      </p:sp>
      <p:sp>
        <p:nvSpPr>
          <p:cNvPr id="42" name="Shape 37"/>
          <p:cNvSpPr/>
          <p:nvPr/>
        </p:nvSpPr>
        <p:spPr>
          <a:xfrm>
            <a:off x="3698748" y="2240280"/>
            <a:ext cx="91440" cy="91440"/>
          </a:xfrm>
          <a:prstGeom prst="ellipse">
            <a:avLst/>
          </a:prstGeom>
          <a:solidFill>
            <a:srgbClr val="F0965A"/>
          </a:solidFill>
          <a:ln w="9525">
            <a:solidFill>
              <a:srgbClr val="161219"/>
            </a:solidFill>
            <a:prstDash val="solid"/>
          </a:ln>
        </p:spPr>
        <p:txBody>
          <a:bodyPr/>
          <a:lstStyle/>
          <a:p>
            <a:endParaRPr lang="fr-FR"/>
          </a:p>
        </p:txBody>
      </p:sp>
      <p:sp>
        <p:nvSpPr>
          <p:cNvPr id="43" name="Shape 38"/>
          <p:cNvSpPr/>
          <p:nvPr/>
        </p:nvSpPr>
        <p:spPr>
          <a:xfrm>
            <a:off x="3698748" y="2788920"/>
            <a:ext cx="91440" cy="91440"/>
          </a:xfrm>
          <a:prstGeom prst="ellipse">
            <a:avLst/>
          </a:prstGeom>
          <a:solidFill>
            <a:srgbClr val="F0965A"/>
          </a:solidFill>
          <a:ln w="9525">
            <a:solidFill>
              <a:srgbClr val="161219"/>
            </a:solidFill>
            <a:prstDash val="solid"/>
          </a:ln>
        </p:spPr>
        <p:txBody>
          <a:bodyPr/>
          <a:lstStyle/>
          <a:p>
            <a:endParaRPr lang="fr-FR"/>
          </a:p>
        </p:txBody>
      </p:sp>
      <p:sp>
        <p:nvSpPr>
          <p:cNvPr id="44" name="Shape 39"/>
          <p:cNvSpPr/>
          <p:nvPr/>
        </p:nvSpPr>
        <p:spPr>
          <a:xfrm>
            <a:off x="4572000" y="1691640"/>
            <a:ext cx="91440" cy="91440"/>
          </a:xfrm>
          <a:prstGeom prst="ellipse">
            <a:avLst/>
          </a:prstGeom>
          <a:solidFill>
            <a:srgbClr val="F0965A"/>
          </a:solidFill>
          <a:ln w="9525">
            <a:solidFill>
              <a:srgbClr val="161219"/>
            </a:solidFill>
            <a:prstDash val="solid"/>
          </a:ln>
        </p:spPr>
        <p:txBody>
          <a:bodyPr/>
          <a:lstStyle/>
          <a:p>
            <a:endParaRPr lang="fr-FR"/>
          </a:p>
        </p:txBody>
      </p:sp>
      <p:sp>
        <p:nvSpPr>
          <p:cNvPr id="45" name="Shape 40"/>
          <p:cNvSpPr/>
          <p:nvPr/>
        </p:nvSpPr>
        <p:spPr>
          <a:xfrm>
            <a:off x="4572000" y="2057400"/>
            <a:ext cx="91440" cy="91440"/>
          </a:xfrm>
          <a:prstGeom prst="ellipse">
            <a:avLst/>
          </a:prstGeom>
          <a:solidFill>
            <a:srgbClr val="F0965A"/>
          </a:solidFill>
          <a:ln w="9525">
            <a:solidFill>
              <a:srgbClr val="161219"/>
            </a:solidFill>
            <a:prstDash val="solid"/>
          </a:ln>
        </p:spPr>
        <p:txBody>
          <a:bodyPr/>
          <a:lstStyle/>
          <a:p>
            <a:endParaRPr lang="fr-FR"/>
          </a:p>
        </p:txBody>
      </p:sp>
      <p:sp>
        <p:nvSpPr>
          <p:cNvPr id="46" name="Shape 41"/>
          <p:cNvSpPr/>
          <p:nvPr/>
        </p:nvSpPr>
        <p:spPr>
          <a:xfrm>
            <a:off x="4572000" y="2423160"/>
            <a:ext cx="91440" cy="91440"/>
          </a:xfrm>
          <a:prstGeom prst="ellipse">
            <a:avLst/>
          </a:prstGeom>
          <a:solidFill>
            <a:srgbClr val="F0965A"/>
          </a:solidFill>
          <a:ln w="9525">
            <a:solidFill>
              <a:srgbClr val="161219"/>
            </a:solidFill>
            <a:prstDash val="solid"/>
          </a:ln>
        </p:spPr>
        <p:txBody>
          <a:bodyPr/>
          <a:lstStyle/>
          <a:p>
            <a:endParaRPr lang="fr-FR"/>
          </a:p>
        </p:txBody>
      </p:sp>
      <p:sp>
        <p:nvSpPr>
          <p:cNvPr id="47" name="Shape 42"/>
          <p:cNvSpPr/>
          <p:nvPr/>
        </p:nvSpPr>
        <p:spPr>
          <a:xfrm>
            <a:off x="4572000" y="2788920"/>
            <a:ext cx="91440" cy="91440"/>
          </a:xfrm>
          <a:prstGeom prst="ellipse">
            <a:avLst/>
          </a:prstGeom>
          <a:solidFill>
            <a:srgbClr val="F0965A"/>
          </a:solidFill>
          <a:ln w="9525">
            <a:solidFill>
              <a:srgbClr val="161219"/>
            </a:solidFill>
            <a:prstDash val="solid"/>
          </a:ln>
        </p:spPr>
        <p:txBody>
          <a:bodyPr/>
          <a:lstStyle/>
          <a:p>
            <a:endParaRPr lang="fr-FR"/>
          </a:p>
        </p:txBody>
      </p:sp>
      <p:sp>
        <p:nvSpPr>
          <p:cNvPr id="48" name="Shape 43"/>
          <p:cNvSpPr/>
          <p:nvPr/>
        </p:nvSpPr>
        <p:spPr>
          <a:xfrm>
            <a:off x="5445252" y="1691640"/>
            <a:ext cx="91440" cy="91440"/>
          </a:xfrm>
          <a:prstGeom prst="ellipse">
            <a:avLst/>
          </a:prstGeom>
          <a:solidFill>
            <a:srgbClr val="F0965A"/>
          </a:solidFill>
          <a:ln w="9525">
            <a:solidFill>
              <a:srgbClr val="161219"/>
            </a:solidFill>
            <a:prstDash val="solid"/>
          </a:ln>
        </p:spPr>
        <p:txBody>
          <a:bodyPr/>
          <a:lstStyle/>
          <a:p>
            <a:endParaRPr lang="fr-FR"/>
          </a:p>
        </p:txBody>
      </p:sp>
      <p:sp>
        <p:nvSpPr>
          <p:cNvPr id="49" name="Shape 44"/>
          <p:cNvSpPr/>
          <p:nvPr/>
        </p:nvSpPr>
        <p:spPr>
          <a:xfrm>
            <a:off x="5445252" y="2788920"/>
            <a:ext cx="91440" cy="91440"/>
          </a:xfrm>
          <a:prstGeom prst="ellipse">
            <a:avLst/>
          </a:prstGeom>
          <a:solidFill>
            <a:srgbClr val="F0965A"/>
          </a:solidFill>
          <a:ln w="9525">
            <a:solidFill>
              <a:srgbClr val="161219"/>
            </a:solidFill>
            <a:prstDash val="solid"/>
          </a:ln>
        </p:spPr>
        <p:txBody>
          <a:bodyPr/>
          <a:lstStyle/>
          <a:p>
            <a:endParaRPr lang="fr-FR"/>
          </a:p>
        </p:txBody>
      </p:sp>
      <p:sp>
        <p:nvSpPr>
          <p:cNvPr id="50" name="Shape 45"/>
          <p:cNvSpPr/>
          <p:nvPr/>
        </p:nvSpPr>
        <p:spPr>
          <a:xfrm>
            <a:off x="6739128" y="2002536"/>
            <a:ext cx="566928" cy="566928"/>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51" name="Image 3" descr="preencoded.png"/>
          <p:cNvPicPr>
            <a:picLocks noChangeAspect="1"/>
          </p:cNvPicPr>
          <p:nvPr/>
        </p:nvPicPr>
        <p:blipFill>
          <a:blip r:embed="rId6"/>
          <a:stretch>
            <a:fillRect/>
          </a:stretch>
        </p:blipFill>
        <p:spPr>
          <a:xfrm>
            <a:off x="6812829" y="2076237"/>
            <a:ext cx="419527" cy="419527"/>
          </a:xfrm>
          <a:prstGeom prst="rect">
            <a:avLst/>
          </a:prstGeom>
        </p:spPr>
      </p:pic>
      <p:sp>
        <p:nvSpPr>
          <p:cNvPr id="52" name="Shape 46"/>
          <p:cNvSpPr/>
          <p:nvPr/>
        </p:nvSpPr>
        <p:spPr>
          <a:xfrm>
            <a:off x="7507224" y="2002536"/>
            <a:ext cx="566928" cy="566928"/>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53" name="Image 4" descr="preencoded.png"/>
          <p:cNvPicPr>
            <a:picLocks noChangeAspect="1"/>
          </p:cNvPicPr>
          <p:nvPr/>
        </p:nvPicPr>
        <p:blipFill>
          <a:blip r:embed="rId7"/>
          <a:stretch>
            <a:fillRect/>
          </a:stretch>
        </p:blipFill>
        <p:spPr>
          <a:xfrm>
            <a:off x="7580925" y="2076237"/>
            <a:ext cx="419527" cy="419527"/>
          </a:xfrm>
          <a:prstGeom prst="rect">
            <a:avLst/>
          </a:prstGeom>
        </p:spPr>
      </p:pic>
      <p:sp>
        <p:nvSpPr>
          <p:cNvPr id="54" name="Shape 47"/>
          <p:cNvSpPr/>
          <p:nvPr/>
        </p:nvSpPr>
        <p:spPr>
          <a:xfrm>
            <a:off x="9761220" y="1851660"/>
            <a:ext cx="868680" cy="86868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55" name="Image 5" descr="preencoded.png"/>
          <p:cNvPicPr>
            <a:picLocks noChangeAspect="1"/>
          </p:cNvPicPr>
          <p:nvPr/>
        </p:nvPicPr>
        <p:blipFill>
          <a:blip r:embed="rId8"/>
          <a:stretch>
            <a:fillRect/>
          </a:stretch>
        </p:blipFill>
        <p:spPr>
          <a:xfrm>
            <a:off x="9874148" y="1964588"/>
            <a:ext cx="642823" cy="642823"/>
          </a:xfrm>
          <a:prstGeom prst="rect">
            <a:avLst/>
          </a:prstGeom>
        </p:spPr>
      </p:pic>
      <p:sp>
        <p:nvSpPr>
          <p:cNvPr id="56" name="Text 48"/>
          <p:cNvSpPr/>
          <p:nvPr/>
        </p:nvSpPr>
        <p:spPr>
          <a:xfrm>
            <a:off x="685800" y="3611880"/>
            <a:ext cx="2286000" cy="1280160"/>
          </a:xfrm>
          <a:prstGeom prst="rect">
            <a:avLst/>
          </a:prstGeom>
          <a:noFill/>
          <a:ln/>
        </p:spPr>
        <p:txBody>
          <a:bodyPr wrap="square" lIns="0" tIns="0" rIns="0" bIns="0" rtlCol="0" anchor="ctr"/>
          <a:lstStyle/>
          <a:p>
            <a:pPr marL="0" indent="0" algn="ctr">
              <a:lnSpc>
                <a:spcPct val="120000"/>
              </a:lnSpc>
              <a:buNone/>
            </a:pPr>
            <a:r>
              <a:rPr lang="en-US" sz="950" dirty="0">
                <a:solidFill>
                  <a:srgbClr val="B3AAA0"/>
                </a:solidFill>
                <a:latin typeface="IBM Plex Sans" pitchFamily="34" charset="0"/>
                <a:ea typeface="IBM Plex Sans" pitchFamily="34" charset="-122"/>
                <a:cs typeface="IBM Plex Sans" pitchFamily="34" charset="-120"/>
              </a:rPr>
              <a:t>Des milliards de textes, images et sons aspirés sur le web, dans des livres et des articles.</a:t>
            </a:r>
            <a:endParaRPr lang="en-US" sz="950" dirty="0"/>
          </a:p>
        </p:txBody>
      </p:sp>
      <p:sp>
        <p:nvSpPr>
          <p:cNvPr id="57" name="Text 49"/>
          <p:cNvSpPr/>
          <p:nvPr/>
        </p:nvSpPr>
        <p:spPr>
          <a:xfrm>
            <a:off x="3474720" y="3611880"/>
            <a:ext cx="2286000" cy="1280160"/>
          </a:xfrm>
          <a:prstGeom prst="rect">
            <a:avLst/>
          </a:prstGeom>
          <a:noFill/>
          <a:ln/>
        </p:spPr>
        <p:txBody>
          <a:bodyPr wrap="square" lIns="0" tIns="0" rIns="0" bIns="0" rtlCol="0" anchor="ctr"/>
          <a:lstStyle/>
          <a:p>
            <a:pPr marL="0" indent="0" algn="ctr">
              <a:lnSpc>
                <a:spcPct val="120000"/>
              </a:lnSpc>
              <a:buNone/>
            </a:pPr>
            <a:r>
              <a:rPr lang="en-US" sz="950" dirty="0">
                <a:solidFill>
                  <a:srgbClr val="B3AAA0"/>
                </a:solidFill>
                <a:latin typeface="IBM Plex Sans" pitchFamily="34" charset="0"/>
                <a:ea typeface="IBM Plex Sans" pitchFamily="34" charset="-122"/>
                <a:cs typeface="IBM Plex Sans" pitchFamily="34" charset="-120"/>
              </a:rPr>
              <a:t>Les données traversent des milliers de fois un réseau de neurones, qui ajuste des milliards de paramètres sur des clusters de GPU pendant des mois.</a:t>
            </a:r>
            <a:endParaRPr lang="en-US" sz="950" dirty="0"/>
          </a:p>
        </p:txBody>
      </p:sp>
      <p:sp>
        <p:nvSpPr>
          <p:cNvPr id="58" name="Text 50"/>
          <p:cNvSpPr/>
          <p:nvPr/>
        </p:nvSpPr>
        <p:spPr>
          <a:xfrm>
            <a:off x="6263640" y="3611880"/>
            <a:ext cx="2286000" cy="1280160"/>
          </a:xfrm>
          <a:prstGeom prst="rect">
            <a:avLst/>
          </a:prstGeom>
          <a:noFill/>
          <a:ln/>
        </p:spPr>
        <p:txBody>
          <a:bodyPr wrap="square" lIns="0" tIns="0" rIns="0" bIns="0" rtlCol="0" anchor="ctr"/>
          <a:lstStyle/>
          <a:p>
            <a:pPr marL="0" indent="0" algn="ctr">
              <a:lnSpc>
                <a:spcPct val="120000"/>
              </a:lnSpc>
              <a:buNone/>
            </a:pPr>
            <a:r>
              <a:rPr lang="en-US" sz="950" dirty="0">
                <a:solidFill>
                  <a:srgbClr val="B3AAA0"/>
                </a:solidFill>
                <a:latin typeface="IBM Plex Sans" pitchFamily="34" charset="0"/>
                <a:ea typeface="IBM Plex Sans" pitchFamily="34" charset="-122"/>
                <a:cs typeface="IBM Plex Sans" pitchFamily="34" charset="-120"/>
              </a:rPr>
              <a:t>Des humains notent et corrigent les réponses pour rendre le modèle utile, honnête et sûr, puis on teste sa sécurité.</a:t>
            </a:r>
            <a:endParaRPr lang="en-US" sz="950" dirty="0"/>
          </a:p>
        </p:txBody>
      </p:sp>
      <p:sp>
        <p:nvSpPr>
          <p:cNvPr id="59" name="Text 51"/>
          <p:cNvSpPr/>
          <p:nvPr/>
        </p:nvSpPr>
        <p:spPr>
          <a:xfrm>
            <a:off x="9052560" y="3611880"/>
            <a:ext cx="2286000" cy="1280160"/>
          </a:xfrm>
          <a:prstGeom prst="rect">
            <a:avLst/>
          </a:prstGeom>
          <a:noFill/>
          <a:ln/>
        </p:spPr>
        <p:txBody>
          <a:bodyPr wrap="square" lIns="0" tIns="0" rIns="0" bIns="0" rtlCol="0" anchor="ctr"/>
          <a:lstStyle/>
          <a:p>
            <a:pPr marL="0" indent="0" algn="ctr">
              <a:lnSpc>
                <a:spcPct val="120000"/>
              </a:lnSpc>
              <a:buNone/>
            </a:pPr>
            <a:r>
              <a:rPr lang="en-US" sz="950" dirty="0">
                <a:solidFill>
                  <a:srgbClr val="B3AAA0"/>
                </a:solidFill>
                <a:latin typeface="IBM Plex Sans" pitchFamily="34" charset="0"/>
                <a:ea typeface="IBM Plex Sans" pitchFamily="34" charset="-122"/>
                <a:cs typeface="IBM Plex Sans" pitchFamily="34" charset="-120"/>
              </a:rPr>
              <a:t>Le modèle est publié comme produit ou service, puis continue d'être surveillé et amélioré au fil des usages.</a:t>
            </a:r>
            <a:endParaRPr lang="en-US" sz="950" dirty="0"/>
          </a:p>
        </p:txBody>
      </p:sp>
      <p:sp>
        <p:nvSpPr>
          <p:cNvPr id="60" name="Text 52"/>
          <p:cNvSpPr/>
          <p:nvPr/>
        </p:nvSpPr>
        <p:spPr>
          <a:xfrm>
            <a:off x="822960" y="6035040"/>
            <a:ext cx="10332720" cy="274320"/>
          </a:xfrm>
          <a:prstGeom prst="rect">
            <a:avLst/>
          </a:prstGeom>
          <a:noFill/>
          <a:ln/>
        </p:spPr>
        <p:txBody>
          <a:bodyPr wrap="square" lIns="0" tIns="0" rIns="0" bIns="0" rtlCol="0" anchor="ctr"/>
          <a:lstStyle/>
          <a:p>
            <a:pPr marL="0" indent="0">
              <a:buNone/>
            </a:pPr>
            <a:r>
              <a:rPr lang="en-US" sz="900" i="1" dirty="0">
                <a:solidFill>
                  <a:srgbClr val="9A9089"/>
                </a:solidFill>
                <a:latin typeface="IBM Plex Sans" pitchFamily="34" charset="0"/>
                <a:ea typeface="IBM Plex Sans" pitchFamily="34" charset="-122"/>
                <a:cs typeface="IBM Plex Sans" pitchFamily="34" charset="-120"/>
              </a:rPr>
              <a:t>Repère chiffré : l'entraînement d'un grand modèle comme GPT-4 coûterait plus de 100 millions de dollars, pour plusieurs milliers de MWh consommés.</a:t>
            </a:r>
            <a:endParaRPr lang="en-US" sz="900" dirty="0"/>
          </a:p>
        </p:txBody>
      </p:sp>
      <p:sp>
        <p:nvSpPr>
          <p:cNvPr id="61" name="Text 5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62" name="Text 5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6</a:t>
            </a:r>
            <a:endParaRPr lang="en-US" sz="900" dirty="0"/>
          </a:p>
        </p:txBody>
      </p:sp>
      <p:pic>
        <p:nvPicPr>
          <p:cNvPr id="64" name="Image 63">
            <a:extLst>
              <a:ext uri="{FF2B5EF4-FFF2-40B4-BE49-F238E27FC236}">
                <a16:creationId xmlns:a16="http://schemas.microsoft.com/office/drawing/2014/main" id="{603F5455-43CE-C9FE-10C7-675B5F4EFF29}"/>
              </a:ext>
            </a:extLst>
          </p:cNvPr>
          <p:cNvPicPr>
            <a:picLocks noChangeAspect="1"/>
          </p:cNvPicPr>
          <p:nvPr/>
        </p:nvPicPr>
        <p:blipFill>
          <a:blip r:embed="rId9"/>
          <a:stretch>
            <a:fillRect/>
          </a:stretch>
        </p:blipFill>
        <p:spPr>
          <a:xfrm>
            <a:off x="161498" y="71537"/>
            <a:ext cx="1048603" cy="10486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02920"/>
          </a:xfrm>
          <a:prstGeom prst="rect">
            <a:avLst/>
          </a:prstGeom>
          <a:noFill/>
          <a:ln/>
        </p:spPr>
        <p:txBody>
          <a:bodyPr wrap="square" lIns="0" tIns="0" rIns="0" bIns="0" rtlCol="0" anchor="ctr"/>
          <a:lstStyle/>
          <a:p>
            <a:pPr marL="0" indent="0">
              <a:buNone/>
            </a:pPr>
            <a:r>
              <a:rPr lang="en-US" sz="2600" b="1" dirty="0">
                <a:solidFill>
                  <a:srgbClr val="FAF6F0"/>
                </a:solidFill>
                <a:latin typeface="Space Grotesk" pitchFamily="34" charset="0"/>
                <a:ea typeface="Space Grotesk" pitchFamily="34" charset="-122"/>
                <a:cs typeface="Space Grotesk" pitchFamily="34" charset="-120"/>
              </a:rPr>
              <a:t>                                            </a:t>
            </a:r>
            <a:r>
              <a:rPr lang="en-US" sz="2600" b="1" dirty="0">
                <a:solidFill>
                  <a:srgbClr val="FF0000"/>
                </a:solidFill>
                <a:latin typeface="Space Grotesk" pitchFamily="34" charset="0"/>
                <a:ea typeface="Space Grotesk" pitchFamily="34" charset="-122"/>
                <a:cs typeface="Space Grotesk" pitchFamily="34" charset="-120"/>
              </a:rPr>
              <a:t>LE « CERVEAU » D'UNE IA</a:t>
            </a:r>
            <a:endParaRPr lang="en-US" sz="2600" dirty="0">
              <a:solidFill>
                <a:srgbClr val="FF0000"/>
              </a:solidFill>
            </a:endParaRPr>
          </a:p>
        </p:txBody>
      </p:sp>
      <p:sp>
        <p:nvSpPr>
          <p:cNvPr id="3" name="Text 1"/>
          <p:cNvSpPr/>
          <p:nvPr/>
        </p:nvSpPr>
        <p:spPr>
          <a:xfrm>
            <a:off x="640080" y="960120"/>
            <a:ext cx="9144000"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                                                              Une image pour comprendre le réseau de neurones — pas une vraie anatomie</a:t>
            </a:r>
            <a:endParaRPr lang="en-US" sz="1250" dirty="0"/>
          </a:p>
        </p:txBody>
      </p:sp>
      <p:sp>
        <p:nvSpPr>
          <p:cNvPr id="4" name="Shape 2"/>
          <p:cNvSpPr/>
          <p:nvPr/>
        </p:nvSpPr>
        <p:spPr>
          <a:xfrm>
            <a:off x="3200400" y="1600200"/>
            <a:ext cx="4023360" cy="4114800"/>
          </a:xfrm>
          <a:prstGeom prst="ellipse">
            <a:avLst/>
          </a:prstGeom>
          <a:solidFill>
            <a:srgbClr val="78B4DC">
              <a:alpha val="8000"/>
            </a:srgbClr>
          </a:solidFill>
          <a:ln w="12700">
            <a:solidFill>
              <a:srgbClr val="78B4DC">
                <a:alpha val="28000"/>
              </a:srgbClr>
            </a:solidFill>
            <a:prstDash val="solid"/>
          </a:ln>
        </p:spPr>
        <p:txBody>
          <a:bodyPr/>
          <a:lstStyle/>
          <a:p>
            <a:endParaRPr lang="fr-FR"/>
          </a:p>
        </p:txBody>
      </p:sp>
      <p:sp>
        <p:nvSpPr>
          <p:cNvPr id="5" name="Shape 3"/>
          <p:cNvSpPr/>
          <p:nvPr/>
        </p:nvSpPr>
        <p:spPr>
          <a:xfrm>
            <a:off x="4937760" y="1600200"/>
            <a:ext cx="4023360" cy="4114800"/>
          </a:xfrm>
          <a:prstGeom prst="ellipse">
            <a:avLst/>
          </a:prstGeom>
          <a:solidFill>
            <a:srgbClr val="F0965A">
              <a:alpha val="8000"/>
            </a:srgbClr>
          </a:solidFill>
          <a:ln w="12700">
            <a:solidFill>
              <a:srgbClr val="F0965A">
                <a:alpha val="28000"/>
              </a:srgbClr>
            </a:solidFill>
            <a:prstDash val="solid"/>
          </a:ln>
        </p:spPr>
        <p:txBody>
          <a:bodyPr/>
          <a:lstStyle/>
          <a:p>
            <a:endParaRPr lang="fr-FR"/>
          </a:p>
        </p:txBody>
      </p:sp>
      <p:sp>
        <p:nvSpPr>
          <p:cNvPr id="6" name="Shape 4"/>
          <p:cNvSpPr/>
          <p:nvPr/>
        </p:nvSpPr>
        <p:spPr>
          <a:xfrm>
            <a:off x="3749040" y="1435608"/>
            <a:ext cx="731520" cy="548640"/>
          </a:xfrm>
          <a:prstGeom prst="ellipse">
            <a:avLst/>
          </a:prstGeom>
          <a:solidFill>
            <a:srgbClr val="78B4DC">
              <a:alpha val="8000"/>
            </a:srgbClr>
          </a:solidFill>
          <a:ln w="12700">
            <a:solidFill>
              <a:srgbClr val="78B4DC">
                <a:alpha val="28000"/>
              </a:srgbClr>
            </a:solidFill>
            <a:prstDash val="solid"/>
          </a:ln>
        </p:spPr>
        <p:txBody>
          <a:bodyPr/>
          <a:lstStyle/>
          <a:p>
            <a:endParaRPr lang="fr-FR"/>
          </a:p>
        </p:txBody>
      </p:sp>
      <p:sp>
        <p:nvSpPr>
          <p:cNvPr id="7" name="Shape 5"/>
          <p:cNvSpPr/>
          <p:nvPr/>
        </p:nvSpPr>
        <p:spPr>
          <a:xfrm>
            <a:off x="4663440" y="1435608"/>
            <a:ext cx="731520" cy="548640"/>
          </a:xfrm>
          <a:prstGeom prst="ellipse">
            <a:avLst/>
          </a:prstGeom>
          <a:solidFill>
            <a:srgbClr val="F0965A">
              <a:alpha val="8000"/>
            </a:srgbClr>
          </a:solidFill>
          <a:ln w="12700">
            <a:solidFill>
              <a:srgbClr val="F0965A">
                <a:alpha val="28000"/>
              </a:srgbClr>
            </a:solidFill>
            <a:prstDash val="solid"/>
          </a:ln>
        </p:spPr>
        <p:txBody>
          <a:bodyPr/>
          <a:lstStyle/>
          <a:p>
            <a:endParaRPr lang="fr-FR"/>
          </a:p>
        </p:txBody>
      </p:sp>
      <p:sp>
        <p:nvSpPr>
          <p:cNvPr id="8" name="Shape 6"/>
          <p:cNvSpPr/>
          <p:nvPr/>
        </p:nvSpPr>
        <p:spPr>
          <a:xfrm>
            <a:off x="6766560" y="1435608"/>
            <a:ext cx="731520" cy="548640"/>
          </a:xfrm>
          <a:prstGeom prst="ellipse">
            <a:avLst/>
          </a:prstGeom>
          <a:solidFill>
            <a:srgbClr val="C896DC">
              <a:alpha val="8000"/>
            </a:srgbClr>
          </a:solidFill>
          <a:ln w="12700">
            <a:solidFill>
              <a:srgbClr val="C896DC">
                <a:alpha val="28000"/>
              </a:srgbClr>
            </a:solidFill>
            <a:prstDash val="solid"/>
          </a:ln>
        </p:spPr>
        <p:txBody>
          <a:bodyPr/>
          <a:lstStyle/>
          <a:p>
            <a:endParaRPr lang="fr-FR"/>
          </a:p>
        </p:txBody>
      </p:sp>
      <p:sp>
        <p:nvSpPr>
          <p:cNvPr id="9" name="Shape 7"/>
          <p:cNvSpPr/>
          <p:nvPr/>
        </p:nvSpPr>
        <p:spPr>
          <a:xfrm>
            <a:off x="7680960" y="1435608"/>
            <a:ext cx="731520" cy="548640"/>
          </a:xfrm>
          <a:prstGeom prst="ellipse">
            <a:avLst/>
          </a:prstGeom>
          <a:solidFill>
            <a:srgbClr val="E6C86E">
              <a:alpha val="8000"/>
            </a:srgbClr>
          </a:solidFill>
          <a:ln w="12700">
            <a:solidFill>
              <a:srgbClr val="E6C86E">
                <a:alpha val="28000"/>
              </a:srgbClr>
            </a:solidFill>
            <a:prstDash val="solid"/>
          </a:ln>
        </p:spPr>
        <p:txBody>
          <a:bodyPr/>
          <a:lstStyle/>
          <a:p>
            <a:endParaRPr lang="fr-FR"/>
          </a:p>
        </p:txBody>
      </p:sp>
      <p:sp>
        <p:nvSpPr>
          <p:cNvPr id="10" name="Shape 8"/>
          <p:cNvSpPr/>
          <p:nvPr/>
        </p:nvSpPr>
        <p:spPr>
          <a:xfrm>
            <a:off x="6080760" y="1874520"/>
            <a:ext cx="914" cy="3566160"/>
          </a:xfrm>
          <a:prstGeom prst="line">
            <a:avLst/>
          </a:prstGeom>
          <a:noFill/>
          <a:ln w="12700">
            <a:solidFill>
              <a:srgbClr val="37312A">
                <a:alpha val="65000"/>
              </a:srgbClr>
            </a:solidFill>
            <a:prstDash val="solid"/>
          </a:ln>
        </p:spPr>
        <p:txBody>
          <a:bodyPr/>
          <a:lstStyle/>
          <a:p>
            <a:endParaRPr lang="fr-FR"/>
          </a:p>
        </p:txBody>
      </p:sp>
      <p:sp>
        <p:nvSpPr>
          <p:cNvPr id="11" name="Shape 9"/>
          <p:cNvSpPr/>
          <p:nvPr/>
        </p:nvSpPr>
        <p:spPr>
          <a:xfrm>
            <a:off x="6080760" y="1828800"/>
            <a:ext cx="914" cy="1828800"/>
          </a:xfrm>
          <a:prstGeom prst="line">
            <a:avLst/>
          </a:prstGeom>
          <a:noFill/>
          <a:ln w="12700">
            <a:solidFill>
              <a:srgbClr val="78B4DC">
                <a:alpha val="45000"/>
              </a:srgbClr>
            </a:solidFill>
            <a:prstDash val="solid"/>
          </a:ln>
        </p:spPr>
        <p:txBody>
          <a:bodyPr/>
          <a:lstStyle/>
          <a:p>
            <a:endParaRPr lang="fr-FR"/>
          </a:p>
        </p:txBody>
      </p:sp>
      <p:sp>
        <p:nvSpPr>
          <p:cNvPr id="12" name="Shape 10"/>
          <p:cNvSpPr/>
          <p:nvPr/>
        </p:nvSpPr>
        <p:spPr>
          <a:xfrm>
            <a:off x="6080760" y="3657600"/>
            <a:ext cx="2514600" cy="914"/>
          </a:xfrm>
          <a:prstGeom prst="line">
            <a:avLst/>
          </a:prstGeom>
          <a:noFill/>
          <a:ln w="12700">
            <a:solidFill>
              <a:srgbClr val="F0965A">
                <a:alpha val="45000"/>
              </a:srgbClr>
            </a:solidFill>
            <a:prstDash val="solid"/>
          </a:ln>
        </p:spPr>
        <p:txBody>
          <a:bodyPr/>
          <a:lstStyle/>
          <a:p>
            <a:endParaRPr lang="fr-FR"/>
          </a:p>
        </p:txBody>
      </p:sp>
      <p:sp>
        <p:nvSpPr>
          <p:cNvPr id="13" name="Shape 11"/>
          <p:cNvSpPr/>
          <p:nvPr/>
        </p:nvSpPr>
        <p:spPr>
          <a:xfrm flipV="1">
            <a:off x="6080760" y="3657600"/>
            <a:ext cx="914" cy="1828800"/>
          </a:xfrm>
          <a:prstGeom prst="line">
            <a:avLst/>
          </a:prstGeom>
          <a:noFill/>
          <a:ln w="12700">
            <a:solidFill>
              <a:srgbClr val="C896DC">
                <a:alpha val="45000"/>
              </a:srgbClr>
            </a:solidFill>
            <a:prstDash val="solid"/>
          </a:ln>
        </p:spPr>
        <p:txBody>
          <a:bodyPr/>
          <a:lstStyle/>
          <a:p>
            <a:endParaRPr lang="fr-FR"/>
          </a:p>
        </p:txBody>
      </p:sp>
      <p:sp>
        <p:nvSpPr>
          <p:cNvPr id="14" name="Shape 12"/>
          <p:cNvSpPr/>
          <p:nvPr/>
        </p:nvSpPr>
        <p:spPr>
          <a:xfrm>
            <a:off x="3566160" y="3657600"/>
            <a:ext cx="2514600" cy="914"/>
          </a:xfrm>
          <a:prstGeom prst="line">
            <a:avLst/>
          </a:prstGeom>
          <a:noFill/>
          <a:ln w="12700">
            <a:solidFill>
              <a:srgbClr val="E6C86E">
                <a:alpha val="45000"/>
              </a:srgbClr>
            </a:solidFill>
            <a:prstDash val="solid"/>
          </a:ln>
        </p:spPr>
        <p:txBody>
          <a:bodyPr/>
          <a:lstStyle/>
          <a:p>
            <a:endParaRPr lang="fr-FR"/>
          </a:p>
        </p:txBody>
      </p:sp>
      <p:sp>
        <p:nvSpPr>
          <p:cNvPr id="15" name="Shape 13"/>
          <p:cNvSpPr/>
          <p:nvPr/>
        </p:nvSpPr>
        <p:spPr>
          <a:xfrm>
            <a:off x="6080760" y="2564495"/>
            <a:ext cx="111573" cy="1093105"/>
          </a:xfrm>
          <a:prstGeom prst="line">
            <a:avLst/>
          </a:prstGeom>
          <a:noFill/>
          <a:ln w="12700">
            <a:solidFill>
              <a:srgbClr val="F0965A">
                <a:alpha val="55000"/>
              </a:srgbClr>
            </a:solidFill>
            <a:prstDash val="solid"/>
          </a:ln>
        </p:spPr>
        <p:txBody>
          <a:bodyPr/>
          <a:lstStyle/>
          <a:p>
            <a:endParaRPr lang="fr-FR"/>
          </a:p>
        </p:txBody>
      </p:sp>
      <p:sp>
        <p:nvSpPr>
          <p:cNvPr id="16" name="Shape 14"/>
          <p:cNvSpPr/>
          <p:nvPr/>
        </p:nvSpPr>
        <p:spPr>
          <a:xfrm>
            <a:off x="6080760" y="3028226"/>
            <a:ext cx="1048646" cy="629374"/>
          </a:xfrm>
          <a:prstGeom prst="line">
            <a:avLst/>
          </a:prstGeom>
          <a:noFill/>
          <a:ln w="12700">
            <a:solidFill>
              <a:srgbClr val="C896DC">
                <a:alpha val="55000"/>
              </a:srgbClr>
            </a:solidFill>
            <a:prstDash val="solid"/>
          </a:ln>
        </p:spPr>
        <p:txBody>
          <a:bodyPr/>
          <a:lstStyle/>
          <a:p>
            <a:endParaRPr lang="fr-FR"/>
          </a:p>
        </p:txBody>
      </p:sp>
      <p:sp>
        <p:nvSpPr>
          <p:cNvPr id="17" name="Shape 15"/>
          <p:cNvSpPr/>
          <p:nvPr/>
        </p:nvSpPr>
        <p:spPr>
          <a:xfrm flipV="1">
            <a:off x="6080760" y="3657600"/>
            <a:ext cx="1236540" cy="283997"/>
          </a:xfrm>
          <a:prstGeom prst="line">
            <a:avLst/>
          </a:prstGeom>
          <a:noFill/>
          <a:ln w="12700">
            <a:solidFill>
              <a:srgbClr val="E6C86E">
                <a:alpha val="55000"/>
              </a:srgbClr>
            </a:solidFill>
            <a:prstDash val="solid"/>
          </a:ln>
        </p:spPr>
        <p:txBody>
          <a:bodyPr/>
          <a:lstStyle/>
          <a:p>
            <a:endParaRPr lang="fr-FR"/>
          </a:p>
        </p:txBody>
      </p:sp>
      <p:sp>
        <p:nvSpPr>
          <p:cNvPr id="18" name="Shape 16"/>
          <p:cNvSpPr/>
          <p:nvPr/>
        </p:nvSpPr>
        <p:spPr>
          <a:xfrm flipV="1">
            <a:off x="6080760" y="3657600"/>
            <a:ext cx="640080" cy="950272"/>
          </a:xfrm>
          <a:prstGeom prst="line">
            <a:avLst/>
          </a:prstGeom>
          <a:noFill/>
          <a:ln w="12700">
            <a:solidFill>
              <a:srgbClr val="78C88C">
                <a:alpha val="55000"/>
              </a:srgbClr>
            </a:solidFill>
            <a:prstDash val="solid"/>
          </a:ln>
        </p:spPr>
        <p:txBody>
          <a:bodyPr/>
          <a:lstStyle/>
          <a:p>
            <a:endParaRPr lang="fr-FR"/>
          </a:p>
        </p:txBody>
      </p:sp>
      <p:sp>
        <p:nvSpPr>
          <p:cNvPr id="19" name="Shape 17"/>
          <p:cNvSpPr/>
          <p:nvPr/>
        </p:nvSpPr>
        <p:spPr>
          <a:xfrm flipV="1">
            <a:off x="5257889" y="3657600"/>
            <a:ext cx="822871" cy="840565"/>
          </a:xfrm>
          <a:prstGeom prst="line">
            <a:avLst/>
          </a:prstGeom>
          <a:noFill/>
          <a:ln w="12700">
            <a:solidFill>
              <a:srgbClr val="78B4DC">
                <a:alpha val="55000"/>
              </a:srgbClr>
            </a:solidFill>
            <a:prstDash val="solid"/>
          </a:ln>
        </p:spPr>
        <p:txBody>
          <a:bodyPr/>
          <a:lstStyle/>
          <a:p>
            <a:endParaRPr lang="fr-FR"/>
          </a:p>
        </p:txBody>
      </p:sp>
      <p:sp>
        <p:nvSpPr>
          <p:cNvPr id="20" name="Shape 18"/>
          <p:cNvSpPr/>
          <p:nvPr/>
        </p:nvSpPr>
        <p:spPr>
          <a:xfrm flipV="1">
            <a:off x="4805471" y="3657600"/>
            <a:ext cx="1275289" cy="95634"/>
          </a:xfrm>
          <a:prstGeom prst="line">
            <a:avLst/>
          </a:prstGeom>
          <a:noFill/>
          <a:ln w="12700">
            <a:solidFill>
              <a:srgbClr val="F0965A">
                <a:alpha val="55000"/>
              </a:srgbClr>
            </a:solidFill>
            <a:prstDash val="solid"/>
          </a:ln>
        </p:spPr>
        <p:txBody>
          <a:bodyPr/>
          <a:lstStyle/>
          <a:p>
            <a:endParaRPr lang="fr-FR"/>
          </a:p>
        </p:txBody>
      </p:sp>
      <p:sp>
        <p:nvSpPr>
          <p:cNvPr id="21" name="Shape 19"/>
          <p:cNvSpPr/>
          <p:nvPr/>
        </p:nvSpPr>
        <p:spPr>
          <a:xfrm>
            <a:off x="5100101" y="2952282"/>
            <a:ext cx="980659" cy="705318"/>
          </a:xfrm>
          <a:prstGeom prst="line">
            <a:avLst/>
          </a:prstGeom>
          <a:noFill/>
          <a:ln w="12700">
            <a:solidFill>
              <a:srgbClr val="C896DC">
                <a:alpha val="55000"/>
              </a:srgbClr>
            </a:solidFill>
            <a:prstDash val="solid"/>
          </a:ln>
        </p:spPr>
        <p:txBody>
          <a:bodyPr/>
          <a:lstStyle/>
          <a:p>
            <a:endParaRPr lang="fr-FR"/>
          </a:p>
        </p:txBody>
      </p:sp>
      <p:sp>
        <p:nvSpPr>
          <p:cNvPr id="22" name="Shape 20"/>
          <p:cNvSpPr/>
          <p:nvPr/>
        </p:nvSpPr>
        <p:spPr>
          <a:xfrm>
            <a:off x="6192333" y="2564495"/>
            <a:ext cx="937072" cy="463731"/>
          </a:xfrm>
          <a:prstGeom prst="line">
            <a:avLst/>
          </a:prstGeom>
          <a:noFill/>
          <a:ln w="9525">
            <a:solidFill>
              <a:srgbClr val="37312A">
                <a:alpha val="75000"/>
              </a:srgbClr>
            </a:solidFill>
            <a:prstDash val="solid"/>
          </a:ln>
        </p:spPr>
        <p:txBody>
          <a:bodyPr/>
          <a:lstStyle/>
          <a:p>
            <a:endParaRPr lang="fr-FR"/>
          </a:p>
        </p:txBody>
      </p:sp>
      <p:sp>
        <p:nvSpPr>
          <p:cNvPr id="23" name="Shape 21"/>
          <p:cNvSpPr/>
          <p:nvPr/>
        </p:nvSpPr>
        <p:spPr>
          <a:xfrm>
            <a:off x="7129406" y="3028226"/>
            <a:ext cx="187894" cy="913371"/>
          </a:xfrm>
          <a:prstGeom prst="line">
            <a:avLst/>
          </a:prstGeom>
          <a:noFill/>
          <a:ln w="9525">
            <a:solidFill>
              <a:srgbClr val="37312A">
                <a:alpha val="75000"/>
              </a:srgbClr>
            </a:solidFill>
            <a:prstDash val="solid"/>
          </a:ln>
        </p:spPr>
        <p:txBody>
          <a:bodyPr/>
          <a:lstStyle/>
          <a:p>
            <a:endParaRPr lang="fr-FR"/>
          </a:p>
        </p:txBody>
      </p:sp>
      <p:sp>
        <p:nvSpPr>
          <p:cNvPr id="24" name="Shape 22"/>
          <p:cNvSpPr/>
          <p:nvPr/>
        </p:nvSpPr>
        <p:spPr>
          <a:xfrm>
            <a:off x="6720840" y="3941597"/>
            <a:ext cx="596460" cy="666275"/>
          </a:xfrm>
          <a:prstGeom prst="line">
            <a:avLst/>
          </a:prstGeom>
          <a:noFill/>
          <a:ln w="9525">
            <a:solidFill>
              <a:srgbClr val="37312A">
                <a:alpha val="75000"/>
              </a:srgbClr>
            </a:solidFill>
            <a:prstDash val="solid"/>
          </a:ln>
        </p:spPr>
        <p:txBody>
          <a:bodyPr/>
          <a:lstStyle/>
          <a:p>
            <a:endParaRPr lang="fr-FR"/>
          </a:p>
        </p:txBody>
      </p:sp>
      <p:sp>
        <p:nvSpPr>
          <p:cNvPr id="25" name="Shape 23"/>
          <p:cNvSpPr/>
          <p:nvPr/>
        </p:nvSpPr>
        <p:spPr>
          <a:xfrm flipV="1">
            <a:off x="5257889" y="4498165"/>
            <a:ext cx="1462951" cy="109707"/>
          </a:xfrm>
          <a:prstGeom prst="line">
            <a:avLst/>
          </a:prstGeom>
          <a:noFill/>
          <a:ln w="9525">
            <a:solidFill>
              <a:srgbClr val="37312A">
                <a:alpha val="75000"/>
              </a:srgbClr>
            </a:solidFill>
            <a:prstDash val="solid"/>
          </a:ln>
        </p:spPr>
        <p:txBody>
          <a:bodyPr/>
          <a:lstStyle/>
          <a:p>
            <a:endParaRPr lang="fr-FR"/>
          </a:p>
        </p:txBody>
      </p:sp>
      <p:sp>
        <p:nvSpPr>
          <p:cNvPr id="26" name="Shape 24"/>
          <p:cNvSpPr/>
          <p:nvPr/>
        </p:nvSpPr>
        <p:spPr>
          <a:xfrm flipV="1">
            <a:off x="4805471" y="3753234"/>
            <a:ext cx="452418" cy="744931"/>
          </a:xfrm>
          <a:prstGeom prst="line">
            <a:avLst/>
          </a:prstGeom>
          <a:noFill/>
          <a:ln w="9525">
            <a:solidFill>
              <a:srgbClr val="37312A">
                <a:alpha val="75000"/>
              </a:srgbClr>
            </a:solidFill>
            <a:prstDash val="solid"/>
          </a:ln>
        </p:spPr>
        <p:txBody>
          <a:bodyPr/>
          <a:lstStyle/>
          <a:p>
            <a:endParaRPr lang="fr-FR"/>
          </a:p>
        </p:txBody>
      </p:sp>
      <p:sp>
        <p:nvSpPr>
          <p:cNvPr id="27" name="Shape 25"/>
          <p:cNvSpPr/>
          <p:nvPr/>
        </p:nvSpPr>
        <p:spPr>
          <a:xfrm flipV="1">
            <a:off x="4805471" y="2952282"/>
            <a:ext cx="294629" cy="800952"/>
          </a:xfrm>
          <a:prstGeom prst="line">
            <a:avLst/>
          </a:prstGeom>
          <a:noFill/>
          <a:ln w="9525">
            <a:solidFill>
              <a:srgbClr val="37312A">
                <a:alpha val="75000"/>
              </a:srgbClr>
            </a:solidFill>
            <a:prstDash val="solid"/>
          </a:ln>
        </p:spPr>
        <p:txBody>
          <a:bodyPr/>
          <a:lstStyle/>
          <a:p>
            <a:endParaRPr lang="fr-FR"/>
          </a:p>
        </p:txBody>
      </p:sp>
      <p:sp>
        <p:nvSpPr>
          <p:cNvPr id="28" name="Shape 26"/>
          <p:cNvSpPr/>
          <p:nvPr/>
        </p:nvSpPr>
        <p:spPr>
          <a:xfrm flipV="1">
            <a:off x="5100101" y="2564495"/>
            <a:ext cx="1092233" cy="387787"/>
          </a:xfrm>
          <a:prstGeom prst="line">
            <a:avLst/>
          </a:prstGeom>
          <a:noFill/>
          <a:ln w="9525">
            <a:solidFill>
              <a:srgbClr val="37312A">
                <a:alpha val="75000"/>
              </a:srgbClr>
            </a:solidFill>
            <a:prstDash val="solid"/>
          </a:ln>
        </p:spPr>
        <p:txBody>
          <a:bodyPr/>
          <a:lstStyle/>
          <a:p>
            <a:endParaRPr lang="fr-FR"/>
          </a:p>
        </p:txBody>
      </p:sp>
      <p:sp>
        <p:nvSpPr>
          <p:cNvPr id="29" name="Shape 27"/>
          <p:cNvSpPr/>
          <p:nvPr/>
        </p:nvSpPr>
        <p:spPr>
          <a:xfrm>
            <a:off x="5522976" y="1554480"/>
            <a:ext cx="1115568" cy="548640"/>
          </a:xfrm>
          <a:prstGeom prst="ellipse">
            <a:avLst/>
          </a:prstGeom>
          <a:solidFill>
            <a:srgbClr val="78B4DC">
              <a:alpha val="22000"/>
            </a:srgbClr>
          </a:solidFill>
          <a:ln/>
        </p:spPr>
        <p:txBody>
          <a:bodyPr/>
          <a:lstStyle/>
          <a:p>
            <a:endParaRPr lang="fr-FR"/>
          </a:p>
        </p:txBody>
      </p:sp>
      <p:sp>
        <p:nvSpPr>
          <p:cNvPr id="30" name="Shape 28"/>
          <p:cNvSpPr/>
          <p:nvPr/>
        </p:nvSpPr>
        <p:spPr>
          <a:xfrm>
            <a:off x="5623560" y="1655064"/>
            <a:ext cx="914400" cy="347472"/>
          </a:xfrm>
          <a:prstGeom prst="roundRect">
            <a:avLst>
              <a:gd name="adj" fmla="val 50000"/>
            </a:avLst>
          </a:prstGeom>
          <a:solidFill>
            <a:srgbClr val="78B4DC"/>
          </a:solidFill>
          <a:ln w="15875">
            <a:solidFill>
              <a:srgbClr val="161219"/>
            </a:solidFill>
            <a:prstDash val="solid"/>
          </a:ln>
        </p:spPr>
        <p:txBody>
          <a:bodyPr/>
          <a:lstStyle/>
          <a:p>
            <a:endParaRPr lang="fr-FR"/>
          </a:p>
        </p:txBody>
      </p:sp>
      <p:sp>
        <p:nvSpPr>
          <p:cNvPr id="31" name="Text 29"/>
          <p:cNvSpPr/>
          <p:nvPr/>
        </p:nvSpPr>
        <p:spPr>
          <a:xfrm>
            <a:off x="5623560" y="1655064"/>
            <a:ext cx="91440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Texte</a:t>
            </a:r>
            <a:endParaRPr lang="en-US" sz="1000" dirty="0"/>
          </a:p>
        </p:txBody>
      </p:sp>
      <p:sp>
        <p:nvSpPr>
          <p:cNvPr id="32" name="Text 30"/>
          <p:cNvSpPr/>
          <p:nvPr/>
        </p:nvSpPr>
        <p:spPr>
          <a:xfrm>
            <a:off x="5429250" y="2130552"/>
            <a:ext cx="1303020" cy="256032"/>
          </a:xfrm>
          <a:prstGeom prst="rect">
            <a:avLst/>
          </a:prstGeom>
          <a:noFill/>
          <a:ln/>
        </p:spPr>
        <p:txBody>
          <a:bodyPr wrap="square" lIns="0" tIns="0" rIns="0" bIns="0" rtlCol="0" anchor="ctr"/>
          <a:lstStyle/>
          <a:p>
            <a:pPr marL="0" indent="0" algn="ctr">
              <a:buNone/>
            </a:pPr>
            <a:r>
              <a:rPr lang="en-US" sz="800" i="1" dirty="0">
                <a:solidFill>
                  <a:srgbClr val="A89F95"/>
                </a:solidFill>
                <a:latin typeface="IBM Plex Sans" pitchFamily="34" charset="0"/>
                <a:ea typeface="IBM Plex Sans" pitchFamily="34" charset="-122"/>
                <a:cs typeface="IBM Plex Sans" pitchFamily="34" charset="-120"/>
              </a:rPr>
              <a:t>Mots, phrases, code</a:t>
            </a:r>
            <a:endParaRPr lang="en-US" sz="800" dirty="0"/>
          </a:p>
        </p:txBody>
      </p:sp>
      <p:sp>
        <p:nvSpPr>
          <p:cNvPr id="33" name="Shape 31"/>
          <p:cNvSpPr/>
          <p:nvPr/>
        </p:nvSpPr>
        <p:spPr>
          <a:xfrm>
            <a:off x="8037576" y="3383280"/>
            <a:ext cx="1115568" cy="548640"/>
          </a:xfrm>
          <a:prstGeom prst="ellipse">
            <a:avLst/>
          </a:prstGeom>
          <a:solidFill>
            <a:srgbClr val="F0965A">
              <a:alpha val="22000"/>
            </a:srgbClr>
          </a:solidFill>
          <a:ln/>
        </p:spPr>
        <p:txBody>
          <a:bodyPr/>
          <a:lstStyle/>
          <a:p>
            <a:endParaRPr lang="fr-FR"/>
          </a:p>
        </p:txBody>
      </p:sp>
      <p:sp>
        <p:nvSpPr>
          <p:cNvPr id="34" name="Shape 32"/>
          <p:cNvSpPr/>
          <p:nvPr/>
        </p:nvSpPr>
        <p:spPr>
          <a:xfrm>
            <a:off x="8138160" y="3483864"/>
            <a:ext cx="914400" cy="347472"/>
          </a:xfrm>
          <a:prstGeom prst="roundRect">
            <a:avLst>
              <a:gd name="adj" fmla="val 50000"/>
            </a:avLst>
          </a:prstGeom>
          <a:solidFill>
            <a:srgbClr val="F0965A"/>
          </a:solidFill>
          <a:ln w="15875">
            <a:solidFill>
              <a:srgbClr val="161219"/>
            </a:solidFill>
            <a:prstDash val="solid"/>
          </a:ln>
        </p:spPr>
        <p:txBody>
          <a:bodyPr/>
          <a:lstStyle/>
          <a:p>
            <a:endParaRPr lang="fr-FR"/>
          </a:p>
        </p:txBody>
      </p:sp>
      <p:sp>
        <p:nvSpPr>
          <p:cNvPr id="35" name="Text 33"/>
          <p:cNvSpPr/>
          <p:nvPr/>
        </p:nvSpPr>
        <p:spPr>
          <a:xfrm>
            <a:off x="8138160" y="3483864"/>
            <a:ext cx="91440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Image</a:t>
            </a:r>
            <a:endParaRPr lang="en-US" sz="1000" dirty="0"/>
          </a:p>
        </p:txBody>
      </p:sp>
      <p:sp>
        <p:nvSpPr>
          <p:cNvPr id="36" name="Text 34"/>
          <p:cNvSpPr/>
          <p:nvPr/>
        </p:nvSpPr>
        <p:spPr>
          <a:xfrm>
            <a:off x="8001000" y="3959352"/>
            <a:ext cx="1188720" cy="256032"/>
          </a:xfrm>
          <a:prstGeom prst="rect">
            <a:avLst/>
          </a:prstGeom>
          <a:noFill/>
          <a:ln/>
        </p:spPr>
        <p:txBody>
          <a:bodyPr wrap="square" lIns="0" tIns="0" rIns="0" bIns="0" rtlCol="0" anchor="ctr"/>
          <a:lstStyle/>
          <a:p>
            <a:pPr marL="0" indent="0" algn="ctr">
              <a:buNone/>
            </a:pPr>
            <a:r>
              <a:rPr lang="en-US" sz="800" i="1" dirty="0">
                <a:solidFill>
                  <a:srgbClr val="A89F95"/>
                </a:solidFill>
                <a:latin typeface="IBM Plex Sans" pitchFamily="34" charset="0"/>
                <a:ea typeface="IBM Plex Sans" pitchFamily="34" charset="-122"/>
                <a:cs typeface="IBM Plex Sans" pitchFamily="34" charset="-120"/>
              </a:rPr>
              <a:t>Photos et dessins</a:t>
            </a:r>
            <a:endParaRPr lang="en-US" sz="800" dirty="0"/>
          </a:p>
        </p:txBody>
      </p:sp>
      <p:sp>
        <p:nvSpPr>
          <p:cNvPr id="37" name="Shape 35"/>
          <p:cNvSpPr/>
          <p:nvPr/>
        </p:nvSpPr>
        <p:spPr>
          <a:xfrm>
            <a:off x="5522976" y="5212080"/>
            <a:ext cx="1115568" cy="548640"/>
          </a:xfrm>
          <a:prstGeom prst="ellipse">
            <a:avLst/>
          </a:prstGeom>
          <a:solidFill>
            <a:srgbClr val="C896DC">
              <a:alpha val="22000"/>
            </a:srgbClr>
          </a:solidFill>
          <a:ln/>
        </p:spPr>
        <p:txBody>
          <a:bodyPr/>
          <a:lstStyle/>
          <a:p>
            <a:endParaRPr lang="fr-FR"/>
          </a:p>
        </p:txBody>
      </p:sp>
      <p:sp>
        <p:nvSpPr>
          <p:cNvPr id="38" name="Shape 36"/>
          <p:cNvSpPr/>
          <p:nvPr/>
        </p:nvSpPr>
        <p:spPr>
          <a:xfrm>
            <a:off x="5623560" y="5312664"/>
            <a:ext cx="914400" cy="347472"/>
          </a:xfrm>
          <a:prstGeom prst="roundRect">
            <a:avLst>
              <a:gd name="adj" fmla="val 50000"/>
            </a:avLst>
          </a:prstGeom>
          <a:solidFill>
            <a:srgbClr val="C896DC"/>
          </a:solidFill>
          <a:ln w="15875">
            <a:solidFill>
              <a:srgbClr val="161219"/>
            </a:solidFill>
            <a:prstDash val="solid"/>
          </a:ln>
        </p:spPr>
        <p:txBody>
          <a:bodyPr/>
          <a:lstStyle/>
          <a:p>
            <a:endParaRPr lang="fr-FR"/>
          </a:p>
        </p:txBody>
      </p:sp>
      <p:sp>
        <p:nvSpPr>
          <p:cNvPr id="39" name="Text 37"/>
          <p:cNvSpPr/>
          <p:nvPr/>
        </p:nvSpPr>
        <p:spPr>
          <a:xfrm>
            <a:off x="5623560" y="5312664"/>
            <a:ext cx="91440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Son</a:t>
            </a:r>
            <a:endParaRPr lang="en-US" sz="1000" dirty="0"/>
          </a:p>
        </p:txBody>
      </p:sp>
      <p:sp>
        <p:nvSpPr>
          <p:cNvPr id="40" name="Text 38"/>
          <p:cNvSpPr/>
          <p:nvPr/>
        </p:nvSpPr>
        <p:spPr>
          <a:xfrm>
            <a:off x="5486400" y="5788152"/>
            <a:ext cx="1188720" cy="256032"/>
          </a:xfrm>
          <a:prstGeom prst="rect">
            <a:avLst/>
          </a:prstGeom>
          <a:noFill/>
          <a:ln/>
        </p:spPr>
        <p:txBody>
          <a:bodyPr wrap="square" lIns="0" tIns="0" rIns="0" bIns="0" rtlCol="0" anchor="ctr"/>
          <a:lstStyle/>
          <a:p>
            <a:pPr marL="0" indent="0" algn="ctr">
              <a:buNone/>
            </a:pPr>
            <a:r>
              <a:rPr lang="en-US" sz="800" i="1" dirty="0">
                <a:solidFill>
                  <a:srgbClr val="A89F95"/>
                </a:solidFill>
                <a:latin typeface="IBM Plex Sans" pitchFamily="34" charset="0"/>
                <a:ea typeface="IBM Plex Sans" pitchFamily="34" charset="-122"/>
                <a:cs typeface="IBM Plex Sans" pitchFamily="34" charset="-120"/>
              </a:rPr>
              <a:t>Voix et musique</a:t>
            </a:r>
            <a:endParaRPr lang="en-US" sz="800" dirty="0"/>
          </a:p>
        </p:txBody>
      </p:sp>
      <p:sp>
        <p:nvSpPr>
          <p:cNvPr id="41" name="Shape 39"/>
          <p:cNvSpPr/>
          <p:nvPr/>
        </p:nvSpPr>
        <p:spPr>
          <a:xfrm>
            <a:off x="3008376" y="3383280"/>
            <a:ext cx="1115568" cy="548640"/>
          </a:xfrm>
          <a:prstGeom prst="ellipse">
            <a:avLst/>
          </a:prstGeom>
          <a:solidFill>
            <a:srgbClr val="E6C86E">
              <a:alpha val="22000"/>
            </a:srgbClr>
          </a:solidFill>
          <a:ln/>
        </p:spPr>
        <p:txBody>
          <a:bodyPr/>
          <a:lstStyle/>
          <a:p>
            <a:endParaRPr lang="fr-FR"/>
          </a:p>
        </p:txBody>
      </p:sp>
      <p:sp>
        <p:nvSpPr>
          <p:cNvPr id="42" name="Shape 40"/>
          <p:cNvSpPr/>
          <p:nvPr/>
        </p:nvSpPr>
        <p:spPr>
          <a:xfrm>
            <a:off x="3108960" y="3483864"/>
            <a:ext cx="914400" cy="347472"/>
          </a:xfrm>
          <a:prstGeom prst="roundRect">
            <a:avLst>
              <a:gd name="adj" fmla="val 50000"/>
            </a:avLst>
          </a:prstGeom>
          <a:solidFill>
            <a:srgbClr val="E6C86E"/>
          </a:solidFill>
          <a:ln w="15875">
            <a:solidFill>
              <a:srgbClr val="161219"/>
            </a:solidFill>
            <a:prstDash val="solid"/>
          </a:ln>
        </p:spPr>
        <p:txBody>
          <a:bodyPr/>
          <a:lstStyle/>
          <a:p>
            <a:endParaRPr lang="fr-FR"/>
          </a:p>
        </p:txBody>
      </p:sp>
      <p:sp>
        <p:nvSpPr>
          <p:cNvPr id="43" name="Text 41"/>
          <p:cNvSpPr/>
          <p:nvPr/>
        </p:nvSpPr>
        <p:spPr>
          <a:xfrm>
            <a:off x="3108960" y="3483864"/>
            <a:ext cx="91440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Vidéo</a:t>
            </a:r>
            <a:endParaRPr lang="en-US" sz="1000" dirty="0"/>
          </a:p>
        </p:txBody>
      </p:sp>
      <p:sp>
        <p:nvSpPr>
          <p:cNvPr id="44" name="Text 42"/>
          <p:cNvSpPr/>
          <p:nvPr/>
        </p:nvSpPr>
        <p:spPr>
          <a:xfrm>
            <a:off x="2971800" y="3959352"/>
            <a:ext cx="1188720" cy="256032"/>
          </a:xfrm>
          <a:prstGeom prst="rect">
            <a:avLst/>
          </a:prstGeom>
          <a:noFill/>
          <a:ln/>
        </p:spPr>
        <p:txBody>
          <a:bodyPr wrap="square" lIns="0" tIns="0" rIns="0" bIns="0" rtlCol="0" anchor="ctr"/>
          <a:lstStyle/>
          <a:p>
            <a:pPr marL="0" indent="0" algn="ctr">
              <a:buNone/>
            </a:pPr>
            <a:r>
              <a:rPr lang="en-US" sz="800" i="1" dirty="0">
                <a:solidFill>
                  <a:srgbClr val="A89F95"/>
                </a:solidFill>
                <a:latin typeface="IBM Plex Sans" pitchFamily="34" charset="0"/>
                <a:ea typeface="IBM Plex Sans" pitchFamily="34" charset="-122"/>
                <a:cs typeface="IBM Plex Sans" pitchFamily="34" charset="-120"/>
              </a:rPr>
              <a:t>Séquences animées</a:t>
            </a:r>
            <a:endParaRPr lang="en-US" sz="800" dirty="0"/>
          </a:p>
        </p:txBody>
      </p:sp>
      <p:sp>
        <p:nvSpPr>
          <p:cNvPr id="45" name="Shape 43"/>
          <p:cNvSpPr/>
          <p:nvPr/>
        </p:nvSpPr>
        <p:spPr>
          <a:xfrm>
            <a:off x="5497389" y="2290175"/>
            <a:ext cx="1389888" cy="548640"/>
          </a:xfrm>
          <a:prstGeom prst="ellipse">
            <a:avLst/>
          </a:prstGeom>
          <a:solidFill>
            <a:srgbClr val="F0965A">
              <a:alpha val="22000"/>
            </a:srgbClr>
          </a:solidFill>
          <a:ln/>
        </p:spPr>
        <p:txBody>
          <a:bodyPr/>
          <a:lstStyle/>
          <a:p>
            <a:endParaRPr lang="fr-FR"/>
          </a:p>
        </p:txBody>
      </p:sp>
      <p:sp>
        <p:nvSpPr>
          <p:cNvPr id="46" name="Shape 44"/>
          <p:cNvSpPr/>
          <p:nvPr/>
        </p:nvSpPr>
        <p:spPr>
          <a:xfrm>
            <a:off x="5597973" y="2390759"/>
            <a:ext cx="1188720" cy="347472"/>
          </a:xfrm>
          <a:prstGeom prst="roundRect">
            <a:avLst>
              <a:gd name="adj" fmla="val 50000"/>
            </a:avLst>
          </a:prstGeom>
          <a:solidFill>
            <a:srgbClr val="F0965A"/>
          </a:solidFill>
          <a:ln w="15875">
            <a:solidFill>
              <a:srgbClr val="161219"/>
            </a:solidFill>
            <a:prstDash val="solid"/>
          </a:ln>
        </p:spPr>
        <p:txBody>
          <a:bodyPr/>
          <a:lstStyle/>
          <a:p>
            <a:endParaRPr lang="fr-FR"/>
          </a:p>
        </p:txBody>
      </p:sp>
      <p:sp>
        <p:nvSpPr>
          <p:cNvPr id="47" name="Text 45"/>
          <p:cNvSpPr/>
          <p:nvPr/>
        </p:nvSpPr>
        <p:spPr>
          <a:xfrm>
            <a:off x="5597973" y="2390759"/>
            <a:ext cx="118872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Neurones</a:t>
            </a:r>
            <a:endParaRPr lang="en-US" sz="1000" dirty="0"/>
          </a:p>
        </p:txBody>
      </p:sp>
      <p:sp>
        <p:nvSpPr>
          <p:cNvPr id="48" name="Shape 46"/>
          <p:cNvSpPr/>
          <p:nvPr/>
        </p:nvSpPr>
        <p:spPr>
          <a:xfrm>
            <a:off x="6343022" y="2753906"/>
            <a:ext cx="1572768" cy="548640"/>
          </a:xfrm>
          <a:prstGeom prst="ellipse">
            <a:avLst/>
          </a:prstGeom>
          <a:solidFill>
            <a:srgbClr val="C896DC">
              <a:alpha val="22000"/>
            </a:srgbClr>
          </a:solidFill>
          <a:ln/>
        </p:spPr>
        <p:txBody>
          <a:bodyPr/>
          <a:lstStyle/>
          <a:p>
            <a:endParaRPr lang="fr-FR"/>
          </a:p>
        </p:txBody>
      </p:sp>
      <p:sp>
        <p:nvSpPr>
          <p:cNvPr id="49" name="Shape 47"/>
          <p:cNvSpPr/>
          <p:nvPr/>
        </p:nvSpPr>
        <p:spPr>
          <a:xfrm>
            <a:off x="6443606" y="2854490"/>
            <a:ext cx="1371600" cy="347472"/>
          </a:xfrm>
          <a:prstGeom prst="roundRect">
            <a:avLst>
              <a:gd name="adj" fmla="val 50000"/>
            </a:avLst>
          </a:prstGeom>
          <a:solidFill>
            <a:srgbClr val="C896DC"/>
          </a:solidFill>
          <a:ln w="15875">
            <a:solidFill>
              <a:srgbClr val="161219"/>
            </a:solidFill>
            <a:prstDash val="solid"/>
          </a:ln>
        </p:spPr>
        <p:txBody>
          <a:bodyPr/>
          <a:lstStyle/>
          <a:p>
            <a:endParaRPr lang="fr-FR"/>
          </a:p>
        </p:txBody>
      </p:sp>
      <p:sp>
        <p:nvSpPr>
          <p:cNvPr id="50" name="Text 48"/>
          <p:cNvSpPr/>
          <p:nvPr/>
        </p:nvSpPr>
        <p:spPr>
          <a:xfrm>
            <a:off x="6443606" y="2854490"/>
            <a:ext cx="137160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Paramètres</a:t>
            </a:r>
            <a:endParaRPr lang="en-US" sz="1000" dirty="0"/>
          </a:p>
        </p:txBody>
      </p:sp>
      <p:sp>
        <p:nvSpPr>
          <p:cNvPr id="51" name="Shape 49"/>
          <p:cNvSpPr/>
          <p:nvPr/>
        </p:nvSpPr>
        <p:spPr>
          <a:xfrm>
            <a:off x="6576636" y="3667277"/>
            <a:ext cx="1481328" cy="548640"/>
          </a:xfrm>
          <a:prstGeom prst="ellipse">
            <a:avLst/>
          </a:prstGeom>
          <a:solidFill>
            <a:srgbClr val="E6C86E">
              <a:alpha val="22000"/>
            </a:srgbClr>
          </a:solidFill>
          <a:ln/>
        </p:spPr>
        <p:txBody>
          <a:bodyPr/>
          <a:lstStyle/>
          <a:p>
            <a:endParaRPr lang="fr-FR"/>
          </a:p>
        </p:txBody>
      </p:sp>
      <p:sp>
        <p:nvSpPr>
          <p:cNvPr id="52" name="Shape 50"/>
          <p:cNvSpPr/>
          <p:nvPr/>
        </p:nvSpPr>
        <p:spPr>
          <a:xfrm>
            <a:off x="6677220" y="3767861"/>
            <a:ext cx="1280160" cy="347472"/>
          </a:xfrm>
          <a:prstGeom prst="roundRect">
            <a:avLst>
              <a:gd name="adj" fmla="val 50000"/>
            </a:avLst>
          </a:prstGeom>
          <a:solidFill>
            <a:srgbClr val="E6C86E"/>
          </a:solidFill>
          <a:ln w="15875">
            <a:solidFill>
              <a:srgbClr val="161219"/>
            </a:solidFill>
            <a:prstDash val="solid"/>
          </a:ln>
        </p:spPr>
        <p:txBody>
          <a:bodyPr/>
          <a:lstStyle/>
          <a:p>
            <a:endParaRPr lang="fr-FR"/>
          </a:p>
        </p:txBody>
      </p:sp>
      <p:sp>
        <p:nvSpPr>
          <p:cNvPr id="53" name="Text 51"/>
          <p:cNvSpPr/>
          <p:nvPr/>
        </p:nvSpPr>
        <p:spPr>
          <a:xfrm>
            <a:off x="6677220" y="3767861"/>
            <a:ext cx="128016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Attention</a:t>
            </a:r>
            <a:endParaRPr lang="en-US" sz="1000" dirty="0"/>
          </a:p>
        </p:txBody>
      </p:sp>
      <p:sp>
        <p:nvSpPr>
          <p:cNvPr id="54" name="Shape 52"/>
          <p:cNvSpPr/>
          <p:nvPr/>
        </p:nvSpPr>
        <p:spPr>
          <a:xfrm>
            <a:off x="5980176" y="4333552"/>
            <a:ext cx="1481328" cy="548640"/>
          </a:xfrm>
          <a:prstGeom prst="ellipse">
            <a:avLst/>
          </a:prstGeom>
          <a:solidFill>
            <a:srgbClr val="78C88C">
              <a:alpha val="22000"/>
            </a:srgbClr>
          </a:solidFill>
          <a:ln/>
        </p:spPr>
        <p:txBody>
          <a:bodyPr/>
          <a:lstStyle/>
          <a:p>
            <a:endParaRPr lang="fr-FR"/>
          </a:p>
        </p:txBody>
      </p:sp>
      <p:sp>
        <p:nvSpPr>
          <p:cNvPr id="55" name="Shape 53"/>
          <p:cNvSpPr/>
          <p:nvPr/>
        </p:nvSpPr>
        <p:spPr>
          <a:xfrm>
            <a:off x="6080760" y="4434136"/>
            <a:ext cx="1280160" cy="347472"/>
          </a:xfrm>
          <a:prstGeom prst="roundRect">
            <a:avLst>
              <a:gd name="adj" fmla="val 50000"/>
            </a:avLst>
          </a:prstGeom>
          <a:solidFill>
            <a:srgbClr val="78C88C"/>
          </a:solidFill>
          <a:ln w="15875">
            <a:solidFill>
              <a:srgbClr val="161219"/>
            </a:solidFill>
            <a:prstDash val="solid"/>
          </a:ln>
        </p:spPr>
        <p:txBody>
          <a:bodyPr/>
          <a:lstStyle/>
          <a:p>
            <a:endParaRPr lang="fr-FR"/>
          </a:p>
        </p:txBody>
      </p:sp>
      <p:sp>
        <p:nvSpPr>
          <p:cNvPr id="56" name="Text 54"/>
          <p:cNvSpPr/>
          <p:nvPr/>
        </p:nvSpPr>
        <p:spPr>
          <a:xfrm>
            <a:off x="6080760" y="4434136"/>
            <a:ext cx="128016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Recherche</a:t>
            </a:r>
            <a:endParaRPr lang="en-US" sz="1000" dirty="0"/>
          </a:p>
        </p:txBody>
      </p:sp>
      <p:sp>
        <p:nvSpPr>
          <p:cNvPr id="57" name="Shape 55"/>
          <p:cNvSpPr/>
          <p:nvPr/>
        </p:nvSpPr>
        <p:spPr>
          <a:xfrm>
            <a:off x="4471505" y="4223845"/>
            <a:ext cx="1572768" cy="548640"/>
          </a:xfrm>
          <a:prstGeom prst="ellipse">
            <a:avLst/>
          </a:prstGeom>
          <a:solidFill>
            <a:srgbClr val="78B4DC">
              <a:alpha val="22000"/>
            </a:srgbClr>
          </a:solidFill>
          <a:ln/>
        </p:spPr>
        <p:txBody>
          <a:bodyPr/>
          <a:lstStyle/>
          <a:p>
            <a:endParaRPr lang="fr-FR"/>
          </a:p>
        </p:txBody>
      </p:sp>
      <p:sp>
        <p:nvSpPr>
          <p:cNvPr id="58" name="Shape 56"/>
          <p:cNvSpPr/>
          <p:nvPr/>
        </p:nvSpPr>
        <p:spPr>
          <a:xfrm>
            <a:off x="4572089" y="4324429"/>
            <a:ext cx="1371600" cy="347472"/>
          </a:xfrm>
          <a:prstGeom prst="roundRect">
            <a:avLst>
              <a:gd name="adj" fmla="val 50000"/>
            </a:avLst>
          </a:prstGeom>
          <a:solidFill>
            <a:srgbClr val="78B4DC"/>
          </a:solidFill>
          <a:ln w="15875">
            <a:solidFill>
              <a:srgbClr val="161219"/>
            </a:solidFill>
            <a:prstDash val="solid"/>
          </a:ln>
        </p:spPr>
        <p:txBody>
          <a:bodyPr/>
          <a:lstStyle/>
          <a:p>
            <a:endParaRPr lang="fr-FR"/>
          </a:p>
        </p:txBody>
      </p:sp>
      <p:sp>
        <p:nvSpPr>
          <p:cNvPr id="59" name="Text 57"/>
          <p:cNvSpPr/>
          <p:nvPr/>
        </p:nvSpPr>
        <p:spPr>
          <a:xfrm>
            <a:off x="4572089" y="4324429"/>
            <a:ext cx="137160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Génération</a:t>
            </a:r>
            <a:endParaRPr lang="en-US" sz="1000" dirty="0"/>
          </a:p>
        </p:txBody>
      </p:sp>
      <p:sp>
        <p:nvSpPr>
          <p:cNvPr id="60" name="Shape 58"/>
          <p:cNvSpPr/>
          <p:nvPr/>
        </p:nvSpPr>
        <p:spPr>
          <a:xfrm>
            <a:off x="4064807" y="3478914"/>
            <a:ext cx="1481328" cy="548640"/>
          </a:xfrm>
          <a:prstGeom prst="ellipse">
            <a:avLst/>
          </a:prstGeom>
          <a:solidFill>
            <a:srgbClr val="F0965A">
              <a:alpha val="22000"/>
            </a:srgbClr>
          </a:solidFill>
          <a:ln/>
        </p:spPr>
        <p:txBody>
          <a:bodyPr/>
          <a:lstStyle/>
          <a:p>
            <a:endParaRPr lang="fr-FR"/>
          </a:p>
        </p:txBody>
      </p:sp>
      <p:sp>
        <p:nvSpPr>
          <p:cNvPr id="61" name="Shape 59"/>
          <p:cNvSpPr/>
          <p:nvPr/>
        </p:nvSpPr>
        <p:spPr>
          <a:xfrm>
            <a:off x="4165391" y="3579498"/>
            <a:ext cx="1280160" cy="347472"/>
          </a:xfrm>
          <a:prstGeom prst="roundRect">
            <a:avLst>
              <a:gd name="adj" fmla="val 50000"/>
            </a:avLst>
          </a:prstGeom>
          <a:solidFill>
            <a:srgbClr val="F0965A"/>
          </a:solidFill>
          <a:ln w="15875">
            <a:solidFill>
              <a:srgbClr val="161219"/>
            </a:solidFill>
            <a:prstDash val="solid"/>
          </a:ln>
        </p:spPr>
        <p:txBody>
          <a:bodyPr/>
          <a:lstStyle/>
          <a:p>
            <a:endParaRPr lang="fr-FR"/>
          </a:p>
        </p:txBody>
      </p:sp>
      <p:sp>
        <p:nvSpPr>
          <p:cNvPr id="62" name="Text 60"/>
          <p:cNvSpPr/>
          <p:nvPr/>
        </p:nvSpPr>
        <p:spPr>
          <a:xfrm>
            <a:off x="4165391" y="3579498"/>
            <a:ext cx="128016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Réflexion</a:t>
            </a:r>
            <a:endParaRPr lang="en-US" sz="1000" dirty="0"/>
          </a:p>
        </p:txBody>
      </p:sp>
      <p:sp>
        <p:nvSpPr>
          <p:cNvPr id="63" name="Shape 61"/>
          <p:cNvSpPr/>
          <p:nvPr/>
        </p:nvSpPr>
        <p:spPr>
          <a:xfrm>
            <a:off x="4450877" y="2677962"/>
            <a:ext cx="1298448" cy="548640"/>
          </a:xfrm>
          <a:prstGeom prst="ellipse">
            <a:avLst/>
          </a:prstGeom>
          <a:solidFill>
            <a:srgbClr val="C896DC">
              <a:alpha val="22000"/>
            </a:srgbClr>
          </a:solidFill>
          <a:ln/>
        </p:spPr>
        <p:txBody>
          <a:bodyPr/>
          <a:lstStyle/>
          <a:p>
            <a:endParaRPr lang="fr-FR"/>
          </a:p>
        </p:txBody>
      </p:sp>
      <p:sp>
        <p:nvSpPr>
          <p:cNvPr id="64" name="Shape 62"/>
          <p:cNvSpPr/>
          <p:nvPr/>
        </p:nvSpPr>
        <p:spPr>
          <a:xfrm>
            <a:off x="4551461" y="2778546"/>
            <a:ext cx="1097280" cy="347472"/>
          </a:xfrm>
          <a:prstGeom prst="roundRect">
            <a:avLst>
              <a:gd name="adj" fmla="val 50000"/>
            </a:avLst>
          </a:prstGeom>
          <a:solidFill>
            <a:srgbClr val="C896DC"/>
          </a:solidFill>
          <a:ln w="15875">
            <a:solidFill>
              <a:srgbClr val="161219"/>
            </a:solidFill>
            <a:prstDash val="solid"/>
          </a:ln>
        </p:spPr>
        <p:txBody>
          <a:bodyPr/>
          <a:lstStyle/>
          <a:p>
            <a:endParaRPr lang="fr-FR"/>
          </a:p>
        </p:txBody>
      </p:sp>
      <p:sp>
        <p:nvSpPr>
          <p:cNvPr id="65" name="Text 63"/>
          <p:cNvSpPr/>
          <p:nvPr/>
        </p:nvSpPr>
        <p:spPr>
          <a:xfrm>
            <a:off x="4551461" y="2778546"/>
            <a:ext cx="109728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Couches</a:t>
            </a:r>
            <a:endParaRPr lang="en-US" sz="1000" dirty="0"/>
          </a:p>
        </p:txBody>
      </p:sp>
      <p:sp>
        <p:nvSpPr>
          <p:cNvPr id="66" name="Shape 64"/>
          <p:cNvSpPr/>
          <p:nvPr/>
        </p:nvSpPr>
        <p:spPr>
          <a:xfrm>
            <a:off x="5454396" y="3305556"/>
            <a:ext cx="1252728" cy="704088"/>
          </a:xfrm>
          <a:prstGeom prst="ellipse">
            <a:avLst/>
          </a:prstGeom>
          <a:solidFill>
            <a:srgbClr val="FAF6F0">
              <a:alpha val="22000"/>
            </a:srgbClr>
          </a:solidFill>
          <a:ln/>
        </p:spPr>
        <p:txBody>
          <a:bodyPr/>
          <a:lstStyle/>
          <a:p>
            <a:endParaRPr lang="fr-FR"/>
          </a:p>
        </p:txBody>
      </p:sp>
      <p:sp>
        <p:nvSpPr>
          <p:cNvPr id="67" name="Shape 65"/>
          <p:cNvSpPr/>
          <p:nvPr/>
        </p:nvSpPr>
        <p:spPr>
          <a:xfrm>
            <a:off x="5554980" y="3406140"/>
            <a:ext cx="1051560" cy="502920"/>
          </a:xfrm>
          <a:prstGeom prst="roundRect">
            <a:avLst>
              <a:gd name="adj" fmla="val 50000"/>
            </a:avLst>
          </a:prstGeom>
          <a:solidFill>
            <a:srgbClr val="FAF6F0"/>
          </a:solidFill>
          <a:ln w="15875">
            <a:solidFill>
              <a:srgbClr val="161219"/>
            </a:solidFill>
            <a:prstDash val="solid"/>
          </a:ln>
        </p:spPr>
        <p:txBody>
          <a:bodyPr/>
          <a:lstStyle/>
          <a:p>
            <a:endParaRPr lang="fr-FR"/>
          </a:p>
        </p:txBody>
      </p:sp>
      <p:sp>
        <p:nvSpPr>
          <p:cNvPr id="68" name="Text 66"/>
          <p:cNvSpPr/>
          <p:nvPr/>
        </p:nvSpPr>
        <p:spPr>
          <a:xfrm>
            <a:off x="5554980" y="3406140"/>
            <a:ext cx="1051560" cy="502920"/>
          </a:xfrm>
          <a:prstGeom prst="rect">
            <a:avLst/>
          </a:prstGeom>
          <a:noFill/>
          <a:ln/>
        </p:spPr>
        <p:txBody>
          <a:bodyPr wrap="square" lIns="0" tIns="0" rIns="0" bIns="0" rtlCol="0" anchor="ctr"/>
          <a:lstStyle/>
          <a:p>
            <a:pPr marL="0" indent="0" algn="ctr">
              <a:buNone/>
            </a:pPr>
            <a:r>
              <a:rPr lang="en-US" sz="1400" b="1" dirty="0">
                <a:solidFill>
                  <a:srgbClr val="161219"/>
                </a:solidFill>
                <a:latin typeface="Space Grotesk" pitchFamily="34" charset="0"/>
                <a:ea typeface="Space Grotesk" pitchFamily="34" charset="-122"/>
                <a:cs typeface="Space Grotesk" pitchFamily="34" charset="-120"/>
              </a:rPr>
              <a:t>IA</a:t>
            </a:r>
            <a:endParaRPr lang="en-US" sz="1400" dirty="0"/>
          </a:p>
        </p:txBody>
      </p:sp>
      <p:sp>
        <p:nvSpPr>
          <p:cNvPr id="69" name="Shape 67"/>
          <p:cNvSpPr/>
          <p:nvPr/>
        </p:nvSpPr>
        <p:spPr>
          <a:xfrm>
            <a:off x="6720840" y="4607872"/>
            <a:ext cx="548640" cy="467048"/>
          </a:xfrm>
          <a:prstGeom prst="line">
            <a:avLst/>
          </a:prstGeom>
          <a:noFill/>
          <a:ln w="9525">
            <a:solidFill>
              <a:srgbClr val="78C88C">
                <a:alpha val="65000"/>
              </a:srgbClr>
            </a:solidFill>
            <a:prstDash val="dash"/>
          </a:ln>
        </p:spPr>
        <p:txBody>
          <a:bodyPr/>
          <a:lstStyle/>
          <a:p>
            <a:endParaRPr lang="fr-FR"/>
          </a:p>
        </p:txBody>
      </p:sp>
      <p:sp>
        <p:nvSpPr>
          <p:cNvPr id="70" name="Shape 68"/>
          <p:cNvSpPr/>
          <p:nvPr/>
        </p:nvSpPr>
        <p:spPr>
          <a:xfrm>
            <a:off x="7214616" y="5020056"/>
            <a:ext cx="109728" cy="109728"/>
          </a:xfrm>
          <a:prstGeom prst="ellipse">
            <a:avLst/>
          </a:prstGeom>
          <a:solidFill>
            <a:srgbClr val="78C88C"/>
          </a:solidFill>
          <a:ln w="9525">
            <a:solidFill>
              <a:srgbClr val="161219"/>
            </a:solidFill>
            <a:prstDash val="solid"/>
          </a:ln>
        </p:spPr>
        <p:txBody>
          <a:bodyPr/>
          <a:lstStyle/>
          <a:p>
            <a:endParaRPr lang="fr-FR"/>
          </a:p>
        </p:txBody>
      </p:sp>
      <p:sp>
        <p:nvSpPr>
          <p:cNvPr id="71" name="Text 69"/>
          <p:cNvSpPr/>
          <p:nvPr/>
        </p:nvSpPr>
        <p:spPr>
          <a:xfrm>
            <a:off x="7002475" y="5157216"/>
            <a:ext cx="534010" cy="18288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Requête</a:t>
            </a:r>
            <a:endParaRPr lang="en-US" sz="650" dirty="0"/>
          </a:p>
        </p:txBody>
      </p:sp>
      <p:sp>
        <p:nvSpPr>
          <p:cNvPr id="72" name="Shape 70"/>
          <p:cNvSpPr/>
          <p:nvPr/>
        </p:nvSpPr>
        <p:spPr>
          <a:xfrm>
            <a:off x="7269480" y="5074920"/>
            <a:ext cx="685800" cy="274320"/>
          </a:xfrm>
          <a:prstGeom prst="line">
            <a:avLst/>
          </a:prstGeom>
          <a:noFill/>
          <a:ln w="9525">
            <a:solidFill>
              <a:srgbClr val="78C88C">
                <a:alpha val="65000"/>
              </a:srgbClr>
            </a:solidFill>
            <a:prstDash val="dash"/>
          </a:ln>
        </p:spPr>
        <p:txBody>
          <a:bodyPr/>
          <a:lstStyle/>
          <a:p>
            <a:endParaRPr lang="fr-FR"/>
          </a:p>
        </p:txBody>
      </p:sp>
      <p:sp>
        <p:nvSpPr>
          <p:cNvPr id="73" name="Shape 71"/>
          <p:cNvSpPr/>
          <p:nvPr/>
        </p:nvSpPr>
        <p:spPr>
          <a:xfrm>
            <a:off x="7900416" y="5294376"/>
            <a:ext cx="109728" cy="109728"/>
          </a:xfrm>
          <a:prstGeom prst="ellipse">
            <a:avLst/>
          </a:prstGeom>
          <a:solidFill>
            <a:srgbClr val="78C88C"/>
          </a:solidFill>
          <a:ln w="9525">
            <a:solidFill>
              <a:srgbClr val="161219"/>
            </a:solidFill>
            <a:prstDash val="solid"/>
          </a:ln>
        </p:spPr>
        <p:txBody>
          <a:bodyPr/>
          <a:lstStyle/>
          <a:p>
            <a:endParaRPr lang="fr-FR"/>
          </a:p>
        </p:txBody>
      </p:sp>
      <p:sp>
        <p:nvSpPr>
          <p:cNvPr id="74" name="Text 72"/>
          <p:cNvSpPr/>
          <p:nvPr/>
        </p:nvSpPr>
        <p:spPr>
          <a:xfrm>
            <a:off x="7631582" y="5431536"/>
            <a:ext cx="647395" cy="18288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Résultats</a:t>
            </a:r>
            <a:endParaRPr lang="en-US" sz="650" dirty="0"/>
          </a:p>
        </p:txBody>
      </p:sp>
      <p:sp>
        <p:nvSpPr>
          <p:cNvPr id="75" name="Shape 73"/>
          <p:cNvSpPr/>
          <p:nvPr/>
        </p:nvSpPr>
        <p:spPr>
          <a:xfrm>
            <a:off x="7955280" y="5349240"/>
            <a:ext cx="685800" cy="274320"/>
          </a:xfrm>
          <a:prstGeom prst="line">
            <a:avLst/>
          </a:prstGeom>
          <a:noFill/>
          <a:ln w="9525">
            <a:solidFill>
              <a:srgbClr val="78C88C">
                <a:alpha val="65000"/>
              </a:srgbClr>
            </a:solidFill>
            <a:prstDash val="dash"/>
          </a:ln>
        </p:spPr>
        <p:txBody>
          <a:bodyPr/>
          <a:lstStyle/>
          <a:p>
            <a:endParaRPr lang="fr-FR"/>
          </a:p>
        </p:txBody>
      </p:sp>
      <p:sp>
        <p:nvSpPr>
          <p:cNvPr id="76" name="Shape 74"/>
          <p:cNvSpPr/>
          <p:nvPr/>
        </p:nvSpPr>
        <p:spPr>
          <a:xfrm>
            <a:off x="8586216" y="5568696"/>
            <a:ext cx="109728" cy="109728"/>
          </a:xfrm>
          <a:prstGeom prst="ellipse">
            <a:avLst/>
          </a:prstGeom>
          <a:solidFill>
            <a:srgbClr val="78C88C"/>
          </a:solidFill>
          <a:ln w="9525">
            <a:solidFill>
              <a:srgbClr val="161219"/>
            </a:solidFill>
            <a:prstDash val="solid"/>
          </a:ln>
        </p:spPr>
        <p:txBody>
          <a:bodyPr/>
          <a:lstStyle/>
          <a:p>
            <a:endParaRPr lang="fr-FR"/>
          </a:p>
        </p:txBody>
      </p:sp>
      <p:sp>
        <p:nvSpPr>
          <p:cNvPr id="77" name="Text 75"/>
          <p:cNvSpPr/>
          <p:nvPr/>
        </p:nvSpPr>
        <p:spPr>
          <a:xfrm>
            <a:off x="8374075" y="5705856"/>
            <a:ext cx="534010" cy="18288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Vérifié</a:t>
            </a:r>
            <a:endParaRPr lang="en-US" sz="650" dirty="0"/>
          </a:p>
        </p:txBody>
      </p:sp>
      <p:sp>
        <p:nvSpPr>
          <p:cNvPr id="78" name="Shape 76"/>
          <p:cNvSpPr/>
          <p:nvPr/>
        </p:nvSpPr>
        <p:spPr>
          <a:xfrm>
            <a:off x="5257889" y="4498165"/>
            <a:ext cx="1280071" cy="485315"/>
          </a:xfrm>
          <a:prstGeom prst="line">
            <a:avLst/>
          </a:prstGeom>
          <a:noFill/>
          <a:ln w="9525">
            <a:solidFill>
              <a:srgbClr val="78B4DC">
                <a:alpha val="65000"/>
              </a:srgbClr>
            </a:solidFill>
            <a:prstDash val="dash"/>
          </a:ln>
        </p:spPr>
        <p:txBody>
          <a:bodyPr/>
          <a:lstStyle/>
          <a:p>
            <a:endParaRPr lang="fr-FR"/>
          </a:p>
        </p:txBody>
      </p:sp>
      <p:sp>
        <p:nvSpPr>
          <p:cNvPr id="79" name="Shape 77"/>
          <p:cNvSpPr/>
          <p:nvPr/>
        </p:nvSpPr>
        <p:spPr>
          <a:xfrm>
            <a:off x="6483096" y="4928616"/>
            <a:ext cx="109728" cy="109728"/>
          </a:xfrm>
          <a:prstGeom prst="ellipse">
            <a:avLst/>
          </a:prstGeom>
          <a:solidFill>
            <a:srgbClr val="78B4DC"/>
          </a:solidFill>
          <a:ln w="9525">
            <a:solidFill>
              <a:srgbClr val="161219"/>
            </a:solidFill>
            <a:prstDash val="solid"/>
          </a:ln>
        </p:spPr>
        <p:txBody>
          <a:bodyPr/>
          <a:lstStyle/>
          <a:p>
            <a:endParaRPr lang="fr-FR"/>
          </a:p>
        </p:txBody>
      </p:sp>
      <p:sp>
        <p:nvSpPr>
          <p:cNvPr id="80" name="Text 78"/>
          <p:cNvSpPr/>
          <p:nvPr/>
        </p:nvSpPr>
        <p:spPr>
          <a:xfrm>
            <a:off x="6309360" y="5065776"/>
            <a:ext cx="457200" cy="18288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Source</a:t>
            </a:r>
            <a:endParaRPr lang="en-US" sz="650" dirty="0"/>
          </a:p>
        </p:txBody>
      </p:sp>
      <p:sp>
        <p:nvSpPr>
          <p:cNvPr id="81" name="Shape 79"/>
          <p:cNvSpPr/>
          <p:nvPr/>
        </p:nvSpPr>
        <p:spPr>
          <a:xfrm>
            <a:off x="6537960" y="4983480"/>
            <a:ext cx="548640" cy="365760"/>
          </a:xfrm>
          <a:prstGeom prst="line">
            <a:avLst/>
          </a:prstGeom>
          <a:noFill/>
          <a:ln w="9525">
            <a:solidFill>
              <a:srgbClr val="78B4DC">
                <a:alpha val="65000"/>
              </a:srgbClr>
            </a:solidFill>
            <a:prstDash val="dash"/>
          </a:ln>
        </p:spPr>
        <p:txBody>
          <a:bodyPr/>
          <a:lstStyle/>
          <a:p>
            <a:endParaRPr lang="fr-FR"/>
          </a:p>
        </p:txBody>
      </p:sp>
      <p:sp>
        <p:nvSpPr>
          <p:cNvPr id="82" name="Shape 80"/>
          <p:cNvSpPr/>
          <p:nvPr/>
        </p:nvSpPr>
        <p:spPr>
          <a:xfrm>
            <a:off x="7031736" y="5294376"/>
            <a:ext cx="109728" cy="109728"/>
          </a:xfrm>
          <a:prstGeom prst="ellipse">
            <a:avLst/>
          </a:prstGeom>
          <a:solidFill>
            <a:srgbClr val="78B4DC"/>
          </a:solidFill>
          <a:ln w="9525">
            <a:solidFill>
              <a:srgbClr val="161219"/>
            </a:solidFill>
            <a:prstDash val="solid"/>
          </a:ln>
        </p:spPr>
        <p:txBody>
          <a:bodyPr/>
          <a:lstStyle/>
          <a:p>
            <a:endParaRPr lang="fr-FR"/>
          </a:p>
        </p:txBody>
      </p:sp>
      <p:sp>
        <p:nvSpPr>
          <p:cNvPr id="83" name="Text 81"/>
          <p:cNvSpPr/>
          <p:nvPr/>
        </p:nvSpPr>
        <p:spPr>
          <a:xfrm>
            <a:off x="6752844" y="5431536"/>
            <a:ext cx="667512" cy="18288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Paraphrase</a:t>
            </a:r>
            <a:endParaRPr lang="en-US" sz="650" dirty="0"/>
          </a:p>
        </p:txBody>
      </p:sp>
      <p:sp>
        <p:nvSpPr>
          <p:cNvPr id="84" name="Shape 82"/>
          <p:cNvSpPr/>
          <p:nvPr/>
        </p:nvSpPr>
        <p:spPr>
          <a:xfrm>
            <a:off x="7086600" y="5349240"/>
            <a:ext cx="548640" cy="365760"/>
          </a:xfrm>
          <a:prstGeom prst="line">
            <a:avLst/>
          </a:prstGeom>
          <a:noFill/>
          <a:ln w="9525">
            <a:solidFill>
              <a:srgbClr val="78B4DC">
                <a:alpha val="65000"/>
              </a:srgbClr>
            </a:solidFill>
            <a:prstDash val="dash"/>
          </a:ln>
        </p:spPr>
        <p:txBody>
          <a:bodyPr/>
          <a:lstStyle/>
          <a:p>
            <a:endParaRPr lang="fr-FR"/>
          </a:p>
        </p:txBody>
      </p:sp>
      <p:sp>
        <p:nvSpPr>
          <p:cNvPr id="85" name="Shape 83"/>
          <p:cNvSpPr/>
          <p:nvPr/>
        </p:nvSpPr>
        <p:spPr>
          <a:xfrm>
            <a:off x="7580376" y="5660136"/>
            <a:ext cx="109728" cy="109728"/>
          </a:xfrm>
          <a:prstGeom prst="ellipse">
            <a:avLst/>
          </a:prstGeom>
          <a:solidFill>
            <a:srgbClr val="78B4DC"/>
          </a:solidFill>
          <a:ln w="9525">
            <a:solidFill>
              <a:srgbClr val="161219"/>
            </a:solidFill>
            <a:prstDash val="solid"/>
          </a:ln>
        </p:spPr>
        <p:txBody>
          <a:bodyPr/>
          <a:lstStyle/>
          <a:p>
            <a:endParaRPr lang="fr-FR"/>
          </a:p>
        </p:txBody>
      </p:sp>
      <p:sp>
        <p:nvSpPr>
          <p:cNvPr id="86" name="Text 84"/>
          <p:cNvSpPr/>
          <p:nvPr/>
        </p:nvSpPr>
        <p:spPr>
          <a:xfrm>
            <a:off x="7142378" y="5797296"/>
            <a:ext cx="985723" cy="18288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Citation limitée</a:t>
            </a:r>
            <a:endParaRPr lang="en-US" sz="650" dirty="0"/>
          </a:p>
        </p:txBody>
      </p:sp>
      <p:sp>
        <p:nvSpPr>
          <p:cNvPr id="87" name="Shape 85"/>
          <p:cNvSpPr/>
          <p:nvPr/>
        </p:nvSpPr>
        <p:spPr>
          <a:xfrm>
            <a:off x="6080760" y="1828800"/>
            <a:ext cx="860044" cy="110290"/>
          </a:xfrm>
          <a:prstGeom prst="line">
            <a:avLst/>
          </a:prstGeom>
          <a:noFill/>
          <a:ln w="12700">
            <a:solidFill>
              <a:srgbClr val="78B4DC">
                <a:alpha val="60000"/>
              </a:srgbClr>
            </a:solidFill>
            <a:prstDash val="dash"/>
          </a:ln>
        </p:spPr>
        <p:txBody>
          <a:bodyPr/>
          <a:lstStyle/>
          <a:p>
            <a:endParaRPr lang="fr-FR"/>
          </a:p>
        </p:txBody>
      </p:sp>
      <p:sp>
        <p:nvSpPr>
          <p:cNvPr id="88" name="Shape 86"/>
          <p:cNvSpPr/>
          <p:nvPr/>
        </p:nvSpPr>
        <p:spPr>
          <a:xfrm>
            <a:off x="6447028" y="1710490"/>
            <a:ext cx="987552" cy="457200"/>
          </a:xfrm>
          <a:prstGeom prst="ellipse">
            <a:avLst/>
          </a:prstGeom>
          <a:solidFill>
            <a:srgbClr val="78B4DC">
              <a:alpha val="20000"/>
            </a:srgbClr>
          </a:solidFill>
          <a:ln/>
        </p:spPr>
        <p:txBody>
          <a:bodyPr/>
          <a:lstStyle/>
          <a:p>
            <a:endParaRPr lang="fr-FR"/>
          </a:p>
        </p:txBody>
      </p:sp>
      <p:sp>
        <p:nvSpPr>
          <p:cNvPr id="89" name="Shape 87"/>
          <p:cNvSpPr/>
          <p:nvPr/>
        </p:nvSpPr>
        <p:spPr>
          <a:xfrm>
            <a:off x="6529324" y="1792786"/>
            <a:ext cx="822960" cy="292608"/>
          </a:xfrm>
          <a:prstGeom prst="roundRect">
            <a:avLst>
              <a:gd name="adj" fmla="val 50000"/>
            </a:avLst>
          </a:prstGeom>
          <a:solidFill>
            <a:srgbClr val="161219"/>
          </a:solidFill>
          <a:ln w="19050">
            <a:solidFill>
              <a:srgbClr val="78B4DC"/>
            </a:solidFill>
            <a:prstDash val="solid"/>
          </a:ln>
        </p:spPr>
        <p:txBody>
          <a:bodyPr/>
          <a:lstStyle/>
          <a:p>
            <a:endParaRPr lang="fr-FR"/>
          </a:p>
        </p:txBody>
      </p:sp>
      <p:sp>
        <p:nvSpPr>
          <p:cNvPr id="90" name="Text 88"/>
          <p:cNvSpPr/>
          <p:nvPr/>
        </p:nvSpPr>
        <p:spPr>
          <a:xfrm>
            <a:off x="6529324" y="1792786"/>
            <a:ext cx="822960" cy="292608"/>
          </a:xfrm>
          <a:prstGeom prst="rect">
            <a:avLst/>
          </a:prstGeom>
          <a:noFill/>
          <a:ln/>
        </p:spPr>
        <p:txBody>
          <a:bodyPr wrap="square" lIns="0" tIns="0" rIns="0" bIns="0" rtlCol="0" anchor="ctr"/>
          <a:lstStyle/>
          <a:p>
            <a:pPr marL="0" indent="0" algn="ctr">
              <a:buNone/>
            </a:pPr>
            <a:r>
              <a:rPr lang="en-US" sz="850" b="1" dirty="0">
                <a:solidFill>
                  <a:srgbClr val="78B4DC"/>
                </a:solidFill>
                <a:latin typeface="Space Grotesk" pitchFamily="34" charset="0"/>
                <a:ea typeface="Space Grotesk" pitchFamily="34" charset="-122"/>
                <a:cs typeface="Space Grotesk" pitchFamily="34" charset="-120"/>
              </a:rPr>
              <a:t>Texte</a:t>
            </a:r>
            <a:endParaRPr lang="en-US" sz="850" dirty="0"/>
          </a:p>
        </p:txBody>
      </p:sp>
      <p:sp>
        <p:nvSpPr>
          <p:cNvPr id="91" name="Shape 89"/>
          <p:cNvSpPr/>
          <p:nvPr/>
        </p:nvSpPr>
        <p:spPr>
          <a:xfrm>
            <a:off x="8359762" y="3657600"/>
            <a:ext cx="235598" cy="772884"/>
          </a:xfrm>
          <a:prstGeom prst="line">
            <a:avLst/>
          </a:prstGeom>
          <a:noFill/>
          <a:ln w="12700">
            <a:solidFill>
              <a:srgbClr val="F0965A">
                <a:alpha val="60000"/>
              </a:srgbClr>
            </a:solidFill>
            <a:prstDash val="dash"/>
          </a:ln>
        </p:spPr>
        <p:txBody>
          <a:bodyPr/>
          <a:lstStyle/>
          <a:p>
            <a:endParaRPr lang="fr-FR"/>
          </a:p>
        </p:txBody>
      </p:sp>
      <p:sp>
        <p:nvSpPr>
          <p:cNvPr id="92" name="Shape 90"/>
          <p:cNvSpPr/>
          <p:nvPr/>
        </p:nvSpPr>
        <p:spPr>
          <a:xfrm>
            <a:off x="7865986" y="4201884"/>
            <a:ext cx="987552" cy="457200"/>
          </a:xfrm>
          <a:prstGeom prst="ellipse">
            <a:avLst/>
          </a:prstGeom>
          <a:solidFill>
            <a:srgbClr val="F0965A">
              <a:alpha val="20000"/>
            </a:srgbClr>
          </a:solidFill>
          <a:ln/>
        </p:spPr>
        <p:txBody>
          <a:bodyPr/>
          <a:lstStyle/>
          <a:p>
            <a:endParaRPr lang="fr-FR"/>
          </a:p>
        </p:txBody>
      </p:sp>
      <p:sp>
        <p:nvSpPr>
          <p:cNvPr id="93" name="Shape 91"/>
          <p:cNvSpPr/>
          <p:nvPr/>
        </p:nvSpPr>
        <p:spPr>
          <a:xfrm>
            <a:off x="7948282" y="4284180"/>
            <a:ext cx="822960" cy="292608"/>
          </a:xfrm>
          <a:prstGeom prst="roundRect">
            <a:avLst>
              <a:gd name="adj" fmla="val 50000"/>
            </a:avLst>
          </a:prstGeom>
          <a:solidFill>
            <a:srgbClr val="161219"/>
          </a:solidFill>
          <a:ln w="19050">
            <a:solidFill>
              <a:srgbClr val="F0965A"/>
            </a:solidFill>
            <a:prstDash val="solid"/>
          </a:ln>
        </p:spPr>
        <p:txBody>
          <a:bodyPr/>
          <a:lstStyle/>
          <a:p>
            <a:endParaRPr lang="fr-FR"/>
          </a:p>
        </p:txBody>
      </p:sp>
      <p:sp>
        <p:nvSpPr>
          <p:cNvPr id="94" name="Text 92"/>
          <p:cNvSpPr/>
          <p:nvPr/>
        </p:nvSpPr>
        <p:spPr>
          <a:xfrm>
            <a:off x="7948282" y="4284180"/>
            <a:ext cx="822960" cy="292608"/>
          </a:xfrm>
          <a:prstGeom prst="rect">
            <a:avLst/>
          </a:prstGeom>
          <a:noFill/>
          <a:ln/>
        </p:spPr>
        <p:txBody>
          <a:bodyPr wrap="square" lIns="0" tIns="0" rIns="0" bIns="0" rtlCol="0" anchor="ctr"/>
          <a:lstStyle/>
          <a:p>
            <a:pPr marL="0" indent="0" algn="ctr">
              <a:buNone/>
            </a:pPr>
            <a:r>
              <a:rPr lang="en-US" sz="850" b="1" dirty="0">
                <a:solidFill>
                  <a:srgbClr val="F0965A"/>
                </a:solidFill>
                <a:latin typeface="Space Grotesk" pitchFamily="34" charset="0"/>
                <a:ea typeface="Space Grotesk" pitchFamily="34" charset="-122"/>
                <a:cs typeface="Space Grotesk" pitchFamily="34" charset="-120"/>
              </a:rPr>
              <a:t>Image</a:t>
            </a:r>
            <a:endParaRPr lang="en-US" sz="850" dirty="0"/>
          </a:p>
        </p:txBody>
      </p:sp>
      <p:sp>
        <p:nvSpPr>
          <p:cNvPr id="95" name="Shape 93"/>
          <p:cNvSpPr/>
          <p:nvPr/>
        </p:nvSpPr>
        <p:spPr>
          <a:xfrm flipV="1">
            <a:off x="5220716" y="5376110"/>
            <a:ext cx="860044" cy="110290"/>
          </a:xfrm>
          <a:prstGeom prst="line">
            <a:avLst/>
          </a:prstGeom>
          <a:noFill/>
          <a:ln w="12700">
            <a:solidFill>
              <a:srgbClr val="C896DC">
                <a:alpha val="60000"/>
              </a:srgbClr>
            </a:solidFill>
            <a:prstDash val="dash"/>
          </a:ln>
        </p:spPr>
        <p:txBody>
          <a:bodyPr/>
          <a:lstStyle/>
          <a:p>
            <a:endParaRPr lang="fr-FR"/>
          </a:p>
        </p:txBody>
      </p:sp>
      <p:sp>
        <p:nvSpPr>
          <p:cNvPr id="96" name="Shape 94"/>
          <p:cNvSpPr/>
          <p:nvPr/>
        </p:nvSpPr>
        <p:spPr>
          <a:xfrm>
            <a:off x="4749800" y="5147510"/>
            <a:ext cx="941832" cy="457200"/>
          </a:xfrm>
          <a:prstGeom prst="ellipse">
            <a:avLst/>
          </a:prstGeom>
          <a:solidFill>
            <a:srgbClr val="C896DC">
              <a:alpha val="20000"/>
            </a:srgbClr>
          </a:solidFill>
          <a:ln/>
        </p:spPr>
        <p:txBody>
          <a:bodyPr/>
          <a:lstStyle/>
          <a:p>
            <a:endParaRPr lang="fr-FR"/>
          </a:p>
        </p:txBody>
      </p:sp>
      <p:sp>
        <p:nvSpPr>
          <p:cNvPr id="97" name="Shape 95"/>
          <p:cNvSpPr/>
          <p:nvPr/>
        </p:nvSpPr>
        <p:spPr>
          <a:xfrm>
            <a:off x="4832096" y="5229806"/>
            <a:ext cx="777240" cy="292608"/>
          </a:xfrm>
          <a:prstGeom prst="roundRect">
            <a:avLst>
              <a:gd name="adj" fmla="val 50000"/>
            </a:avLst>
          </a:prstGeom>
          <a:solidFill>
            <a:srgbClr val="161219"/>
          </a:solidFill>
          <a:ln w="19050">
            <a:solidFill>
              <a:srgbClr val="C896DC"/>
            </a:solidFill>
            <a:prstDash val="solid"/>
          </a:ln>
        </p:spPr>
        <p:txBody>
          <a:bodyPr/>
          <a:lstStyle/>
          <a:p>
            <a:endParaRPr lang="fr-FR"/>
          </a:p>
        </p:txBody>
      </p:sp>
      <p:sp>
        <p:nvSpPr>
          <p:cNvPr id="98" name="Text 96"/>
          <p:cNvSpPr/>
          <p:nvPr/>
        </p:nvSpPr>
        <p:spPr>
          <a:xfrm>
            <a:off x="4832096" y="5229806"/>
            <a:ext cx="777240" cy="292608"/>
          </a:xfrm>
          <a:prstGeom prst="rect">
            <a:avLst/>
          </a:prstGeom>
          <a:noFill/>
          <a:ln/>
        </p:spPr>
        <p:txBody>
          <a:bodyPr wrap="square" lIns="0" tIns="0" rIns="0" bIns="0" rtlCol="0" anchor="ctr"/>
          <a:lstStyle/>
          <a:p>
            <a:pPr marL="0" indent="0" algn="ctr">
              <a:buNone/>
            </a:pPr>
            <a:r>
              <a:rPr lang="en-US" sz="850" b="1" dirty="0">
                <a:solidFill>
                  <a:srgbClr val="C896DC"/>
                </a:solidFill>
                <a:latin typeface="Space Grotesk" pitchFamily="34" charset="0"/>
                <a:ea typeface="Space Grotesk" pitchFamily="34" charset="-122"/>
                <a:cs typeface="Space Grotesk" pitchFamily="34" charset="-120"/>
              </a:rPr>
              <a:t>Son</a:t>
            </a:r>
            <a:endParaRPr lang="en-US" sz="850" dirty="0"/>
          </a:p>
        </p:txBody>
      </p:sp>
      <p:sp>
        <p:nvSpPr>
          <p:cNvPr id="99" name="Shape 97"/>
          <p:cNvSpPr/>
          <p:nvPr/>
        </p:nvSpPr>
        <p:spPr>
          <a:xfrm flipV="1">
            <a:off x="3566160" y="2884716"/>
            <a:ext cx="235598" cy="772884"/>
          </a:xfrm>
          <a:prstGeom prst="line">
            <a:avLst/>
          </a:prstGeom>
          <a:noFill/>
          <a:ln w="12700">
            <a:solidFill>
              <a:srgbClr val="E6C86E">
                <a:alpha val="60000"/>
              </a:srgbClr>
            </a:solidFill>
            <a:prstDash val="dash"/>
          </a:ln>
        </p:spPr>
        <p:txBody>
          <a:bodyPr/>
          <a:lstStyle/>
          <a:p>
            <a:endParaRPr lang="fr-FR"/>
          </a:p>
        </p:txBody>
      </p:sp>
      <p:sp>
        <p:nvSpPr>
          <p:cNvPr id="100" name="Shape 98"/>
          <p:cNvSpPr/>
          <p:nvPr/>
        </p:nvSpPr>
        <p:spPr>
          <a:xfrm>
            <a:off x="3307982" y="2656116"/>
            <a:ext cx="987552" cy="457200"/>
          </a:xfrm>
          <a:prstGeom prst="ellipse">
            <a:avLst/>
          </a:prstGeom>
          <a:solidFill>
            <a:srgbClr val="E6C86E">
              <a:alpha val="20000"/>
            </a:srgbClr>
          </a:solidFill>
          <a:ln/>
        </p:spPr>
        <p:txBody>
          <a:bodyPr/>
          <a:lstStyle/>
          <a:p>
            <a:endParaRPr lang="fr-FR"/>
          </a:p>
        </p:txBody>
      </p:sp>
      <p:sp>
        <p:nvSpPr>
          <p:cNvPr id="101" name="Shape 99"/>
          <p:cNvSpPr/>
          <p:nvPr/>
        </p:nvSpPr>
        <p:spPr>
          <a:xfrm>
            <a:off x="3390278" y="2738412"/>
            <a:ext cx="822960" cy="292608"/>
          </a:xfrm>
          <a:prstGeom prst="roundRect">
            <a:avLst>
              <a:gd name="adj" fmla="val 50000"/>
            </a:avLst>
          </a:prstGeom>
          <a:solidFill>
            <a:srgbClr val="161219"/>
          </a:solidFill>
          <a:ln w="19050">
            <a:solidFill>
              <a:srgbClr val="E6C86E"/>
            </a:solidFill>
            <a:prstDash val="solid"/>
          </a:ln>
        </p:spPr>
        <p:txBody>
          <a:bodyPr/>
          <a:lstStyle/>
          <a:p>
            <a:endParaRPr lang="fr-FR"/>
          </a:p>
        </p:txBody>
      </p:sp>
      <p:sp>
        <p:nvSpPr>
          <p:cNvPr id="102" name="Text 100"/>
          <p:cNvSpPr/>
          <p:nvPr/>
        </p:nvSpPr>
        <p:spPr>
          <a:xfrm>
            <a:off x="3390278" y="2738412"/>
            <a:ext cx="822960" cy="292608"/>
          </a:xfrm>
          <a:prstGeom prst="rect">
            <a:avLst/>
          </a:prstGeom>
          <a:noFill/>
          <a:ln/>
        </p:spPr>
        <p:txBody>
          <a:bodyPr wrap="square" lIns="0" tIns="0" rIns="0" bIns="0" rtlCol="0" anchor="ctr"/>
          <a:lstStyle/>
          <a:p>
            <a:pPr marL="0" indent="0" algn="ctr">
              <a:buNone/>
            </a:pPr>
            <a:r>
              <a:rPr lang="en-US" sz="850" b="1" dirty="0">
                <a:solidFill>
                  <a:srgbClr val="E6C86E"/>
                </a:solidFill>
                <a:latin typeface="Space Grotesk" pitchFamily="34" charset="0"/>
                <a:ea typeface="Space Grotesk" pitchFamily="34" charset="-122"/>
                <a:cs typeface="Space Grotesk" pitchFamily="34" charset="-120"/>
              </a:rPr>
              <a:t>Vidéo</a:t>
            </a:r>
            <a:endParaRPr lang="en-US" sz="850" dirty="0"/>
          </a:p>
        </p:txBody>
      </p:sp>
      <p:sp>
        <p:nvSpPr>
          <p:cNvPr id="103" name="Shape 101"/>
          <p:cNvSpPr/>
          <p:nvPr/>
        </p:nvSpPr>
        <p:spPr>
          <a:xfrm>
            <a:off x="4023360" y="1828800"/>
            <a:ext cx="2057400" cy="274320"/>
          </a:xfrm>
          <a:prstGeom prst="line">
            <a:avLst/>
          </a:prstGeom>
          <a:noFill/>
          <a:ln w="12700">
            <a:solidFill>
              <a:srgbClr val="78C88C">
                <a:alpha val="60000"/>
              </a:srgbClr>
            </a:solidFill>
            <a:prstDash val="dash"/>
          </a:ln>
        </p:spPr>
        <p:txBody>
          <a:bodyPr/>
          <a:lstStyle/>
          <a:p>
            <a:endParaRPr lang="fr-FR"/>
          </a:p>
        </p:txBody>
      </p:sp>
      <p:sp>
        <p:nvSpPr>
          <p:cNvPr id="104" name="Shape 102"/>
          <p:cNvSpPr/>
          <p:nvPr/>
        </p:nvSpPr>
        <p:spPr>
          <a:xfrm>
            <a:off x="3209544" y="1874520"/>
            <a:ext cx="1627632" cy="457200"/>
          </a:xfrm>
          <a:prstGeom prst="ellipse">
            <a:avLst/>
          </a:prstGeom>
          <a:solidFill>
            <a:srgbClr val="78C88C">
              <a:alpha val="20000"/>
            </a:srgbClr>
          </a:solidFill>
          <a:ln/>
        </p:spPr>
        <p:txBody>
          <a:bodyPr/>
          <a:lstStyle/>
          <a:p>
            <a:endParaRPr lang="fr-FR"/>
          </a:p>
        </p:txBody>
      </p:sp>
      <p:sp>
        <p:nvSpPr>
          <p:cNvPr id="105" name="Shape 103"/>
          <p:cNvSpPr/>
          <p:nvPr/>
        </p:nvSpPr>
        <p:spPr>
          <a:xfrm>
            <a:off x="3291840" y="1956816"/>
            <a:ext cx="1463040" cy="292608"/>
          </a:xfrm>
          <a:prstGeom prst="roundRect">
            <a:avLst>
              <a:gd name="adj" fmla="val 50000"/>
            </a:avLst>
          </a:prstGeom>
          <a:solidFill>
            <a:srgbClr val="161219"/>
          </a:solidFill>
          <a:ln w="19050">
            <a:solidFill>
              <a:srgbClr val="78C88C"/>
            </a:solidFill>
            <a:prstDash val="solid"/>
          </a:ln>
        </p:spPr>
        <p:txBody>
          <a:bodyPr/>
          <a:lstStyle/>
          <a:p>
            <a:endParaRPr lang="fr-FR"/>
          </a:p>
        </p:txBody>
      </p:sp>
      <p:sp>
        <p:nvSpPr>
          <p:cNvPr id="106" name="Text 104"/>
          <p:cNvSpPr/>
          <p:nvPr/>
        </p:nvSpPr>
        <p:spPr>
          <a:xfrm>
            <a:off x="3291840" y="1956816"/>
            <a:ext cx="1463040" cy="292608"/>
          </a:xfrm>
          <a:prstGeom prst="rect">
            <a:avLst/>
          </a:prstGeom>
          <a:noFill/>
          <a:ln/>
        </p:spPr>
        <p:txBody>
          <a:bodyPr wrap="square" lIns="0" tIns="0" rIns="0" bIns="0" rtlCol="0" anchor="ctr"/>
          <a:lstStyle/>
          <a:p>
            <a:pPr marL="0" indent="0" algn="ctr">
              <a:buNone/>
            </a:pPr>
            <a:r>
              <a:rPr lang="en-US" sz="850" b="1" dirty="0">
                <a:solidFill>
                  <a:srgbClr val="78C88C"/>
                </a:solidFill>
                <a:latin typeface="Space Grotesk" pitchFamily="34" charset="0"/>
                <a:ea typeface="Space Grotesk" pitchFamily="34" charset="-122"/>
                <a:cs typeface="Space Grotesk" pitchFamily="34" charset="-120"/>
              </a:rPr>
              <a:t>Tokenisation</a:t>
            </a:r>
            <a:endParaRPr lang="en-US" sz="850" dirty="0"/>
          </a:p>
        </p:txBody>
      </p:sp>
      <p:sp>
        <p:nvSpPr>
          <p:cNvPr id="107" name="Text 105"/>
          <p:cNvSpPr/>
          <p:nvPr/>
        </p:nvSpPr>
        <p:spPr>
          <a:xfrm>
            <a:off x="3108960" y="1600200"/>
            <a:ext cx="1828800" cy="27432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Découpe le texte en petits morceaux</a:t>
            </a:r>
            <a:endParaRPr lang="en-US" sz="650" dirty="0"/>
          </a:p>
        </p:txBody>
      </p:sp>
      <p:sp>
        <p:nvSpPr>
          <p:cNvPr id="108" name="Shape 106"/>
          <p:cNvSpPr/>
          <p:nvPr/>
        </p:nvSpPr>
        <p:spPr>
          <a:xfrm flipV="1">
            <a:off x="6080760" y="2697480"/>
            <a:ext cx="1920240" cy="960120"/>
          </a:xfrm>
          <a:prstGeom prst="line">
            <a:avLst/>
          </a:prstGeom>
          <a:noFill/>
          <a:ln w="12700">
            <a:solidFill>
              <a:srgbClr val="C896DC">
                <a:alpha val="60000"/>
              </a:srgbClr>
            </a:solidFill>
            <a:prstDash val="dash"/>
          </a:ln>
        </p:spPr>
        <p:txBody>
          <a:bodyPr/>
          <a:lstStyle/>
          <a:p>
            <a:endParaRPr lang="fr-FR"/>
          </a:p>
        </p:txBody>
      </p:sp>
      <p:sp>
        <p:nvSpPr>
          <p:cNvPr id="109" name="Shape 107"/>
          <p:cNvSpPr/>
          <p:nvPr/>
        </p:nvSpPr>
        <p:spPr>
          <a:xfrm>
            <a:off x="7461504" y="2468880"/>
            <a:ext cx="1078992" cy="457200"/>
          </a:xfrm>
          <a:prstGeom prst="ellipse">
            <a:avLst/>
          </a:prstGeom>
          <a:solidFill>
            <a:srgbClr val="C896DC">
              <a:alpha val="20000"/>
            </a:srgbClr>
          </a:solidFill>
          <a:ln/>
        </p:spPr>
        <p:txBody>
          <a:bodyPr/>
          <a:lstStyle/>
          <a:p>
            <a:endParaRPr lang="fr-FR"/>
          </a:p>
        </p:txBody>
      </p:sp>
      <p:sp>
        <p:nvSpPr>
          <p:cNvPr id="110" name="Shape 108"/>
          <p:cNvSpPr/>
          <p:nvPr/>
        </p:nvSpPr>
        <p:spPr>
          <a:xfrm>
            <a:off x="7543800" y="2551176"/>
            <a:ext cx="914400" cy="292608"/>
          </a:xfrm>
          <a:prstGeom prst="roundRect">
            <a:avLst>
              <a:gd name="adj" fmla="val 50000"/>
            </a:avLst>
          </a:prstGeom>
          <a:solidFill>
            <a:srgbClr val="161219"/>
          </a:solidFill>
          <a:ln w="19050">
            <a:solidFill>
              <a:srgbClr val="C896DC"/>
            </a:solidFill>
            <a:prstDash val="solid"/>
          </a:ln>
        </p:spPr>
        <p:txBody>
          <a:bodyPr/>
          <a:lstStyle/>
          <a:p>
            <a:endParaRPr lang="fr-FR"/>
          </a:p>
        </p:txBody>
      </p:sp>
      <p:sp>
        <p:nvSpPr>
          <p:cNvPr id="111" name="Text 109"/>
          <p:cNvSpPr/>
          <p:nvPr/>
        </p:nvSpPr>
        <p:spPr>
          <a:xfrm>
            <a:off x="7543800" y="2551176"/>
            <a:ext cx="914400" cy="292608"/>
          </a:xfrm>
          <a:prstGeom prst="rect">
            <a:avLst/>
          </a:prstGeom>
          <a:noFill/>
          <a:ln/>
        </p:spPr>
        <p:txBody>
          <a:bodyPr wrap="square" lIns="0" tIns="0" rIns="0" bIns="0" rtlCol="0" anchor="ctr"/>
          <a:lstStyle/>
          <a:p>
            <a:pPr marL="0" indent="0" algn="ctr">
              <a:buNone/>
            </a:pPr>
            <a:r>
              <a:rPr lang="en-US" sz="850" b="1" dirty="0">
                <a:solidFill>
                  <a:srgbClr val="C896DC"/>
                </a:solidFill>
                <a:latin typeface="Space Grotesk" pitchFamily="34" charset="0"/>
                <a:ea typeface="Space Grotesk" pitchFamily="34" charset="-122"/>
                <a:cs typeface="Space Grotesk" pitchFamily="34" charset="-120"/>
              </a:rPr>
              <a:t>Outils</a:t>
            </a:r>
            <a:endParaRPr lang="en-US" sz="850" dirty="0"/>
          </a:p>
        </p:txBody>
      </p:sp>
      <p:sp>
        <p:nvSpPr>
          <p:cNvPr id="112" name="Text 110"/>
          <p:cNvSpPr/>
          <p:nvPr/>
        </p:nvSpPr>
        <p:spPr>
          <a:xfrm>
            <a:off x="7086600" y="2194560"/>
            <a:ext cx="1828800" cy="27432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Code, fichiers, actions</a:t>
            </a:r>
            <a:endParaRPr lang="en-US" sz="650" dirty="0"/>
          </a:p>
        </p:txBody>
      </p:sp>
      <p:sp>
        <p:nvSpPr>
          <p:cNvPr id="113" name="Shape 111"/>
          <p:cNvSpPr/>
          <p:nvPr/>
        </p:nvSpPr>
        <p:spPr>
          <a:xfrm>
            <a:off x="3703409" y="4498165"/>
            <a:ext cx="1554480" cy="502920"/>
          </a:xfrm>
          <a:prstGeom prst="line">
            <a:avLst/>
          </a:prstGeom>
          <a:noFill/>
          <a:ln w="12700">
            <a:solidFill>
              <a:srgbClr val="E6C86E">
                <a:alpha val="60000"/>
              </a:srgbClr>
            </a:solidFill>
            <a:prstDash val="dash"/>
          </a:ln>
        </p:spPr>
        <p:txBody>
          <a:bodyPr/>
          <a:lstStyle/>
          <a:p>
            <a:endParaRPr lang="fr-FR"/>
          </a:p>
        </p:txBody>
      </p:sp>
      <p:sp>
        <p:nvSpPr>
          <p:cNvPr id="114" name="Shape 112"/>
          <p:cNvSpPr/>
          <p:nvPr/>
        </p:nvSpPr>
        <p:spPr>
          <a:xfrm>
            <a:off x="2935313" y="4772485"/>
            <a:ext cx="1536192" cy="457200"/>
          </a:xfrm>
          <a:prstGeom prst="ellipse">
            <a:avLst/>
          </a:prstGeom>
          <a:solidFill>
            <a:srgbClr val="E6C86E">
              <a:alpha val="20000"/>
            </a:srgbClr>
          </a:solidFill>
          <a:ln/>
        </p:spPr>
        <p:txBody>
          <a:bodyPr/>
          <a:lstStyle/>
          <a:p>
            <a:endParaRPr lang="fr-FR"/>
          </a:p>
        </p:txBody>
      </p:sp>
      <p:sp>
        <p:nvSpPr>
          <p:cNvPr id="115" name="Shape 113"/>
          <p:cNvSpPr/>
          <p:nvPr/>
        </p:nvSpPr>
        <p:spPr>
          <a:xfrm>
            <a:off x="3017609" y="4854781"/>
            <a:ext cx="1371600" cy="292608"/>
          </a:xfrm>
          <a:prstGeom prst="roundRect">
            <a:avLst>
              <a:gd name="adj" fmla="val 50000"/>
            </a:avLst>
          </a:prstGeom>
          <a:solidFill>
            <a:srgbClr val="161219"/>
          </a:solidFill>
          <a:ln w="19050">
            <a:solidFill>
              <a:srgbClr val="E6C86E"/>
            </a:solidFill>
            <a:prstDash val="solid"/>
          </a:ln>
        </p:spPr>
        <p:txBody>
          <a:bodyPr/>
          <a:lstStyle/>
          <a:p>
            <a:endParaRPr lang="fr-FR"/>
          </a:p>
        </p:txBody>
      </p:sp>
      <p:sp>
        <p:nvSpPr>
          <p:cNvPr id="116" name="Text 114"/>
          <p:cNvSpPr/>
          <p:nvPr/>
        </p:nvSpPr>
        <p:spPr>
          <a:xfrm>
            <a:off x="3017609" y="4854781"/>
            <a:ext cx="1371600" cy="292608"/>
          </a:xfrm>
          <a:prstGeom prst="rect">
            <a:avLst/>
          </a:prstGeom>
          <a:noFill/>
          <a:ln/>
        </p:spPr>
        <p:txBody>
          <a:bodyPr wrap="square" lIns="0" tIns="0" rIns="0" bIns="0" rtlCol="0" anchor="ctr"/>
          <a:lstStyle/>
          <a:p>
            <a:pPr marL="0" indent="0" algn="ctr">
              <a:buNone/>
            </a:pPr>
            <a:r>
              <a:rPr lang="en-US" sz="850" b="1" dirty="0">
                <a:solidFill>
                  <a:srgbClr val="E6C86E"/>
                </a:solidFill>
                <a:latin typeface="Space Grotesk" pitchFamily="34" charset="0"/>
                <a:ea typeface="Space Grotesk" pitchFamily="34" charset="-122"/>
                <a:cs typeface="Space Grotesk" pitchFamily="34" charset="-120"/>
              </a:rPr>
              <a:t>Température</a:t>
            </a:r>
            <a:endParaRPr lang="en-US" sz="850" dirty="0"/>
          </a:p>
        </p:txBody>
      </p:sp>
      <p:sp>
        <p:nvSpPr>
          <p:cNvPr id="117" name="Text 115"/>
          <p:cNvSpPr/>
          <p:nvPr/>
        </p:nvSpPr>
        <p:spPr>
          <a:xfrm>
            <a:off x="2789009" y="5202253"/>
            <a:ext cx="1828800" cy="274320"/>
          </a:xfrm>
          <a:prstGeom prst="rect">
            <a:avLst/>
          </a:prstGeom>
          <a:noFill/>
          <a:ln/>
        </p:spPr>
        <p:txBody>
          <a:bodyPr wrap="square" lIns="0" tIns="0" rIns="0" bIns="0" rtlCol="0" anchor="ctr"/>
          <a:lstStyle/>
          <a:p>
            <a:pPr marL="0" indent="0" algn="ctr">
              <a:buNone/>
            </a:pPr>
            <a:r>
              <a:rPr lang="en-US" sz="650" i="1" dirty="0">
                <a:solidFill>
                  <a:srgbClr val="A89F95"/>
                </a:solidFill>
                <a:latin typeface="IBM Plex Sans" pitchFamily="34" charset="0"/>
                <a:ea typeface="IBM Plex Sans" pitchFamily="34" charset="-122"/>
                <a:cs typeface="IBM Plex Sans" pitchFamily="34" charset="-120"/>
              </a:rPr>
              <a:t>Réglage : réponse rigide ou créative</a:t>
            </a:r>
            <a:endParaRPr lang="en-US" sz="650" dirty="0"/>
          </a:p>
        </p:txBody>
      </p:sp>
      <p:sp>
        <p:nvSpPr>
          <p:cNvPr id="118" name="Text 116"/>
          <p:cNvSpPr/>
          <p:nvPr/>
        </p:nvSpPr>
        <p:spPr>
          <a:xfrm>
            <a:off x="685800" y="1965960"/>
            <a:ext cx="1645920" cy="274320"/>
          </a:xfrm>
          <a:prstGeom prst="rect">
            <a:avLst/>
          </a:prstGeom>
          <a:noFill/>
          <a:ln/>
        </p:spPr>
        <p:txBody>
          <a:bodyPr wrap="square" lIns="0" tIns="0" rIns="0" bIns="0" rtlCol="0" anchor="ctr"/>
          <a:lstStyle/>
          <a:p>
            <a:pPr marL="0" indent="0" algn="r">
              <a:buNone/>
            </a:pPr>
            <a:r>
              <a:rPr lang="en-US" sz="900" kern="0" spc="200" dirty="0">
                <a:solidFill>
                  <a:srgbClr val="D9A883"/>
                </a:solidFill>
                <a:latin typeface="IBM Plex Mono" pitchFamily="34" charset="0"/>
                <a:ea typeface="IBM Plex Mono" pitchFamily="34" charset="-122"/>
                <a:cs typeface="IBM Plex Mono" pitchFamily="34" charset="-120"/>
              </a:rPr>
              <a:t>GARDE-FOUS</a:t>
            </a:r>
            <a:endParaRPr lang="en-US" sz="900" dirty="0"/>
          </a:p>
        </p:txBody>
      </p:sp>
      <p:sp>
        <p:nvSpPr>
          <p:cNvPr id="119" name="Shape 117"/>
          <p:cNvSpPr/>
          <p:nvPr/>
        </p:nvSpPr>
        <p:spPr>
          <a:xfrm flipV="1">
            <a:off x="1554480" y="3063240"/>
            <a:ext cx="2011680" cy="594360"/>
          </a:xfrm>
          <a:prstGeom prst="line">
            <a:avLst/>
          </a:prstGeom>
          <a:noFill/>
          <a:ln w="12700">
            <a:solidFill>
              <a:srgbClr val="E6C86E">
                <a:alpha val="55000"/>
              </a:srgbClr>
            </a:solidFill>
            <a:prstDash val="solid"/>
          </a:ln>
        </p:spPr>
        <p:txBody>
          <a:bodyPr/>
          <a:lstStyle/>
          <a:p>
            <a:endParaRPr lang="fr-FR"/>
          </a:p>
        </p:txBody>
      </p:sp>
      <p:sp>
        <p:nvSpPr>
          <p:cNvPr id="120" name="Shape 118"/>
          <p:cNvSpPr/>
          <p:nvPr/>
        </p:nvSpPr>
        <p:spPr>
          <a:xfrm>
            <a:off x="905256" y="2788920"/>
            <a:ext cx="1298448" cy="548640"/>
          </a:xfrm>
          <a:prstGeom prst="ellipse">
            <a:avLst/>
          </a:prstGeom>
          <a:solidFill>
            <a:srgbClr val="E6C86E">
              <a:alpha val="22000"/>
            </a:srgbClr>
          </a:solidFill>
          <a:ln/>
        </p:spPr>
        <p:txBody>
          <a:bodyPr/>
          <a:lstStyle/>
          <a:p>
            <a:endParaRPr lang="fr-FR"/>
          </a:p>
        </p:txBody>
      </p:sp>
      <p:sp>
        <p:nvSpPr>
          <p:cNvPr id="121" name="Shape 119"/>
          <p:cNvSpPr/>
          <p:nvPr/>
        </p:nvSpPr>
        <p:spPr>
          <a:xfrm>
            <a:off x="1005840" y="2889504"/>
            <a:ext cx="1097280" cy="347472"/>
          </a:xfrm>
          <a:prstGeom prst="roundRect">
            <a:avLst>
              <a:gd name="adj" fmla="val 50000"/>
            </a:avLst>
          </a:prstGeom>
          <a:solidFill>
            <a:srgbClr val="E6C86E"/>
          </a:solidFill>
          <a:ln w="15875">
            <a:solidFill>
              <a:srgbClr val="161219"/>
            </a:solidFill>
            <a:prstDash val="solid"/>
          </a:ln>
        </p:spPr>
        <p:txBody>
          <a:bodyPr/>
          <a:lstStyle/>
          <a:p>
            <a:endParaRPr lang="fr-FR"/>
          </a:p>
        </p:txBody>
      </p:sp>
      <p:sp>
        <p:nvSpPr>
          <p:cNvPr id="122" name="Text 120"/>
          <p:cNvSpPr/>
          <p:nvPr/>
        </p:nvSpPr>
        <p:spPr>
          <a:xfrm>
            <a:off x="1005840" y="2889504"/>
            <a:ext cx="1097280" cy="347472"/>
          </a:xfrm>
          <a:prstGeom prst="rect">
            <a:avLst/>
          </a:prstGeom>
          <a:noFill/>
          <a:ln/>
        </p:spPr>
        <p:txBody>
          <a:bodyPr wrap="square" lIns="0" tIns="0" rIns="0" bIns="0" rtlCol="0" anchor="ctr"/>
          <a:lstStyle/>
          <a:p>
            <a:pPr marL="0" indent="0" algn="ctr">
              <a:buNone/>
            </a:pPr>
            <a:r>
              <a:rPr lang="en-US" sz="1000" b="1" dirty="0">
                <a:solidFill>
                  <a:srgbClr val="161219"/>
                </a:solidFill>
                <a:latin typeface="Space Grotesk" pitchFamily="34" charset="0"/>
                <a:ea typeface="Space Grotesk" pitchFamily="34" charset="-122"/>
                <a:cs typeface="Space Grotesk" pitchFamily="34" charset="-120"/>
              </a:rPr>
              <a:t>Mémoire</a:t>
            </a:r>
            <a:endParaRPr lang="en-US" sz="1000" dirty="0"/>
          </a:p>
        </p:txBody>
      </p:sp>
      <p:sp>
        <p:nvSpPr>
          <p:cNvPr id="123" name="Text 121"/>
          <p:cNvSpPr/>
          <p:nvPr/>
        </p:nvSpPr>
        <p:spPr>
          <a:xfrm>
            <a:off x="800100" y="3364992"/>
            <a:ext cx="1508760" cy="256032"/>
          </a:xfrm>
          <a:prstGeom prst="rect">
            <a:avLst/>
          </a:prstGeom>
          <a:noFill/>
          <a:ln/>
        </p:spPr>
        <p:txBody>
          <a:bodyPr wrap="square" lIns="0" tIns="0" rIns="0" bIns="0" rtlCol="0" anchor="ctr"/>
          <a:lstStyle/>
          <a:p>
            <a:pPr marL="0" indent="0" algn="ctr">
              <a:buNone/>
            </a:pPr>
            <a:r>
              <a:rPr lang="en-US" sz="800" i="1" dirty="0">
                <a:solidFill>
                  <a:srgbClr val="A89F95"/>
                </a:solidFill>
                <a:latin typeface="IBM Plex Sans" pitchFamily="34" charset="0"/>
                <a:ea typeface="IBM Plex Sans" pitchFamily="34" charset="-122"/>
                <a:cs typeface="IBM Plex Sans" pitchFamily="34" charset="-120"/>
              </a:rPr>
              <a:t>Contexte gardé en tête</a:t>
            </a:r>
            <a:endParaRPr lang="en-US" sz="800" dirty="0"/>
          </a:p>
        </p:txBody>
      </p:sp>
      <p:sp>
        <p:nvSpPr>
          <p:cNvPr id="124" name="Shape 122"/>
          <p:cNvSpPr/>
          <p:nvPr/>
        </p:nvSpPr>
        <p:spPr>
          <a:xfrm>
            <a:off x="1554480" y="3657600"/>
            <a:ext cx="2011680" cy="685800"/>
          </a:xfrm>
          <a:prstGeom prst="line">
            <a:avLst/>
          </a:prstGeom>
          <a:noFill/>
          <a:ln w="19050">
            <a:solidFill>
              <a:srgbClr val="78C88C">
                <a:alpha val="70000"/>
              </a:srgbClr>
            </a:solidFill>
            <a:prstDash val="solid"/>
          </a:ln>
        </p:spPr>
        <p:txBody>
          <a:bodyPr/>
          <a:lstStyle/>
          <a:p>
            <a:endParaRPr lang="fr-FR"/>
          </a:p>
        </p:txBody>
      </p:sp>
      <p:sp>
        <p:nvSpPr>
          <p:cNvPr id="125" name="Shape 123"/>
          <p:cNvSpPr/>
          <p:nvPr/>
        </p:nvSpPr>
        <p:spPr>
          <a:xfrm>
            <a:off x="859536" y="3991356"/>
            <a:ext cx="1389888" cy="704088"/>
          </a:xfrm>
          <a:prstGeom prst="ellipse">
            <a:avLst/>
          </a:prstGeom>
          <a:solidFill>
            <a:srgbClr val="78C88C">
              <a:alpha val="22000"/>
            </a:srgbClr>
          </a:solidFill>
          <a:ln/>
        </p:spPr>
        <p:txBody>
          <a:bodyPr/>
          <a:lstStyle/>
          <a:p>
            <a:endParaRPr lang="fr-FR"/>
          </a:p>
        </p:txBody>
      </p:sp>
      <p:sp>
        <p:nvSpPr>
          <p:cNvPr id="126" name="Shape 124"/>
          <p:cNvSpPr/>
          <p:nvPr/>
        </p:nvSpPr>
        <p:spPr>
          <a:xfrm>
            <a:off x="960120" y="4091940"/>
            <a:ext cx="1188720" cy="502920"/>
          </a:xfrm>
          <a:prstGeom prst="roundRect">
            <a:avLst>
              <a:gd name="adj" fmla="val 50000"/>
            </a:avLst>
          </a:prstGeom>
          <a:solidFill>
            <a:srgbClr val="78C88C"/>
          </a:solidFill>
          <a:ln w="15875">
            <a:solidFill>
              <a:srgbClr val="161219"/>
            </a:solidFill>
            <a:prstDash val="solid"/>
          </a:ln>
        </p:spPr>
        <p:txBody>
          <a:bodyPr/>
          <a:lstStyle/>
          <a:p>
            <a:endParaRPr lang="fr-FR"/>
          </a:p>
        </p:txBody>
      </p:sp>
      <p:sp>
        <p:nvSpPr>
          <p:cNvPr id="127" name="Text 125"/>
          <p:cNvSpPr/>
          <p:nvPr/>
        </p:nvSpPr>
        <p:spPr>
          <a:xfrm>
            <a:off x="960120" y="4091940"/>
            <a:ext cx="1188720" cy="502920"/>
          </a:xfrm>
          <a:prstGeom prst="rect">
            <a:avLst/>
          </a:prstGeom>
          <a:noFill/>
          <a:ln/>
        </p:spPr>
        <p:txBody>
          <a:bodyPr wrap="square" lIns="0" tIns="0" rIns="0" bIns="0" rtlCol="0" anchor="ctr"/>
          <a:lstStyle/>
          <a:p>
            <a:pPr marL="0" indent="0" algn="ctr">
              <a:buNone/>
            </a:pPr>
            <a:r>
              <a:rPr lang="en-US" sz="1400" b="1" dirty="0">
                <a:solidFill>
                  <a:srgbClr val="161219"/>
                </a:solidFill>
                <a:latin typeface="Space Grotesk" pitchFamily="34" charset="0"/>
                <a:ea typeface="Space Grotesk" pitchFamily="34" charset="-122"/>
                <a:cs typeface="Space Grotesk" pitchFamily="34" charset="-120"/>
              </a:rPr>
              <a:t>Sécurité</a:t>
            </a:r>
            <a:endParaRPr lang="en-US" sz="1400" dirty="0"/>
          </a:p>
        </p:txBody>
      </p:sp>
      <p:sp>
        <p:nvSpPr>
          <p:cNvPr id="128" name="Text 126"/>
          <p:cNvSpPr/>
          <p:nvPr/>
        </p:nvSpPr>
        <p:spPr>
          <a:xfrm>
            <a:off x="902970" y="4722876"/>
            <a:ext cx="1303020" cy="256032"/>
          </a:xfrm>
          <a:prstGeom prst="rect">
            <a:avLst/>
          </a:prstGeom>
          <a:noFill/>
          <a:ln/>
        </p:spPr>
        <p:txBody>
          <a:bodyPr wrap="square" lIns="0" tIns="0" rIns="0" bIns="0" rtlCol="0" anchor="ctr"/>
          <a:lstStyle/>
          <a:p>
            <a:pPr marL="0" indent="0" algn="ctr">
              <a:buNone/>
            </a:pPr>
            <a:r>
              <a:rPr lang="en-US" sz="800" i="1" dirty="0">
                <a:solidFill>
                  <a:srgbClr val="A89F95"/>
                </a:solidFill>
                <a:latin typeface="IBM Plex Sans" pitchFamily="34" charset="0"/>
                <a:ea typeface="IBM Plex Sans" pitchFamily="34" charset="-122"/>
                <a:cs typeface="IBM Plex Sans" pitchFamily="34" charset="-120"/>
              </a:rPr>
              <a:t>Refuse le dangereux</a:t>
            </a:r>
            <a:endParaRPr lang="en-US" sz="800" dirty="0"/>
          </a:p>
        </p:txBody>
      </p:sp>
      <p:sp>
        <p:nvSpPr>
          <p:cNvPr id="129" name="Shape 127"/>
          <p:cNvSpPr/>
          <p:nvPr/>
        </p:nvSpPr>
        <p:spPr>
          <a:xfrm>
            <a:off x="1188720" y="4343400"/>
            <a:ext cx="365760" cy="914400"/>
          </a:xfrm>
          <a:prstGeom prst="line">
            <a:avLst/>
          </a:prstGeom>
          <a:noFill/>
          <a:ln w="9525">
            <a:solidFill>
              <a:srgbClr val="78C88C">
                <a:alpha val="65000"/>
              </a:srgbClr>
            </a:solidFill>
            <a:prstDash val="dash"/>
          </a:ln>
        </p:spPr>
        <p:txBody>
          <a:bodyPr/>
          <a:lstStyle/>
          <a:p>
            <a:endParaRPr lang="fr-FR"/>
          </a:p>
        </p:txBody>
      </p:sp>
      <p:sp>
        <p:nvSpPr>
          <p:cNvPr id="130" name="Shape 128"/>
          <p:cNvSpPr/>
          <p:nvPr/>
        </p:nvSpPr>
        <p:spPr>
          <a:xfrm>
            <a:off x="1133856" y="5202936"/>
            <a:ext cx="109728" cy="109728"/>
          </a:xfrm>
          <a:prstGeom prst="ellipse">
            <a:avLst/>
          </a:prstGeom>
          <a:solidFill>
            <a:srgbClr val="78C88C"/>
          </a:solidFill>
          <a:ln w="9525">
            <a:solidFill>
              <a:srgbClr val="161219"/>
            </a:solidFill>
            <a:prstDash val="solid"/>
          </a:ln>
        </p:spPr>
        <p:txBody>
          <a:bodyPr/>
          <a:lstStyle/>
          <a:p>
            <a:endParaRPr lang="fr-FR"/>
          </a:p>
        </p:txBody>
      </p:sp>
      <p:sp>
        <p:nvSpPr>
          <p:cNvPr id="131" name="Text 129"/>
          <p:cNvSpPr/>
          <p:nvPr/>
        </p:nvSpPr>
        <p:spPr>
          <a:xfrm>
            <a:off x="1241755" y="5166360"/>
            <a:ext cx="534010" cy="182880"/>
          </a:xfrm>
          <a:prstGeom prst="rect">
            <a:avLst/>
          </a:prstGeom>
          <a:noFill/>
          <a:ln/>
        </p:spPr>
        <p:txBody>
          <a:bodyPr wrap="square" lIns="0" tIns="0" rIns="0" bIns="0" rtlCol="0" anchor="ctr"/>
          <a:lstStyle/>
          <a:p>
            <a:pPr marL="0" indent="0" algn="l">
              <a:buNone/>
            </a:pPr>
            <a:r>
              <a:rPr lang="en-US" sz="650" i="1" dirty="0">
                <a:solidFill>
                  <a:srgbClr val="A89F95"/>
                </a:solidFill>
                <a:latin typeface="IBM Plex Sans" pitchFamily="34" charset="0"/>
                <a:ea typeface="IBM Plex Sans" pitchFamily="34" charset="-122"/>
                <a:cs typeface="IBM Plex Sans" pitchFamily="34" charset="-120"/>
              </a:rPr>
              <a:t>Analyse</a:t>
            </a:r>
            <a:endParaRPr lang="en-US" sz="650" dirty="0"/>
          </a:p>
        </p:txBody>
      </p:sp>
      <p:sp>
        <p:nvSpPr>
          <p:cNvPr id="132" name="Shape 130"/>
          <p:cNvSpPr/>
          <p:nvPr/>
        </p:nvSpPr>
        <p:spPr>
          <a:xfrm>
            <a:off x="960120" y="5257800"/>
            <a:ext cx="228600" cy="457200"/>
          </a:xfrm>
          <a:prstGeom prst="line">
            <a:avLst/>
          </a:prstGeom>
          <a:noFill/>
          <a:ln w="9525">
            <a:solidFill>
              <a:srgbClr val="78C88C">
                <a:alpha val="65000"/>
              </a:srgbClr>
            </a:solidFill>
            <a:prstDash val="dash"/>
          </a:ln>
        </p:spPr>
        <p:txBody>
          <a:bodyPr/>
          <a:lstStyle/>
          <a:p>
            <a:endParaRPr lang="fr-FR"/>
          </a:p>
        </p:txBody>
      </p:sp>
      <p:sp>
        <p:nvSpPr>
          <p:cNvPr id="133" name="Shape 131"/>
          <p:cNvSpPr/>
          <p:nvPr/>
        </p:nvSpPr>
        <p:spPr>
          <a:xfrm>
            <a:off x="905256" y="5660136"/>
            <a:ext cx="109728" cy="109728"/>
          </a:xfrm>
          <a:prstGeom prst="ellipse">
            <a:avLst/>
          </a:prstGeom>
          <a:solidFill>
            <a:srgbClr val="78C88C"/>
          </a:solidFill>
          <a:ln w="9525">
            <a:solidFill>
              <a:srgbClr val="161219"/>
            </a:solidFill>
            <a:prstDash val="solid"/>
          </a:ln>
        </p:spPr>
        <p:txBody>
          <a:bodyPr/>
          <a:lstStyle/>
          <a:p>
            <a:endParaRPr lang="fr-FR"/>
          </a:p>
        </p:txBody>
      </p:sp>
      <p:sp>
        <p:nvSpPr>
          <p:cNvPr id="134" name="Text 132"/>
          <p:cNvSpPr/>
          <p:nvPr/>
        </p:nvSpPr>
        <p:spPr>
          <a:xfrm>
            <a:off x="1041502" y="5623560"/>
            <a:ext cx="477317" cy="182880"/>
          </a:xfrm>
          <a:prstGeom prst="rect">
            <a:avLst/>
          </a:prstGeom>
          <a:noFill/>
          <a:ln/>
        </p:spPr>
        <p:txBody>
          <a:bodyPr wrap="square" lIns="0" tIns="0" rIns="0" bIns="0" rtlCol="0" anchor="ctr"/>
          <a:lstStyle/>
          <a:p>
            <a:pPr marL="0" indent="0" algn="l">
              <a:buNone/>
            </a:pPr>
            <a:r>
              <a:rPr lang="en-US" sz="650" i="1" dirty="0">
                <a:solidFill>
                  <a:srgbClr val="A89F95"/>
                </a:solidFill>
                <a:latin typeface="IBM Plex Sans" pitchFamily="34" charset="0"/>
                <a:ea typeface="IBM Plex Sans" pitchFamily="34" charset="-122"/>
                <a:cs typeface="IBM Plex Sans" pitchFamily="34" charset="-120"/>
              </a:rPr>
              <a:t>Règles</a:t>
            </a:r>
            <a:endParaRPr lang="en-US" sz="650" dirty="0"/>
          </a:p>
        </p:txBody>
      </p:sp>
      <p:sp>
        <p:nvSpPr>
          <p:cNvPr id="135" name="Shape 133"/>
          <p:cNvSpPr/>
          <p:nvPr/>
        </p:nvSpPr>
        <p:spPr>
          <a:xfrm>
            <a:off x="960120" y="5715000"/>
            <a:ext cx="91440" cy="457200"/>
          </a:xfrm>
          <a:prstGeom prst="line">
            <a:avLst/>
          </a:prstGeom>
          <a:noFill/>
          <a:ln w="9525">
            <a:solidFill>
              <a:srgbClr val="78C88C">
                <a:alpha val="65000"/>
              </a:srgbClr>
            </a:solidFill>
            <a:prstDash val="dash"/>
          </a:ln>
        </p:spPr>
        <p:txBody>
          <a:bodyPr/>
          <a:lstStyle/>
          <a:p>
            <a:endParaRPr lang="fr-FR"/>
          </a:p>
        </p:txBody>
      </p:sp>
      <p:sp>
        <p:nvSpPr>
          <p:cNvPr id="136" name="Shape 134"/>
          <p:cNvSpPr/>
          <p:nvPr/>
        </p:nvSpPr>
        <p:spPr>
          <a:xfrm>
            <a:off x="996696" y="6117336"/>
            <a:ext cx="109728" cy="109728"/>
          </a:xfrm>
          <a:prstGeom prst="ellipse">
            <a:avLst/>
          </a:prstGeom>
          <a:solidFill>
            <a:srgbClr val="78C88C"/>
          </a:solidFill>
          <a:ln w="9525">
            <a:solidFill>
              <a:srgbClr val="161219"/>
            </a:solidFill>
            <a:prstDash val="solid"/>
          </a:ln>
        </p:spPr>
        <p:txBody>
          <a:bodyPr/>
          <a:lstStyle/>
          <a:p>
            <a:endParaRPr lang="fr-FR"/>
          </a:p>
        </p:txBody>
      </p:sp>
      <p:sp>
        <p:nvSpPr>
          <p:cNvPr id="137" name="Text 135"/>
          <p:cNvSpPr/>
          <p:nvPr/>
        </p:nvSpPr>
        <p:spPr>
          <a:xfrm>
            <a:off x="1076249" y="6080760"/>
            <a:ext cx="590702" cy="182880"/>
          </a:xfrm>
          <a:prstGeom prst="rect">
            <a:avLst/>
          </a:prstGeom>
          <a:noFill/>
          <a:ln/>
        </p:spPr>
        <p:txBody>
          <a:bodyPr wrap="square" lIns="0" tIns="0" rIns="0" bIns="0" rtlCol="0" anchor="ctr"/>
          <a:lstStyle/>
          <a:p>
            <a:pPr marL="0" indent="0" algn="l">
              <a:buNone/>
            </a:pPr>
            <a:r>
              <a:rPr lang="en-US" sz="650" i="1" dirty="0">
                <a:solidFill>
                  <a:srgbClr val="A89F95"/>
                </a:solidFill>
                <a:latin typeface="IBM Plex Sans" pitchFamily="34" charset="0"/>
                <a:ea typeface="IBM Plex Sans" pitchFamily="34" charset="-122"/>
                <a:cs typeface="IBM Plex Sans" pitchFamily="34" charset="-120"/>
              </a:rPr>
              <a:t>Décision</a:t>
            </a:r>
            <a:endParaRPr lang="en-US" sz="650" dirty="0"/>
          </a:p>
        </p:txBody>
      </p:sp>
      <p:sp>
        <p:nvSpPr>
          <p:cNvPr id="138" name="Text 136"/>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139" name="Text 13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7</a:t>
            </a:r>
            <a:endParaRPr lang="en-US" sz="900" dirty="0"/>
          </a:p>
        </p:txBody>
      </p:sp>
      <p:pic>
        <p:nvPicPr>
          <p:cNvPr id="141" name="Image 140">
            <a:extLst>
              <a:ext uri="{FF2B5EF4-FFF2-40B4-BE49-F238E27FC236}">
                <a16:creationId xmlns:a16="http://schemas.microsoft.com/office/drawing/2014/main" id="{04583978-9D91-80CD-513F-C4BA5DF3BEEB}"/>
              </a:ext>
            </a:extLst>
          </p:cNvPr>
          <p:cNvPicPr>
            <a:picLocks noChangeAspect="1"/>
          </p:cNvPicPr>
          <p:nvPr/>
        </p:nvPicPr>
        <p:blipFill>
          <a:blip r:embed="rId3"/>
          <a:stretch>
            <a:fillRect/>
          </a:stretch>
        </p:blipFill>
        <p:spPr>
          <a:xfrm>
            <a:off x="200593" y="68368"/>
            <a:ext cx="1048603" cy="10486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02920"/>
          </a:xfrm>
          <a:prstGeom prst="rect">
            <a:avLst/>
          </a:prstGeom>
          <a:noFill/>
          <a:ln/>
        </p:spPr>
        <p:txBody>
          <a:bodyPr wrap="square" lIns="0" tIns="0" rIns="0" bIns="0" rtlCol="0" anchor="ctr"/>
          <a:lstStyle/>
          <a:p>
            <a:pPr marL="0" indent="0">
              <a:buNone/>
            </a:pPr>
            <a:r>
              <a:rPr lang="en-US" sz="2600" b="1" dirty="0">
                <a:solidFill>
                  <a:srgbClr val="FAF6F0"/>
                </a:solidFill>
                <a:latin typeface="Space Grotesk" pitchFamily="34" charset="0"/>
                <a:ea typeface="Space Grotesk" pitchFamily="34" charset="-122"/>
                <a:cs typeface="Space Grotesk" pitchFamily="34" charset="-120"/>
              </a:rPr>
              <a:t>                                                  </a:t>
            </a:r>
            <a:r>
              <a:rPr lang="en-US" sz="2600" b="1" dirty="0">
                <a:solidFill>
                  <a:srgbClr val="FF0000"/>
                </a:solidFill>
                <a:latin typeface="Space Grotesk" pitchFamily="34" charset="0"/>
                <a:ea typeface="Space Grotesk" pitchFamily="34" charset="-122"/>
                <a:cs typeface="Space Grotesk" pitchFamily="34" charset="-120"/>
              </a:rPr>
              <a:t>LES BIENFAITS DE L'IA</a:t>
            </a:r>
            <a:endParaRPr lang="en-US" sz="2600" dirty="0">
              <a:solidFill>
                <a:srgbClr val="FF0000"/>
              </a:solidFill>
            </a:endParaRPr>
          </a:p>
        </p:txBody>
      </p:sp>
      <p:sp>
        <p:nvSpPr>
          <p:cNvPr id="3" name="Text 1"/>
          <p:cNvSpPr/>
          <p:nvPr/>
        </p:nvSpPr>
        <p:spPr>
          <a:xfrm>
            <a:off x="640080" y="960120"/>
            <a:ext cx="8229600"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                                                                                             Ce que l'IA apporte concrètement au quotidien</a:t>
            </a:r>
            <a:endParaRPr lang="en-US" sz="1250" dirty="0"/>
          </a:p>
        </p:txBody>
      </p:sp>
      <p:sp>
        <p:nvSpPr>
          <p:cNvPr id="4" name="Shape 2"/>
          <p:cNvSpPr/>
          <p:nvPr/>
        </p:nvSpPr>
        <p:spPr>
          <a:xfrm>
            <a:off x="777240" y="1600200"/>
            <a:ext cx="2459736" cy="2331720"/>
          </a:xfrm>
          <a:prstGeom prst="roundRect">
            <a:avLst>
              <a:gd name="adj" fmla="val 5098"/>
            </a:avLst>
          </a:prstGeom>
          <a:solidFill>
            <a:srgbClr val="FFFFFF">
              <a:alpha val="10000"/>
            </a:srgbClr>
          </a:solidFill>
          <a:ln w="9525">
            <a:solidFill>
              <a:srgbClr val="F2ECE4">
                <a:alpha val="22000"/>
              </a:srgbClr>
            </a:solidFill>
            <a:prstDash val="solid"/>
          </a:ln>
        </p:spPr>
        <p:txBody>
          <a:bodyPr/>
          <a:lstStyle/>
          <a:p>
            <a:endParaRPr lang="fr-FR"/>
          </a:p>
        </p:txBody>
      </p:sp>
      <p:sp>
        <p:nvSpPr>
          <p:cNvPr id="5" name="Shape 3"/>
          <p:cNvSpPr/>
          <p:nvPr/>
        </p:nvSpPr>
        <p:spPr>
          <a:xfrm>
            <a:off x="978408" y="1801368"/>
            <a:ext cx="502920" cy="50292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1043788" y="1866748"/>
            <a:ext cx="372161" cy="372161"/>
          </a:xfrm>
          <a:prstGeom prst="rect">
            <a:avLst/>
          </a:prstGeom>
        </p:spPr>
      </p:pic>
      <p:sp>
        <p:nvSpPr>
          <p:cNvPr id="7" name="Text 4"/>
          <p:cNvSpPr/>
          <p:nvPr/>
        </p:nvSpPr>
        <p:spPr>
          <a:xfrm>
            <a:off x="978408" y="2423160"/>
            <a:ext cx="2057400" cy="502920"/>
          </a:xfrm>
          <a:prstGeom prst="rect">
            <a:avLst/>
          </a:prstGeom>
          <a:noFill/>
          <a:ln/>
        </p:spPr>
        <p:txBody>
          <a:bodyPr wrap="square" lIns="0" tIns="0" rIns="0" bIns="0" rtlCol="0" anchor="ctr"/>
          <a:lstStyle/>
          <a:p>
            <a:pPr marL="0" indent="0">
              <a:buNone/>
            </a:pPr>
            <a:r>
              <a:rPr lang="en-US" sz="1200" b="1" dirty="0">
                <a:solidFill>
                  <a:srgbClr val="FAF6F0"/>
                </a:solidFill>
                <a:latin typeface="Space Grotesk" pitchFamily="34" charset="0"/>
                <a:ea typeface="Space Grotesk" pitchFamily="34" charset="-122"/>
                <a:cs typeface="Space Grotesk" pitchFamily="34" charset="-120"/>
              </a:rPr>
              <a:t>Gain de temps</a:t>
            </a:r>
            <a:endParaRPr lang="en-US" sz="1200" dirty="0"/>
          </a:p>
        </p:txBody>
      </p:sp>
      <p:sp>
        <p:nvSpPr>
          <p:cNvPr id="8" name="Text 5"/>
          <p:cNvSpPr/>
          <p:nvPr/>
        </p:nvSpPr>
        <p:spPr>
          <a:xfrm>
            <a:off x="978408" y="2898648"/>
            <a:ext cx="2057400" cy="960120"/>
          </a:xfrm>
          <a:prstGeom prst="rect">
            <a:avLst/>
          </a:prstGeom>
          <a:noFill/>
          <a:ln/>
        </p:spPr>
        <p:txBody>
          <a:bodyPr wrap="square" lIns="0" tIns="0" rIns="0" bIns="0" rtlCol="0" anchor="ctr"/>
          <a:lstStyle/>
          <a:p>
            <a:pPr marL="0" indent="0">
              <a:lnSpc>
                <a:spcPct val="120000"/>
              </a:lnSpc>
              <a:buNone/>
            </a:pPr>
            <a:r>
              <a:rPr lang="en-US" sz="950" dirty="0">
                <a:solidFill>
                  <a:srgbClr val="B3AAA0"/>
                </a:solidFill>
                <a:latin typeface="IBM Plex Sans" pitchFamily="34" charset="0"/>
                <a:ea typeface="IBM Plex Sans" pitchFamily="34" charset="-122"/>
                <a:cs typeface="IBM Plex Sans" pitchFamily="34" charset="-120"/>
              </a:rPr>
              <a:t>Rédiger, résumer, planifier : des tâches longues accélérées en quelques secondes.</a:t>
            </a:r>
            <a:endParaRPr lang="en-US" sz="950" dirty="0"/>
          </a:p>
        </p:txBody>
      </p:sp>
      <p:sp>
        <p:nvSpPr>
          <p:cNvPr id="9" name="Shape 6"/>
          <p:cNvSpPr/>
          <p:nvPr/>
        </p:nvSpPr>
        <p:spPr>
          <a:xfrm>
            <a:off x="3493008" y="1600200"/>
            <a:ext cx="2459736" cy="2331720"/>
          </a:xfrm>
          <a:prstGeom prst="roundRect">
            <a:avLst>
              <a:gd name="adj" fmla="val 5098"/>
            </a:avLst>
          </a:prstGeom>
          <a:solidFill>
            <a:srgbClr val="FFFFFF">
              <a:alpha val="10000"/>
            </a:srgbClr>
          </a:solidFill>
          <a:ln w="9525">
            <a:solidFill>
              <a:srgbClr val="F2ECE4">
                <a:alpha val="22000"/>
              </a:srgbClr>
            </a:solidFill>
            <a:prstDash val="solid"/>
          </a:ln>
        </p:spPr>
        <p:txBody>
          <a:bodyPr/>
          <a:lstStyle/>
          <a:p>
            <a:endParaRPr lang="fr-FR"/>
          </a:p>
        </p:txBody>
      </p:sp>
      <p:sp>
        <p:nvSpPr>
          <p:cNvPr id="10" name="Shape 7"/>
          <p:cNvSpPr/>
          <p:nvPr/>
        </p:nvSpPr>
        <p:spPr>
          <a:xfrm>
            <a:off x="3694176" y="1801368"/>
            <a:ext cx="502920" cy="50292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3759556" y="1866748"/>
            <a:ext cx="372161" cy="372161"/>
          </a:xfrm>
          <a:prstGeom prst="rect">
            <a:avLst/>
          </a:prstGeom>
        </p:spPr>
      </p:pic>
      <p:sp>
        <p:nvSpPr>
          <p:cNvPr id="12" name="Text 8"/>
          <p:cNvSpPr/>
          <p:nvPr/>
        </p:nvSpPr>
        <p:spPr>
          <a:xfrm>
            <a:off x="3694176" y="2423160"/>
            <a:ext cx="2057400" cy="502920"/>
          </a:xfrm>
          <a:prstGeom prst="rect">
            <a:avLst/>
          </a:prstGeom>
          <a:noFill/>
          <a:ln/>
        </p:spPr>
        <p:txBody>
          <a:bodyPr wrap="square" lIns="0" tIns="0" rIns="0" bIns="0" rtlCol="0" anchor="ctr"/>
          <a:lstStyle/>
          <a:p>
            <a:pPr marL="0" indent="0">
              <a:buNone/>
            </a:pPr>
            <a:r>
              <a:rPr lang="en-US" sz="1200" b="1" dirty="0">
                <a:solidFill>
                  <a:srgbClr val="FAF6F0"/>
                </a:solidFill>
                <a:latin typeface="Space Grotesk" pitchFamily="34" charset="0"/>
                <a:ea typeface="Space Grotesk" pitchFamily="34" charset="-122"/>
                <a:cs typeface="Space Grotesk" pitchFamily="34" charset="-120"/>
              </a:rPr>
              <a:t>Accessibilité</a:t>
            </a:r>
            <a:endParaRPr lang="en-US" sz="1200" dirty="0"/>
          </a:p>
        </p:txBody>
      </p:sp>
      <p:sp>
        <p:nvSpPr>
          <p:cNvPr id="13" name="Text 9"/>
          <p:cNvSpPr/>
          <p:nvPr/>
        </p:nvSpPr>
        <p:spPr>
          <a:xfrm>
            <a:off x="3694176" y="2898648"/>
            <a:ext cx="2057400" cy="960120"/>
          </a:xfrm>
          <a:prstGeom prst="rect">
            <a:avLst/>
          </a:prstGeom>
          <a:noFill/>
          <a:ln/>
        </p:spPr>
        <p:txBody>
          <a:bodyPr wrap="square" lIns="0" tIns="0" rIns="0" bIns="0" rtlCol="0" anchor="ctr"/>
          <a:lstStyle/>
          <a:p>
            <a:pPr marL="0" indent="0">
              <a:lnSpc>
                <a:spcPct val="120000"/>
              </a:lnSpc>
              <a:buNone/>
            </a:pPr>
            <a:r>
              <a:rPr lang="en-US" sz="950" dirty="0">
                <a:solidFill>
                  <a:srgbClr val="B3AAA0"/>
                </a:solidFill>
                <a:latin typeface="IBM Plex Sans" pitchFamily="34" charset="0"/>
                <a:ea typeface="IBM Plex Sans" pitchFamily="34" charset="-122"/>
                <a:cs typeface="IBM Plex Sans" pitchFamily="34" charset="-120"/>
              </a:rPr>
              <a:t>Synthèse vocale, sous-titres automatiques, aide à la lecture pour les personnes en situation de handicap.</a:t>
            </a:r>
            <a:endParaRPr lang="en-US" sz="950" dirty="0"/>
          </a:p>
        </p:txBody>
      </p:sp>
      <p:sp>
        <p:nvSpPr>
          <p:cNvPr id="14" name="Shape 10"/>
          <p:cNvSpPr/>
          <p:nvPr/>
        </p:nvSpPr>
        <p:spPr>
          <a:xfrm>
            <a:off x="6208776" y="1600200"/>
            <a:ext cx="2459736" cy="2331720"/>
          </a:xfrm>
          <a:prstGeom prst="roundRect">
            <a:avLst>
              <a:gd name="adj" fmla="val 5098"/>
            </a:avLst>
          </a:prstGeom>
          <a:solidFill>
            <a:srgbClr val="FFFFFF">
              <a:alpha val="10000"/>
            </a:srgbClr>
          </a:solidFill>
          <a:ln w="9525">
            <a:solidFill>
              <a:srgbClr val="F2ECE4">
                <a:alpha val="22000"/>
              </a:srgbClr>
            </a:solidFill>
            <a:prstDash val="solid"/>
          </a:ln>
        </p:spPr>
        <p:txBody>
          <a:bodyPr/>
          <a:lstStyle/>
          <a:p>
            <a:endParaRPr lang="fr-FR"/>
          </a:p>
        </p:txBody>
      </p:sp>
      <p:sp>
        <p:nvSpPr>
          <p:cNvPr id="15" name="Shape 11"/>
          <p:cNvSpPr/>
          <p:nvPr/>
        </p:nvSpPr>
        <p:spPr>
          <a:xfrm>
            <a:off x="6409944" y="1801368"/>
            <a:ext cx="502920" cy="50292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6475324" y="1866748"/>
            <a:ext cx="372161" cy="372161"/>
          </a:xfrm>
          <a:prstGeom prst="rect">
            <a:avLst/>
          </a:prstGeom>
        </p:spPr>
      </p:pic>
      <p:sp>
        <p:nvSpPr>
          <p:cNvPr id="17" name="Text 12"/>
          <p:cNvSpPr/>
          <p:nvPr/>
        </p:nvSpPr>
        <p:spPr>
          <a:xfrm>
            <a:off x="6409944" y="2423160"/>
            <a:ext cx="2057400" cy="502920"/>
          </a:xfrm>
          <a:prstGeom prst="rect">
            <a:avLst/>
          </a:prstGeom>
          <a:noFill/>
          <a:ln/>
        </p:spPr>
        <p:txBody>
          <a:bodyPr wrap="square" lIns="0" tIns="0" rIns="0" bIns="0" rtlCol="0" anchor="ctr"/>
          <a:lstStyle/>
          <a:p>
            <a:pPr marL="0" indent="0">
              <a:buNone/>
            </a:pPr>
            <a:r>
              <a:rPr lang="en-US" sz="1200" b="1" dirty="0">
                <a:solidFill>
                  <a:srgbClr val="FAF6F0"/>
                </a:solidFill>
                <a:latin typeface="Space Grotesk" pitchFamily="34" charset="0"/>
                <a:ea typeface="Space Grotesk" pitchFamily="34" charset="-122"/>
                <a:cs typeface="Space Grotesk" pitchFamily="34" charset="-120"/>
              </a:rPr>
              <a:t>Santé</a:t>
            </a:r>
            <a:endParaRPr lang="en-US" sz="1200" dirty="0"/>
          </a:p>
        </p:txBody>
      </p:sp>
      <p:sp>
        <p:nvSpPr>
          <p:cNvPr id="18" name="Text 13"/>
          <p:cNvSpPr/>
          <p:nvPr/>
        </p:nvSpPr>
        <p:spPr>
          <a:xfrm>
            <a:off x="6409944" y="2898648"/>
            <a:ext cx="2057400" cy="960120"/>
          </a:xfrm>
          <a:prstGeom prst="rect">
            <a:avLst/>
          </a:prstGeom>
          <a:noFill/>
          <a:ln/>
        </p:spPr>
        <p:txBody>
          <a:bodyPr wrap="square" lIns="0" tIns="0" rIns="0" bIns="0" rtlCol="0" anchor="ctr"/>
          <a:lstStyle/>
          <a:p>
            <a:pPr marL="0" indent="0">
              <a:lnSpc>
                <a:spcPct val="120000"/>
              </a:lnSpc>
              <a:buNone/>
            </a:pPr>
            <a:r>
              <a:rPr lang="en-US" sz="950" dirty="0">
                <a:solidFill>
                  <a:srgbClr val="B3AAA0"/>
                </a:solidFill>
                <a:latin typeface="IBM Plex Sans" pitchFamily="34" charset="0"/>
                <a:ea typeface="IBM Plex Sans" pitchFamily="34" charset="-122"/>
                <a:cs typeface="IBM Plex Sans" pitchFamily="34" charset="-120"/>
              </a:rPr>
              <a:t>Aide au diagnostic, suivi de traitement, détection précoce de certaines maladies.</a:t>
            </a:r>
            <a:endParaRPr lang="en-US" sz="950" dirty="0"/>
          </a:p>
        </p:txBody>
      </p:sp>
      <p:sp>
        <p:nvSpPr>
          <p:cNvPr id="19" name="Shape 14"/>
          <p:cNvSpPr/>
          <p:nvPr/>
        </p:nvSpPr>
        <p:spPr>
          <a:xfrm>
            <a:off x="8924544" y="1600200"/>
            <a:ext cx="2459736" cy="2331720"/>
          </a:xfrm>
          <a:prstGeom prst="roundRect">
            <a:avLst>
              <a:gd name="adj" fmla="val 5098"/>
            </a:avLst>
          </a:prstGeom>
          <a:solidFill>
            <a:srgbClr val="FFFFFF">
              <a:alpha val="10000"/>
            </a:srgbClr>
          </a:solidFill>
          <a:ln w="9525">
            <a:solidFill>
              <a:srgbClr val="F2ECE4">
                <a:alpha val="22000"/>
              </a:srgbClr>
            </a:solidFill>
            <a:prstDash val="solid"/>
          </a:ln>
        </p:spPr>
        <p:txBody>
          <a:bodyPr/>
          <a:lstStyle/>
          <a:p>
            <a:endParaRPr lang="fr-FR"/>
          </a:p>
        </p:txBody>
      </p:sp>
      <p:sp>
        <p:nvSpPr>
          <p:cNvPr id="20" name="Shape 15"/>
          <p:cNvSpPr/>
          <p:nvPr/>
        </p:nvSpPr>
        <p:spPr>
          <a:xfrm>
            <a:off x="9125712" y="1801368"/>
            <a:ext cx="502920" cy="50292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21" name="Image 3" descr="preencoded.png"/>
          <p:cNvPicPr>
            <a:picLocks noChangeAspect="1"/>
          </p:cNvPicPr>
          <p:nvPr/>
        </p:nvPicPr>
        <p:blipFill>
          <a:blip r:embed="rId6"/>
          <a:stretch>
            <a:fillRect/>
          </a:stretch>
        </p:blipFill>
        <p:spPr>
          <a:xfrm>
            <a:off x="9191092" y="1866748"/>
            <a:ext cx="372161" cy="372161"/>
          </a:xfrm>
          <a:prstGeom prst="rect">
            <a:avLst/>
          </a:prstGeom>
        </p:spPr>
      </p:pic>
      <p:sp>
        <p:nvSpPr>
          <p:cNvPr id="22" name="Text 16"/>
          <p:cNvSpPr/>
          <p:nvPr/>
        </p:nvSpPr>
        <p:spPr>
          <a:xfrm>
            <a:off x="9125712" y="2423160"/>
            <a:ext cx="2057400" cy="502920"/>
          </a:xfrm>
          <a:prstGeom prst="rect">
            <a:avLst/>
          </a:prstGeom>
          <a:noFill/>
          <a:ln/>
        </p:spPr>
        <p:txBody>
          <a:bodyPr wrap="square" lIns="0" tIns="0" rIns="0" bIns="0" rtlCol="0" anchor="ctr"/>
          <a:lstStyle/>
          <a:p>
            <a:pPr marL="0" indent="0">
              <a:buNone/>
            </a:pPr>
            <a:r>
              <a:rPr lang="en-US" sz="1200" b="1" dirty="0">
                <a:solidFill>
                  <a:srgbClr val="FAF6F0"/>
                </a:solidFill>
                <a:latin typeface="Space Grotesk" pitchFamily="34" charset="0"/>
                <a:ea typeface="Space Grotesk" pitchFamily="34" charset="-122"/>
                <a:cs typeface="Space Grotesk" pitchFamily="34" charset="-120"/>
              </a:rPr>
              <a:t>Éducation</a:t>
            </a:r>
            <a:endParaRPr lang="en-US" sz="1200" dirty="0"/>
          </a:p>
        </p:txBody>
      </p:sp>
      <p:sp>
        <p:nvSpPr>
          <p:cNvPr id="23" name="Text 17"/>
          <p:cNvSpPr/>
          <p:nvPr/>
        </p:nvSpPr>
        <p:spPr>
          <a:xfrm>
            <a:off x="9125712" y="2898648"/>
            <a:ext cx="2057400" cy="960120"/>
          </a:xfrm>
          <a:prstGeom prst="rect">
            <a:avLst/>
          </a:prstGeom>
          <a:noFill/>
          <a:ln/>
        </p:spPr>
        <p:txBody>
          <a:bodyPr wrap="square" lIns="0" tIns="0" rIns="0" bIns="0" rtlCol="0" anchor="ctr"/>
          <a:lstStyle/>
          <a:p>
            <a:pPr marL="0" indent="0">
              <a:lnSpc>
                <a:spcPct val="120000"/>
              </a:lnSpc>
              <a:buNone/>
            </a:pPr>
            <a:r>
              <a:rPr lang="en-US" sz="950" dirty="0">
                <a:solidFill>
                  <a:srgbClr val="B3AAA0"/>
                </a:solidFill>
                <a:latin typeface="IBM Plex Sans" pitchFamily="34" charset="0"/>
                <a:ea typeface="IBM Plex Sans" pitchFamily="34" charset="-122"/>
                <a:cs typeface="IBM Plex Sans" pitchFamily="34" charset="-120"/>
              </a:rPr>
              <a:t>Tuteur personnalisé, explications adaptées au niveau de chacun, aide aux devoirs.</a:t>
            </a:r>
            <a:endParaRPr lang="en-US" sz="950" dirty="0"/>
          </a:p>
        </p:txBody>
      </p:sp>
      <p:sp>
        <p:nvSpPr>
          <p:cNvPr id="24" name="Shape 18"/>
          <p:cNvSpPr/>
          <p:nvPr/>
        </p:nvSpPr>
        <p:spPr>
          <a:xfrm>
            <a:off x="777240" y="4206240"/>
            <a:ext cx="2459736" cy="2331720"/>
          </a:xfrm>
          <a:prstGeom prst="roundRect">
            <a:avLst>
              <a:gd name="adj" fmla="val 5098"/>
            </a:avLst>
          </a:prstGeom>
          <a:solidFill>
            <a:srgbClr val="FFFFFF">
              <a:alpha val="10000"/>
            </a:srgbClr>
          </a:solidFill>
          <a:ln w="9525">
            <a:solidFill>
              <a:srgbClr val="F2ECE4">
                <a:alpha val="22000"/>
              </a:srgbClr>
            </a:solidFill>
            <a:prstDash val="solid"/>
          </a:ln>
        </p:spPr>
        <p:txBody>
          <a:bodyPr/>
          <a:lstStyle/>
          <a:p>
            <a:endParaRPr lang="fr-FR"/>
          </a:p>
        </p:txBody>
      </p:sp>
      <p:sp>
        <p:nvSpPr>
          <p:cNvPr id="25" name="Shape 19"/>
          <p:cNvSpPr/>
          <p:nvPr/>
        </p:nvSpPr>
        <p:spPr>
          <a:xfrm>
            <a:off x="978408" y="4407408"/>
            <a:ext cx="502920" cy="502920"/>
          </a:xfrm>
          <a:prstGeom prst="roundRect">
            <a:avLst>
              <a:gd name="adj" fmla="val 22000"/>
            </a:avLst>
          </a:prstGeom>
          <a:solidFill>
            <a:srgbClr val="78C88C">
              <a:alpha val="30000"/>
            </a:srgbClr>
          </a:solidFill>
          <a:ln w="9525">
            <a:solidFill>
              <a:srgbClr val="78C88C">
                <a:alpha val="65000"/>
              </a:srgbClr>
            </a:solidFill>
            <a:prstDash val="solid"/>
          </a:ln>
        </p:spPr>
        <p:txBody>
          <a:bodyPr/>
          <a:lstStyle/>
          <a:p>
            <a:endParaRPr lang="fr-FR"/>
          </a:p>
        </p:txBody>
      </p:sp>
      <p:pic>
        <p:nvPicPr>
          <p:cNvPr id="26" name="Image 4" descr="preencoded.png"/>
          <p:cNvPicPr>
            <a:picLocks noChangeAspect="1"/>
          </p:cNvPicPr>
          <p:nvPr/>
        </p:nvPicPr>
        <p:blipFill>
          <a:blip r:embed="rId7"/>
          <a:stretch>
            <a:fillRect/>
          </a:stretch>
        </p:blipFill>
        <p:spPr>
          <a:xfrm>
            <a:off x="1043788" y="4472788"/>
            <a:ext cx="372161" cy="372161"/>
          </a:xfrm>
          <a:prstGeom prst="rect">
            <a:avLst/>
          </a:prstGeom>
        </p:spPr>
      </p:pic>
      <p:sp>
        <p:nvSpPr>
          <p:cNvPr id="27" name="Text 20"/>
          <p:cNvSpPr/>
          <p:nvPr/>
        </p:nvSpPr>
        <p:spPr>
          <a:xfrm>
            <a:off x="978408" y="5029200"/>
            <a:ext cx="2057400" cy="502920"/>
          </a:xfrm>
          <a:prstGeom prst="rect">
            <a:avLst/>
          </a:prstGeom>
          <a:noFill/>
          <a:ln/>
        </p:spPr>
        <p:txBody>
          <a:bodyPr wrap="square" lIns="0" tIns="0" rIns="0" bIns="0" rtlCol="0" anchor="ctr"/>
          <a:lstStyle/>
          <a:p>
            <a:pPr marL="0" indent="0">
              <a:buNone/>
            </a:pPr>
            <a:r>
              <a:rPr lang="en-US" sz="1200" b="1" dirty="0">
                <a:solidFill>
                  <a:srgbClr val="FAF6F0"/>
                </a:solidFill>
                <a:latin typeface="Space Grotesk" pitchFamily="34" charset="0"/>
                <a:ea typeface="Space Grotesk" pitchFamily="34" charset="-122"/>
                <a:cs typeface="Space Grotesk" pitchFamily="34" charset="-120"/>
              </a:rPr>
              <a:t>Créativité</a:t>
            </a:r>
            <a:endParaRPr lang="en-US" sz="1200" dirty="0"/>
          </a:p>
        </p:txBody>
      </p:sp>
      <p:sp>
        <p:nvSpPr>
          <p:cNvPr id="28" name="Text 21"/>
          <p:cNvSpPr/>
          <p:nvPr/>
        </p:nvSpPr>
        <p:spPr>
          <a:xfrm>
            <a:off x="978408" y="5504688"/>
            <a:ext cx="2057400" cy="960120"/>
          </a:xfrm>
          <a:prstGeom prst="rect">
            <a:avLst/>
          </a:prstGeom>
          <a:noFill/>
          <a:ln/>
        </p:spPr>
        <p:txBody>
          <a:bodyPr wrap="square" lIns="0" tIns="0" rIns="0" bIns="0" rtlCol="0" anchor="ctr"/>
          <a:lstStyle/>
          <a:p>
            <a:pPr marL="0" indent="0">
              <a:lnSpc>
                <a:spcPct val="120000"/>
              </a:lnSpc>
              <a:buNone/>
            </a:pPr>
            <a:r>
              <a:rPr lang="en-US" sz="950" dirty="0">
                <a:solidFill>
                  <a:srgbClr val="B3AAA0"/>
                </a:solidFill>
                <a:latin typeface="IBM Plex Sans" pitchFamily="34" charset="0"/>
                <a:ea typeface="IBM Plex Sans" pitchFamily="34" charset="-122"/>
                <a:cs typeface="IBM Plex Sans" pitchFamily="34" charset="-120"/>
              </a:rPr>
              <a:t>Génération d'images, de musique, d'idées : un outil de brainstorming puissant.</a:t>
            </a:r>
            <a:endParaRPr lang="en-US" sz="950" dirty="0"/>
          </a:p>
        </p:txBody>
      </p:sp>
      <p:sp>
        <p:nvSpPr>
          <p:cNvPr id="29" name="Shape 22"/>
          <p:cNvSpPr/>
          <p:nvPr/>
        </p:nvSpPr>
        <p:spPr>
          <a:xfrm>
            <a:off x="3493008" y="4206240"/>
            <a:ext cx="2459736" cy="2331720"/>
          </a:xfrm>
          <a:prstGeom prst="roundRect">
            <a:avLst>
              <a:gd name="adj" fmla="val 5098"/>
            </a:avLst>
          </a:prstGeom>
          <a:solidFill>
            <a:srgbClr val="FFFFFF">
              <a:alpha val="10000"/>
            </a:srgbClr>
          </a:solidFill>
          <a:ln w="9525">
            <a:solidFill>
              <a:srgbClr val="F2ECE4">
                <a:alpha val="22000"/>
              </a:srgbClr>
            </a:solidFill>
            <a:prstDash val="solid"/>
          </a:ln>
        </p:spPr>
        <p:txBody>
          <a:bodyPr/>
          <a:lstStyle/>
          <a:p>
            <a:endParaRPr lang="fr-FR"/>
          </a:p>
        </p:txBody>
      </p:sp>
      <p:sp>
        <p:nvSpPr>
          <p:cNvPr id="30" name="Shape 23"/>
          <p:cNvSpPr/>
          <p:nvPr/>
        </p:nvSpPr>
        <p:spPr>
          <a:xfrm>
            <a:off x="3694176" y="4407408"/>
            <a:ext cx="502920" cy="50292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31" name="Image 5" descr="preencoded.png"/>
          <p:cNvPicPr>
            <a:picLocks noChangeAspect="1"/>
          </p:cNvPicPr>
          <p:nvPr/>
        </p:nvPicPr>
        <p:blipFill>
          <a:blip r:embed="rId8"/>
          <a:stretch>
            <a:fillRect/>
          </a:stretch>
        </p:blipFill>
        <p:spPr>
          <a:xfrm>
            <a:off x="3759556" y="4472788"/>
            <a:ext cx="372161" cy="372161"/>
          </a:xfrm>
          <a:prstGeom prst="rect">
            <a:avLst/>
          </a:prstGeom>
        </p:spPr>
      </p:pic>
      <p:sp>
        <p:nvSpPr>
          <p:cNvPr id="32" name="Text 24"/>
          <p:cNvSpPr/>
          <p:nvPr/>
        </p:nvSpPr>
        <p:spPr>
          <a:xfrm>
            <a:off x="3694176" y="5029200"/>
            <a:ext cx="2057400" cy="502920"/>
          </a:xfrm>
          <a:prstGeom prst="rect">
            <a:avLst/>
          </a:prstGeom>
          <a:noFill/>
          <a:ln/>
        </p:spPr>
        <p:txBody>
          <a:bodyPr wrap="square" lIns="0" tIns="0" rIns="0" bIns="0" rtlCol="0" anchor="ctr"/>
          <a:lstStyle/>
          <a:p>
            <a:pPr marL="0" indent="0">
              <a:buNone/>
            </a:pPr>
            <a:r>
              <a:rPr lang="en-US" sz="1200" b="1" dirty="0">
                <a:solidFill>
                  <a:srgbClr val="FAF6F0"/>
                </a:solidFill>
                <a:latin typeface="Space Grotesk" pitchFamily="34" charset="0"/>
                <a:ea typeface="Space Grotesk" pitchFamily="34" charset="-122"/>
                <a:cs typeface="Space Grotesk" pitchFamily="34" charset="-120"/>
              </a:rPr>
              <a:t>Traduction</a:t>
            </a:r>
            <a:endParaRPr lang="en-US" sz="1200" dirty="0"/>
          </a:p>
        </p:txBody>
      </p:sp>
      <p:sp>
        <p:nvSpPr>
          <p:cNvPr id="33" name="Text 25"/>
          <p:cNvSpPr/>
          <p:nvPr/>
        </p:nvSpPr>
        <p:spPr>
          <a:xfrm>
            <a:off x="3694176" y="5504688"/>
            <a:ext cx="2057400" cy="960120"/>
          </a:xfrm>
          <a:prstGeom prst="rect">
            <a:avLst/>
          </a:prstGeom>
          <a:noFill/>
          <a:ln/>
        </p:spPr>
        <p:txBody>
          <a:bodyPr wrap="square" lIns="0" tIns="0" rIns="0" bIns="0" rtlCol="0" anchor="ctr"/>
          <a:lstStyle/>
          <a:p>
            <a:pPr marL="0" indent="0">
              <a:lnSpc>
                <a:spcPct val="120000"/>
              </a:lnSpc>
              <a:buNone/>
            </a:pPr>
            <a:r>
              <a:rPr lang="en-US" sz="950" dirty="0">
                <a:solidFill>
                  <a:srgbClr val="B3AAA0"/>
                </a:solidFill>
                <a:latin typeface="IBM Plex Sans" pitchFamily="34" charset="0"/>
                <a:ea typeface="IBM Plex Sans" pitchFamily="34" charset="-122"/>
                <a:cs typeface="IBM Plex Sans" pitchFamily="34" charset="-120"/>
              </a:rPr>
              <a:t>Traduction et interprétation quasi instantanées, utile pour l'accueil multilingue.</a:t>
            </a:r>
            <a:endParaRPr lang="en-US" sz="950" dirty="0"/>
          </a:p>
        </p:txBody>
      </p:sp>
      <p:sp>
        <p:nvSpPr>
          <p:cNvPr id="34" name="Shape 26"/>
          <p:cNvSpPr/>
          <p:nvPr/>
        </p:nvSpPr>
        <p:spPr>
          <a:xfrm>
            <a:off x="6208776" y="4206240"/>
            <a:ext cx="2459736" cy="2331720"/>
          </a:xfrm>
          <a:prstGeom prst="roundRect">
            <a:avLst>
              <a:gd name="adj" fmla="val 5098"/>
            </a:avLst>
          </a:prstGeom>
          <a:solidFill>
            <a:srgbClr val="FFFFFF">
              <a:alpha val="10000"/>
            </a:srgbClr>
          </a:solidFill>
          <a:ln w="9525">
            <a:solidFill>
              <a:srgbClr val="F2ECE4">
                <a:alpha val="22000"/>
              </a:srgbClr>
            </a:solidFill>
            <a:prstDash val="solid"/>
          </a:ln>
        </p:spPr>
        <p:txBody>
          <a:bodyPr/>
          <a:lstStyle/>
          <a:p>
            <a:endParaRPr lang="fr-FR"/>
          </a:p>
        </p:txBody>
      </p:sp>
      <p:sp>
        <p:nvSpPr>
          <p:cNvPr id="35" name="Shape 27"/>
          <p:cNvSpPr/>
          <p:nvPr/>
        </p:nvSpPr>
        <p:spPr>
          <a:xfrm>
            <a:off x="6409944" y="4407408"/>
            <a:ext cx="502920" cy="50292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36" name="Image 6" descr="preencoded.png"/>
          <p:cNvPicPr>
            <a:picLocks noChangeAspect="1"/>
          </p:cNvPicPr>
          <p:nvPr/>
        </p:nvPicPr>
        <p:blipFill>
          <a:blip r:embed="rId9"/>
          <a:stretch>
            <a:fillRect/>
          </a:stretch>
        </p:blipFill>
        <p:spPr>
          <a:xfrm>
            <a:off x="6475324" y="4472788"/>
            <a:ext cx="372161" cy="372161"/>
          </a:xfrm>
          <a:prstGeom prst="rect">
            <a:avLst/>
          </a:prstGeom>
        </p:spPr>
      </p:pic>
      <p:sp>
        <p:nvSpPr>
          <p:cNvPr id="37" name="Text 28"/>
          <p:cNvSpPr/>
          <p:nvPr/>
        </p:nvSpPr>
        <p:spPr>
          <a:xfrm>
            <a:off x="6409944" y="5029200"/>
            <a:ext cx="2057400" cy="502920"/>
          </a:xfrm>
          <a:prstGeom prst="rect">
            <a:avLst/>
          </a:prstGeom>
          <a:noFill/>
          <a:ln/>
        </p:spPr>
        <p:txBody>
          <a:bodyPr wrap="square" lIns="0" tIns="0" rIns="0" bIns="0" rtlCol="0" anchor="ctr"/>
          <a:lstStyle/>
          <a:p>
            <a:pPr marL="0" indent="0">
              <a:buNone/>
            </a:pPr>
            <a:r>
              <a:rPr lang="en-US" sz="1200" b="1" dirty="0">
                <a:solidFill>
                  <a:srgbClr val="FAF6F0"/>
                </a:solidFill>
                <a:latin typeface="Space Grotesk" pitchFamily="34" charset="0"/>
                <a:ea typeface="Space Grotesk" pitchFamily="34" charset="-122"/>
                <a:cs typeface="Space Grotesk" pitchFamily="34" charset="-120"/>
              </a:rPr>
              <a:t>Médiation multilingue</a:t>
            </a:r>
            <a:endParaRPr lang="en-US" sz="1200" dirty="0"/>
          </a:p>
        </p:txBody>
      </p:sp>
      <p:sp>
        <p:nvSpPr>
          <p:cNvPr id="38" name="Text 29"/>
          <p:cNvSpPr/>
          <p:nvPr/>
        </p:nvSpPr>
        <p:spPr>
          <a:xfrm>
            <a:off x="6409944" y="5504688"/>
            <a:ext cx="2057400" cy="960120"/>
          </a:xfrm>
          <a:prstGeom prst="rect">
            <a:avLst/>
          </a:prstGeom>
          <a:noFill/>
          <a:ln/>
        </p:spPr>
        <p:txBody>
          <a:bodyPr wrap="square" lIns="0" tIns="0" rIns="0" bIns="0" rtlCol="0" anchor="ctr"/>
          <a:lstStyle/>
          <a:p>
            <a:pPr marL="0" indent="0">
              <a:lnSpc>
                <a:spcPct val="120000"/>
              </a:lnSpc>
              <a:buNone/>
            </a:pPr>
            <a:r>
              <a:rPr lang="en-US" sz="950" dirty="0">
                <a:solidFill>
                  <a:srgbClr val="B3AAA0"/>
                </a:solidFill>
                <a:latin typeface="IBM Plex Sans" pitchFamily="34" charset="0"/>
                <a:ea typeface="IBM Plex Sans" pitchFamily="34" charset="-122"/>
                <a:cs typeface="IBM Plex Sans" pitchFamily="34" charset="-120"/>
              </a:rPr>
              <a:t>Un appui concret pour accompagner des usagers non-francophones lors des ateliers.</a:t>
            </a:r>
            <a:endParaRPr lang="en-US" sz="950" dirty="0"/>
          </a:p>
        </p:txBody>
      </p:sp>
      <p:sp>
        <p:nvSpPr>
          <p:cNvPr id="39" name="Text 30"/>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40" name="Text 3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8</a:t>
            </a:r>
            <a:endParaRPr lang="en-US" sz="900" dirty="0"/>
          </a:p>
        </p:txBody>
      </p:sp>
      <p:pic>
        <p:nvPicPr>
          <p:cNvPr id="42" name="Image 41">
            <a:extLst>
              <a:ext uri="{FF2B5EF4-FFF2-40B4-BE49-F238E27FC236}">
                <a16:creationId xmlns:a16="http://schemas.microsoft.com/office/drawing/2014/main" id="{04D0800F-C8D3-89DA-4976-43D9F6AFC512}"/>
              </a:ext>
            </a:extLst>
          </p:cNvPr>
          <p:cNvPicPr>
            <a:picLocks noChangeAspect="1"/>
          </p:cNvPicPr>
          <p:nvPr/>
        </p:nvPicPr>
        <p:blipFill>
          <a:blip r:embed="rId10"/>
          <a:stretch>
            <a:fillRect/>
          </a:stretch>
        </p:blipFill>
        <p:spPr>
          <a:xfrm>
            <a:off x="115778" y="68444"/>
            <a:ext cx="1048603" cy="10546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02920"/>
          </a:xfrm>
          <a:prstGeom prst="rect">
            <a:avLst/>
          </a:prstGeom>
          <a:noFill/>
          <a:ln/>
        </p:spPr>
        <p:txBody>
          <a:bodyPr wrap="square" lIns="0" tIns="0" rIns="0" bIns="0" rtlCol="0" anchor="ctr"/>
          <a:lstStyle/>
          <a:p>
            <a:pPr marL="0" indent="0">
              <a:buNone/>
            </a:pPr>
            <a:r>
              <a:rPr lang="en-US" sz="2600" b="1" dirty="0">
                <a:solidFill>
                  <a:srgbClr val="FAF6F0"/>
                </a:solidFill>
                <a:latin typeface="Space Grotesk" pitchFamily="34" charset="0"/>
                <a:ea typeface="Space Grotesk" pitchFamily="34" charset="-122"/>
                <a:cs typeface="Space Grotesk" pitchFamily="34" charset="-120"/>
              </a:rPr>
              <a:t>                                         </a:t>
            </a:r>
            <a:r>
              <a:rPr lang="en-US" sz="2600" b="1" dirty="0">
                <a:solidFill>
                  <a:srgbClr val="FF0000"/>
                </a:solidFill>
                <a:latin typeface="Space Grotesk" pitchFamily="34" charset="0"/>
                <a:ea typeface="Space Grotesk" pitchFamily="34" charset="-122"/>
                <a:cs typeface="Space Grotesk" pitchFamily="34" charset="-120"/>
              </a:rPr>
              <a:t>LES RISQUES ET CONSÉQUENCES</a:t>
            </a:r>
            <a:endParaRPr lang="en-US" sz="2600" dirty="0">
              <a:solidFill>
                <a:srgbClr val="FF0000"/>
              </a:solidFill>
            </a:endParaRPr>
          </a:p>
        </p:txBody>
      </p:sp>
      <p:sp>
        <p:nvSpPr>
          <p:cNvPr id="3" name="Text 1"/>
          <p:cNvSpPr/>
          <p:nvPr/>
        </p:nvSpPr>
        <p:spPr>
          <a:xfrm>
            <a:off x="640080" y="960120"/>
            <a:ext cx="8229600"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                                                                                                             Ce à quoi il faut faire attention</a:t>
            </a:r>
            <a:endParaRPr lang="en-US" sz="1250" dirty="0"/>
          </a:p>
        </p:txBody>
      </p:sp>
      <p:sp>
        <p:nvSpPr>
          <p:cNvPr id="4" name="Shape 2"/>
          <p:cNvSpPr/>
          <p:nvPr/>
        </p:nvSpPr>
        <p:spPr>
          <a:xfrm>
            <a:off x="77724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5" name="Shape 3"/>
          <p:cNvSpPr/>
          <p:nvPr/>
        </p:nvSpPr>
        <p:spPr>
          <a:xfrm>
            <a:off x="1005840" y="1828800"/>
            <a:ext cx="548640" cy="54864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1077163" y="1900123"/>
            <a:ext cx="405994" cy="405994"/>
          </a:xfrm>
          <a:prstGeom prst="rect">
            <a:avLst/>
          </a:prstGeom>
        </p:spPr>
      </p:pic>
      <p:sp>
        <p:nvSpPr>
          <p:cNvPr id="7" name="Text 4"/>
          <p:cNvSpPr/>
          <p:nvPr/>
        </p:nvSpPr>
        <p:spPr>
          <a:xfrm>
            <a:off x="1737360" y="180136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Désinformation</a:t>
            </a:r>
            <a:endParaRPr lang="en-US" sz="1300" dirty="0"/>
          </a:p>
        </p:txBody>
      </p:sp>
      <p:sp>
        <p:nvSpPr>
          <p:cNvPr id="8" name="Text 5"/>
          <p:cNvSpPr/>
          <p:nvPr/>
        </p:nvSpPr>
        <p:spPr>
          <a:xfrm>
            <a:off x="1005840" y="246888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Les IA peuvent inventer des faits avec assurance (« hallucinations ») ou générer de fausses images/vidéos crédibles.</a:t>
            </a:r>
            <a:endParaRPr lang="en-US" sz="1000" dirty="0"/>
          </a:p>
        </p:txBody>
      </p:sp>
      <p:sp>
        <p:nvSpPr>
          <p:cNvPr id="9" name="Shape 6"/>
          <p:cNvSpPr/>
          <p:nvPr/>
        </p:nvSpPr>
        <p:spPr>
          <a:xfrm>
            <a:off x="441960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0" name="Shape 7"/>
          <p:cNvSpPr/>
          <p:nvPr/>
        </p:nvSpPr>
        <p:spPr>
          <a:xfrm>
            <a:off x="4648200" y="1828800"/>
            <a:ext cx="548640" cy="54864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4719523" y="1900123"/>
            <a:ext cx="405994" cy="405994"/>
          </a:xfrm>
          <a:prstGeom prst="rect">
            <a:avLst/>
          </a:prstGeom>
        </p:spPr>
      </p:pic>
      <p:sp>
        <p:nvSpPr>
          <p:cNvPr id="12" name="Text 8"/>
          <p:cNvSpPr/>
          <p:nvPr/>
        </p:nvSpPr>
        <p:spPr>
          <a:xfrm>
            <a:off x="5379720" y="180136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Biais</a:t>
            </a:r>
            <a:endParaRPr lang="en-US" sz="1300" dirty="0"/>
          </a:p>
        </p:txBody>
      </p:sp>
      <p:sp>
        <p:nvSpPr>
          <p:cNvPr id="13" name="Text 9"/>
          <p:cNvSpPr/>
          <p:nvPr/>
        </p:nvSpPr>
        <p:spPr>
          <a:xfrm>
            <a:off x="4648200" y="246888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Une IA reproduit les biais présents dans ses données d'entraînement (genre, origine, stéréotypes).</a:t>
            </a:r>
            <a:endParaRPr lang="en-US" sz="1000" dirty="0"/>
          </a:p>
        </p:txBody>
      </p:sp>
      <p:sp>
        <p:nvSpPr>
          <p:cNvPr id="14" name="Shape 10"/>
          <p:cNvSpPr/>
          <p:nvPr/>
        </p:nvSpPr>
        <p:spPr>
          <a:xfrm>
            <a:off x="806196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5" name="Shape 11"/>
          <p:cNvSpPr/>
          <p:nvPr/>
        </p:nvSpPr>
        <p:spPr>
          <a:xfrm>
            <a:off x="8290560" y="1828800"/>
            <a:ext cx="548640" cy="54864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8361883" y="1900123"/>
            <a:ext cx="405994" cy="405994"/>
          </a:xfrm>
          <a:prstGeom prst="rect">
            <a:avLst/>
          </a:prstGeom>
        </p:spPr>
      </p:pic>
      <p:sp>
        <p:nvSpPr>
          <p:cNvPr id="17" name="Text 12"/>
          <p:cNvSpPr/>
          <p:nvPr/>
        </p:nvSpPr>
        <p:spPr>
          <a:xfrm>
            <a:off x="9022080" y="180136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Emploi</a:t>
            </a:r>
            <a:endParaRPr lang="en-US" sz="1300" dirty="0"/>
          </a:p>
        </p:txBody>
      </p:sp>
      <p:sp>
        <p:nvSpPr>
          <p:cNvPr id="18" name="Text 13"/>
          <p:cNvSpPr/>
          <p:nvPr/>
        </p:nvSpPr>
        <p:spPr>
          <a:xfrm>
            <a:off x="8290560" y="246888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Certaines tâches répétitives sont automatisées ; de nouveaux métiers émergent aussi.</a:t>
            </a:r>
            <a:endParaRPr lang="en-US" sz="1000" dirty="0"/>
          </a:p>
        </p:txBody>
      </p:sp>
      <p:sp>
        <p:nvSpPr>
          <p:cNvPr id="19" name="Shape 14"/>
          <p:cNvSpPr/>
          <p:nvPr/>
        </p:nvSpPr>
        <p:spPr>
          <a:xfrm>
            <a:off x="77724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20" name="Shape 15"/>
          <p:cNvSpPr/>
          <p:nvPr/>
        </p:nvSpPr>
        <p:spPr>
          <a:xfrm>
            <a:off x="1005840" y="4069080"/>
            <a:ext cx="548640" cy="548640"/>
          </a:xfrm>
          <a:prstGeom prst="roundRect">
            <a:avLst>
              <a:gd name="adj" fmla="val 22000"/>
            </a:avLst>
          </a:prstGeom>
          <a:solidFill>
            <a:srgbClr val="78C88C">
              <a:alpha val="30000"/>
            </a:srgbClr>
          </a:solidFill>
          <a:ln w="9525">
            <a:solidFill>
              <a:srgbClr val="78C88C">
                <a:alpha val="65000"/>
              </a:srgbClr>
            </a:solidFill>
            <a:prstDash val="solid"/>
          </a:ln>
        </p:spPr>
        <p:txBody>
          <a:bodyPr/>
          <a:lstStyle/>
          <a:p>
            <a:endParaRPr lang="fr-FR"/>
          </a:p>
        </p:txBody>
      </p:sp>
      <p:pic>
        <p:nvPicPr>
          <p:cNvPr id="21" name="Image 3" descr="preencoded.png"/>
          <p:cNvPicPr>
            <a:picLocks noChangeAspect="1"/>
          </p:cNvPicPr>
          <p:nvPr/>
        </p:nvPicPr>
        <p:blipFill>
          <a:blip r:embed="rId6"/>
          <a:stretch>
            <a:fillRect/>
          </a:stretch>
        </p:blipFill>
        <p:spPr>
          <a:xfrm>
            <a:off x="1077163" y="4140403"/>
            <a:ext cx="405994" cy="405994"/>
          </a:xfrm>
          <a:prstGeom prst="rect">
            <a:avLst/>
          </a:prstGeom>
        </p:spPr>
      </p:pic>
      <p:sp>
        <p:nvSpPr>
          <p:cNvPr id="22" name="Text 16"/>
          <p:cNvSpPr/>
          <p:nvPr/>
        </p:nvSpPr>
        <p:spPr>
          <a:xfrm>
            <a:off x="1737360" y="404164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Dépendance cognitive</a:t>
            </a:r>
            <a:endParaRPr lang="en-US" sz="1300" dirty="0"/>
          </a:p>
        </p:txBody>
      </p:sp>
      <p:sp>
        <p:nvSpPr>
          <p:cNvPr id="23" name="Text 17"/>
          <p:cNvSpPr/>
          <p:nvPr/>
        </p:nvSpPr>
        <p:spPr>
          <a:xfrm>
            <a:off x="1005840" y="470916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Utiliser l'IA pour tout peut affaiblir la mémoire, l'écriture et l'esprit critique si on ne varie pas les usages.</a:t>
            </a:r>
            <a:endParaRPr lang="en-US" sz="1000" dirty="0"/>
          </a:p>
        </p:txBody>
      </p:sp>
      <p:sp>
        <p:nvSpPr>
          <p:cNvPr id="24" name="Shape 18"/>
          <p:cNvSpPr/>
          <p:nvPr/>
        </p:nvSpPr>
        <p:spPr>
          <a:xfrm>
            <a:off x="441960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25" name="Shape 19"/>
          <p:cNvSpPr/>
          <p:nvPr/>
        </p:nvSpPr>
        <p:spPr>
          <a:xfrm>
            <a:off x="4648200" y="4069080"/>
            <a:ext cx="548640" cy="54864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26" name="Image 4" descr="preencoded.png"/>
          <p:cNvPicPr>
            <a:picLocks noChangeAspect="1"/>
          </p:cNvPicPr>
          <p:nvPr/>
        </p:nvPicPr>
        <p:blipFill>
          <a:blip r:embed="rId7"/>
          <a:stretch>
            <a:fillRect/>
          </a:stretch>
        </p:blipFill>
        <p:spPr>
          <a:xfrm>
            <a:off x="4719523" y="4140403"/>
            <a:ext cx="405994" cy="405994"/>
          </a:xfrm>
          <a:prstGeom prst="rect">
            <a:avLst/>
          </a:prstGeom>
        </p:spPr>
      </p:pic>
      <p:sp>
        <p:nvSpPr>
          <p:cNvPr id="27" name="Text 20"/>
          <p:cNvSpPr/>
          <p:nvPr/>
        </p:nvSpPr>
        <p:spPr>
          <a:xfrm>
            <a:off x="5379720" y="404164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Vie privée</a:t>
            </a:r>
            <a:endParaRPr lang="en-US" sz="1300" dirty="0"/>
          </a:p>
        </p:txBody>
      </p:sp>
      <p:sp>
        <p:nvSpPr>
          <p:cNvPr id="28" name="Text 21"/>
          <p:cNvSpPr/>
          <p:nvPr/>
        </p:nvSpPr>
        <p:spPr>
          <a:xfrm>
            <a:off x="4648200" y="470916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Les données saisies peuvent être conservées ou réutilisées : attention aux informations sensibles.</a:t>
            </a:r>
            <a:endParaRPr lang="en-US" sz="1000" dirty="0"/>
          </a:p>
        </p:txBody>
      </p:sp>
      <p:sp>
        <p:nvSpPr>
          <p:cNvPr id="29" name="Shape 22"/>
          <p:cNvSpPr/>
          <p:nvPr/>
        </p:nvSpPr>
        <p:spPr>
          <a:xfrm>
            <a:off x="806196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30" name="Shape 23"/>
          <p:cNvSpPr/>
          <p:nvPr/>
        </p:nvSpPr>
        <p:spPr>
          <a:xfrm>
            <a:off x="8290560" y="4069080"/>
            <a:ext cx="548640" cy="54864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31" name="Image 5" descr="preencoded.png"/>
          <p:cNvPicPr>
            <a:picLocks noChangeAspect="1"/>
          </p:cNvPicPr>
          <p:nvPr/>
        </p:nvPicPr>
        <p:blipFill>
          <a:blip r:embed="rId8"/>
          <a:stretch>
            <a:fillRect/>
          </a:stretch>
        </p:blipFill>
        <p:spPr>
          <a:xfrm>
            <a:off x="8361883" y="4140403"/>
            <a:ext cx="405994" cy="405994"/>
          </a:xfrm>
          <a:prstGeom prst="rect">
            <a:avLst/>
          </a:prstGeom>
        </p:spPr>
      </p:pic>
      <p:sp>
        <p:nvSpPr>
          <p:cNvPr id="32" name="Text 24"/>
          <p:cNvSpPr/>
          <p:nvPr/>
        </p:nvSpPr>
        <p:spPr>
          <a:xfrm>
            <a:off x="9022080" y="404164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Impact environnemental</a:t>
            </a:r>
            <a:endParaRPr lang="en-US" sz="1300" dirty="0"/>
          </a:p>
        </p:txBody>
      </p:sp>
      <p:sp>
        <p:nvSpPr>
          <p:cNvPr id="33" name="Text 25"/>
          <p:cNvSpPr/>
          <p:nvPr/>
        </p:nvSpPr>
        <p:spPr>
          <a:xfrm>
            <a:off x="8290560" y="470916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Ces modèles consomment énormément de ressources : ~415 TWh d'électricité (2024) et 560 milliards de litres d'eau (2023) pour les data centers mondiaux (source : AIE).</a:t>
            </a:r>
            <a:endParaRPr lang="en-US" sz="1000" dirty="0"/>
          </a:p>
        </p:txBody>
      </p:sp>
      <p:sp>
        <p:nvSpPr>
          <p:cNvPr id="34" name="Text 26"/>
          <p:cNvSpPr/>
          <p:nvPr/>
        </p:nvSpPr>
        <p:spPr>
          <a:xfrm>
            <a:off x="777240" y="5852160"/>
            <a:ext cx="10607040" cy="502920"/>
          </a:xfrm>
          <a:prstGeom prst="rect">
            <a:avLst/>
          </a:prstGeom>
          <a:noFill/>
          <a:ln/>
        </p:spPr>
        <p:txBody>
          <a:bodyPr wrap="square" lIns="0" tIns="0" rIns="0" bIns="0" rtlCol="0" anchor="ctr"/>
          <a:lstStyle/>
          <a:p>
            <a:pPr marL="0" indent="0" algn="ctr">
              <a:lnSpc>
                <a:spcPct val="120000"/>
              </a:lnSpc>
              <a:buNone/>
            </a:pPr>
            <a:r>
              <a:rPr lang="en-US" sz="950" i="1" u="sng" dirty="0">
                <a:solidFill>
                  <a:srgbClr val="FFFF00"/>
                </a:solidFill>
                <a:latin typeface="IBM Plex Sans" pitchFamily="34" charset="0"/>
                <a:ea typeface="IBM Plex Sans" pitchFamily="34" charset="-122"/>
                <a:cs typeface="IBM Plex Sans" pitchFamily="34" charset="-120"/>
              </a:rPr>
              <a:t>Repère chiffré : 415 TWh, c'est presque la consommation électrique annuelle de toute la France (449 TWh en 2024). Le vrai enjeu n'est pas la requête individuelle mais le volume — des milliards de requêtes par jour dans le monde.</a:t>
            </a:r>
            <a:endParaRPr lang="en-US" sz="950" u="sng" dirty="0">
              <a:solidFill>
                <a:srgbClr val="FFFF00"/>
              </a:solidFill>
            </a:endParaRPr>
          </a:p>
        </p:txBody>
      </p:sp>
      <p:sp>
        <p:nvSpPr>
          <p:cNvPr id="35" name="Text 27"/>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36" name="Text 28"/>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9</a:t>
            </a:r>
            <a:endParaRPr lang="en-US" sz="900" dirty="0"/>
          </a:p>
        </p:txBody>
      </p:sp>
      <p:pic>
        <p:nvPicPr>
          <p:cNvPr id="38" name="Image 37">
            <a:extLst>
              <a:ext uri="{FF2B5EF4-FFF2-40B4-BE49-F238E27FC236}">
                <a16:creationId xmlns:a16="http://schemas.microsoft.com/office/drawing/2014/main" id="{BA5EADDE-E49E-6EA7-E33C-70DB1B5BC55A}"/>
              </a:ext>
            </a:extLst>
          </p:cNvPr>
          <p:cNvPicPr>
            <a:picLocks noChangeAspect="1"/>
          </p:cNvPicPr>
          <p:nvPr/>
        </p:nvPicPr>
        <p:blipFill>
          <a:blip r:embed="rId9"/>
          <a:stretch>
            <a:fillRect/>
          </a:stretch>
        </p:blipFill>
        <p:spPr>
          <a:xfrm>
            <a:off x="115778" y="78342"/>
            <a:ext cx="1048603" cy="10546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4490997" y="173736"/>
            <a:ext cx="5943600" cy="292608"/>
          </a:xfrm>
          <a:prstGeom prst="rect">
            <a:avLst/>
          </a:prstGeom>
          <a:noFill/>
          <a:ln/>
        </p:spPr>
        <p:txBody>
          <a:bodyPr wrap="square" lIns="0" tIns="0" rIns="0" bIns="0" rtlCol="0" anchor="ctr"/>
          <a:lstStyle/>
          <a:p>
            <a:pPr marL="0" indent="0">
              <a:buNone/>
            </a:pPr>
            <a:r>
              <a:rPr lang="en-US" sz="1100" kern="0" spc="250" dirty="0">
                <a:solidFill>
                  <a:srgbClr val="D9A883"/>
                </a:solidFill>
                <a:latin typeface="IBM Plex Mono" pitchFamily="34" charset="0"/>
                <a:ea typeface="IBM Plex Mono" pitchFamily="34" charset="-122"/>
                <a:cs typeface="IBM Plex Mono" pitchFamily="34" charset="-120"/>
              </a:rPr>
              <a:t>PANORAMA IA  ·  ÉDITION 2026</a:t>
            </a:r>
            <a:endParaRPr lang="en-US" sz="1100" dirty="0"/>
          </a:p>
        </p:txBody>
      </p:sp>
      <p:sp>
        <p:nvSpPr>
          <p:cNvPr id="3" name="Text 1"/>
          <p:cNvSpPr/>
          <p:nvPr/>
        </p:nvSpPr>
        <p:spPr>
          <a:xfrm>
            <a:off x="0" y="1371600"/>
            <a:ext cx="12192000" cy="1737360"/>
          </a:xfrm>
          <a:prstGeom prst="rect">
            <a:avLst/>
          </a:prstGeom>
          <a:noFill/>
          <a:ln/>
        </p:spPr>
        <p:txBody>
          <a:bodyPr wrap="square" lIns="0" tIns="0" rIns="0" bIns="0" rtlCol="0" anchor="ctr"/>
          <a:lstStyle/>
          <a:p>
            <a:pPr marL="0" indent="0" algn="ctr">
              <a:lnSpc>
                <a:spcPct val="102000"/>
              </a:lnSpc>
              <a:buNone/>
            </a:pPr>
            <a:r>
              <a:rPr lang="en-US" sz="4000" b="1" dirty="0">
                <a:solidFill>
                  <a:srgbClr val="FF0000"/>
                </a:solidFill>
                <a:latin typeface="Space Grotesk" pitchFamily="34" charset="0"/>
                <a:ea typeface="Space Grotesk" pitchFamily="34" charset="-122"/>
                <a:cs typeface="Space Grotesk" pitchFamily="34" charset="-120"/>
              </a:rPr>
              <a:t>Panorama des IA</a:t>
            </a:r>
            <a:endParaRPr lang="en-US" sz="4000" dirty="0">
              <a:solidFill>
                <a:srgbClr val="FF0000"/>
              </a:solidFill>
            </a:endParaRPr>
          </a:p>
          <a:p>
            <a:pPr marL="0" indent="0" algn="ctr">
              <a:lnSpc>
                <a:spcPct val="102000"/>
              </a:lnSpc>
              <a:buNone/>
            </a:pPr>
            <a:r>
              <a:rPr lang="en-US" sz="4000" b="1" dirty="0">
                <a:solidFill>
                  <a:srgbClr val="FF0000"/>
                </a:solidFill>
                <a:latin typeface="Space Grotesk" pitchFamily="34" charset="0"/>
                <a:ea typeface="Space Grotesk" pitchFamily="34" charset="-122"/>
                <a:cs typeface="Space Grotesk" pitchFamily="34" charset="-120"/>
              </a:rPr>
              <a:t>existantes</a:t>
            </a:r>
            <a:endParaRPr lang="en-US" sz="4000" dirty="0">
              <a:solidFill>
                <a:srgbClr val="FF0000"/>
              </a:solidFill>
            </a:endParaRPr>
          </a:p>
        </p:txBody>
      </p:sp>
      <p:sp>
        <p:nvSpPr>
          <p:cNvPr id="4" name="Text 2"/>
          <p:cNvSpPr/>
          <p:nvPr/>
        </p:nvSpPr>
        <p:spPr>
          <a:xfrm>
            <a:off x="640080" y="3017520"/>
            <a:ext cx="8686800" cy="822960"/>
          </a:xfrm>
          <a:prstGeom prst="rect">
            <a:avLst/>
          </a:prstGeom>
          <a:noFill/>
          <a:ln/>
        </p:spPr>
        <p:txBody>
          <a:bodyPr wrap="square" lIns="0" tIns="0" rIns="0" bIns="0" rtlCol="0" anchor="ctr"/>
          <a:lstStyle/>
          <a:p>
            <a:pPr marL="0" indent="0">
              <a:lnSpc>
                <a:spcPct val="130000"/>
              </a:lnSpc>
              <a:buNone/>
            </a:pPr>
            <a:r>
              <a:rPr lang="en-US" sz="1400" dirty="0">
                <a:solidFill>
                  <a:srgbClr val="A89F95"/>
                </a:solidFill>
                <a:latin typeface="IBM Plex Sans" pitchFamily="34" charset="0"/>
                <a:ea typeface="IBM Plex Sans" pitchFamily="34" charset="-122"/>
                <a:cs typeface="IBM Plex Sans" pitchFamily="34" charset="-120"/>
              </a:rPr>
              <a:t>Un tour d'horizon des principaux outils par usage — texte, image, vidéo,</a:t>
            </a:r>
            <a:endParaRPr lang="en-US" sz="1400" dirty="0"/>
          </a:p>
          <a:p>
            <a:pPr marL="0" indent="0">
              <a:lnSpc>
                <a:spcPct val="130000"/>
              </a:lnSpc>
              <a:buNone/>
            </a:pPr>
            <a:r>
              <a:rPr lang="en-US" sz="1400" dirty="0">
                <a:solidFill>
                  <a:srgbClr val="A89F95"/>
                </a:solidFill>
                <a:latin typeface="IBM Plex Sans" pitchFamily="34" charset="0"/>
                <a:ea typeface="IBM Plex Sans" pitchFamily="34" charset="-122"/>
                <a:cs typeface="IBM Plex Sans" pitchFamily="34" charset="-120"/>
              </a:rPr>
              <a:t>musique et voix — avec leur fonction principale et leur modèle d'accès.</a:t>
            </a:r>
            <a:endParaRPr lang="en-US" sz="1400" dirty="0"/>
          </a:p>
        </p:txBody>
      </p:sp>
      <p:sp>
        <p:nvSpPr>
          <p:cNvPr id="5" name="Text 3"/>
          <p:cNvSpPr/>
          <p:nvPr/>
        </p:nvSpPr>
        <p:spPr>
          <a:xfrm>
            <a:off x="8961120" y="320040"/>
            <a:ext cx="2560320" cy="777240"/>
          </a:xfrm>
          <a:prstGeom prst="rect">
            <a:avLst/>
          </a:prstGeom>
          <a:noFill/>
          <a:ln/>
        </p:spPr>
        <p:txBody>
          <a:bodyPr wrap="square" lIns="0" tIns="0" rIns="0" bIns="0" rtlCol="0" anchor="ctr"/>
          <a:lstStyle/>
          <a:p>
            <a:pPr marL="0" indent="0">
              <a:buNone/>
            </a:pPr>
            <a:r>
              <a:rPr lang="en-US" sz="4400" b="1" dirty="0">
                <a:solidFill>
                  <a:srgbClr val="F0965A"/>
                </a:solidFill>
                <a:latin typeface="Space Grotesk" pitchFamily="34" charset="0"/>
                <a:ea typeface="Space Grotesk" pitchFamily="34" charset="-122"/>
                <a:cs typeface="Space Grotesk" pitchFamily="34" charset="-120"/>
              </a:rPr>
              <a:t>         5</a:t>
            </a:r>
            <a:endParaRPr lang="en-US" sz="4400" dirty="0"/>
          </a:p>
        </p:txBody>
      </p:sp>
      <p:sp>
        <p:nvSpPr>
          <p:cNvPr id="6" name="Text 4"/>
          <p:cNvSpPr/>
          <p:nvPr/>
        </p:nvSpPr>
        <p:spPr>
          <a:xfrm>
            <a:off x="8440190" y="1051560"/>
            <a:ext cx="2560320" cy="502920"/>
          </a:xfrm>
          <a:prstGeom prst="rect">
            <a:avLst/>
          </a:prstGeom>
          <a:noFill/>
          <a:ln/>
        </p:spPr>
        <p:txBody>
          <a:bodyPr wrap="square" lIns="0" tIns="0" rIns="0" bIns="0" rtlCol="0" anchor="ctr"/>
          <a:lstStyle/>
          <a:p>
            <a:pPr marL="0" indent="0" algn="r">
              <a:lnSpc>
                <a:spcPct val="120000"/>
              </a:lnSpc>
              <a:buNone/>
            </a:pPr>
            <a:r>
              <a:rPr lang="en-US" sz="950" kern="0" spc="120" dirty="0">
                <a:solidFill>
                  <a:srgbClr val="9A9089"/>
                </a:solidFill>
                <a:latin typeface="IBM Plex Mono" pitchFamily="34" charset="0"/>
                <a:ea typeface="IBM Plex Mono" pitchFamily="34" charset="-122"/>
                <a:cs typeface="IBM Plex Mono" pitchFamily="34" charset="-120"/>
              </a:rPr>
              <a:t>CATÉGORIES</a:t>
            </a:r>
            <a:r>
              <a:rPr lang="en-US" sz="950" dirty="0"/>
              <a:t> </a:t>
            </a:r>
            <a:r>
              <a:rPr lang="en-US" sz="950" kern="0" spc="120" dirty="0">
                <a:solidFill>
                  <a:srgbClr val="9A9089"/>
                </a:solidFill>
                <a:latin typeface="IBM Plex Mono" pitchFamily="34" charset="0"/>
                <a:ea typeface="IBM Plex Mono" pitchFamily="34" charset="-122"/>
                <a:cs typeface="IBM Plex Mono" pitchFamily="34" charset="-120"/>
              </a:rPr>
              <a:t>D'USAGE</a:t>
            </a:r>
            <a:endParaRPr lang="en-US" sz="950" dirty="0"/>
          </a:p>
        </p:txBody>
      </p:sp>
      <p:sp>
        <p:nvSpPr>
          <p:cNvPr id="7" name="Shape 5"/>
          <p:cNvSpPr/>
          <p:nvPr/>
        </p:nvSpPr>
        <p:spPr>
          <a:xfrm>
            <a:off x="640080" y="3886200"/>
            <a:ext cx="10881360" cy="0"/>
          </a:xfrm>
          <a:prstGeom prst="line">
            <a:avLst/>
          </a:prstGeom>
          <a:noFill/>
          <a:ln w="12700">
            <a:solidFill>
              <a:srgbClr val="37312A"/>
            </a:solidFill>
            <a:prstDash val="solid"/>
          </a:ln>
        </p:spPr>
        <p:txBody>
          <a:bodyPr/>
          <a:lstStyle/>
          <a:p>
            <a:endParaRPr lang="fr-FR"/>
          </a:p>
        </p:txBody>
      </p:sp>
      <p:sp>
        <p:nvSpPr>
          <p:cNvPr id="8" name="Shape 6"/>
          <p:cNvSpPr/>
          <p:nvPr/>
        </p:nvSpPr>
        <p:spPr>
          <a:xfrm>
            <a:off x="640080" y="4160520"/>
            <a:ext cx="329184" cy="329184"/>
          </a:xfrm>
          <a:prstGeom prst="roundRect">
            <a:avLst>
              <a:gd name="adj" fmla="val 26000"/>
            </a:avLst>
          </a:prstGeom>
          <a:solidFill>
            <a:srgbClr val="78B4DC">
              <a:alpha val="28000"/>
            </a:srgbClr>
          </a:solidFill>
          <a:ln/>
        </p:spPr>
        <p:txBody>
          <a:bodyPr/>
          <a:lstStyle/>
          <a:p>
            <a:endParaRPr lang="fr-FR"/>
          </a:p>
        </p:txBody>
      </p:sp>
      <p:sp>
        <p:nvSpPr>
          <p:cNvPr id="9" name="Shape 7"/>
          <p:cNvSpPr/>
          <p:nvPr/>
        </p:nvSpPr>
        <p:spPr>
          <a:xfrm>
            <a:off x="745419" y="4265859"/>
            <a:ext cx="118506" cy="118506"/>
          </a:xfrm>
          <a:prstGeom prst="roundRect">
            <a:avLst>
              <a:gd name="adj" fmla="val 25000"/>
            </a:avLst>
          </a:prstGeom>
          <a:solidFill>
            <a:srgbClr val="78B4DC"/>
          </a:solidFill>
          <a:ln/>
        </p:spPr>
        <p:txBody>
          <a:bodyPr/>
          <a:lstStyle/>
          <a:p>
            <a:endParaRPr lang="fr-FR"/>
          </a:p>
        </p:txBody>
      </p:sp>
      <p:sp>
        <p:nvSpPr>
          <p:cNvPr id="10" name="Text 8"/>
          <p:cNvSpPr/>
          <p:nvPr/>
        </p:nvSpPr>
        <p:spPr>
          <a:xfrm>
            <a:off x="1097280" y="4160520"/>
            <a:ext cx="1627632" cy="329184"/>
          </a:xfrm>
          <a:prstGeom prst="rect">
            <a:avLst/>
          </a:prstGeom>
          <a:noFill/>
          <a:ln/>
        </p:spPr>
        <p:txBody>
          <a:bodyPr wrap="square" lIns="0" tIns="0" rIns="0" bIns="0" rtlCol="0" anchor="ctr"/>
          <a:lstStyle/>
          <a:p>
            <a:pPr marL="0" indent="0">
              <a:buNone/>
            </a:pPr>
            <a:r>
              <a:rPr lang="en-US" sz="1000" kern="0" spc="150" dirty="0">
                <a:solidFill>
                  <a:srgbClr val="9A9089"/>
                </a:solidFill>
                <a:latin typeface="IBM Plex Mono" pitchFamily="34" charset="0"/>
                <a:ea typeface="IBM Plex Mono" pitchFamily="34" charset="-122"/>
                <a:cs typeface="IBM Plex Mono" pitchFamily="34" charset="-120"/>
              </a:rPr>
              <a:t>01</a:t>
            </a:r>
            <a:endParaRPr lang="en-US" sz="1000" dirty="0"/>
          </a:p>
        </p:txBody>
      </p:sp>
      <p:sp>
        <p:nvSpPr>
          <p:cNvPr id="11" name="Text 9"/>
          <p:cNvSpPr/>
          <p:nvPr/>
        </p:nvSpPr>
        <p:spPr>
          <a:xfrm>
            <a:off x="640080" y="4617720"/>
            <a:ext cx="1947672" cy="365760"/>
          </a:xfrm>
          <a:prstGeom prst="rect">
            <a:avLst/>
          </a:prstGeom>
          <a:noFill/>
          <a:ln/>
        </p:spPr>
        <p:txBody>
          <a:bodyPr wrap="square" lIns="0" tIns="0" rIns="0" bIns="0" rtlCol="0" anchor="ctr"/>
          <a:lstStyle/>
          <a:p>
            <a:pPr marL="0" indent="0">
              <a:buNone/>
            </a:pPr>
            <a:r>
              <a:rPr lang="en-US" sz="1500" b="1" dirty="0">
                <a:solidFill>
                  <a:srgbClr val="00B0F0"/>
                </a:solidFill>
                <a:latin typeface="Space Grotesk" pitchFamily="34" charset="0"/>
                <a:ea typeface="Space Grotesk" pitchFamily="34" charset="-122"/>
                <a:cs typeface="Space Grotesk" pitchFamily="34" charset="-120"/>
              </a:rPr>
              <a:t>Texte</a:t>
            </a:r>
            <a:endParaRPr lang="en-US" sz="1500" dirty="0">
              <a:solidFill>
                <a:srgbClr val="00B0F0"/>
              </a:solidFill>
            </a:endParaRPr>
          </a:p>
        </p:txBody>
      </p:sp>
      <p:sp>
        <p:nvSpPr>
          <p:cNvPr id="12" name="Text 10"/>
          <p:cNvSpPr/>
          <p:nvPr/>
        </p:nvSpPr>
        <p:spPr>
          <a:xfrm>
            <a:off x="640080" y="5010912"/>
            <a:ext cx="1901952" cy="502920"/>
          </a:xfrm>
          <a:prstGeom prst="rect">
            <a:avLst/>
          </a:prstGeom>
          <a:noFill/>
          <a:ln/>
        </p:spPr>
        <p:txBody>
          <a:bodyPr wrap="square" lIns="0" tIns="0" rIns="0" bIns="0" rtlCol="0" anchor="ctr"/>
          <a:lstStyle/>
          <a:p>
            <a:pPr marL="0" indent="0">
              <a:lnSpc>
                <a:spcPct val="115000"/>
              </a:lnSpc>
              <a:buNone/>
            </a:pPr>
            <a:r>
              <a:rPr lang="en-US" sz="950" dirty="0">
                <a:solidFill>
                  <a:srgbClr val="A89F95"/>
                </a:solidFill>
                <a:latin typeface="IBM Plex Sans" pitchFamily="34" charset="0"/>
                <a:ea typeface="IBM Plex Sans" pitchFamily="34" charset="-122"/>
                <a:cs typeface="IBM Plex Sans" pitchFamily="34" charset="-120"/>
              </a:rPr>
              <a:t>Chatbots &amp; rédaction</a:t>
            </a:r>
            <a:endParaRPr lang="en-US" sz="950" dirty="0"/>
          </a:p>
        </p:txBody>
      </p:sp>
      <p:sp>
        <p:nvSpPr>
          <p:cNvPr id="13" name="Shape 11"/>
          <p:cNvSpPr/>
          <p:nvPr/>
        </p:nvSpPr>
        <p:spPr>
          <a:xfrm>
            <a:off x="2816352" y="4160520"/>
            <a:ext cx="329184" cy="329184"/>
          </a:xfrm>
          <a:prstGeom prst="roundRect">
            <a:avLst>
              <a:gd name="adj" fmla="val 26000"/>
            </a:avLst>
          </a:prstGeom>
          <a:solidFill>
            <a:srgbClr val="F0965A">
              <a:alpha val="28000"/>
            </a:srgbClr>
          </a:solidFill>
          <a:ln/>
        </p:spPr>
        <p:txBody>
          <a:bodyPr/>
          <a:lstStyle/>
          <a:p>
            <a:endParaRPr lang="fr-FR"/>
          </a:p>
        </p:txBody>
      </p:sp>
      <p:sp>
        <p:nvSpPr>
          <p:cNvPr id="14" name="Shape 12"/>
          <p:cNvSpPr/>
          <p:nvPr/>
        </p:nvSpPr>
        <p:spPr>
          <a:xfrm>
            <a:off x="2921691" y="4265859"/>
            <a:ext cx="118506" cy="118506"/>
          </a:xfrm>
          <a:prstGeom prst="roundRect">
            <a:avLst>
              <a:gd name="adj" fmla="val 25000"/>
            </a:avLst>
          </a:prstGeom>
          <a:solidFill>
            <a:srgbClr val="F0965A"/>
          </a:solidFill>
          <a:ln/>
        </p:spPr>
        <p:txBody>
          <a:bodyPr/>
          <a:lstStyle/>
          <a:p>
            <a:endParaRPr lang="fr-FR"/>
          </a:p>
        </p:txBody>
      </p:sp>
      <p:sp>
        <p:nvSpPr>
          <p:cNvPr id="15" name="Text 13"/>
          <p:cNvSpPr/>
          <p:nvPr/>
        </p:nvSpPr>
        <p:spPr>
          <a:xfrm>
            <a:off x="3273552" y="4160520"/>
            <a:ext cx="1627632" cy="329184"/>
          </a:xfrm>
          <a:prstGeom prst="rect">
            <a:avLst/>
          </a:prstGeom>
          <a:noFill/>
          <a:ln/>
        </p:spPr>
        <p:txBody>
          <a:bodyPr wrap="square" lIns="0" tIns="0" rIns="0" bIns="0" rtlCol="0" anchor="ctr"/>
          <a:lstStyle/>
          <a:p>
            <a:pPr marL="0" indent="0">
              <a:buNone/>
            </a:pPr>
            <a:r>
              <a:rPr lang="en-US" sz="1000" kern="0" spc="150" dirty="0">
                <a:solidFill>
                  <a:srgbClr val="9A9089"/>
                </a:solidFill>
                <a:latin typeface="IBM Plex Mono" pitchFamily="34" charset="0"/>
                <a:ea typeface="IBM Plex Mono" pitchFamily="34" charset="-122"/>
                <a:cs typeface="IBM Plex Mono" pitchFamily="34" charset="-120"/>
              </a:rPr>
              <a:t>02</a:t>
            </a:r>
            <a:endParaRPr lang="en-US" sz="1000" dirty="0"/>
          </a:p>
        </p:txBody>
      </p:sp>
      <p:sp>
        <p:nvSpPr>
          <p:cNvPr id="16" name="Text 14"/>
          <p:cNvSpPr/>
          <p:nvPr/>
        </p:nvSpPr>
        <p:spPr>
          <a:xfrm>
            <a:off x="2816352" y="4617720"/>
            <a:ext cx="1947672" cy="365760"/>
          </a:xfrm>
          <a:prstGeom prst="rect">
            <a:avLst/>
          </a:prstGeom>
          <a:noFill/>
          <a:ln/>
        </p:spPr>
        <p:txBody>
          <a:bodyPr wrap="square" lIns="0" tIns="0" rIns="0" bIns="0" rtlCol="0" anchor="ctr"/>
          <a:lstStyle/>
          <a:p>
            <a:pPr marL="0" indent="0">
              <a:buNone/>
            </a:pPr>
            <a:r>
              <a:rPr lang="en-US" sz="1500" b="1" dirty="0">
                <a:solidFill>
                  <a:schemeClr val="accent2">
                    <a:lumMod val="75000"/>
                  </a:schemeClr>
                </a:solidFill>
                <a:latin typeface="Space Grotesk" pitchFamily="34" charset="0"/>
                <a:ea typeface="Space Grotesk" pitchFamily="34" charset="-122"/>
                <a:cs typeface="Space Grotesk" pitchFamily="34" charset="-120"/>
              </a:rPr>
              <a:t>Image</a:t>
            </a:r>
            <a:endParaRPr lang="en-US" sz="1500" dirty="0">
              <a:solidFill>
                <a:schemeClr val="accent2">
                  <a:lumMod val="75000"/>
                </a:schemeClr>
              </a:solidFill>
            </a:endParaRPr>
          </a:p>
        </p:txBody>
      </p:sp>
      <p:sp>
        <p:nvSpPr>
          <p:cNvPr id="17" name="Text 15"/>
          <p:cNvSpPr/>
          <p:nvPr/>
        </p:nvSpPr>
        <p:spPr>
          <a:xfrm>
            <a:off x="2816352" y="5010912"/>
            <a:ext cx="1901952" cy="502920"/>
          </a:xfrm>
          <a:prstGeom prst="rect">
            <a:avLst/>
          </a:prstGeom>
          <a:noFill/>
          <a:ln/>
        </p:spPr>
        <p:txBody>
          <a:bodyPr wrap="square" lIns="0" tIns="0" rIns="0" bIns="0" rtlCol="0" anchor="ctr"/>
          <a:lstStyle/>
          <a:p>
            <a:pPr marL="0" indent="0">
              <a:lnSpc>
                <a:spcPct val="115000"/>
              </a:lnSpc>
              <a:buNone/>
            </a:pPr>
            <a:r>
              <a:rPr lang="en-US" sz="950" dirty="0">
                <a:solidFill>
                  <a:srgbClr val="A89F95"/>
                </a:solidFill>
                <a:latin typeface="IBM Plex Sans" pitchFamily="34" charset="0"/>
                <a:ea typeface="IBM Plex Sans" pitchFamily="34" charset="-122"/>
                <a:cs typeface="IBM Plex Sans" pitchFamily="34" charset="-120"/>
              </a:rPr>
              <a:t>Création visuelle</a:t>
            </a:r>
            <a:endParaRPr lang="en-US" sz="950" dirty="0"/>
          </a:p>
        </p:txBody>
      </p:sp>
      <p:sp>
        <p:nvSpPr>
          <p:cNvPr id="18" name="Shape 16"/>
          <p:cNvSpPr/>
          <p:nvPr/>
        </p:nvSpPr>
        <p:spPr>
          <a:xfrm>
            <a:off x="4992624" y="4160520"/>
            <a:ext cx="329184" cy="329184"/>
          </a:xfrm>
          <a:prstGeom prst="roundRect">
            <a:avLst>
              <a:gd name="adj" fmla="val 26000"/>
            </a:avLst>
          </a:prstGeom>
          <a:solidFill>
            <a:srgbClr val="C896DC">
              <a:alpha val="28000"/>
            </a:srgbClr>
          </a:solidFill>
          <a:ln/>
        </p:spPr>
        <p:txBody>
          <a:bodyPr/>
          <a:lstStyle/>
          <a:p>
            <a:endParaRPr lang="fr-FR"/>
          </a:p>
        </p:txBody>
      </p:sp>
      <p:sp>
        <p:nvSpPr>
          <p:cNvPr id="19" name="Shape 17"/>
          <p:cNvSpPr/>
          <p:nvPr/>
        </p:nvSpPr>
        <p:spPr>
          <a:xfrm>
            <a:off x="5097963" y="4265859"/>
            <a:ext cx="118506" cy="118506"/>
          </a:xfrm>
          <a:prstGeom prst="roundRect">
            <a:avLst>
              <a:gd name="adj" fmla="val 25000"/>
            </a:avLst>
          </a:prstGeom>
          <a:solidFill>
            <a:srgbClr val="C896DC"/>
          </a:solidFill>
          <a:ln/>
        </p:spPr>
        <p:txBody>
          <a:bodyPr/>
          <a:lstStyle/>
          <a:p>
            <a:endParaRPr lang="fr-FR"/>
          </a:p>
        </p:txBody>
      </p:sp>
      <p:sp>
        <p:nvSpPr>
          <p:cNvPr id="20" name="Text 18"/>
          <p:cNvSpPr/>
          <p:nvPr/>
        </p:nvSpPr>
        <p:spPr>
          <a:xfrm>
            <a:off x="5449824" y="4160520"/>
            <a:ext cx="1627632" cy="329184"/>
          </a:xfrm>
          <a:prstGeom prst="rect">
            <a:avLst/>
          </a:prstGeom>
          <a:noFill/>
          <a:ln/>
        </p:spPr>
        <p:txBody>
          <a:bodyPr wrap="square" lIns="0" tIns="0" rIns="0" bIns="0" rtlCol="0" anchor="ctr"/>
          <a:lstStyle/>
          <a:p>
            <a:pPr marL="0" indent="0">
              <a:buNone/>
            </a:pPr>
            <a:r>
              <a:rPr lang="en-US" sz="1000" kern="0" spc="150" dirty="0">
                <a:solidFill>
                  <a:srgbClr val="9A9089"/>
                </a:solidFill>
                <a:latin typeface="IBM Plex Mono" pitchFamily="34" charset="0"/>
                <a:ea typeface="IBM Plex Mono" pitchFamily="34" charset="-122"/>
                <a:cs typeface="IBM Plex Mono" pitchFamily="34" charset="-120"/>
              </a:rPr>
              <a:t>03</a:t>
            </a:r>
            <a:endParaRPr lang="en-US" sz="1000" dirty="0"/>
          </a:p>
        </p:txBody>
      </p:sp>
      <p:sp>
        <p:nvSpPr>
          <p:cNvPr id="21" name="Text 19"/>
          <p:cNvSpPr/>
          <p:nvPr/>
        </p:nvSpPr>
        <p:spPr>
          <a:xfrm>
            <a:off x="4992624" y="4617720"/>
            <a:ext cx="1947672" cy="365760"/>
          </a:xfrm>
          <a:prstGeom prst="rect">
            <a:avLst/>
          </a:prstGeom>
          <a:noFill/>
          <a:ln/>
        </p:spPr>
        <p:txBody>
          <a:bodyPr wrap="square" lIns="0" tIns="0" rIns="0" bIns="0" rtlCol="0" anchor="ctr"/>
          <a:lstStyle/>
          <a:p>
            <a:pPr marL="0" indent="0">
              <a:buNone/>
            </a:pPr>
            <a:r>
              <a:rPr lang="en-US" sz="1500" b="1" dirty="0">
                <a:solidFill>
                  <a:srgbClr val="7030A0"/>
                </a:solidFill>
                <a:latin typeface="Space Grotesk" pitchFamily="34" charset="0"/>
                <a:ea typeface="Space Grotesk" pitchFamily="34" charset="-122"/>
                <a:cs typeface="Space Grotesk" pitchFamily="34" charset="-120"/>
              </a:rPr>
              <a:t>Vidéo</a:t>
            </a:r>
            <a:endParaRPr lang="en-US" sz="1500" dirty="0">
              <a:solidFill>
                <a:srgbClr val="7030A0"/>
              </a:solidFill>
            </a:endParaRPr>
          </a:p>
        </p:txBody>
      </p:sp>
      <p:sp>
        <p:nvSpPr>
          <p:cNvPr id="22" name="Text 20"/>
          <p:cNvSpPr/>
          <p:nvPr/>
        </p:nvSpPr>
        <p:spPr>
          <a:xfrm>
            <a:off x="4992624" y="5010912"/>
            <a:ext cx="1901952" cy="502920"/>
          </a:xfrm>
          <a:prstGeom prst="rect">
            <a:avLst/>
          </a:prstGeom>
          <a:noFill/>
          <a:ln/>
        </p:spPr>
        <p:txBody>
          <a:bodyPr wrap="square" lIns="0" tIns="0" rIns="0" bIns="0" rtlCol="0" anchor="ctr"/>
          <a:lstStyle/>
          <a:p>
            <a:pPr marL="0" indent="0">
              <a:lnSpc>
                <a:spcPct val="115000"/>
              </a:lnSpc>
              <a:buNone/>
            </a:pPr>
            <a:r>
              <a:rPr lang="en-US" sz="950" dirty="0">
                <a:solidFill>
                  <a:srgbClr val="A89F95"/>
                </a:solidFill>
                <a:latin typeface="IBM Plex Sans" pitchFamily="34" charset="0"/>
                <a:ea typeface="IBM Plex Sans" pitchFamily="34" charset="-122"/>
                <a:cs typeface="IBM Plex Sans" pitchFamily="34" charset="-120"/>
              </a:rPr>
              <a:t>Génération de séquences</a:t>
            </a:r>
            <a:endParaRPr lang="en-US" sz="950" dirty="0"/>
          </a:p>
        </p:txBody>
      </p:sp>
      <p:sp>
        <p:nvSpPr>
          <p:cNvPr id="23" name="Shape 21"/>
          <p:cNvSpPr/>
          <p:nvPr/>
        </p:nvSpPr>
        <p:spPr>
          <a:xfrm>
            <a:off x="7168896" y="4160520"/>
            <a:ext cx="329184" cy="329184"/>
          </a:xfrm>
          <a:prstGeom prst="roundRect">
            <a:avLst>
              <a:gd name="adj" fmla="val 26000"/>
            </a:avLst>
          </a:prstGeom>
          <a:solidFill>
            <a:srgbClr val="E6C86E">
              <a:alpha val="28000"/>
            </a:srgbClr>
          </a:solidFill>
          <a:ln/>
        </p:spPr>
        <p:txBody>
          <a:bodyPr/>
          <a:lstStyle/>
          <a:p>
            <a:endParaRPr lang="fr-FR"/>
          </a:p>
        </p:txBody>
      </p:sp>
      <p:sp>
        <p:nvSpPr>
          <p:cNvPr id="24" name="Shape 22"/>
          <p:cNvSpPr/>
          <p:nvPr/>
        </p:nvSpPr>
        <p:spPr>
          <a:xfrm>
            <a:off x="7274235" y="4265859"/>
            <a:ext cx="118506" cy="118506"/>
          </a:xfrm>
          <a:prstGeom prst="roundRect">
            <a:avLst>
              <a:gd name="adj" fmla="val 25000"/>
            </a:avLst>
          </a:prstGeom>
          <a:solidFill>
            <a:srgbClr val="E6C86E"/>
          </a:solidFill>
          <a:ln/>
        </p:spPr>
        <p:txBody>
          <a:bodyPr/>
          <a:lstStyle/>
          <a:p>
            <a:endParaRPr lang="fr-FR"/>
          </a:p>
        </p:txBody>
      </p:sp>
      <p:sp>
        <p:nvSpPr>
          <p:cNvPr id="25" name="Text 23"/>
          <p:cNvSpPr/>
          <p:nvPr/>
        </p:nvSpPr>
        <p:spPr>
          <a:xfrm>
            <a:off x="7626096" y="4160520"/>
            <a:ext cx="1627632" cy="329184"/>
          </a:xfrm>
          <a:prstGeom prst="rect">
            <a:avLst/>
          </a:prstGeom>
          <a:noFill/>
          <a:ln/>
        </p:spPr>
        <p:txBody>
          <a:bodyPr wrap="square" lIns="0" tIns="0" rIns="0" bIns="0" rtlCol="0" anchor="ctr"/>
          <a:lstStyle/>
          <a:p>
            <a:pPr marL="0" indent="0">
              <a:buNone/>
            </a:pPr>
            <a:r>
              <a:rPr lang="en-US" sz="1000" kern="0" spc="150" dirty="0">
                <a:solidFill>
                  <a:srgbClr val="9A9089"/>
                </a:solidFill>
                <a:latin typeface="IBM Plex Mono" pitchFamily="34" charset="0"/>
                <a:ea typeface="IBM Plex Mono" pitchFamily="34" charset="-122"/>
                <a:cs typeface="IBM Plex Mono" pitchFamily="34" charset="-120"/>
              </a:rPr>
              <a:t>04</a:t>
            </a:r>
            <a:endParaRPr lang="en-US" sz="1000" dirty="0"/>
          </a:p>
        </p:txBody>
      </p:sp>
      <p:sp>
        <p:nvSpPr>
          <p:cNvPr id="26" name="Text 24"/>
          <p:cNvSpPr/>
          <p:nvPr/>
        </p:nvSpPr>
        <p:spPr>
          <a:xfrm>
            <a:off x="7168896" y="4617720"/>
            <a:ext cx="1947672" cy="365760"/>
          </a:xfrm>
          <a:prstGeom prst="rect">
            <a:avLst/>
          </a:prstGeom>
          <a:noFill/>
          <a:ln/>
        </p:spPr>
        <p:txBody>
          <a:bodyPr wrap="square" lIns="0" tIns="0" rIns="0" bIns="0" rtlCol="0" anchor="ctr"/>
          <a:lstStyle/>
          <a:p>
            <a:pPr marL="0" indent="0">
              <a:buNone/>
            </a:pPr>
            <a:r>
              <a:rPr lang="en-US" sz="1500" b="1" dirty="0">
                <a:solidFill>
                  <a:srgbClr val="FFFF00"/>
                </a:solidFill>
                <a:latin typeface="Space Grotesk" pitchFamily="34" charset="0"/>
                <a:ea typeface="Space Grotesk" pitchFamily="34" charset="-122"/>
                <a:cs typeface="Space Grotesk" pitchFamily="34" charset="-120"/>
              </a:rPr>
              <a:t>Musique</a:t>
            </a:r>
            <a:endParaRPr lang="en-US" sz="1500" dirty="0">
              <a:solidFill>
                <a:srgbClr val="FFFF00"/>
              </a:solidFill>
            </a:endParaRPr>
          </a:p>
        </p:txBody>
      </p:sp>
      <p:sp>
        <p:nvSpPr>
          <p:cNvPr id="27" name="Text 25"/>
          <p:cNvSpPr/>
          <p:nvPr/>
        </p:nvSpPr>
        <p:spPr>
          <a:xfrm>
            <a:off x="7168896" y="5010912"/>
            <a:ext cx="1901952" cy="502920"/>
          </a:xfrm>
          <a:prstGeom prst="rect">
            <a:avLst/>
          </a:prstGeom>
          <a:noFill/>
          <a:ln/>
        </p:spPr>
        <p:txBody>
          <a:bodyPr wrap="square" lIns="0" tIns="0" rIns="0" bIns="0" rtlCol="0" anchor="ctr"/>
          <a:lstStyle/>
          <a:p>
            <a:pPr marL="0" indent="0">
              <a:lnSpc>
                <a:spcPct val="115000"/>
              </a:lnSpc>
              <a:buNone/>
            </a:pPr>
            <a:r>
              <a:rPr lang="en-US" sz="950" dirty="0">
                <a:solidFill>
                  <a:srgbClr val="A89F95"/>
                </a:solidFill>
                <a:latin typeface="IBM Plex Sans" pitchFamily="34" charset="0"/>
                <a:ea typeface="IBM Plex Sans" pitchFamily="34" charset="-122"/>
                <a:cs typeface="IBM Plex Sans" pitchFamily="34" charset="-120"/>
              </a:rPr>
              <a:t>Composition sonore</a:t>
            </a:r>
            <a:endParaRPr lang="en-US" sz="950" dirty="0"/>
          </a:p>
        </p:txBody>
      </p:sp>
      <p:sp>
        <p:nvSpPr>
          <p:cNvPr id="28" name="Shape 26"/>
          <p:cNvSpPr/>
          <p:nvPr/>
        </p:nvSpPr>
        <p:spPr>
          <a:xfrm>
            <a:off x="9345168" y="4160520"/>
            <a:ext cx="329184" cy="329184"/>
          </a:xfrm>
          <a:prstGeom prst="roundRect">
            <a:avLst>
              <a:gd name="adj" fmla="val 26000"/>
            </a:avLst>
          </a:prstGeom>
          <a:solidFill>
            <a:srgbClr val="78C88C">
              <a:alpha val="28000"/>
            </a:srgbClr>
          </a:solidFill>
          <a:ln/>
        </p:spPr>
        <p:txBody>
          <a:bodyPr/>
          <a:lstStyle/>
          <a:p>
            <a:endParaRPr lang="fr-FR"/>
          </a:p>
        </p:txBody>
      </p:sp>
      <p:sp>
        <p:nvSpPr>
          <p:cNvPr id="29" name="Shape 27"/>
          <p:cNvSpPr/>
          <p:nvPr/>
        </p:nvSpPr>
        <p:spPr>
          <a:xfrm>
            <a:off x="9450507" y="4265859"/>
            <a:ext cx="118506" cy="118506"/>
          </a:xfrm>
          <a:prstGeom prst="roundRect">
            <a:avLst>
              <a:gd name="adj" fmla="val 25000"/>
            </a:avLst>
          </a:prstGeom>
          <a:solidFill>
            <a:srgbClr val="78C88C"/>
          </a:solidFill>
          <a:ln/>
        </p:spPr>
        <p:txBody>
          <a:bodyPr/>
          <a:lstStyle/>
          <a:p>
            <a:endParaRPr lang="fr-FR"/>
          </a:p>
        </p:txBody>
      </p:sp>
      <p:sp>
        <p:nvSpPr>
          <p:cNvPr id="30" name="Text 28"/>
          <p:cNvSpPr/>
          <p:nvPr/>
        </p:nvSpPr>
        <p:spPr>
          <a:xfrm>
            <a:off x="9802368" y="4160520"/>
            <a:ext cx="1627632" cy="329184"/>
          </a:xfrm>
          <a:prstGeom prst="rect">
            <a:avLst/>
          </a:prstGeom>
          <a:noFill/>
          <a:ln/>
        </p:spPr>
        <p:txBody>
          <a:bodyPr wrap="square" lIns="0" tIns="0" rIns="0" bIns="0" rtlCol="0" anchor="ctr"/>
          <a:lstStyle/>
          <a:p>
            <a:pPr marL="0" indent="0">
              <a:buNone/>
            </a:pPr>
            <a:r>
              <a:rPr lang="en-US" sz="1000" kern="0" spc="150" dirty="0">
                <a:solidFill>
                  <a:srgbClr val="9A9089"/>
                </a:solidFill>
                <a:latin typeface="IBM Plex Mono" pitchFamily="34" charset="0"/>
                <a:ea typeface="IBM Plex Mono" pitchFamily="34" charset="-122"/>
                <a:cs typeface="IBM Plex Mono" pitchFamily="34" charset="-120"/>
              </a:rPr>
              <a:t>05</a:t>
            </a:r>
            <a:endParaRPr lang="en-US" sz="1000" dirty="0"/>
          </a:p>
        </p:txBody>
      </p:sp>
      <p:sp>
        <p:nvSpPr>
          <p:cNvPr id="31" name="Text 29"/>
          <p:cNvSpPr/>
          <p:nvPr/>
        </p:nvSpPr>
        <p:spPr>
          <a:xfrm>
            <a:off x="9345168" y="4617720"/>
            <a:ext cx="1947672" cy="365760"/>
          </a:xfrm>
          <a:prstGeom prst="rect">
            <a:avLst/>
          </a:prstGeom>
          <a:noFill/>
          <a:ln/>
        </p:spPr>
        <p:txBody>
          <a:bodyPr wrap="square" lIns="0" tIns="0" rIns="0" bIns="0" rtlCol="0" anchor="ctr"/>
          <a:lstStyle/>
          <a:p>
            <a:pPr marL="0" indent="0">
              <a:buNone/>
            </a:pPr>
            <a:r>
              <a:rPr lang="en-US" sz="1500" b="1" dirty="0">
                <a:solidFill>
                  <a:srgbClr val="00B050"/>
                </a:solidFill>
                <a:latin typeface="Space Grotesk" pitchFamily="34" charset="0"/>
                <a:ea typeface="Space Grotesk" pitchFamily="34" charset="-122"/>
                <a:cs typeface="Space Grotesk" pitchFamily="34" charset="-120"/>
              </a:rPr>
              <a:t>Voix</a:t>
            </a:r>
            <a:endParaRPr lang="en-US" sz="1500" dirty="0">
              <a:solidFill>
                <a:srgbClr val="00B050"/>
              </a:solidFill>
            </a:endParaRPr>
          </a:p>
        </p:txBody>
      </p:sp>
      <p:sp>
        <p:nvSpPr>
          <p:cNvPr id="32" name="Text 30"/>
          <p:cNvSpPr/>
          <p:nvPr/>
        </p:nvSpPr>
        <p:spPr>
          <a:xfrm>
            <a:off x="9345168" y="5010912"/>
            <a:ext cx="1901952" cy="502920"/>
          </a:xfrm>
          <a:prstGeom prst="rect">
            <a:avLst/>
          </a:prstGeom>
          <a:noFill/>
          <a:ln/>
        </p:spPr>
        <p:txBody>
          <a:bodyPr wrap="square" lIns="0" tIns="0" rIns="0" bIns="0" rtlCol="0" anchor="ctr"/>
          <a:lstStyle/>
          <a:p>
            <a:pPr marL="0" indent="0">
              <a:lnSpc>
                <a:spcPct val="115000"/>
              </a:lnSpc>
              <a:buNone/>
            </a:pPr>
            <a:r>
              <a:rPr lang="en-US" sz="950" dirty="0">
                <a:solidFill>
                  <a:srgbClr val="A89F95"/>
                </a:solidFill>
                <a:latin typeface="IBM Plex Sans" pitchFamily="34" charset="0"/>
                <a:ea typeface="IBM Plex Sans" pitchFamily="34" charset="-122"/>
                <a:cs typeface="IBM Plex Sans" pitchFamily="34" charset="-120"/>
              </a:rPr>
              <a:t>Synthèse &amp; clonage vocal</a:t>
            </a:r>
            <a:endParaRPr lang="en-US" sz="950" dirty="0"/>
          </a:p>
        </p:txBody>
      </p:sp>
      <p:sp>
        <p:nvSpPr>
          <p:cNvPr id="33" name="Shape 31"/>
          <p:cNvSpPr/>
          <p:nvPr/>
        </p:nvSpPr>
        <p:spPr>
          <a:xfrm>
            <a:off x="640080" y="6035040"/>
            <a:ext cx="109728" cy="109728"/>
          </a:xfrm>
          <a:prstGeom prst="ellipse">
            <a:avLst/>
          </a:prstGeom>
          <a:solidFill>
            <a:srgbClr val="78C88C"/>
          </a:solidFill>
          <a:ln/>
        </p:spPr>
        <p:txBody>
          <a:bodyPr/>
          <a:lstStyle/>
          <a:p>
            <a:endParaRPr lang="fr-FR"/>
          </a:p>
        </p:txBody>
      </p:sp>
      <p:sp>
        <p:nvSpPr>
          <p:cNvPr id="34" name="Text 32"/>
          <p:cNvSpPr/>
          <p:nvPr/>
        </p:nvSpPr>
        <p:spPr>
          <a:xfrm>
            <a:off x="822960" y="5971032"/>
            <a:ext cx="868680" cy="256032"/>
          </a:xfrm>
          <a:prstGeom prst="rect">
            <a:avLst/>
          </a:prstGeom>
          <a:noFill/>
          <a:ln/>
        </p:spPr>
        <p:txBody>
          <a:bodyPr wrap="square" lIns="0" tIns="0" rIns="0" bIns="0" rtlCol="0" anchor="ctr"/>
          <a:lstStyle/>
          <a:p>
            <a:pPr marL="0" indent="0">
              <a:buNone/>
            </a:pPr>
            <a:r>
              <a:rPr lang="en-US" sz="950" dirty="0">
                <a:solidFill>
                  <a:srgbClr val="A89F95"/>
                </a:solidFill>
                <a:latin typeface="IBM Plex Sans" pitchFamily="34" charset="0"/>
                <a:ea typeface="IBM Plex Sans" pitchFamily="34" charset="-122"/>
                <a:cs typeface="IBM Plex Sans" pitchFamily="34" charset="-120"/>
              </a:rPr>
              <a:t>Gratuit</a:t>
            </a:r>
            <a:endParaRPr lang="en-US" sz="950" dirty="0"/>
          </a:p>
        </p:txBody>
      </p:sp>
      <p:sp>
        <p:nvSpPr>
          <p:cNvPr id="35" name="Shape 33"/>
          <p:cNvSpPr/>
          <p:nvPr/>
        </p:nvSpPr>
        <p:spPr>
          <a:xfrm>
            <a:off x="1920240" y="6035040"/>
            <a:ext cx="109728" cy="109728"/>
          </a:xfrm>
          <a:prstGeom prst="ellipse">
            <a:avLst/>
          </a:prstGeom>
          <a:solidFill>
            <a:srgbClr val="78B4DC"/>
          </a:solidFill>
          <a:ln/>
        </p:spPr>
        <p:txBody>
          <a:bodyPr/>
          <a:lstStyle/>
          <a:p>
            <a:endParaRPr lang="fr-FR"/>
          </a:p>
        </p:txBody>
      </p:sp>
      <p:sp>
        <p:nvSpPr>
          <p:cNvPr id="36" name="Text 34"/>
          <p:cNvSpPr/>
          <p:nvPr/>
        </p:nvSpPr>
        <p:spPr>
          <a:xfrm>
            <a:off x="2103120" y="5971032"/>
            <a:ext cx="960120" cy="256032"/>
          </a:xfrm>
          <a:prstGeom prst="rect">
            <a:avLst/>
          </a:prstGeom>
          <a:noFill/>
          <a:ln/>
        </p:spPr>
        <p:txBody>
          <a:bodyPr wrap="square" lIns="0" tIns="0" rIns="0" bIns="0" rtlCol="0" anchor="ctr"/>
          <a:lstStyle/>
          <a:p>
            <a:pPr marL="0" indent="0">
              <a:buNone/>
            </a:pPr>
            <a:r>
              <a:rPr lang="en-US" sz="950" dirty="0">
                <a:solidFill>
                  <a:srgbClr val="A89F95"/>
                </a:solidFill>
                <a:latin typeface="IBM Plex Sans" pitchFamily="34" charset="0"/>
                <a:ea typeface="IBM Plex Sans" pitchFamily="34" charset="-122"/>
                <a:cs typeface="IBM Plex Sans" pitchFamily="34" charset="-120"/>
              </a:rPr>
              <a:t>Freemium</a:t>
            </a:r>
            <a:endParaRPr lang="en-US" sz="950" dirty="0"/>
          </a:p>
        </p:txBody>
      </p:sp>
      <p:sp>
        <p:nvSpPr>
          <p:cNvPr id="37" name="Shape 35"/>
          <p:cNvSpPr/>
          <p:nvPr/>
        </p:nvSpPr>
        <p:spPr>
          <a:xfrm>
            <a:off x="3291840" y="6035040"/>
            <a:ext cx="109728" cy="109728"/>
          </a:xfrm>
          <a:prstGeom prst="ellipse">
            <a:avLst/>
          </a:prstGeom>
          <a:solidFill>
            <a:srgbClr val="F0965A"/>
          </a:solidFill>
          <a:ln/>
        </p:spPr>
        <p:txBody>
          <a:bodyPr/>
          <a:lstStyle/>
          <a:p>
            <a:endParaRPr lang="fr-FR"/>
          </a:p>
        </p:txBody>
      </p:sp>
      <p:sp>
        <p:nvSpPr>
          <p:cNvPr id="38" name="Text 36"/>
          <p:cNvSpPr/>
          <p:nvPr/>
        </p:nvSpPr>
        <p:spPr>
          <a:xfrm>
            <a:off x="3474720" y="5971032"/>
            <a:ext cx="777240" cy="256032"/>
          </a:xfrm>
          <a:prstGeom prst="rect">
            <a:avLst/>
          </a:prstGeom>
          <a:noFill/>
          <a:ln/>
        </p:spPr>
        <p:txBody>
          <a:bodyPr wrap="square" lIns="0" tIns="0" rIns="0" bIns="0" rtlCol="0" anchor="ctr"/>
          <a:lstStyle/>
          <a:p>
            <a:pPr marL="0" indent="0">
              <a:buNone/>
            </a:pPr>
            <a:r>
              <a:rPr lang="en-US" sz="950" dirty="0">
                <a:solidFill>
                  <a:srgbClr val="A89F95"/>
                </a:solidFill>
                <a:latin typeface="IBM Plex Sans" pitchFamily="34" charset="0"/>
                <a:ea typeface="IBM Plex Sans" pitchFamily="34" charset="-122"/>
                <a:cs typeface="IBM Plex Sans" pitchFamily="34" charset="-120"/>
              </a:rPr>
              <a:t>Payant</a:t>
            </a:r>
            <a:endParaRPr lang="en-US" sz="950" dirty="0"/>
          </a:p>
        </p:txBody>
      </p:sp>
      <p:sp>
        <p:nvSpPr>
          <p:cNvPr id="39" name="Text 37"/>
          <p:cNvSpPr/>
          <p:nvPr/>
        </p:nvSpPr>
        <p:spPr>
          <a:xfrm>
            <a:off x="9418320" y="5971032"/>
            <a:ext cx="2103120" cy="256032"/>
          </a:xfrm>
          <a:prstGeom prst="rect">
            <a:avLst/>
          </a:prstGeom>
          <a:noFill/>
          <a:ln/>
        </p:spPr>
        <p:txBody>
          <a:bodyPr wrap="square" lIns="0" tIns="0" rIns="0" bIns="0" rtlCol="0" anchor="ctr"/>
          <a:lstStyle/>
          <a:p>
            <a:pPr marL="0" indent="0" algn="r">
              <a:buNone/>
            </a:pPr>
            <a:r>
              <a:rPr lang="en-US" sz="850" kern="0" spc="120" dirty="0">
                <a:solidFill>
                  <a:srgbClr val="9A9089"/>
                </a:solidFill>
                <a:latin typeface="IBM Plex Mono" pitchFamily="34" charset="0"/>
                <a:ea typeface="IBM Plex Mono" pitchFamily="34" charset="-122"/>
                <a:cs typeface="IBM Plex Mono" pitchFamily="34" charset="-120"/>
              </a:rPr>
              <a:t>LISTE NON EXHAUSTIVE</a:t>
            </a:r>
            <a:endParaRPr lang="en-US" sz="850" dirty="0"/>
          </a:p>
        </p:txBody>
      </p:sp>
      <p:pic>
        <p:nvPicPr>
          <p:cNvPr id="41" name="Image 40">
            <a:extLst>
              <a:ext uri="{FF2B5EF4-FFF2-40B4-BE49-F238E27FC236}">
                <a16:creationId xmlns:a16="http://schemas.microsoft.com/office/drawing/2014/main" id="{483E41D9-9E66-1C8A-8302-4C42B1C91AF0}"/>
              </a:ext>
            </a:extLst>
          </p:cNvPr>
          <p:cNvPicPr>
            <a:picLocks noChangeAspect="1"/>
          </p:cNvPicPr>
          <p:nvPr/>
        </p:nvPicPr>
        <p:blipFill>
          <a:blip r:embed="rId3"/>
          <a:stretch>
            <a:fillRect/>
          </a:stretch>
        </p:blipFill>
        <p:spPr>
          <a:xfrm>
            <a:off x="339623" y="211562"/>
            <a:ext cx="1048603" cy="10546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4076007" y="338328"/>
            <a:ext cx="5943600" cy="292608"/>
          </a:xfrm>
          <a:prstGeom prst="rect">
            <a:avLst/>
          </a:prstGeom>
          <a:noFill/>
          <a:ln/>
        </p:spPr>
        <p:txBody>
          <a:bodyPr wrap="square" lIns="0" tIns="0" rIns="0" bIns="0" rtlCol="0" anchor="ctr"/>
          <a:lstStyle/>
          <a:p>
            <a:pPr marL="0" indent="0">
              <a:buNone/>
            </a:pPr>
            <a:r>
              <a:rPr lang="en-US" sz="1100" kern="0" spc="250" dirty="0">
                <a:solidFill>
                  <a:srgbClr val="D9A883"/>
                </a:solidFill>
                <a:latin typeface="IBM Plex Mono" pitchFamily="34" charset="0"/>
                <a:ea typeface="IBM Plex Mono" pitchFamily="34" charset="-122"/>
                <a:cs typeface="IBM Plex Mono" pitchFamily="34" charset="-120"/>
              </a:rPr>
              <a:t>PANORAMA IA  ·  ÉDITION 2026</a:t>
            </a:r>
            <a:endParaRPr lang="en-US" sz="1100" dirty="0"/>
          </a:p>
        </p:txBody>
      </p:sp>
      <p:sp>
        <p:nvSpPr>
          <p:cNvPr id="3" name="Text 1"/>
          <p:cNvSpPr/>
          <p:nvPr/>
        </p:nvSpPr>
        <p:spPr>
          <a:xfrm>
            <a:off x="9235440" y="384048"/>
            <a:ext cx="2286000" cy="292608"/>
          </a:xfrm>
          <a:prstGeom prst="rect">
            <a:avLst/>
          </a:prstGeom>
          <a:noFill/>
          <a:ln/>
        </p:spPr>
        <p:txBody>
          <a:bodyPr wrap="square" lIns="0" tIns="0" rIns="0" bIns="0" rtlCol="0" anchor="ctr"/>
          <a:lstStyle/>
          <a:p>
            <a:pPr marL="0" indent="0" algn="r">
              <a:buNone/>
            </a:pPr>
            <a:r>
              <a:rPr lang="en-US" sz="950" kern="0" spc="120" dirty="0">
                <a:solidFill>
                  <a:srgbClr val="9A9089"/>
                </a:solidFill>
                <a:latin typeface="IBM Plex Mono" pitchFamily="34" charset="0"/>
                <a:ea typeface="IBM Plex Mono" pitchFamily="34" charset="-122"/>
                <a:cs typeface="IBM Plex Mono" pitchFamily="34" charset="-120"/>
              </a:rPr>
              <a:t>01 / 05</a:t>
            </a:r>
            <a:endParaRPr lang="en-US" sz="950" dirty="0"/>
          </a:p>
        </p:txBody>
      </p:sp>
      <p:sp>
        <p:nvSpPr>
          <p:cNvPr id="4" name="Shape 2"/>
          <p:cNvSpPr/>
          <p:nvPr/>
        </p:nvSpPr>
        <p:spPr>
          <a:xfrm>
            <a:off x="640080" y="1417320"/>
            <a:ext cx="365760" cy="365760"/>
          </a:xfrm>
          <a:prstGeom prst="roundRect">
            <a:avLst>
              <a:gd name="adj" fmla="val 26000"/>
            </a:avLst>
          </a:prstGeom>
          <a:solidFill>
            <a:srgbClr val="78B4DC">
              <a:alpha val="28000"/>
            </a:srgbClr>
          </a:solidFill>
          <a:ln/>
        </p:spPr>
        <p:txBody>
          <a:bodyPr/>
          <a:lstStyle/>
          <a:p>
            <a:endParaRPr lang="fr-FR"/>
          </a:p>
        </p:txBody>
      </p:sp>
      <p:sp>
        <p:nvSpPr>
          <p:cNvPr id="5" name="Shape 3"/>
          <p:cNvSpPr/>
          <p:nvPr/>
        </p:nvSpPr>
        <p:spPr>
          <a:xfrm>
            <a:off x="757123" y="1534363"/>
            <a:ext cx="131674" cy="131674"/>
          </a:xfrm>
          <a:prstGeom prst="roundRect">
            <a:avLst>
              <a:gd name="adj" fmla="val 25000"/>
            </a:avLst>
          </a:prstGeom>
          <a:solidFill>
            <a:srgbClr val="78B4DC"/>
          </a:solidFill>
          <a:ln/>
        </p:spPr>
        <p:txBody>
          <a:bodyPr/>
          <a:lstStyle/>
          <a:p>
            <a:endParaRPr lang="fr-FR"/>
          </a:p>
        </p:txBody>
      </p:sp>
      <p:sp>
        <p:nvSpPr>
          <p:cNvPr id="6" name="Text 4"/>
          <p:cNvSpPr/>
          <p:nvPr/>
        </p:nvSpPr>
        <p:spPr>
          <a:xfrm>
            <a:off x="1115568" y="1417320"/>
            <a:ext cx="914400" cy="365760"/>
          </a:xfrm>
          <a:prstGeom prst="rect">
            <a:avLst/>
          </a:prstGeom>
          <a:noFill/>
          <a:ln/>
        </p:spPr>
        <p:txBody>
          <a:bodyPr wrap="square" lIns="0" tIns="0" rIns="0" bIns="0" rtlCol="0" anchor="ctr"/>
          <a:lstStyle/>
          <a:p>
            <a:pPr marL="0" indent="0">
              <a:buNone/>
            </a:pPr>
            <a:r>
              <a:rPr lang="en-US" sz="1100" kern="0" spc="180" dirty="0">
                <a:solidFill>
                  <a:srgbClr val="9A9089"/>
                </a:solidFill>
                <a:latin typeface="IBM Plex Mono" pitchFamily="34" charset="0"/>
                <a:ea typeface="IBM Plex Mono" pitchFamily="34" charset="-122"/>
                <a:cs typeface="IBM Plex Mono" pitchFamily="34" charset="-120"/>
              </a:rPr>
              <a:t>01</a:t>
            </a:r>
            <a:endParaRPr lang="en-US" sz="1100" dirty="0"/>
          </a:p>
        </p:txBody>
      </p:sp>
      <p:sp>
        <p:nvSpPr>
          <p:cNvPr id="7" name="Text 5"/>
          <p:cNvSpPr/>
          <p:nvPr/>
        </p:nvSpPr>
        <p:spPr>
          <a:xfrm>
            <a:off x="640080" y="1965960"/>
            <a:ext cx="3017520" cy="502920"/>
          </a:xfrm>
          <a:prstGeom prst="rect">
            <a:avLst/>
          </a:prstGeom>
          <a:noFill/>
          <a:ln/>
        </p:spPr>
        <p:txBody>
          <a:bodyPr wrap="square" lIns="0" tIns="0" rIns="0" bIns="0" rtlCol="0" anchor="ctr"/>
          <a:lstStyle/>
          <a:p>
            <a:pPr marL="0" indent="0">
              <a:buNone/>
            </a:pPr>
            <a:r>
              <a:rPr lang="en-US" sz="2200" b="1" dirty="0">
                <a:solidFill>
                  <a:srgbClr val="0070C0"/>
                </a:solidFill>
                <a:latin typeface="Space Grotesk" pitchFamily="34" charset="0"/>
                <a:ea typeface="Space Grotesk" pitchFamily="34" charset="-122"/>
                <a:cs typeface="Space Grotesk" pitchFamily="34" charset="-120"/>
              </a:rPr>
              <a:t>Texte</a:t>
            </a:r>
            <a:endParaRPr lang="en-US" sz="2200" dirty="0">
              <a:solidFill>
                <a:srgbClr val="0070C0"/>
              </a:solidFill>
            </a:endParaRPr>
          </a:p>
        </p:txBody>
      </p:sp>
      <p:sp>
        <p:nvSpPr>
          <p:cNvPr id="8" name="Text 6"/>
          <p:cNvSpPr/>
          <p:nvPr/>
        </p:nvSpPr>
        <p:spPr>
          <a:xfrm>
            <a:off x="640080" y="2514600"/>
            <a:ext cx="3017520" cy="1463040"/>
          </a:xfrm>
          <a:prstGeom prst="rect">
            <a:avLst/>
          </a:prstGeom>
          <a:noFill/>
          <a:ln/>
        </p:spPr>
        <p:txBody>
          <a:bodyPr wrap="square" lIns="0" tIns="0" rIns="0" bIns="0" rtlCol="0" anchor="ctr"/>
          <a:lstStyle/>
          <a:p>
            <a:pPr marL="0" indent="0">
              <a:lnSpc>
                <a:spcPct val="130000"/>
              </a:lnSpc>
              <a:buNone/>
            </a:pPr>
            <a:r>
              <a:rPr lang="en-US" sz="1200" dirty="0">
                <a:solidFill>
                  <a:srgbClr val="A89F95"/>
                </a:solidFill>
                <a:latin typeface="IBM Plex Sans" pitchFamily="34" charset="0"/>
                <a:ea typeface="IBM Plex Sans" pitchFamily="34" charset="-122"/>
                <a:cs typeface="IBM Plex Sans" pitchFamily="34" charset="-120"/>
              </a:rPr>
              <a:t>Rédaction, code, analyse et recherche.</a:t>
            </a:r>
            <a:endParaRPr lang="en-US" sz="1200" dirty="0"/>
          </a:p>
        </p:txBody>
      </p:sp>
      <p:sp>
        <p:nvSpPr>
          <p:cNvPr id="9" name="Shape 7"/>
          <p:cNvSpPr/>
          <p:nvPr/>
        </p:nvSpPr>
        <p:spPr>
          <a:xfrm>
            <a:off x="3977640" y="1371600"/>
            <a:ext cx="0" cy="4892040"/>
          </a:xfrm>
          <a:prstGeom prst="line">
            <a:avLst/>
          </a:prstGeom>
          <a:noFill/>
          <a:ln w="12700">
            <a:solidFill>
              <a:srgbClr val="37312A"/>
            </a:solidFill>
            <a:prstDash val="solid"/>
          </a:ln>
        </p:spPr>
        <p:txBody>
          <a:bodyPr/>
          <a:lstStyle/>
          <a:p>
            <a:endParaRPr lang="fr-FR"/>
          </a:p>
        </p:txBody>
      </p:sp>
      <p:sp>
        <p:nvSpPr>
          <p:cNvPr id="10" name="Shape 8"/>
          <p:cNvSpPr/>
          <p:nvPr/>
        </p:nvSpPr>
        <p:spPr>
          <a:xfrm>
            <a:off x="4343400" y="1371600"/>
            <a:ext cx="7178040" cy="4892040"/>
          </a:xfrm>
          <a:prstGeom prst="roundRect">
            <a:avLst>
              <a:gd name="adj" fmla="val 2430"/>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9"/>
          <p:cNvSpPr/>
          <p:nvPr/>
        </p:nvSpPr>
        <p:spPr>
          <a:xfrm>
            <a:off x="4617720" y="1572768"/>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ChatGPT</a:t>
            </a:r>
            <a:endParaRPr lang="en-US" sz="1250" dirty="0"/>
          </a:p>
        </p:txBody>
      </p:sp>
      <p:sp>
        <p:nvSpPr>
          <p:cNvPr id="12" name="Text 10"/>
          <p:cNvSpPr/>
          <p:nvPr/>
        </p:nvSpPr>
        <p:spPr>
          <a:xfrm>
            <a:off x="6537960" y="1572768"/>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Assistant polyvalent : écriture, code, analyse</a:t>
            </a:r>
            <a:endParaRPr lang="en-US" sz="1050" dirty="0"/>
          </a:p>
        </p:txBody>
      </p:sp>
      <p:sp>
        <p:nvSpPr>
          <p:cNvPr id="13" name="Shape 11"/>
          <p:cNvSpPr/>
          <p:nvPr/>
        </p:nvSpPr>
        <p:spPr>
          <a:xfrm>
            <a:off x="10332720" y="1884578"/>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14" name="Text 12"/>
          <p:cNvSpPr/>
          <p:nvPr/>
        </p:nvSpPr>
        <p:spPr>
          <a:xfrm>
            <a:off x="10332720" y="1884578"/>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15" name="Shape 13"/>
          <p:cNvSpPr/>
          <p:nvPr/>
        </p:nvSpPr>
        <p:spPr>
          <a:xfrm>
            <a:off x="4617720" y="2470709"/>
            <a:ext cx="6629400" cy="0"/>
          </a:xfrm>
          <a:prstGeom prst="line">
            <a:avLst/>
          </a:prstGeom>
          <a:noFill/>
          <a:ln w="6350">
            <a:solidFill>
              <a:srgbClr val="F2ECE4">
                <a:alpha val="30000"/>
              </a:srgbClr>
            </a:solidFill>
            <a:prstDash val="solid"/>
          </a:ln>
        </p:spPr>
        <p:txBody>
          <a:bodyPr/>
          <a:lstStyle/>
          <a:p>
            <a:endParaRPr lang="fr-FR"/>
          </a:p>
        </p:txBody>
      </p:sp>
      <p:sp>
        <p:nvSpPr>
          <p:cNvPr id="16" name="Text 14"/>
          <p:cNvSpPr/>
          <p:nvPr/>
        </p:nvSpPr>
        <p:spPr>
          <a:xfrm>
            <a:off x="4617720" y="2470709"/>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Claude</a:t>
            </a:r>
            <a:endParaRPr lang="en-US" sz="1250" dirty="0"/>
          </a:p>
        </p:txBody>
      </p:sp>
      <p:sp>
        <p:nvSpPr>
          <p:cNvPr id="17" name="Text 15"/>
          <p:cNvSpPr/>
          <p:nvPr/>
        </p:nvSpPr>
        <p:spPr>
          <a:xfrm>
            <a:off x="6537960" y="2470709"/>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Écriture longue et raisonnement soigné</a:t>
            </a:r>
            <a:endParaRPr lang="en-US" sz="1050" dirty="0"/>
          </a:p>
        </p:txBody>
      </p:sp>
      <p:sp>
        <p:nvSpPr>
          <p:cNvPr id="18" name="Shape 16"/>
          <p:cNvSpPr/>
          <p:nvPr/>
        </p:nvSpPr>
        <p:spPr>
          <a:xfrm>
            <a:off x="10332720" y="2782519"/>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19" name="Text 17"/>
          <p:cNvSpPr/>
          <p:nvPr/>
        </p:nvSpPr>
        <p:spPr>
          <a:xfrm>
            <a:off x="10332720" y="2782519"/>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20" name="Shape 18"/>
          <p:cNvSpPr/>
          <p:nvPr/>
        </p:nvSpPr>
        <p:spPr>
          <a:xfrm>
            <a:off x="4617720" y="3368650"/>
            <a:ext cx="6629400" cy="0"/>
          </a:xfrm>
          <a:prstGeom prst="line">
            <a:avLst/>
          </a:prstGeom>
          <a:noFill/>
          <a:ln w="6350">
            <a:solidFill>
              <a:srgbClr val="F2ECE4">
                <a:alpha val="30000"/>
              </a:srgbClr>
            </a:solidFill>
            <a:prstDash val="solid"/>
          </a:ln>
        </p:spPr>
        <p:txBody>
          <a:bodyPr/>
          <a:lstStyle/>
          <a:p>
            <a:endParaRPr lang="fr-FR"/>
          </a:p>
        </p:txBody>
      </p:sp>
      <p:sp>
        <p:nvSpPr>
          <p:cNvPr id="21" name="Text 19"/>
          <p:cNvSpPr/>
          <p:nvPr/>
        </p:nvSpPr>
        <p:spPr>
          <a:xfrm>
            <a:off x="4617720" y="3368650"/>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Gemini</a:t>
            </a:r>
            <a:endParaRPr lang="en-US" sz="1250" dirty="0"/>
          </a:p>
        </p:txBody>
      </p:sp>
      <p:sp>
        <p:nvSpPr>
          <p:cNvPr id="22" name="Text 20"/>
          <p:cNvSpPr/>
          <p:nvPr/>
        </p:nvSpPr>
        <p:spPr>
          <a:xfrm>
            <a:off x="6537960" y="3368650"/>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Recherche et multimodal chez Google</a:t>
            </a:r>
            <a:endParaRPr lang="en-US" sz="1050" dirty="0"/>
          </a:p>
        </p:txBody>
      </p:sp>
      <p:sp>
        <p:nvSpPr>
          <p:cNvPr id="23" name="Shape 21"/>
          <p:cNvSpPr/>
          <p:nvPr/>
        </p:nvSpPr>
        <p:spPr>
          <a:xfrm>
            <a:off x="10332720" y="3680460"/>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24" name="Text 22"/>
          <p:cNvSpPr/>
          <p:nvPr/>
        </p:nvSpPr>
        <p:spPr>
          <a:xfrm>
            <a:off x="10332720" y="3680460"/>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25" name="Shape 23"/>
          <p:cNvSpPr/>
          <p:nvPr/>
        </p:nvSpPr>
        <p:spPr>
          <a:xfrm>
            <a:off x="4617720" y="4266590"/>
            <a:ext cx="6629400" cy="0"/>
          </a:xfrm>
          <a:prstGeom prst="line">
            <a:avLst/>
          </a:prstGeom>
          <a:noFill/>
          <a:ln w="6350">
            <a:solidFill>
              <a:srgbClr val="F2ECE4">
                <a:alpha val="30000"/>
              </a:srgbClr>
            </a:solidFill>
            <a:prstDash val="solid"/>
          </a:ln>
        </p:spPr>
        <p:txBody>
          <a:bodyPr/>
          <a:lstStyle/>
          <a:p>
            <a:endParaRPr lang="fr-FR"/>
          </a:p>
        </p:txBody>
      </p:sp>
      <p:sp>
        <p:nvSpPr>
          <p:cNvPr id="26" name="Text 24"/>
          <p:cNvSpPr/>
          <p:nvPr/>
        </p:nvSpPr>
        <p:spPr>
          <a:xfrm>
            <a:off x="4617720" y="4266590"/>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Mistral</a:t>
            </a:r>
            <a:endParaRPr lang="en-US" sz="1250" dirty="0"/>
          </a:p>
        </p:txBody>
      </p:sp>
      <p:sp>
        <p:nvSpPr>
          <p:cNvPr id="27" name="Text 25"/>
          <p:cNvSpPr/>
          <p:nvPr/>
        </p:nvSpPr>
        <p:spPr>
          <a:xfrm>
            <a:off x="6537960" y="4266590"/>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Modèles ouverts, alternative européenne</a:t>
            </a:r>
            <a:endParaRPr lang="en-US" sz="1050" dirty="0"/>
          </a:p>
        </p:txBody>
      </p:sp>
      <p:sp>
        <p:nvSpPr>
          <p:cNvPr id="28" name="Shape 26"/>
          <p:cNvSpPr/>
          <p:nvPr/>
        </p:nvSpPr>
        <p:spPr>
          <a:xfrm>
            <a:off x="10332720" y="4578401"/>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29" name="Text 27"/>
          <p:cNvSpPr/>
          <p:nvPr/>
        </p:nvSpPr>
        <p:spPr>
          <a:xfrm>
            <a:off x="10332720" y="4578401"/>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30" name="Shape 28"/>
          <p:cNvSpPr/>
          <p:nvPr/>
        </p:nvSpPr>
        <p:spPr>
          <a:xfrm>
            <a:off x="4617720" y="5164531"/>
            <a:ext cx="6629400" cy="0"/>
          </a:xfrm>
          <a:prstGeom prst="line">
            <a:avLst/>
          </a:prstGeom>
          <a:noFill/>
          <a:ln w="6350">
            <a:solidFill>
              <a:srgbClr val="F2ECE4">
                <a:alpha val="30000"/>
              </a:srgbClr>
            </a:solidFill>
            <a:prstDash val="solid"/>
          </a:ln>
        </p:spPr>
        <p:txBody>
          <a:bodyPr/>
          <a:lstStyle/>
          <a:p>
            <a:endParaRPr lang="fr-FR"/>
          </a:p>
        </p:txBody>
      </p:sp>
      <p:sp>
        <p:nvSpPr>
          <p:cNvPr id="31" name="Text 29"/>
          <p:cNvSpPr/>
          <p:nvPr/>
        </p:nvSpPr>
        <p:spPr>
          <a:xfrm>
            <a:off x="4617720" y="5164531"/>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Perplexity</a:t>
            </a:r>
            <a:endParaRPr lang="en-US" sz="1250" dirty="0"/>
          </a:p>
        </p:txBody>
      </p:sp>
      <p:sp>
        <p:nvSpPr>
          <p:cNvPr id="32" name="Text 30"/>
          <p:cNvSpPr/>
          <p:nvPr/>
        </p:nvSpPr>
        <p:spPr>
          <a:xfrm>
            <a:off x="6537960" y="5164531"/>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Réponses sourcées depuis le web</a:t>
            </a:r>
            <a:endParaRPr lang="en-US" sz="1050" dirty="0"/>
          </a:p>
        </p:txBody>
      </p:sp>
      <p:sp>
        <p:nvSpPr>
          <p:cNvPr id="33" name="Shape 31"/>
          <p:cNvSpPr/>
          <p:nvPr/>
        </p:nvSpPr>
        <p:spPr>
          <a:xfrm>
            <a:off x="10332720" y="5476342"/>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34" name="Text 32"/>
          <p:cNvSpPr/>
          <p:nvPr/>
        </p:nvSpPr>
        <p:spPr>
          <a:xfrm>
            <a:off x="10332720" y="5476342"/>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35" name="Text 3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36" name="Text 3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11</a:t>
            </a:r>
            <a:endParaRPr lang="en-US" sz="900" dirty="0"/>
          </a:p>
        </p:txBody>
      </p:sp>
      <p:pic>
        <p:nvPicPr>
          <p:cNvPr id="38" name="Image 37">
            <a:extLst>
              <a:ext uri="{FF2B5EF4-FFF2-40B4-BE49-F238E27FC236}">
                <a16:creationId xmlns:a16="http://schemas.microsoft.com/office/drawing/2014/main" id="{93B568B9-AA98-2B14-C84E-B5B67A0E1D5B}"/>
              </a:ext>
            </a:extLst>
          </p:cNvPr>
          <p:cNvPicPr>
            <a:picLocks noChangeAspect="1"/>
          </p:cNvPicPr>
          <p:nvPr/>
        </p:nvPicPr>
        <p:blipFill>
          <a:blip r:embed="rId3"/>
          <a:stretch>
            <a:fillRect/>
          </a:stretch>
        </p:blipFill>
        <p:spPr>
          <a:xfrm>
            <a:off x="115778" y="18288"/>
            <a:ext cx="1048603" cy="10546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3754472" y="384048"/>
            <a:ext cx="5943600" cy="292608"/>
          </a:xfrm>
          <a:prstGeom prst="rect">
            <a:avLst/>
          </a:prstGeom>
          <a:noFill/>
          <a:ln/>
        </p:spPr>
        <p:txBody>
          <a:bodyPr wrap="square" lIns="0" tIns="0" rIns="0" bIns="0" rtlCol="0" anchor="ctr"/>
          <a:lstStyle/>
          <a:p>
            <a:pPr marL="0" indent="0">
              <a:buNone/>
            </a:pPr>
            <a:r>
              <a:rPr lang="en-US" sz="1100" kern="0" spc="250" dirty="0">
                <a:solidFill>
                  <a:srgbClr val="D9A883"/>
                </a:solidFill>
                <a:latin typeface="IBM Plex Mono" pitchFamily="34" charset="0"/>
                <a:ea typeface="IBM Plex Mono" pitchFamily="34" charset="-122"/>
                <a:cs typeface="IBM Plex Mono" pitchFamily="34" charset="-120"/>
              </a:rPr>
              <a:t>PANORAMA IA  ·  ÉDITION 2026</a:t>
            </a:r>
            <a:endParaRPr lang="en-US" sz="1100" dirty="0"/>
          </a:p>
        </p:txBody>
      </p:sp>
      <p:sp>
        <p:nvSpPr>
          <p:cNvPr id="3" name="Text 1"/>
          <p:cNvSpPr/>
          <p:nvPr/>
        </p:nvSpPr>
        <p:spPr>
          <a:xfrm>
            <a:off x="9235440" y="384048"/>
            <a:ext cx="2286000" cy="292608"/>
          </a:xfrm>
          <a:prstGeom prst="rect">
            <a:avLst/>
          </a:prstGeom>
          <a:noFill/>
          <a:ln/>
        </p:spPr>
        <p:txBody>
          <a:bodyPr wrap="square" lIns="0" tIns="0" rIns="0" bIns="0" rtlCol="0" anchor="ctr"/>
          <a:lstStyle/>
          <a:p>
            <a:pPr marL="0" indent="0" algn="r">
              <a:buNone/>
            </a:pPr>
            <a:r>
              <a:rPr lang="en-US" sz="950" kern="0" spc="120" dirty="0">
                <a:solidFill>
                  <a:srgbClr val="9A9089"/>
                </a:solidFill>
                <a:latin typeface="IBM Plex Mono" pitchFamily="34" charset="0"/>
                <a:ea typeface="IBM Plex Mono" pitchFamily="34" charset="-122"/>
                <a:cs typeface="IBM Plex Mono" pitchFamily="34" charset="-120"/>
              </a:rPr>
              <a:t>02 / 05</a:t>
            </a:r>
            <a:endParaRPr lang="en-US" sz="950" dirty="0"/>
          </a:p>
        </p:txBody>
      </p:sp>
      <p:sp>
        <p:nvSpPr>
          <p:cNvPr id="4" name="Shape 2"/>
          <p:cNvSpPr/>
          <p:nvPr/>
        </p:nvSpPr>
        <p:spPr>
          <a:xfrm>
            <a:off x="640080" y="1417320"/>
            <a:ext cx="365760" cy="365760"/>
          </a:xfrm>
          <a:prstGeom prst="roundRect">
            <a:avLst>
              <a:gd name="adj" fmla="val 26000"/>
            </a:avLst>
          </a:prstGeom>
          <a:solidFill>
            <a:srgbClr val="F0965A">
              <a:alpha val="28000"/>
            </a:srgbClr>
          </a:solidFill>
          <a:ln/>
        </p:spPr>
        <p:txBody>
          <a:bodyPr/>
          <a:lstStyle/>
          <a:p>
            <a:endParaRPr lang="fr-FR"/>
          </a:p>
        </p:txBody>
      </p:sp>
      <p:sp>
        <p:nvSpPr>
          <p:cNvPr id="5" name="Shape 3"/>
          <p:cNvSpPr/>
          <p:nvPr/>
        </p:nvSpPr>
        <p:spPr>
          <a:xfrm>
            <a:off x="757123" y="1534363"/>
            <a:ext cx="131674" cy="131674"/>
          </a:xfrm>
          <a:prstGeom prst="roundRect">
            <a:avLst>
              <a:gd name="adj" fmla="val 25000"/>
            </a:avLst>
          </a:prstGeom>
          <a:solidFill>
            <a:srgbClr val="F0965A"/>
          </a:solidFill>
          <a:ln/>
        </p:spPr>
        <p:txBody>
          <a:bodyPr/>
          <a:lstStyle/>
          <a:p>
            <a:endParaRPr lang="fr-FR"/>
          </a:p>
        </p:txBody>
      </p:sp>
      <p:sp>
        <p:nvSpPr>
          <p:cNvPr id="6" name="Text 4"/>
          <p:cNvSpPr/>
          <p:nvPr/>
        </p:nvSpPr>
        <p:spPr>
          <a:xfrm>
            <a:off x="1115568" y="1417320"/>
            <a:ext cx="914400" cy="365760"/>
          </a:xfrm>
          <a:prstGeom prst="rect">
            <a:avLst/>
          </a:prstGeom>
          <a:noFill/>
          <a:ln/>
        </p:spPr>
        <p:txBody>
          <a:bodyPr wrap="square" lIns="0" tIns="0" rIns="0" bIns="0" rtlCol="0" anchor="ctr"/>
          <a:lstStyle/>
          <a:p>
            <a:pPr marL="0" indent="0">
              <a:buNone/>
            </a:pPr>
            <a:r>
              <a:rPr lang="en-US" sz="1100" kern="0" spc="180" dirty="0">
                <a:solidFill>
                  <a:srgbClr val="9A9089"/>
                </a:solidFill>
                <a:latin typeface="IBM Plex Mono" pitchFamily="34" charset="0"/>
                <a:ea typeface="IBM Plex Mono" pitchFamily="34" charset="-122"/>
                <a:cs typeface="IBM Plex Mono" pitchFamily="34" charset="-120"/>
              </a:rPr>
              <a:t>02</a:t>
            </a:r>
            <a:endParaRPr lang="en-US" sz="1100" dirty="0"/>
          </a:p>
        </p:txBody>
      </p:sp>
      <p:sp>
        <p:nvSpPr>
          <p:cNvPr id="7" name="Text 5"/>
          <p:cNvSpPr/>
          <p:nvPr/>
        </p:nvSpPr>
        <p:spPr>
          <a:xfrm>
            <a:off x="640080" y="1965960"/>
            <a:ext cx="3017520" cy="502920"/>
          </a:xfrm>
          <a:prstGeom prst="rect">
            <a:avLst/>
          </a:prstGeom>
          <a:noFill/>
          <a:ln/>
        </p:spPr>
        <p:txBody>
          <a:bodyPr wrap="square" lIns="0" tIns="0" rIns="0" bIns="0" rtlCol="0" anchor="ctr"/>
          <a:lstStyle/>
          <a:p>
            <a:pPr marL="0" indent="0">
              <a:buNone/>
            </a:pPr>
            <a:r>
              <a:rPr lang="en-US" sz="2200" b="1" dirty="0">
                <a:solidFill>
                  <a:schemeClr val="accent2">
                    <a:lumMod val="75000"/>
                  </a:schemeClr>
                </a:solidFill>
                <a:latin typeface="Space Grotesk" pitchFamily="34" charset="0"/>
                <a:ea typeface="Space Grotesk" pitchFamily="34" charset="-122"/>
                <a:cs typeface="Space Grotesk" pitchFamily="34" charset="-120"/>
              </a:rPr>
              <a:t>Image</a:t>
            </a:r>
            <a:endParaRPr lang="en-US" sz="2200" dirty="0">
              <a:solidFill>
                <a:schemeClr val="accent2">
                  <a:lumMod val="75000"/>
                </a:schemeClr>
              </a:solidFill>
            </a:endParaRPr>
          </a:p>
        </p:txBody>
      </p:sp>
      <p:sp>
        <p:nvSpPr>
          <p:cNvPr id="8" name="Text 6"/>
          <p:cNvSpPr/>
          <p:nvPr/>
        </p:nvSpPr>
        <p:spPr>
          <a:xfrm>
            <a:off x="640080" y="2514600"/>
            <a:ext cx="3017520" cy="1463040"/>
          </a:xfrm>
          <a:prstGeom prst="rect">
            <a:avLst/>
          </a:prstGeom>
          <a:noFill/>
          <a:ln/>
        </p:spPr>
        <p:txBody>
          <a:bodyPr wrap="square" lIns="0" tIns="0" rIns="0" bIns="0" rtlCol="0" anchor="ctr"/>
          <a:lstStyle/>
          <a:p>
            <a:pPr marL="0" indent="0">
              <a:lnSpc>
                <a:spcPct val="130000"/>
              </a:lnSpc>
              <a:buNone/>
            </a:pPr>
            <a:r>
              <a:rPr lang="en-US" sz="1200" dirty="0">
                <a:solidFill>
                  <a:srgbClr val="A89F95"/>
                </a:solidFill>
                <a:latin typeface="IBM Plex Sans" pitchFamily="34" charset="0"/>
                <a:ea typeface="IBM Plex Sans" pitchFamily="34" charset="-122"/>
                <a:cs typeface="IBM Plex Sans" pitchFamily="34" charset="-120"/>
              </a:rPr>
              <a:t>Création et retouche visuelle.</a:t>
            </a:r>
            <a:endParaRPr lang="en-US" sz="1200" dirty="0"/>
          </a:p>
        </p:txBody>
      </p:sp>
      <p:sp>
        <p:nvSpPr>
          <p:cNvPr id="9" name="Shape 7"/>
          <p:cNvSpPr/>
          <p:nvPr/>
        </p:nvSpPr>
        <p:spPr>
          <a:xfrm>
            <a:off x="3977640" y="1371600"/>
            <a:ext cx="0" cy="4892040"/>
          </a:xfrm>
          <a:prstGeom prst="line">
            <a:avLst/>
          </a:prstGeom>
          <a:noFill/>
          <a:ln w="12700">
            <a:solidFill>
              <a:srgbClr val="37312A"/>
            </a:solidFill>
            <a:prstDash val="solid"/>
          </a:ln>
        </p:spPr>
        <p:txBody>
          <a:bodyPr/>
          <a:lstStyle/>
          <a:p>
            <a:endParaRPr lang="fr-FR"/>
          </a:p>
        </p:txBody>
      </p:sp>
      <p:sp>
        <p:nvSpPr>
          <p:cNvPr id="10" name="Shape 8"/>
          <p:cNvSpPr/>
          <p:nvPr/>
        </p:nvSpPr>
        <p:spPr>
          <a:xfrm>
            <a:off x="4343400" y="1371600"/>
            <a:ext cx="7178040" cy="4892040"/>
          </a:xfrm>
          <a:prstGeom prst="roundRect">
            <a:avLst>
              <a:gd name="adj" fmla="val 2430"/>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9"/>
          <p:cNvSpPr/>
          <p:nvPr/>
        </p:nvSpPr>
        <p:spPr>
          <a:xfrm>
            <a:off x="4617720" y="1572768"/>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Midjourney</a:t>
            </a:r>
            <a:endParaRPr lang="en-US" sz="1250" dirty="0"/>
          </a:p>
        </p:txBody>
      </p:sp>
      <p:sp>
        <p:nvSpPr>
          <p:cNvPr id="12" name="Text 10"/>
          <p:cNvSpPr/>
          <p:nvPr/>
        </p:nvSpPr>
        <p:spPr>
          <a:xfrm>
            <a:off x="6537960" y="1572768"/>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Images artistiques très abouties</a:t>
            </a:r>
            <a:endParaRPr lang="en-US" sz="1050" dirty="0"/>
          </a:p>
        </p:txBody>
      </p:sp>
      <p:sp>
        <p:nvSpPr>
          <p:cNvPr id="13" name="Shape 11"/>
          <p:cNvSpPr/>
          <p:nvPr/>
        </p:nvSpPr>
        <p:spPr>
          <a:xfrm>
            <a:off x="10332720" y="1884578"/>
            <a:ext cx="896112" cy="274320"/>
          </a:xfrm>
          <a:prstGeom prst="roundRect">
            <a:avLst>
              <a:gd name="adj" fmla="val 50000"/>
            </a:avLst>
          </a:prstGeom>
          <a:solidFill>
            <a:srgbClr val="F0965A">
              <a:alpha val="26000"/>
            </a:srgbClr>
          </a:solidFill>
          <a:ln w="9525">
            <a:solidFill>
              <a:srgbClr val="F0965A">
                <a:alpha val="55000"/>
              </a:srgbClr>
            </a:solidFill>
            <a:prstDash val="solid"/>
          </a:ln>
        </p:spPr>
        <p:txBody>
          <a:bodyPr/>
          <a:lstStyle/>
          <a:p>
            <a:endParaRPr lang="fr-FR"/>
          </a:p>
        </p:txBody>
      </p:sp>
      <p:sp>
        <p:nvSpPr>
          <p:cNvPr id="14" name="Text 12"/>
          <p:cNvSpPr/>
          <p:nvPr/>
        </p:nvSpPr>
        <p:spPr>
          <a:xfrm>
            <a:off x="10332720" y="1884578"/>
            <a:ext cx="896112" cy="274320"/>
          </a:xfrm>
          <a:prstGeom prst="rect">
            <a:avLst/>
          </a:prstGeom>
          <a:noFill/>
          <a:ln/>
        </p:spPr>
        <p:txBody>
          <a:bodyPr wrap="square" lIns="0" tIns="0" rIns="0" bIns="0" rtlCol="0" anchor="ctr"/>
          <a:lstStyle/>
          <a:p>
            <a:pPr marL="0" indent="0" algn="ctr">
              <a:buNone/>
            </a:pPr>
            <a:r>
              <a:rPr lang="en-US" sz="800" kern="0" spc="80" dirty="0">
                <a:solidFill>
                  <a:srgbClr val="F0A875"/>
                </a:solidFill>
                <a:latin typeface="IBM Plex Mono" pitchFamily="34" charset="0"/>
                <a:ea typeface="IBM Plex Mono" pitchFamily="34" charset="-122"/>
                <a:cs typeface="IBM Plex Mono" pitchFamily="34" charset="-120"/>
              </a:rPr>
              <a:t>PAYANT</a:t>
            </a:r>
            <a:endParaRPr lang="en-US" sz="800" dirty="0"/>
          </a:p>
        </p:txBody>
      </p:sp>
      <p:sp>
        <p:nvSpPr>
          <p:cNvPr id="15" name="Shape 13"/>
          <p:cNvSpPr/>
          <p:nvPr/>
        </p:nvSpPr>
        <p:spPr>
          <a:xfrm>
            <a:off x="4617720" y="2470709"/>
            <a:ext cx="6629400" cy="0"/>
          </a:xfrm>
          <a:prstGeom prst="line">
            <a:avLst/>
          </a:prstGeom>
          <a:noFill/>
          <a:ln w="6350">
            <a:solidFill>
              <a:srgbClr val="F2ECE4">
                <a:alpha val="30000"/>
              </a:srgbClr>
            </a:solidFill>
            <a:prstDash val="solid"/>
          </a:ln>
        </p:spPr>
        <p:txBody>
          <a:bodyPr/>
          <a:lstStyle/>
          <a:p>
            <a:endParaRPr lang="fr-FR"/>
          </a:p>
        </p:txBody>
      </p:sp>
      <p:sp>
        <p:nvSpPr>
          <p:cNvPr id="16" name="Text 14"/>
          <p:cNvSpPr/>
          <p:nvPr/>
        </p:nvSpPr>
        <p:spPr>
          <a:xfrm>
            <a:off x="4617720" y="2470709"/>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DALL·E 3</a:t>
            </a:r>
            <a:endParaRPr lang="en-US" sz="1250" dirty="0"/>
          </a:p>
        </p:txBody>
      </p:sp>
      <p:sp>
        <p:nvSpPr>
          <p:cNvPr id="17" name="Text 15"/>
          <p:cNvSpPr/>
          <p:nvPr/>
        </p:nvSpPr>
        <p:spPr>
          <a:xfrm>
            <a:off x="6537960" y="2470709"/>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Génération intégrée à ChatGPT</a:t>
            </a:r>
            <a:endParaRPr lang="en-US" sz="1050" dirty="0"/>
          </a:p>
        </p:txBody>
      </p:sp>
      <p:sp>
        <p:nvSpPr>
          <p:cNvPr id="18" name="Shape 16"/>
          <p:cNvSpPr/>
          <p:nvPr/>
        </p:nvSpPr>
        <p:spPr>
          <a:xfrm>
            <a:off x="10332720" y="2782519"/>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19" name="Text 17"/>
          <p:cNvSpPr/>
          <p:nvPr/>
        </p:nvSpPr>
        <p:spPr>
          <a:xfrm>
            <a:off x="10332720" y="2782519"/>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20" name="Shape 18"/>
          <p:cNvSpPr/>
          <p:nvPr/>
        </p:nvSpPr>
        <p:spPr>
          <a:xfrm>
            <a:off x="4617720" y="3368650"/>
            <a:ext cx="6629400" cy="0"/>
          </a:xfrm>
          <a:prstGeom prst="line">
            <a:avLst/>
          </a:prstGeom>
          <a:noFill/>
          <a:ln w="6350">
            <a:solidFill>
              <a:srgbClr val="F2ECE4">
                <a:alpha val="30000"/>
              </a:srgbClr>
            </a:solidFill>
            <a:prstDash val="solid"/>
          </a:ln>
        </p:spPr>
        <p:txBody>
          <a:bodyPr/>
          <a:lstStyle/>
          <a:p>
            <a:endParaRPr lang="fr-FR"/>
          </a:p>
        </p:txBody>
      </p:sp>
      <p:sp>
        <p:nvSpPr>
          <p:cNvPr id="21" name="Text 19"/>
          <p:cNvSpPr/>
          <p:nvPr/>
        </p:nvSpPr>
        <p:spPr>
          <a:xfrm>
            <a:off x="4617720" y="3368650"/>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Stable Diffusion</a:t>
            </a:r>
            <a:endParaRPr lang="en-US" sz="1250" dirty="0"/>
          </a:p>
        </p:txBody>
      </p:sp>
      <p:sp>
        <p:nvSpPr>
          <p:cNvPr id="22" name="Text 20"/>
          <p:cNvSpPr/>
          <p:nvPr/>
        </p:nvSpPr>
        <p:spPr>
          <a:xfrm>
            <a:off x="6537960" y="3368650"/>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Modèle open-source exécutable en local</a:t>
            </a:r>
            <a:endParaRPr lang="en-US" sz="1050" dirty="0"/>
          </a:p>
        </p:txBody>
      </p:sp>
      <p:sp>
        <p:nvSpPr>
          <p:cNvPr id="23" name="Shape 21"/>
          <p:cNvSpPr/>
          <p:nvPr/>
        </p:nvSpPr>
        <p:spPr>
          <a:xfrm>
            <a:off x="10332720" y="3680460"/>
            <a:ext cx="896112" cy="274320"/>
          </a:xfrm>
          <a:prstGeom prst="roundRect">
            <a:avLst>
              <a:gd name="adj" fmla="val 50000"/>
            </a:avLst>
          </a:prstGeom>
          <a:solidFill>
            <a:srgbClr val="78C88C">
              <a:alpha val="26000"/>
            </a:srgbClr>
          </a:solidFill>
          <a:ln w="9525">
            <a:solidFill>
              <a:srgbClr val="78C88C">
                <a:alpha val="55000"/>
              </a:srgbClr>
            </a:solidFill>
            <a:prstDash val="solid"/>
          </a:ln>
        </p:spPr>
        <p:txBody>
          <a:bodyPr/>
          <a:lstStyle/>
          <a:p>
            <a:endParaRPr lang="fr-FR"/>
          </a:p>
        </p:txBody>
      </p:sp>
      <p:sp>
        <p:nvSpPr>
          <p:cNvPr id="24" name="Text 22"/>
          <p:cNvSpPr/>
          <p:nvPr/>
        </p:nvSpPr>
        <p:spPr>
          <a:xfrm>
            <a:off x="10332720" y="3680460"/>
            <a:ext cx="896112" cy="274320"/>
          </a:xfrm>
          <a:prstGeom prst="rect">
            <a:avLst/>
          </a:prstGeom>
          <a:noFill/>
          <a:ln/>
        </p:spPr>
        <p:txBody>
          <a:bodyPr wrap="square" lIns="0" tIns="0" rIns="0" bIns="0" rtlCol="0" anchor="ctr"/>
          <a:lstStyle/>
          <a:p>
            <a:pPr marL="0" indent="0" algn="ctr">
              <a:buNone/>
            </a:pPr>
            <a:r>
              <a:rPr lang="en-US" sz="800" kern="0" spc="80" dirty="0">
                <a:solidFill>
                  <a:srgbClr val="8FDCA0"/>
                </a:solidFill>
                <a:latin typeface="IBM Plex Mono" pitchFamily="34" charset="0"/>
                <a:ea typeface="IBM Plex Mono" pitchFamily="34" charset="-122"/>
                <a:cs typeface="IBM Plex Mono" pitchFamily="34" charset="-120"/>
              </a:rPr>
              <a:t>GRATUIT</a:t>
            </a:r>
            <a:endParaRPr lang="en-US" sz="800" dirty="0"/>
          </a:p>
        </p:txBody>
      </p:sp>
      <p:sp>
        <p:nvSpPr>
          <p:cNvPr id="25" name="Shape 23"/>
          <p:cNvSpPr/>
          <p:nvPr/>
        </p:nvSpPr>
        <p:spPr>
          <a:xfrm>
            <a:off x="4617720" y="4266590"/>
            <a:ext cx="6629400" cy="0"/>
          </a:xfrm>
          <a:prstGeom prst="line">
            <a:avLst/>
          </a:prstGeom>
          <a:noFill/>
          <a:ln w="6350">
            <a:solidFill>
              <a:srgbClr val="F2ECE4">
                <a:alpha val="30000"/>
              </a:srgbClr>
            </a:solidFill>
            <a:prstDash val="solid"/>
          </a:ln>
        </p:spPr>
        <p:txBody>
          <a:bodyPr/>
          <a:lstStyle/>
          <a:p>
            <a:endParaRPr lang="fr-FR"/>
          </a:p>
        </p:txBody>
      </p:sp>
      <p:sp>
        <p:nvSpPr>
          <p:cNvPr id="26" name="Text 24"/>
          <p:cNvSpPr/>
          <p:nvPr/>
        </p:nvSpPr>
        <p:spPr>
          <a:xfrm>
            <a:off x="4617720" y="4266590"/>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Adobe Firefly</a:t>
            </a:r>
            <a:endParaRPr lang="en-US" sz="1250" dirty="0"/>
          </a:p>
        </p:txBody>
      </p:sp>
      <p:sp>
        <p:nvSpPr>
          <p:cNvPr id="27" name="Text 25"/>
          <p:cNvSpPr/>
          <p:nvPr/>
        </p:nvSpPr>
        <p:spPr>
          <a:xfrm>
            <a:off x="6537960" y="4266590"/>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Génératif intégré à Photoshop</a:t>
            </a:r>
            <a:endParaRPr lang="en-US" sz="1050" dirty="0"/>
          </a:p>
        </p:txBody>
      </p:sp>
      <p:sp>
        <p:nvSpPr>
          <p:cNvPr id="28" name="Shape 26"/>
          <p:cNvSpPr/>
          <p:nvPr/>
        </p:nvSpPr>
        <p:spPr>
          <a:xfrm>
            <a:off x="10332720" y="4578401"/>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29" name="Text 27"/>
          <p:cNvSpPr/>
          <p:nvPr/>
        </p:nvSpPr>
        <p:spPr>
          <a:xfrm>
            <a:off x="10332720" y="4578401"/>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30" name="Shape 28"/>
          <p:cNvSpPr/>
          <p:nvPr/>
        </p:nvSpPr>
        <p:spPr>
          <a:xfrm>
            <a:off x="4617720" y="5164531"/>
            <a:ext cx="6629400" cy="0"/>
          </a:xfrm>
          <a:prstGeom prst="line">
            <a:avLst/>
          </a:prstGeom>
          <a:noFill/>
          <a:ln w="6350">
            <a:solidFill>
              <a:srgbClr val="F2ECE4">
                <a:alpha val="30000"/>
              </a:srgbClr>
            </a:solidFill>
            <a:prstDash val="solid"/>
          </a:ln>
        </p:spPr>
        <p:txBody>
          <a:bodyPr/>
          <a:lstStyle/>
          <a:p>
            <a:endParaRPr lang="fr-FR"/>
          </a:p>
        </p:txBody>
      </p:sp>
      <p:sp>
        <p:nvSpPr>
          <p:cNvPr id="31" name="Text 29"/>
          <p:cNvSpPr/>
          <p:nvPr/>
        </p:nvSpPr>
        <p:spPr>
          <a:xfrm>
            <a:off x="4617720" y="5164531"/>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Ideogram</a:t>
            </a:r>
            <a:endParaRPr lang="en-US" sz="1250" dirty="0"/>
          </a:p>
        </p:txBody>
      </p:sp>
      <p:sp>
        <p:nvSpPr>
          <p:cNvPr id="32" name="Text 30"/>
          <p:cNvSpPr/>
          <p:nvPr/>
        </p:nvSpPr>
        <p:spPr>
          <a:xfrm>
            <a:off x="6537960" y="5164531"/>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Texte net et lisible dans l'image</a:t>
            </a:r>
            <a:endParaRPr lang="en-US" sz="1050" dirty="0"/>
          </a:p>
        </p:txBody>
      </p:sp>
      <p:sp>
        <p:nvSpPr>
          <p:cNvPr id="33" name="Shape 31"/>
          <p:cNvSpPr/>
          <p:nvPr/>
        </p:nvSpPr>
        <p:spPr>
          <a:xfrm>
            <a:off x="10332720" y="5476342"/>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34" name="Text 32"/>
          <p:cNvSpPr/>
          <p:nvPr/>
        </p:nvSpPr>
        <p:spPr>
          <a:xfrm>
            <a:off x="10332720" y="5476342"/>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35" name="Text 3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36" name="Text 3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12</a:t>
            </a:r>
            <a:endParaRPr lang="en-US" sz="900" dirty="0"/>
          </a:p>
        </p:txBody>
      </p:sp>
      <p:pic>
        <p:nvPicPr>
          <p:cNvPr id="38" name="Image 37">
            <a:extLst>
              <a:ext uri="{FF2B5EF4-FFF2-40B4-BE49-F238E27FC236}">
                <a16:creationId xmlns:a16="http://schemas.microsoft.com/office/drawing/2014/main" id="{B20DD2FE-A76E-C8C8-59A8-8CFCC8A31184}"/>
              </a:ext>
            </a:extLst>
          </p:cNvPr>
          <p:cNvPicPr>
            <a:picLocks noChangeAspect="1"/>
          </p:cNvPicPr>
          <p:nvPr/>
        </p:nvPicPr>
        <p:blipFill>
          <a:blip r:embed="rId3"/>
          <a:stretch>
            <a:fillRect/>
          </a:stretch>
        </p:blipFill>
        <p:spPr>
          <a:xfrm>
            <a:off x="115778" y="18288"/>
            <a:ext cx="1048603" cy="10546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3566160" y="384048"/>
            <a:ext cx="5943600" cy="292608"/>
          </a:xfrm>
          <a:prstGeom prst="rect">
            <a:avLst/>
          </a:prstGeom>
          <a:noFill/>
          <a:ln/>
        </p:spPr>
        <p:txBody>
          <a:bodyPr wrap="square" lIns="0" tIns="0" rIns="0" bIns="0" rtlCol="0" anchor="ctr"/>
          <a:lstStyle/>
          <a:p>
            <a:pPr marL="0" indent="0">
              <a:buNone/>
            </a:pPr>
            <a:r>
              <a:rPr lang="en-US" sz="1100" kern="0" spc="250" dirty="0">
                <a:solidFill>
                  <a:srgbClr val="D9A883"/>
                </a:solidFill>
                <a:latin typeface="IBM Plex Mono" pitchFamily="34" charset="0"/>
                <a:ea typeface="IBM Plex Mono" pitchFamily="34" charset="-122"/>
                <a:cs typeface="IBM Plex Mono" pitchFamily="34" charset="-120"/>
              </a:rPr>
              <a:t>PANORAMA IA  ·  ÉDITION 2026</a:t>
            </a:r>
            <a:endParaRPr lang="en-US" sz="1100" dirty="0"/>
          </a:p>
        </p:txBody>
      </p:sp>
      <p:sp>
        <p:nvSpPr>
          <p:cNvPr id="3" name="Text 1"/>
          <p:cNvSpPr/>
          <p:nvPr/>
        </p:nvSpPr>
        <p:spPr>
          <a:xfrm>
            <a:off x="9235440" y="384048"/>
            <a:ext cx="2286000" cy="292608"/>
          </a:xfrm>
          <a:prstGeom prst="rect">
            <a:avLst/>
          </a:prstGeom>
          <a:noFill/>
          <a:ln/>
        </p:spPr>
        <p:txBody>
          <a:bodyPr wrap="square" lIns="0" tIns="0" rIns="0" bIns="0" rtlCol="0" anchor="ctr"/>
          <a:lstStyle/>
          <a:p>
            <a:pPr marL="0" indent="0" algn="r">
              <a:buNone/>
            </a:pPr>
            <a:r>
              <a:rPr lang="en-US" sz="950" kern="0" spc="120" dirty="0">
                <a:solidFill>
                  <a:srgbClr val="9A9089"/>
                </a:solidFill>
                <a:latin typeface="IBM Plex Mono" pitchFamily="34" charset="0"/>
                <a:ea typeface="IBM Plex Mono" pitchFamily="34" charset="-122"/>
                <a:cs typeface="IBM Plex Mono" pitchFamily="34" charset="-120"/>
              </a:rPr>
              <a:t>03 / 05</a:t>
            </a:r>
            <a:endParaRPr lang="en-US" sz="950" dirty="0"/>
          </a:p>
        </p:txBody>
      </p:sp>
      <p:sp>
        <p:nvSpPr>
          <p:cNvPr id="4" name="Shape 2"/>
          <p:cNvSpPr/>
          <p:nvPr/>
        </p:nvSpPr>
        <p:spPr>
          <a:xfrm>
            <a:off x="640080" y="1417320"/>
            <a:ext cx="365760" cy="365760"/>
          </a:xfrm>
          <a:prstGeom prst="roundRect">
            <a:avLst>
              <a:gd name="adj" fmla="val 26000"/>
            </a:avLst>
          </a:prstGeom>
          <a:solidFill>
            <a:srgbClr val="C896DC">
              <a:alpha val="28000"/>
            </a:srgbClr>
          </a:solidFill>
          <a:ln/>
        </p:spPr>
        <p:txBody>
          <a:bodyPr/>
          <a:lstStyle/>
          <a:p>
            <a:endParaRPr lang="fr-FR"/>
          </a:p>
        </p:txBody>
      </p:sp>
      <p:sp>
        <p:nvSpPr>
          <p:cNvPr id="5" name="Shape 3"/>
          <p:cNvSpPr/>
          <p:nvPr/>
        </p:nvSpPr>
        <p:spPr>
          <a:xfrm>
            <a:off x="757123" y="1534363"/>
            <a:ext cx="131674" cy="131674"/>
          </a:xfrm>
          <a:prstGeom prst="roundRect">
            <a:avLst>
              <a:gd name="adj" fmla="val 25000"/>
            </a:avLst>
          </a:prstGeom>
          <a:solidFill>
            <a:srgbClr val="C896DC"/>
          </a:solidFill>
          <a:ln/>
        </p:spPr>
        <p:txBody>
          <a:bodyPr/>
          <a:lstStyle/>
          <a:p>
            <a:endParaRPr lang="fr-FR"/>
          </a:p>
        </p:txBody>
      </p:sp>
      <p:sp>
        <p:nvSpPr>
          <p:cNvPr id="6" name="Text 4"/>
          <p:cNvSpPr/>
          <p:nvPr/>
        </p:nvSpPr>
        <p:spPr>
          <a:xfrm>
            <a:off x="1115568" y="1417320"/>
            <a:ext cx="914400" cy="365760"/>
          </a:xfrm>
          <a:prstGeom prst="rect">
            <a:avLst/>
          </a:prstGeom>
          <a:noFill/>
          <a:ln/>
        </p:spPr>
        <p:txBody>
          <a:bodyPr wrap="square" lIns="0" tIns="0" rIns="0" bIns="0" rtlCol="0" anchor="ctr"/>
          <a:lstStyle/>
          <a:p>
            <a:pPr marL="0" indent="0">
              <a:buNone/>
            </a:pPr>
            <a:r>
              <a:rPr lang="en-US" sz="1100" kern="0" spc="180" dirty="0">
                <a:solidFill>
                  <a:srgbClr val="9A9089"/>
                </a:solidFill>
                <a:latin typeface="IBM Plex Mono" pitchFamily="34" charset="0"/>
                <a:ea typeface="IBM Plex Mono" pitchFamily="34" charset="-122"/>
                <a:cs typeface="IBM Plex Mono" pitchFamily="34" charset="-120"/>
              </a:rPr>
              <a:t>03</a:t>
            </a:r>
            <a:endParaRPr lang="en-US" sz="1100" dirty="0"/>
          </a:p>
        </p:txBody>
      </p:sp>
      <p:sp>
        <p:nvSpPr>
          <p:cNvPr id="7" name="Text 5"/>
          <p:cNvSpPr/>
          <p:nvPr/>
        </p:nvSpPr>
        <p:spPr>
          <a:xfrm>
            <a:off x="640080" y="1965960"/>
            <a:ext cx="3017520" cy="502920"/>
          </a:xfrm>
          <a:prstGeom prst="rect">
            <a:avLst/>
          </a:prstGeom>
          <a:noFill/>
          <a:ln/>
        </p:spPr>
        <p:txBody>
          <a:bodyPr wrap="square" lIns="0" tIns="0" rIns="0" bIns="0" rtlCol="0" anchor="ctr"/>
          <a:lstStyle/>
          <a:p>
            <a:pPr marL="0" indent="0">
              <a:buNone/>
            </a:pPr>
            <a:r>
              <a:rPr lang="en-US" sz="2200" b="1" dirty="0">
                <a:solidFill>
                  <a:srgbClr val="7030A0"/>
                </a:solidFill>
                <a:latin typeface="Space Grotesk" pitchFamily="34" charset="0"/>
                <a:ea typeface="Space Grotesk" pitchFamily="34" charset="-122"/>
                <a:cs typeface="Space Grotesk" pitchFamily="34" charset="-120"/>
              </a:rPr>
              <a:t>Vidéo</a:t>
            </a:r>
            <a:endParaRPr lang="en-US" sz="2200" dirty="0">
              <a:solidFill>
                <a:srgbClr val="7030A0"/>
              </a:solidFill>
            </a:endParaRPr>
          </a:p>
        </p:txBody>
      </p:sp>
      <p:sp>
        <p:nvSpPr>
          <p:cNvPr id="8" name="Text 6"/>
          <p:cNvSpPr/>
          <p:nvPr/>
        </p:nvSpPr>
        <p:spPr>
          <a:xfrm>
            <a:off x="640080" y="2514600"/>
            <a:ext cx="3017520" cy="1463040"/>
          </a:xfrm>
          <a:prstGeom prst="rect">
            <a:avLst/>
          </a:prstGeom>
          <a:noFill/>
          <a:ln/>
        </p:spPr>
        <p:txBody>
          <a:bodyPr wrap="square" lIns="0" tIns="0" rIns="0" bIns="0" rtlCol="0" anchor="ctr"/>
          <a:lstStyle/>
          <a:p>
            <a:pPr marL="0" indent="0">
              <a:lnSpc>
                <a:spcPct val="130000"/>
              </a:lnSpc>
              <a:buNone/>
            </a:pPr>
            <a:r>
              <a:rPr lang="en-US" sz="1200" dirty="0">
                <a:solidFill>
                  <a:srgbClr val="A89F95"/>
                </a:solidFill>
                <a:latin typeface="IBM Plex Sans" pitchFamily="34" charset="0"/>
                <a:ea typeface="IBM Plex Sans" pitchFamily="34" charset="-122"/>
                <a:cs typeface="IBM Plex Sans" pitchFamily="34" charset="-120"/>
              </a:rPr>
              <a:t>Génération et montage de séquences.</a:t>
            </a:r>
            <a:endParaRPr lang="en-US" sz="1200" dirty="0"/>
          </a:p>
        </p:txBody>
      </p:sp>
      <p:sp>
        <p:nvSpPr>
          <p:cNvPr id="9" name="Shape 7"/>
          <p:cNvSpPr/>
          <p:nvPr/>
        </p:nvSpPr>
        <p:spPr>
          <a:xfrm>
            <a:off x="3977640" y="1371600"/>
            <a:ext cx="0" cy="4892040"/>
          </a:xfrm>
          <a:prstGeom prst="line">
            <a:avLst/>
          </a:prstGeom>
          <a:noFill/>
          <a:ln w="12700">
            <a:solidFill>
              <a:srgbClr val="37312A"/>
            </a:solidFill>
            <a:prstDash val="solid"/>
          </a:ln>
        </p:spPr>
        <p:txBody>
          <a:bodyPr/>
          <a:lstStyle/>
          <a:p>
            <a:endParaRPr lang="fr-FR"/>
          </a:p>
        </p:txBody>
      </p:sp>
      <p:sp>
        <p:nvSpPr>
          <p:cNvPr id="10" name="Shape 8"/>
          <p:cNvSpPr/>
          <p:nvPr/>
        </p:nvSpPr>
        <p:spPr>
          <a:xfrm>
            <a:off x="4343400" y="1371600"/>
            <a:ext cx="7178040" cy="4892040"/>
          </a:xfrm>
          <a:prstGeom prst="roundRect">
            <a:avLst>
              <a:gd name="adj" fmla="val 2430"/>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9"/>
          <p:cNvSpPr/>
          <p:nvPr/>
        </p:nvSpPr>
        <p:spPr>
          <a:xfrm>
            <a:off x="4617720" y="1572768"/>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Sora</a:t>
            </a:r>
            <a:endParaRPr lang="en-US" sz="1250" dirty="0"/>
          </a:p>
        </p:txBody>
      </p:sp>
      <p:sp>
        <p:nvSpPr>
          <p:cNvPr id="12" name="Text 10"/>
          <p:cNvSpPr/>
          <p:nvPr/>
        </p:nvSpPr>
        <p:spPr>
          <a:xfrm>
            <a:off x="6537960" y="1572768"/>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Vidéo réaliste à partir de texte (OpenAI)</a:t>
            </a:r>
            <a:endParaRPr lang="en-US" sz="1050" dirty="0"/>
          </a:p>
        </p:txBody>
      </p:sp>
      <p:sp>
        <p:nvSpPr>
          <p:cNvPr id="13" name="Shape 11"/>
          <p:cNvSpPr/>
          <p:nvPr/>
        </p:nvSpPr>
        <p:spPr>
          <a:xfrm>
            <a:off x="10332720" y="1884578"/>
            <a:ext cx="896112" cy="274320"/>
          </a:xfrm>
          <a:prstGeom prst="roundRect">
            <a:avLst>
              <a:gd name="adj" fmla="val 50000"/>
            </a:avLst>
          </a:prstGeom>
          <a:solidFill>
            <a:srgbClr val="F0965A">
              <a:alpha val="26000"/>
            </a:srgbClr>
          </a:solidFill>
          <a:ln w="9525">
            <a:solidFill>
              <a:srgbClr val="F0965A">
                <a:alpha val="55000"/>
              </a:srgbClr>
            </a:solidFill>
            <a:prstDash val="solid"/>
          </a:ln>
        </p:spPr>
        <p:txBody>
          <a:bodyPr/>
          <a:lstStyle/>
          <a:p>
            <a:endParaRPr lang="fr-FR"/>
          </a:p>
        </p:txBody>
      </p:sp>
      <p:sp>
        <p:nvSpPr>
          <p:cNvPr id="14" name="Text 12"/>
          <p:cNvSpPr/>
          <p:nvPr/>
        </p:nvSpPr>
        <p:spPr>
          <a:xfrm>
            <a:off x="10332720" y="1884578"/>
            <a:ext cx="896112" cy="274320"/>
          </a:xfrm>
          <a:prstGeom prst="rect">
            <a:avLst/>
          </a:prstGeom>
          <a:noFill/>
          <a:ln/>
        </p:spPr>
        <p:txBody>
          <a:bodyPr wrap="square" lIns="0" tIns="0" rIns="0" bIns="0" rtlCol="0" anchor="ctr"/>
          <a:lstStyle/>
          <a:p>
            <a:pPr marL="0" indent="0" algn="ctr">
              <a:buNone/>
            </a:pPr>
            <a:r>
              <a:rPr lang="en-US" sz="800" kern="0" spc="80" dirty="0">
                <a:solidFill>
                  <a:srgbClr val="F0A875"/>
                </a:solidFill>
                <a:latin typeface="IBM Plex Mono" pitchFamily="34" charset="0"/>
                <a:ea typeface="IBM Plex Mono" pitchFamily="34" charset="-122"/>
                <a:cs typeface="IBM Plex Mono" pitchFamily="34" charset="-120"/>
              </a:rPr>
              <a:t>PAYANT</a:t>
            </a:r>
            <a:endParaRPr lang="en-US" sz="800" dirty="0"/>
          </a:p>
        </p:txBody>
      </p:sp>
      <p:sp>
        <p:nvSpPr>
          <p:cNvPr id="15" name="Shape 13"/>
          <p:cNvSpPr/>
          <p:nvPr/>
        </p:nvSpPr>
        <p:spPr>
          <a:xfrm>
            <a:off x="4617720" y="2470709"/>
            <a:ext cx="6629400" cy="0"/>
          </a:xfrm>
          <a:prstGeom prst="line">
            <a:avLst/>
          </a:prstGeom>
          <a:noFill/>
          <a:ln w="6350">
            <a:solidFill>
              <a:srgbClr val="F2ECE4">
                <a:alpha val="30000"/>
              </a:srgbClr>
            </a:solidFill>
            <a:prstDash val="solid"/>
          </a:ln>
        </p:spPr>
        <p:txBody>
          <a:bodyPr/>
          <a:lstStyle/>
          <a:p>
            <a:endParaRPr lang="fr-FR"/>
          </a:p>
        </p:txBody>
      </p:sp>
      <p:sp>
        <p:nvSpPr>
          <p:cNvPr id="16" name="Text 14"/>
          <p:cNvSpPr/>
          <p:nvPr/>
        </p:nvSpPr>
        <p:spPr>
          <a:xfrm>
            <a:off x="4617720" y="2470709"/>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Runway</a:t>
            </a:r>
            <a:endParaRPr lang="en-US" sz="1250" dirty="0"/>
          </a:p>
        </p:txBody>
      </p:sp>
      <p:sp>
        <p:nvSpPr>
          <p:cNvPr id="17" name="Text 15"/>
          <p:cNvSpPr/>
          <p:nvPr/>
        </p:nvSpPr>
        <p:spPr>
          <a:xfrm>
            <a:off x="6537960" y="2470709"/>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Montage et effets assistés par IA</a:t>
            </a:r>
            <a:endParaRPr lang="en-US" sz="1050" dirty="0"/>
          </a:p>
        </p:txBody>
      </p:sp>
      <p:sp>
        <p:nvSpPr>
          <p:cNvPr id="18" name="Shape 16"/>
          <p:cNvSpPr/>
          <p:nvPr/>
        </p:nvSpPr>
        <p:spPr>
          <a:xfrm>
            <a:off x="10332720" y="2782519"/>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19" name="Text 17"/>
          <p:cNvSpPr/>
          <p:nvPr/>
        </p:nvSpPr>
        <p:spPr>
          <a:xfrm>
            <a:off x="10332720" y="2782519"/>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20" name="Shape 18"/>
          <p:cNvSpPr/>
          <p:nvPr/>
        </p:nvSpPr>
        <p:spPr>
          <a:xfrm>
            <a:off x="4617720" y="3368650"/>
            <a:ext cx="6629400" cy="0"/>
          </a:xfrm>
          <a:prstGeom prst="line">
            <a:avLst/>
          </a:prstGeom>
          <a:noFill/>
          <a:ln w="6350">
            <a:solidFill>
              <a:srgbClr val="F2ECE4">
                <a:alpha val="30000"/>
              </a:srgbClr>
            </a:solidFill>
            <a:prstDash val="solid"/>
          </a:ln>
        </p:spPr>
        <p:txBody>
          <a:bodyPr/>
          <a:lstStyle/>
          <a:p>
            <a:endParaRPr lang="fr-FR"/>
          </a:p>
        </p:txBody>
      </p:sp>
      <p:sp>
        <p:nvSpPr>
          <p:cNvPr id="21" name="Text 19"/>
          <p:cNvSpPr/>
          <p:nvPr/>
        </p:nvSpPr>
        <p:spPr>
          <a:xfrm>
            <a:off x="4617720" y="3368650"/>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Kling</a:t>
            </a:r>
            <a:endParaRPr lang="en-US" sz="1250" dirty="0"/>
          </a:p>
        </p:txBody>
      </p:sp>
      <p:sp>
        <p:nvSpPr>
          <p:cNvPr id="22" name="Text 20"/>
          <p:cNvSpPr/>
          <p:nvPr/>
        </p:nvSpPr>
        <p:spPr>
          <a:xfrm>
            <a:off x="6537960" y="3368650"/>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Clips réalistes, mouvements fluides</a:t>
            </a:r>
            <a:endParaRPr lang="en-US" sz="1050" dirty="0"/>
          </a:p>
        </p:txBody>
      </p:sp>
      <p:sp>
        <p:nvSpPr>
          <p:cNvPr id="23" name="Shape 21"/>
          <p:cNvSpPr/>
          <p:nvPr/>
        </p:nvSpPr>
        <p:spPr>
          <a:xfrm>
            <a:off x="10332720" y="3680460"/>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24" name="Text 22"/>
          <p:cNvSpPr/>
          <p:nvPr/>
        </p:nvSpPr>
        <p:spPr>
          <a:xfrm>
            <a:off x="10332720" y="3680460"/>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25" name="Shape 23"/>
          <p:cNvSpPr/>
          <p:nvPr/>
        </p:nvSpPr>
        <p:spPr>
          <a:xfrm>
            <a:off x="4617720" y="4266590"/>
            <a:ext cx="6629400" cy="0"/>
          </a:xfrm>
          <a:prstGeom prst="line">
            <a:avLst/>
          </a:prstGeom>
          <a:noFill/>
          <a:ln w="6350">
            <a:solidFill>
              <a:srgbClr val="F2ECE4">
                <a:alpha val="30000"/>
              </a:srgbClr>
            </a:solidFill>
            <a:prstDash val="solid"/>
          </a:ln>
        </p:spPr>
        <p:txBody>
          <a:bodyPr/>
          <a:lstStyle/>
          <a:p>
            <a:endParaRPr lang="fr-FR"/>
          </a:p>
        </p:txBody>
      </p:sp>
      <p:sp>
        <p:nvSpPr>
          <p:cNvPr id="26" name="Text 24"/>
          <p:cNvSpPr/>
          <p:nvPr/>
        </p:nvSpPr>
        <p:spPr>
          <a:xfrm>
            <a:off x="4617720" y="4266590"/>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Veo</a:t>
            </a:r>
            <a:endParaRPr lang="en-US" sz="1250" dirty="0"/>
          </a:p>
        </p:txBody>
      </p:sp>
      <p:sp>
        <p:nvSpPr>
          <p:cNvPr id="27" name="Text 25"/>
          <p:cNvSpPr/>
          <p:nvPr/>
        </p:nvSpPr>
        <p:spPr>
          <a:xfrm>
            <a:off x="6537960" y="4266590"/>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Vidéo haute qualité chez Google</a:t>
            </a:r>
            <a:endParaRPr lang="en-US" sz="1050" dirty="0"/>
          </a:p>
        </p:txBody>
      </p:sp>
      <p:sp>
        <p:nvSpPr>
          <p:cNvPr id="28" name="Shape 26"/>
          <p:cNvSpPr/>
          <p:nvPr/>
        </p:nvSpPr>
        <p:spPr>
          <a:xfrm>
            <a:off x="10332720" y="4578401"/>
            <a:ext cx="896112" cy="274320"/>
          </a:xfrm>
          <a:prstGeom prst="roundRect">
            <a:avLst>
              <a:gd name="adj" fmla="val 50000"/>
            </a:avLst>
          </a:prstGeom>
          <a:solidFill>
            <a:srgbClr val="F0965A">
              <a:alpha val="26000"/>
            </a:srgbClr>
          </a:solidFill>
          <a:ln w="9525">
            <a:solidFill>
              <a:srgbClr val="F0965A">
                <a:alpha val="55000"/>
              </a:srgbClr>
            </a:solidFill>
            <a:prstDash val="solid"/>
          </a:ln>
        </p:spPr>
        <p:txBody>
          <a:bodyPr/>
          <a:lstStyle/>
          <a:p>
            <a:endParaRPr lang="fr-FR"/>
          </a:p>
        </p:txBody>
      </p:sp>
      <p:sp>
        <p:nvSpPr>
          <p:cNvPr id="29" name="Text 27"/>
          <p:cNvSpPr/>
          <p:nvPr/>
        </p:nvSpPr>
        <p:spPr>
          <a:xfrm>
            <a:off x="10332720" y="4578401"/>
            <a:ext cx="896112" cy="274320"/>
          </a:xfrm>
          <a:prstGeom prst="rect">
            <a:avLst/>
          </a:prstGeom>
          <a:noFill/>
          <a:ln/>
        </p:spPr>
        <p:txBody>
          <a:bodyPr wrap="square" lIns="0" tIns="0" rIns="0" bIns="0" rtlCol="0" anchor="ctr"/>
          <a:lstStyle/>
          <a:p>
            <a:pPr marL="0" indent="0" algn="ctr">
              <a:buNone/>
            </a:pPr>
            <a:r>
              <a:rPr lang="en-US" sz="800" kern="0" spc="80" dirty="0">
                <a:solidFill>
                  <a:srgbClr val="F0A875"/>
                </a:solidFill>
                <a:latin typeface="IBM Plex Mono" pitchFamily="34" charset="0"/>
                <a:ea typeface="IBM Plex Mono" pitchFamily="34" charset="-122"/>
                <a:cs typeface="IBM Plex Mono" pitchFamily="34" charset="-120"/>
              </a:rPr>
              <a:t>PAYANT</a:t>
            </a:r>
            <a:endParaRPr lang="en-US" sz="800" dirty="0"/>
          </a:p>
        </p:txBody>
      </p:sp>
      <p:sp>
        <p:nvSpPr>
          <p:cNvPr id="30" name="Shape 28"/>
          <p:cNvSpPr/>
          <p:nvPr/>
        </p:nvSpPr>
        <p:spPr>
          <a:xfrm>
            <a:off x="4617720" y="5164531"/>
            <a:ext cx="6629400" cy="0"/>
          </a:xfrm>
          <a:prstGeom prst="line">
            <a:avLst/>
          </a:prstGeom>
          <a:noFill/>
          <a:ln w="6350">
            <a:solidFill>
              <a:srgbClr val="F2ECE4">
                <a:alpha val="30000"/>
              </a:srgbClr>
            </a:solidFill>
            <a:prstDash val="solid"/>
          </a:ln>
        </p:spPr>
        <p:txBody>
          <a:bodyPr/>
          <a:lstStyle/>
          <a:p>
            <a:endParaRPr lang="fr-FR"/>
          </a:p>
        </p:txBody>
      </p:sp>
      <p:sp>
        <p:nvSpPr>
          <p:cNvPr id="31" name="Text 29"/>
          <p:cNvSpPr/>
          <p:nvPr/>
        </p:nvSpPr>
        <p:spPr>
          <a:xfrm>
            <a:off x="4617720" y="5164531"/>
            <a:ext cx="1828800" cy="897941"/>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Pika</a:t>
            </a:r>
            <a:endParaRPr lang="en-US" sz="1250" dirty="0"/>
          </a:p>
        </p:txBody>
      </p:sp>
      <p:sp>
        <p:nvSpPr>
          <p:cNvPr id="32" name="Text 30"/>
          <p:cNvSpPr/>
          <p:nvPr/>
        </p:nvSpPr>
        <p:spPr>
          <a:xfrm>
            <a:off x="6537960" y="5164531"/>
            <a:ext cx="3703320" cy="897941"/>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Animations courtes et rapides</a:t>
            </a:r>
            <a:endParaRPr lang="en-US" sz="1050" dirty="0"/>
          </a:p>
        </p:txBody>
      </p:sp>
      <p:sp>
        <p:nvSpPr>
          <p:cNvPr id="33" name="Shape 31"/>
          <p:cNvSpPr/>
          <p:nvPr/>
        </p:nvSpPr>
        <p:spPr>
          <a:xfrm>
            <a:off x="10332720" y="5476342"/>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34" name="Text 32"/>
          <p:cNvSpPr/>
          <p:nvPr/>
        </p:nvSpPr>
        <p:spPr>
          <a:xfrm>
            <a:off x="10332720" y="5476342"/>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35" name="Text 3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36" name="Text 3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13</a:t>
            </a:r>
            <a:endParaRPr lang="en-US" sz="900" dirty="0"/>
          </a:p>
        </p:txBody>
      </p:sp>
      <p:pic>
        <p:nvPicPr>
          <p:cNvPr id="38" name="Image 37">
            <a:extLst>
              <a:ext uri="{FF2B5EF4-FFF2-40B4-BE49-F238E27FC236}">
                <a16:creationId xmlns:a16="http://schemas.microsoft.com/office/drawing/2014/main" id="{80AD6EF6-E858-3300-D868-7EA7E67087D3}"/>
              </a:ext>
            </a:extLst>
          </p:cNvPr>
          <p:cNvPicPr>
            <a:picLocks noChangeAspect="1"/>
          </p:cNvPicPr>
          <p:nvPr/>
        </p:nvPicPr>
        <p:blipFill>
          <a:blip r:embed="rId3"/>
          <a:stretch>
            <a:fillRect/>
          </a:stretch>
        </p:blipFill>
        <p:spPr>
          <a:xfrm>
            <a:off x="51876" y="106849"/>
            <a:ext cx="1048603" cy="10546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3566160" y="384048"/>
            <a:ext cx="5943600" cy="292608"/>
          </a:xfrm>
          <a:prstGeom prst="rect">
            <a:avLst/>
          </a:prstGeom>
          <a:noFill/>
          <a:ln/>
        </p:spPr>
        <p:txBody>
          <a:bodyPr wrap="square" lIns="0" tIns="0" rIns="0" bIns="0" rtlCol="0" anchor="ctr"/>
          <a:lstStyle/>
          <a:p>
            <a:pPr marL="0" indent="0">
              <a:buNone/>
            </a:pPr>
            <a:r>
              <a:rPr lang="en-US" sz="1100" kern="0" spc="250" dirty="0">
                <a:solidFill>
                  <a:srgbClr val="D9A883"/>
                </a:solidFill>
                <a:latin typeface="IBM Plex Mono" pitchFamily="34" charset="0"/>
                <a:ea typeface="IBM Plex Mono" pitchFamily="34" charset="-122"/>
                <a:cs typeface="IBM Plex Mono" pitchFamily="34" charset="-120"/>
              </a:rPr>
              <a:t>PANORAMA IA  ·  ÉDITION 2026</a:t>
            </a:r>
            <a:endParaRPr lang="en-US" sz="1100" dirty="0"/>
          </a:p>
        </p:txBody>
      </p:sp>
      <p:sp>
        <p:nvSpPr>
          <p:cNvPr id="3" name="Text 1"/>
          <p:cNvSpPr/>
          <p:nvPr/>
        </p:nvSpPr>
        <p:spPr>
          <a:xfrm>
            <a:off x="9235440" y="384048"/>
            <a:ext cx="2286000" cy="292608"/>
          </a:xfrm>
          <a:prstGeom prst="rect">
            <a:avLst/>
          </a:prstGeom>
          <a:noFill/>
          <a:ln/>
        </p:spPr>
        <p:txBody>
          <a:bodyPr wrap="square" lIns="0" tIns="0" rIns="0" bIns="0" rtlCol="0" anchor="ctr"/>
          <a:lstStyle/>
          <a:p>
            <a:pPr marL="0" indent="0" algn="r">
              <a:buNone/>
            </a:pPr>
            <a:r>
              <a:rPr lang="en-US" sz="950" kern="0" spc="120" dirty="0">
                <a:solidFill>
                  <a:srgbClr val="9A9089"/>
                </a:solidFill>
                <a:latin typeface="IBM Plex Mono" pitchFamily="34" charset="0"/>
                <a:ea typeface="IBM Plex Mono" pitchFamily="34" charset="-122"/>
                <a:cs typeface="IBM Plex Mono" pitchFamily="34" charset="-120"/>
              </a:rPr>
              <a:t>04 / 05</a:t>
            </a:r>
            <a:endParaRPr lang="en-US" sz="950" dirty="0"/>
          </a:p>
        </p:txBody>
      </p:sp>
      <p:sp>
        <p:nvSpPr>
          <p:cNvPr id="4" name="Shape 2"/>
          <p:cNvSpPr/>
          <p:nvPr/>
        </p:nvSpPr>
        <p:spPr>
          <a:xfrm>
            <a:off x="640080" y="1417320"/>
            <a:ext cx="365760" cy="365760"/>
          </a:xfrm>
          <a:prstGeom prst="roundRect">
            <a:avLst>
              <a:gd name="adj" fmla="val 26000"/>
            </a:avLst>
          </a:prstGeom>
          <a:solidFill>
            <a:srgbClr val="E6C86E">
              <a:alpha val="28000"/>
            </a:srgbClr>
          </a:solidFill>
          <a:ln/>
        </p:spPr>
        <p:txBody>
          <a:bodyPr/>
          <a:lstStyle/>
          <a:p>
            <a:endParaRPr lang="fr-FR"/>
          </a:p>
        </p:txBody>
      </p:sp>
      <p:sp>
        <p:nvSpPr>
          <p:cNvPr id="5" name="Shape 3"/>
          <p:cNvSpPr/>
          <p:nvPr/>
        </p:nvSpPr>
        <p:spPr>
          <a:xfrm>
            <a:off x="757123" y="1534363"/>
            <a:ext cx="131674" cy="131674"/>
          </a:xfrm>
          <a:prstGeom prst="roundRect">
            <a:avLst>
              <a:gd name="adj" fmla="val 25000"/>
            </a:avLst>
          </a:prstGeom>
          <a:solidFill>
            <a:srgbClr val="E6C86E"/>
          </a:solidFill>
          <a:ln/>
        </p:spPr>
        <p:txBody>
          <a:bodyPr/>
          <a:lstStyle/>
          <a:p>
            <a:endParaRPr lang="fr-FR"/>
          </a:p>
        </p:txBody>
      </p:sp>
      <p:sp>
        <p:nvSpPr>
          <p:cNvPr id="6" name="Text 4"/>
          <p:cNvSpPr/>
          <p:nvPr/>
        </p:nvSpPr>
        <p:spPr>
          <a:xfrm>
            <a:off x="1115568" y="1417320"/>
            <a:ext cx="914400" cy="365760"/>
          </a:xfrm>
          <a:prstGeom prst="rect">
            <a:avLst/>
          </a:prstGeom>
          <a:noFill/>
          <a:ln/>
        </p:spPr>
        <p:txBody>
          <a:bodyPr wrap="square" lIns="0" tIns="0" rIns="0" bIns="0" rtlCol="0" anchor="ctr"/>
          <a:lstStyle/>
          <a:p>
            <a:pPr marL="0" indent="0">
              <a:buNone/>
            </a:pPr>
            <a:r>
              <a:rPr lang="en-US" sz="1100" kern="0" spc="180" dirty="0">
                <a:solidFill>
                  <a:srgbClr val="9A9089"/>
                </a:solidFill>
                <a:latin typeface="IBM Plex Mono" pitchFamily="34" charset="0"/>
                <a:ea typeface="IBM Plex Mono" pitchFamily="34" charset="-122"/>
                <a:cs typeface="IBM Plex Mono" pitchFamily="34" charset="-120"/>
              </a:rPr>
              <a:t>04</a:t>
            </a:r>
            <a:endParaRPr lang="en-US" sz="1100" dirty="0"/>
          </a:p>
        </p:txBody>
      </p:sp>
      <p:sp>
        <p:nvSpPr>
          <p:cNvPr id="7" name="Text 5"/>
          <p:cNvSpPr/>
          <p:nvPr/>
        </p:nvSpPr>
        <p:spPr>
          <a:xfrm>
            <a:off x="640080" y="1965960"/>
            <a:ext cx="3017520" cy="502920"/>
          </a:xfrm>
          <a:prstGeom prst="rect">
            <a:avLst/>
          </a:prstGeom>
          <a:noFill/>
          <a:ln/>
        </p:spPr>
        <p:txBody>
          <a:bodyPr wrap="square" lIns="0" tIns="0" rIns="0" bIns="0" rtlCol="0" anchor="ctr"/>
          <a:lstStyle/>
          <a:p>
            <a:pPr marL="0" indent="0">
              <a:buNone/>
            </a:pPr>
            <a:r>
              <a:rPr lang="en-US" sz="2200" b="1" dirty="0">
                <a:solidFill>
                  <a:srgbClr val="FFFF00"/>
                </a:solidFill>
                <a:latin typeface="Space Grotesk" pitchFamily="34" charset="0"/>
                <a:ea typeface="Space Grotesk" pitchFamily="34" charset="-122"/>
                <a:cs typeface="Space Grotesk" pitchFamily="34" charset="-120"/>
              </a:rPr>
              <a:t>Musique</a:t>
            </a:r>
            <a:endParaRPr lang="en-US" sz="2200" dirty="0">
              <a:solidFill>
                <a:srgbClr val="FFFF00"/>
              </a:solidFill>
            </a:endParaRPr>
          </a:p>
        </p:txBody>
      </p:sp>
      <p:sp>
        <p:nvSpPr>
          <p:cNvPr id="8" name="Text 6"/>
          <p:cNvSpPr/>
          <p:nvPr/>
        </p:nvSpPr>
        <p:spPr>
          <a:xfrm>
            <a:off x="640080" y="2514600"/>
            <a:ext cx="3017520" cy="1463040"/>
          </a:xfrm>
          <a:prstGeom prst="rect">
            <a:avLst/>
          </a:prstGeom>
          <a:noFill/>
          <a:ln/>
        </p:spPr>
        <p:txBody>
          <a:bodyPr wrap="square" lIns="0" tIns="0" rIns="0" bIns="0" rtlCol="0" anchor="ctr"/>
          <a:lstStyle/>
          <a:p>
            <a:pPr marL="0" indent="0">
              <a:lnSpc>
                <a:spcPct val="130000"/>
              </a:lnSpc>
              <a:buNone/>
            </a:pPr>
            <a:r>
              <a:rPr lang="en-US" sz="1200" dirty="0">
                <a:solidFill>
                  <a:srgbClr val="A89F95"/>
                </a:solidFill>
                <a:latin typeface="IBM Plex Sans" pitchFamily="34" charset="0"/>
                <a:ea typeface="IBM Plex Sans" pitchFamily="34" charset="-122"/>
                <a:cs typeface="IBM Plex Sans" pitchFamily="34" charset="-120"/>
              </a:rPr>
              <a:t>Composition et bandes sonores.</a:t>
            </a:r>
            <a:endParaRPr lang="en-US" sz="1200" dirty="0"/>
          </a:p>
        </p:txBody>
      </p:sp>
      <p:sp>
        <p:nvSpPr>
          <p:cNvPr id="9" name="Shape 7"/>
          <p:cNvSpPr/>
          <p:nvPr/>
        </p:nvSpPr>
        <p:spPr>
          <a:xfrm>
            <a:off x="3977640" y="1371600"/>
            <a:ext cx="0" cy="4892040"/>
          </a:xfrm>
          <a:prstGeom prst="line">
            <a:avLst/>
          </a:prstGeom>
          <a:noFill/>
          <a:ln w="12700">
            <a:solidFill>
              <a:srgbClr val="37312A"/>
            </a:solidFill>
            <a:prstDash val="solid"/>
          </a:ln>
        </p:spPr>
        <p:txBody>
          <a:bodyPr/>
          <a:lstStyle/>
          <a:p>
            <a:endParaRPr lang="fr-FR"/>
          </a:p>
        </p:txBody>
      </p:sp>
      <p:sp>
        <p:nvSpPr>
          <p:cNvPr id="10" name="Shape 8"/>
          <p:cNvSpPr/>
          <p:nvPr/>
        </p:nvSpPr>
        <p:spPr>
          <a:xfrm>
            <a:off x="4343400" y="1371600"/>
            <a:ext cx="7178040" cy="4892040"/>
          </a:xfrm>
          <a:prstGeom prst="roundRect">
            <a:avLst>
              <a:gd name="adj" fmla="val 2430"/>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9"/>
          <p:cNvSpPr/>
          <p:nvPr/>
        </p:nvSpPr>
        <p:spPr>
          <a:xfrm>
            <a:off x="4617720" y="1572768"/>
            <a:ext cx="1828800" cy="1496568"/>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Suno</a:t>
            </a:r>
            <a:endParaRPr lang="en-US" sz="1250" dirty="0"/>
          </a:p>
        </p:txBody>
      </p:sp>
      <p:sp>
        <p:nvSpPr>
          <p:cNvPr id="12" name="Text 10"/>
          <p:cNvSpPr/>
          <p:nvPr/>
        </p:nvSpPr>
        <p:spPr>
          <a:xfrm>
            <a:off x="6537960" y="1572768"/>
            <a:ext cx="3703320" cy="1496568"/>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Chansons complètes avec paroles</a:t>
            </a:r>
            <a:endParaRPr lang="en-US" sz="1050" dirty="0"/>
          </a:p>
        </p:txBody>
      </p:sp>
      <p:sp>
        <p:nvSpPr>
          <p:cNvPr id="13" name="Shape 11"/>
          <p:cNvSpPr/>
          <p:nvPr/>
        </p:nvSpPr>
        <p:spPr>
          <a:xfrm>
            <a:off x="10332720" y="2183892"/>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14" name="Text 12"/>
          <p:cNvSpPr/>
          <p:nvPr/>
        </p:nvSpPr>
        <p:spPr>
          <a:xfrm>
            <a:off x="10332720" y="2183892"/>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15" name="Shape 13"/>
          <p:cNvSpPr/>
          <p:nvPr/>
        </p:nvSpPr>
        <p:spPr>
          <a:xfrm>
            <a:off x="4617720" y="3069336"/>
            <a:ext cx="6629400" cy="0"/>
          </a:xfrm>
          <a:prstGeom prst="line">
            <a:avLst/>
          </a:prstGeom>
          <a:noFill/>
          <a:ln w="6350">
            <a:solidFill>
              <a:srgbClr val="F2ECE4">
                <a:alpha val="30000"/>
              </a:srgbClr>
            </a:solidFill>
            <a:prstDash val="solid"/>
          </a:ln>
        </p:spPr>
        <p:txBody>
          <a:bodyPr/>
          <a:lstStyle/>
          <a:p>
            <a:endParaRPr lang="fr-FR"/>
          </a:p>
        </p:txBody>
      </p:sp>
      <p:sp>
        <p:nvSpPr>
          <p:cNvPr id="16" name="Text 14"/>
          <p:cNvSpPr/>
          <p:nvPr/>
        </p:nvSpPr>
        <p:spPr>
          <a:xfrm>
            <a:off x="4617720" y="3069336"/>
            <a:ext cx="1828800" cy="1496568"/>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Udio</a:t>
            </a:r>
            <a:endParaRPr lang="en-US" sz="1250" dirty="0"/>
          </a:p>
        </p:txBody>
      </p:sp>
      <p:sp>
        <p:nvSpPr>
          <p:cNvPr id="17" name="Text 15"/>
          <p:cNvSpPr/>
          <p:nvPr/>
        </p:nvSpPr>
        <p:spPr>
          <a:xfrm>
            <a:off x="6537960" y="3069336"/>
            <a:ext cx="3703320" cy="1496568"/>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Morceaux de qualité studio</a:t>
            </a:r>
            <a:endParaRPr lang="en-US" sz="1050" dirty="0"/>
          </a:p>
        </p:txBody>
      </p:sp>
      <p:sp>
        <p:nvSpPr>
          <p:cNvPr id="18" name="Shape 16"/>
          <p:cNvSpPr/>
          <p:nvPr/>
        </p:nvSpPr>
        <p:spPr>
          <a:xfrm>
            <a:off x="10332720" y="3680460"/>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19" name="Text 17"/>
          <p:cNvSpPr/>
          <p:nvPr/>
        </p:nvSpPr>
        <p:spPr>
          <a:xfrm>
            <a:off x="10332720" y="3680460"/>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20" name="Shape 18"/>
          <p:cNvSpPr/>
          <p:nvPr/>
        </p:nvSpPr>
        <p:spPr>
          <a:xfrm>
            <a:off x="4617720" y="4565904"/>
            <a:ext cx="6629400" cy="0"/>
          </a:xfrm>
          <a:prstGeom prst="line">
            <a:avLst/>
          </a:prstGeom>
          <a:noFill/>
          <a:ln w="6350">
            <a:solidFill>
              <a:srgbClr val="F2ECE4">
                <a:alpha val="30000"/>
              </a:srgbClr>
            </a:solidFill>
            <a:prstDash val="solid"/>
          </a:ln>
        </p:spPr>
        <p:txBody>
          <a:bodyPr/>
          <a:lstStyle/>
          <a:p>
            <a:endParaRPr lang="fr-FR"/>
          </a:p>
        </p:txBody>
      </p:sp>
      <p:sp>
        <p:nvSpPr>
          <p:cNvPr id="21" name="Text 19"/>
          <p:cNvSpPr/>
          <p:nvPr/>
        </p:nvSpPr>
        <p:spPr>
          <a:xfrm>
            <a:off x="4617720" y="4565904"/>
            <a:ext cx="1828800" cy="1496568"/>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ElevenLabs Music</a:t>
            </a:r>
            <a:endParaRPr lang="en-US" sz="1250" dirty="0"/>
          </a:p>
        </p:txBody>
      </p:sp>
      <p:sp>
        <p:nvSpPr>
          <p:cNvPr id="22" name="Text 20"/>
          <p:cNvSpPr/>
          <p:nvPr/>
        </p:nvSpPr>
        <p:spPr>
          <a:xfrm>
            <a:off x="6537960" y="4565904"/>
            <a:ext cx="3703320" cy="1496568"/>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Bandes sonores et habillage</a:t>
            </a:r>
            <a:endParaRPr lang="en-US" sz="1050" dirty="0"/>
          </a:p>
        </p:txBody>
      </p:sp>
      <p:sp>
        <p:nvSpPr>
          <p:cNvPr id="23" name="Shape 21"/>
          <p:cNvSpPr/>
          <p:nvPr/>
        </p:nvSpPr>
        <p:spPr>
          <a:xfrm>
            <a:off x="10332720" y="5177028"/>
            <a:ext cx="896112" cy="274320"/>
          </a:xfrm>
          <a:prstGeom prst="roundRect">
            <a:avLst>
              <a:gd name="adj" fmla="val 50000"/>
            </a:avLst>
          </a:prstGeom>
          <a:solidFill>
            <a:srgbClr val="F0965A">
              <a:alpha val="26000"/>
            </a:srgbClr>
          </a:solidFill>
          <a:ln w="9525">
            <a:solidFill>
              <a:srgbClr val="F0965A">
                <a:alpha val="55000"/>
              </a:srgbClr>
            </a:solidFill>
            <a:prstDash val="solid"/>
          </a:ln>
        </p:spPr>
        <p:txBody>
          <a:bodyPr/>
          <a:lstStyle/>
          <a:p>
            <a:endParaRPr lang="fr-FR"/>
          </a:p>
        </p:txBody>
      </p:sp>
      <p:sp>
        <p:nvSpPr>
          <p:cNvPr id="24" name="Text 22"/>
          <p:cNvSpPr/>
          <p:nvPr/>
        </p:nvSpPr>
        <p:spPr>
          <a:xfrm>
            <a:off x="10332720" y="5177028"/>
            <a:ext cx="896112" cy="274320"/>
          </a:xfrm>
          <a:prstGeom prst="rect">
            <a:avLst/>
          </a:prstGeom>
          <a:noFill/>
          <a:ln/>
        </p:spPr>
        <p:txBody>
          <a:bodyPr wrap="square" lIns="0" tIns="0" rIns="0" bIns="0" rtlCol="0" anchor="ctr"/>
          <a:lstStyle/>
          <a:p>
            <a:pPr marL="0" indent="0" algn="ctr">
              <a:buNone/>
            </a:pPr>
            <a:r>
              <a:rPr lang="en-US" sz="800" kern="0" spc="80" dirty="0">
                <a:solidFill>
                  <a:srgbClr val="F0A875"/>
                </a:solidFill>
                <a:latin typeface="IBM Plex Mono" pitchFamily="34" charset="0"/>
                <a:ea typeface="IBM Plex Mono" pitchFamily="34" charset="-122"/>
                <a:cs typeface="IBM Plex Mono" pitchFamily="34" charset="-120"/>
              </a:rPr>
              <a:t>PAYANT</a:t>
            </a:r>
            <a:endParaRPr lang="en-US" sz="80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26" name="Text 2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14</a:t>
            </a:r>
            <a:endParaRPr lang="en-US" sz="900" dirty="0"/>
          </a:p>
        </p:txBody>
      </p:sp>
      <p:pic>
        <p:nvPicPr>
          <p:cNvPr id="28" name="Image 27">
            <a:extLst>
              <a:ext uri="{FF2B5EF4-FFF2-40B4-BE49-F238E27FC236}">
                <a16:creationId xmlns:a16="http://schemas.microsoft.com/office/drawing/2014/main" id="{59D8ADE9-73C6-5CB9-FD6A-7CAC61A2B84A}"/>
              </a:ext>
            </a:extLst>
          </p:cNvPr>
          <p:cNvPicPr>
            <a:picLocks noChangeAspect="1"/>
          </p:cNvPicPr>
          <p:nvPr/>
        </p:nvPicPr>
        <p:blipFill>
          <a:blip r:embed="rId3"/>
          <a:stretch>
            <a:fillRect/>
          </a:stretch>
        </p:blipFill>
        <p:spPr>
          <a:xfrm>
            <a:off x="115778" y="18288"/>
            <a:ext cx="1048603" cy="10546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1282876" y="384048"/>
            <a:ext cx="5943600" cy="292608"/>
          </a:xfrm>
          <a:prstGeom prst="rect">
            <a:avLst/>
          </a:prstGeom>
          <a:noFill/>
          <a:ln/>
        </p:spPr>
        <p:txBody>
          <a:bodyPr wrap="square" lIns="0" tIns="0" rIns="0" bIns="0" rtlCol="0" anchor="ctr"/>
          <a:lstStyle/>
          <a:p>
            <a:pPr marL="0" indent="0">
              <a:buNone/>
            </a:pPr>
            <a:r>
              <a:rPr lang="en-US" sz="1100" kern="0" spc="250" dirty="0">
                <a:solidFill>
                  <a:srgbClr val="D9A883"/>
                </a:solidFill>
                <a:latin typeface="IBM Plex Mono" pitchFamily="34" charset="0"/>
                <a:ea typeface="IBM Plex Mono" pitchFamily="34" charset="-122"/>
                <a:cs typeface="IBM Plex Mono" pitchFamily="34" charset="-120"/>
              </a:rPr>
              <a:t>                       PANORAMA IA  ·  ÉDITION 2026</a:t>
            </a:r>
            <a:endParaRPr lang="en-US" sz="1100" dirty="0"/>
          </a:p>
        </p:txBody>
      </p:sp>
      <p:sp>
        <p:nvSpPr>
          <p:cNvPr id="3" name="Text 1"/>
          <p:cNvSpPr/>
          <p:nvPr/>
        </p:nvSpPr>
        <p:spPr>
          <a:xfrm>
            <a:off x="9235440" y="384048"/>
            <a:ext cx="2286000" cy="292608"/>
          </a:xfrm>
          <a:prstGeom prst="rect">
            <a:avLst/>
          </a:prstGeom>
          <a:noFill/>
          <a:ln/>
        </p:spPr>
        <p:txBody>
          <a:bodyPr wrap="square" lIns="0" tIns="0" rIns="0" bIns="0" rtlCol="0" anchor="ctr"/>
          <a:lstStyle/>
          <a:p>
            <a:pPr marL="0" indent="0" algn="r">
              <a:buNone/>
            </a:pPr>
            <a:r>
              <a:rPr lang="en-US" sz="950" kern="0" spc="120" dirty="0">
                <a:solidFill>
                  <a:srgbClr val="9A9089"/>
                </a:solidFill>
                <a:latin typeface="IBM Plex Mono" pitchFamily="34" charset="0"/>
                <a:ea typeface="IBM Plex Mono" pitchFamily="34" charset="-122"/>
                <a:cs typeface="IBM Plex Mono" pitchFamily="34" charset="-120"/>
              </a:rPr>
              <a:t>05 / 05</a:t>
            </a:r>
            <a:endParaRPr lang="en-US" sz="950" dirty="0"/>
          </a:p>
        </p:txBody>
      </p:sp>
      <p:sp>
        <p:nvSpPr>
          <p:cNvPr id="4" name="Shape 2"/>
          <p:cNvSpPr/>
          <p:nvPr/>
        </p:nvSpPr>
        <p:spPr>
          <a:xfrm>
            <a:off x="640080" y="1417320"/>
            <a:ext cx="365760" cy="365760"/>
          </a:xfrm>
          <a:prstGeom prst="roundRect">
            <a:avLst>
              <a:gd name="adj" fmla="val 26000"/>
            </a:avLst>
          </a:prstGeom>
          <a:solidFill>
            <a:srgbClr val="78C88C">
              <a:alpha val="28000"/>
            </a:srgbClr>
          </a:solidFill>
          <a:ln/>
        </p:spPr>
        <p:txBody>
          <a:bodyPr/>
          <a:lstStyle/>
          <a:p>
            <a:endParaRPr lang="fr-FR"/>
          </a:p>
        </p:txBody>
      </p:sp>
      <p:sp>
        <p:nvSpPr>
          <p:cNvPr id="5" name="Shape 3"/>
          <p:cNvSpPr/>
          <p:nvPr/>
        </p:nvSpPr>
        <p:spPr>
          <a:xfrm>
            <a:off x="757123" y="1534363"/>
            <a:ext cx="131674" cy="131674"/>
          </a:xfrm>
          <a:prstGeom prst="roundRect">
            <a:avLst>
              <a:gd name="adj" fmla="val 25000"/>
            </a:avLst>
          </a:prstGeom>
          <a:solidFill>
            <a:srgbClr val="78C88C"/>
          </a:solidFill>
          <a:ln/>
        </p:spPr>
        <p:txBody>
          <a:bodyPr/>
          <a:lstStyle/>
          <a:p>
            <a:endParaRPr lang="fr-FR"/>
          </a:p>
        </p:txBody>
      </p:sp>
      <p:sp>
        <p:nvSpPr>
          <p:cNvPr id="6" name="Text 4"/>
          <p:cNvSpPr/>
          <p:nvPr/>
        </p:nvSpPr>
        <p:spPr>
          <a:xfrm>
            <a:off x="1115568" y="1417320"/>
            <a:ext cx="914400" cy="365760"/>
          </a:xfrm>
          <a:prstGeom prst="rect">
            <a:avLst/>
          </a:prstGeom>
          <a:noFill/>
          <a:ln/>
        </p:spPr>
        <p:txBody>
          <a:bodyPr wrap="square" lIns="0" tIns="0" rIns="0" bIns="0" rtlCol="0" anchor="ctr"/>
          <a:lstStyle/>
          <a:p>
            <a:pPr marL="0" indent="0">
              <a:buNone/>
            </a:pPr>
            <a:r>
              <a:rPr lang="en-US" sz="1100" kern="0" spc="180" dirty="0">
                <a:solidFill>
                  <a:srgbClr val="9A9089"/>
                </a:solidFill>
                <a:latin typeface="IBM Plex Mono" pitchFamily="34" charset="0"/>
                <a:ea typeface="IBM Plex Mono" pitchFamily="34" charset="-122"/>
                <a:cs typeface="IBM Plex Mono" pitchFamily="34" charset="-120"/>
              </a:rPr>
              <a:t>05</a:t>
            </a:r>
            <a:endParaRPr lang="en-US" sz="1100" dirty="0"/>
          </a:p>
        </p:txBody>
      </p:sp>
      <p:sp>
        <p:nvSpPr>
          <p:cNvPr id="7" name="Text 5"/>
          <p:cNvSpPr/>
          <p:nvPr/>
        </p:nvSpPr>
        <p:spPr>
          <a:xfrm>
            <a:off x="640080" y="1965960"/>
            <a:ext cx="3017520" cy="502920"/>
          </a:xfrm>
          <a:prstGeom prst="rect">
            <a:avLst/>
          </a:prstGeom>
          <a:noFill/>
          <a:ln/>
        </p:spPr>
        <p:txBody>
          <a:bodyPr wrap="square" lIns="0" tIns="0" rIns="0" bIns="0" rtlCol="0" anchor="ctr"/>
          <a:lstStyle/>
          <a:p>
            <a:pPr marL="0" indent="0">
              <a:buNone/>
            </a:pPr>
            <a:r>
              <a:rPr lang="en-US" sz="2200" b="1" dirty="0">
                <a:solidFill>
                  <a:srgbClr val="00B050"/>
                </a:solidFill>
                <a:latin typeface="Space Grotesk" pitchFamily="34" charset="0"/>
                <a:ea typeface="Space Grotesk" pitchFamily="34" charset="-122"/>
                <a:cs typeface="Space Grotesk" pitchFamily="34" charset="-120"/>
              </a:rPr>
              <a:t>Voix</a:t>
            </a:r>
            <a:endParaRPr lang="en-US" sz="2200" dirty="0">
              <a:solidFill>
                <a:srgbClr val="00B050"/>
              </a:solidFill>
            </a:endParaRPr>
          </a:p>
        </p:txBody>
      </p:sp>
      <p:sp>
        <p:nvSpPr>
          <p:cNvPr id="8" name="Text 6"/>
          <p:cNvSpPr/>
          <p:nvPr/>
        </p:nvSpPr>
        <p:spPr>
          <a:xfrm>
            <a:off x="640080" y="2514600"/>
            <a:ext cx="3017520" cy="1463040"/>
          </a:xfrm>
          <a:prstGeom prst="rect">
            <a:avLst/>
          </a:prstGeom>
          <a:noFill/>
          <a:ln/>
        </p:spPr>
        <p:txBody>
          <a:bodyPr wrap="square" lIns="0" tIns="0" rIns="0" bIns="0" rtlCol="0" anchor="ctr"/>
          <a:lstStyle/>
          <a:p>
            <a:pPr marL="0" indent="0">
              <a:lnSpc>
                <a:spcPct val="130000"/>
              </a:lnSpc>
              <a:buNone/>
            </a:pPr>
            <a:r>
              <a:rPr lang="en-US" sz="1200" dirty="0">
                <a:solidFill>
                  <a:srgbClr val="A89F95"/>
                </a:solidFill>
                <a:latin typeface="IBM Plex Sans" pitchFamily="34" charset="0"/>
                <a:ea typeface="IBM Plex Sans" pitchFamily="34" charset="-122"/>
                <a:cs typeface="IBM Plex Sans" pitchFamily="34" charset="-120"/>
              </a:rPr>
              <a:t>Synthèse et clonage vocal.</a:t>
            </a:r>
            <a:endParaRPr lang="en-US" sz="1200" dirty="0"/>
          </a:p>
        </p:txBody>
      </p:sp>
      <p:sp>
        <p:nvSpPr>
          <p:cNvPr id="9" name="Shape 7"/>
          <p:cNvSpPr/>
          <p:nvPr/>
        </p:nvSpPr>
        <p:spPr>
          <a:xfrm>
            <a:off x="3977640" y="1371600"/>
            <a:ext cx="0" cy="4892040"/>
          </a:xfrm>
          <a:prstGeom prst="line">
            <a:avLst/>
          </a:prstGeom>
          <a:noFill/>
          <a:ln w="12700">
            <a:solidFill>
              <a:srgbClr val="37312A"/>
            </a:solidFill>
            <a:prstDash val="solid"/>
          </a:ln>
        </p:spPr>
        <p:txBody>
          <a:bodyPr/>
          <a:lstStyle/>
          <a:p>
            <a:endParaRPr lang="fr-FR"/>
          </a:p>
        </p:txBody>
      </p:sp>
      <p:sp>
        <p:nvSpPr>
          <p:cNvPr id="10" name="Shape 8"/>
          <p:cNvSpPr/>
          <p:nvPr/>
        </p:nvSpPr>
        <p:spPr>
          <a:xfrm>
            <a:off x="4343400" y="1371600"/>
            <a:ext cx="7178040" cy="4892040"/>
          </a:xfrm>
          <a:prstGeom prst="roundRect">
            <a:avLst>
              <a:gd name="adj" fmla="val 2430"/>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9"/>
          <p:cNvSpPr/>
          <p:nvPr/>
        </p:nvSpPr>
        <p:spPr>
          <a:xfrm>
            <a:off x="4617720" y="1572768"/>
            <a:ext cx="1828800" cy="1496568"/>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ElevenLabs</a:t>
            </a:r>
            <a:endParaRPr lang="en-US" sz="1250" dirty="0"/>
          </a:p>
        </p:txBody>
      </p:sp>
      <p:sp>
        <p:nvSpPr>
          <p:cNvPr id="12" name="Text 10"/>
          <p:cNvSpPr/>
          <p:nvPr/>
        </p:nvSpPr>
        <p:spPr>
          <a:xfrm>
            <a:off x="6537960" y="1572768"/>
            <a:ext cx="3703320" cy="1496568"/>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Synthèse et clonage vocal réalistes</a:t>
            </a:r>
            <a:endParaRPr lang="en-US" sz="1050" dirty="0"/>
          </a:p>
        </p:txBody>
      </p:sp>
      <p:sp>
        <p:nvSpPr>
          <p:cNvPr id="13" name="Shape 11"/>
          <p:cNvSpPr/>
          <p:nvPr/>
        </p:nvSpPr>
        <p:spPr>
          <a:xfrm>
            <a:off x="10332720" y="2183892"/>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14" name="Text 12"/>
          <p:cNvSpPr/>
          <p:nvPr/>
        </p:nvSpPr>
        <p:spPr>
          <a:xfrm>
            <a:off x="10332720" y="2183892"/>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15" name="Shape 13"/>
          <p:cNvSpPr/>
          <p:nvPr/>
        </p:nvSpPr>
        <p:spPr>
          <a:xfrm>
            <a:off x="4617720" y="3069336"/>
            <a:ext cx="6629400" cy="0"/>
          </a:xfrm>
          <a:prstGeom prst="line">
            <a:avLst/>
          </a:prstGeom>
          <a:noFill/>
          <a:ln w="6350">
            <a:solidFill>
              <a:srgbClr val="F2ECE4">
                <a:alpha val="30000"/>
              </a:srgbClr>
            </a:solidFill>
            <a:prstDash val="solid"/>
          </a:ln>
        </p:spPr>
        <p:txBody>
          <a:bodyPr/>
          <a:lstStyle/>
          <a:p>
            <a:endParaRPr lang="fr-FR"/>
          </a:p>
        </p:txBody>
      </p:sp>
      <p:sp>
        <p:nvSpPr>
          <p:cNvPr id="16" name="Text 14"/>
          <p:cNvSpPr/>
          <p:nvPr/>
        </p:nvSpPr>
        <p:spPr>
          <a:xfrm>
            <a:off x="4617720" y="3069336"/>
            <a:ext cx="1828800" cy="1496568"/>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Murf</a:t>
            </a:r>
            <a:endParaRPr lang="en-US" sz="1250" dirty="0"/>
          </a:p>
        </p:txBody>
      </p:sp>
      <p:sp>
        <p:nvSpPr>
          <p:cNvPr id="17" name="Text 15"/>
          <p:cNvSpPr/>
          <p:nvPr/>
        </p:nvSpPr>
        <p:spPr>
          <a:xfrm>
            <a:off x="6537960" y="3069336"/>
            <a:ext cx="3703320" cy="1496568"/>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Voix-off professionnelles</a:t>
            </a:r>
            <a:endParaRPr lang="en-US" sz="1050" dirty="0"/>
          </a:p>
        </p:txBody>
      </p:sp>
      <p:sp>
        <p:nvSpPr>
          <p:cNvPr id="18" name="Shape 16"/>
          <p:cNvSpPr/>
          <p:nvPr/>
        </p:nvSpPr>
        <p:spPr>
          <a:xfrm>
            <a:off x="10332720" y="3680460"/>
            <a:ext cx="896112" cy="274320"/>
          </a:xfrm>
          <a:prstGeom prst="roundRect">
            <a:avLst>
              <a:gd name="adj" fmla="val 50000"/>
            </a:avLst>
          </a:prstGeom>
          <a:solidFill>
            <a:srgbClr val="F0965A">
              <a:alpha val="26000"/>
            </a:srgbClr>
          </a:solidFill>
          <a:ln w="9525">
            <a:solidFill>
              <a:srgbClr val="F0965A">
                <a:alpha val="55000"/>
              </a:srgbClr>
            </a:solidFill>
            <a:prstDash val="solid"/>
          </a:ln>
        </p:spPr>
        <p:txBody>
          <a:bodyPr/>
          <a:lstStyle/>
          <a:p>
            <a:endParaRPr lang="fr-FR"/>
          </a:p>
        </p:txBody>
      </p:sp>
      <p:sp>
        <p:nvSpPr>
          <p:cNvPr id="19" name="Text 17"/>
          <p:cNvSpPr/>
          <p:nvPr/>
        </p:nvSpPr>
        <p:spPr>
          <a:xfrm>
            <a:off x="10332720" y="3680460"/>
            <a:ext cx="896112" cy="274320"/>
          </a:xfrm>
          <a:prstGeom prst="rect">
            <a:avLst/>
          </a:prstGeom>
          <a:noFill/>
          <a:ln/>
        </p:spPr>
        <p:txBody>
          <a:bodyPr wrap="square" lIns="0" tIns="0" rIns="0" bIns="0" rtlCol="0" anchor="ctr"/>
          <a:lstStyle/>
          <a:p>
            <a:pPr marL="0" indent="0" algn="ctr">
              <a:buNone/>
            </a:pPr>
            <a:r>
              <a:rPr lang="en-US" sz="800" kern="0" spc="80" dirty="0">
                <a:solidFill>
                  <a:srgbClr val="F0A875"/>
                </a:solidFill>
                <a:latin typeface="IBM Plex Mono" pitchFamily="34" charset="0"/>
                <a:ea typeface="IBM Plex Mono" pitchFamily="34" charset="-122"/>
                <a:cs typeface="IBM Plex Mono" pitchFamily="34" charset="-120"/>
              </a:rPr>
              <a:t>PAYANT</a:t>
            </a:r>
            <a:endParaRPr lang="en-US" sz="800" dirty="0"/>
          </a:p>
        </p:txBody>
      </p:sp>
      <p:sp>
        <p:nvSpPr>
          <p:cNvPr id="20" name="Shape 18"/>
          <p:cNvSpPr/>
          <p:nvPr/>
        </p:nvSpPr>
        <p:spPr>
          <a:xfrm>
            <a:off x="4617720" y="4565904"/>
            <a:ext cx="6629400" cy="0"/>
          </a:xfrm>
          <a:prstGeom prst="line">
            <a:avLst/>
          </a:prstGeom>
          <a:noFill/>
          <a:ln w="6350">
            <a:solidFill>
              <a:srgbClr val="F2ECE4">
                <a:alpha val="30000"/>
              </a:srgbClr>
            </a:solidFill>
            <a:prstDash val="solid"/>
          </a:ln>
        </p:spPr>
        <p:txBody>
          <a:bodyPr/>
          <a:lstStyle/>
          <a:p>
            <a:endParaRPr lang="fr-FR"/>
          </a:p>
        </p:txBody>
      </p:sp>
      <p:sp>
        <p:nvSpPr>
          <p:cNvPr id="21" name="Text 19"/>
          <p:cNvSpPr/>
          <p:nvPr/>
        </p:nvSpPr>
        <p:spPr>
          <a:xfrm>
            <a:off x="4617720" y="4565904"/>
            <a:ext cx="1828800" cy="1496568"/>
          </a:xfrm>
          <a:prstGeom prst="rect">
            <a:avLst/>
          </a:prstGeom>
          <a:noFill/>
          <a:ln/>
        </p:spPr>
        <p:txBody>
          <a:bodyPr wrap="square" lIns="0" tIns="0" rIns="0" bIns="0" rtlCol="0" anchor="ctr"/>
          <a:lstStyle/>
          <a:p>
            <a:pPr marL="0" indent="0">
              <a:buNone/>
            </a:pPr>
            <a:r>
              <a:rPr lang="en-US" sz="1250" b="1" dirty="0">
                <a:solidFill>
                  <a:srgbClr val="F2ECE4"/>
                </a:solidFill>
                <a:latin typeface="Space Grotesk" pitchFamily="34" charset="0"/>
                <a:ea typeface="Space Grotesk" pitchFamily="34" charset="-122"/>
                <a:cs typeface="Space Grotesk" pitchFamily="34" charset="-120"/>
              </a:rPr>
              <a:t>PlayHT</a:t>
            </a:r>
            <a:endParaRPr lang="en-US" sz="1250" dirty="0"/>
          </a:p>
        </p:txBody>
      </p:sp>
      <p:sp>
        <p:nvSpPr>
          <p:cNvPr id="22" name="Text 20"/>
          <p:cNvSpPr/>
          <p:nvPr/>
        </p:nvSpPr>
        <p:spPr>
          <a:xfrm>
            <a:off x="6537960" y="4565904"/>
            <a:ext cx="3703320" cy="1496568"/>
          </a:xfrm>
          <a:prstGeom prst="rect">
            <a:avLst/>
          </a:prstGeom>
          <a:noFill/>
          <a:ln/>
        </p:spPr>
        <p:txBody>
          <a:bodyPr wrap="square" lIns="0" tIns="0" rIns="0" bIns="0" rtlCol="0" anchor="ctr"/>
          <a:lstStyle/>
          <a:p>
            <a:pPr marL="0" indent="0">
              <a:lnSpc>
                <a:spcPct val="115000"/>
              </a:lnSpc>
              <a:buNone/>
            </a:pPr>
            <a:r>
              <a:rPr lang="en-US" sz="1050" dirty="0">
                <a:solidFill>
                  <a:srgbClr val="B3AAA0"/>
                </a:solidFill>
                <a:latin typeface="IBM Plex Sans" pitchFamily="34" charset="0"/>
                <a:ea typeface="IBM Plex Sans" pitchFamily="34" charset="-122"/>
                <a:cs typeface="IBM Plex Sans" pitchFamily="34" charset="-120"/>
              </a:rPr>
              <a:t>Voix naturelles multilingues</a:t>
            </a:r>
            <a:endParaRPr lang="en-US" sz="1050" dirty="0"/>
          </a:p>
        </p:txBody>
      </p:sp>
      <p:sp>
        <p:nvSpPr>
          <p:cNvPr id="23" name="Shape 21"/>
          <p:cNvSpPr/>
          <p:nvPr/>
        </p:nvSpPr>
        <p:spPr>
          <a:xfrm>
            <a:off x="10332720" y="5177028"/>
            <a:ext cx="896112" cy="274320"/>
          </a:xfrm>
          <a:prstGeom prst="roundRect">
            <a:avLst>
              <a:gd name="adj" fmla="val 50000"/>
            </a:avLst>
          </a:prstGeom>
          <a:solidFill>
            <a:srgbClr val="78B4DC">
              <a:alpha val="26000"/>
            </a:srgbClr>
          </a:solidFill>
          <a:ln w="9525">
            <a:solidFill>
              <a:srgbClr val="78B4DC">
                <a:alpha val="55000"/>
              </a:srgbClr>
            </a:solidFill>
            <a:prstDash val="solid"/>
          </a:ln>
        </p:spPr>
        <p:txBody>
          <a:bodyPr/>
          <a:lstStyle/>
          <a:p>
            <a:endParaRPr lang="fr-FR"/>
          </a:p>
        </p:txBody>
      </p:sp>
      <p:sp>
        <p:nvSpPr>
          <p:cNvPr id="24" name="Text 22"/>
          <p:cNvSpPr/>
          <p:nvPr/>
        </p:nvSpPr>
        <p:spPr>
          <a:xfrm>
            <a:off x="10332720" y="5177028"/>
            <a:ext cx="896112" cy="274320"/>
          </a:xfrm>
          <a:prstGeom prst="rect">
            <a:avLst/>
          </a:prstGeom>
          <a:noFill/>
          <a:ln/>
        </p:spPr>
        <p:txBody>
          <a:bodyPr wrap="square" lIns="0" tIns="0" rIns="0" bIns="0" rtlCol="0" anchor="ctr"/>
          <a:lstStyle/>
          <a:p>
            <a:pPr marL="0" indent="0" algn="ctr">
              <a:buNone/>
            </a:pPr>
            <a:r>
              <a:rPr lang="en-US" sz="800" kern="0" spc="80" dirty="0">
                <a:solidFill>
                  <a:srgbClr val="8FC4E2"/>
                </a:solidFill>
                <a:latin typeface="IBM Plex Mono" pitchFamily="34" charset="0"/>
                <a:ea typeface="IBM Plex Mono" pitchFamily="34" charset="-122"/>
                <a:cs typeface="IBM Plex Mono" pitchFamily="34" charset="-120"/>
              </a:rPr>
              <a:t>FREEMIUM</a:t>
            </a:r>
            <a:endParaRPr lang="en-US" sz="80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26" name="Text 2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15</a:t>
            </a:r>
            <a:endParaRPr lang="en-US" sz="900" dirty="0"/>
          </a:p>
        </p:txBody>
      </p:sp>
      <p:pic>
        <p:nvPicPr>
          <p:cNvPr id="28" name="Image 27">
            <a:extLst>
              <a:ext uri="{FF2B5EF4-FFF2-40B4-BE49-F238E27FC236}">
                <a16:creationId xmlns:a16="http://schemas.microsoft.com/office/drawing/2014/main" id="{50013503-79B1-600A-85B4-21BCEC46E1FC}"/>
              </a:ext>
            </a:extLst>
          </p:cNvPr>
          <p:cNvPicPr>
            <a:picLocks noChangeAspect="1"/>
          </p:cNvPicPr>
          <p:nvPr/>
        </p:nvPicPr>
        <p:blipFill>
          <a:blip r:embed="rId3"/>
          <a:stretch>
            <a:fillRect/>
          </a:stretch>
        </p:blipFill>
        <p:spPr>
          <a:xfrm>
            <a:off x="66965" y="18288"/>
            <a:ext cx="1048603" cy="10546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384048"/>
            <a:ext cx="5943600" cy="292608"/>
          </a:xfrm>
          <a:prstGeom prst="rect">
            <a:avLst/>
          </a:prstGeom>
          <a:noFill/>
          <a:ln/>
        </p:spPr>
        <p:txBody>
          <a:bodyPr wrap="square" lIns="0" tIns="0" rIns="0" bIns="0" rtlCol="0" anchor="ctr"/>
          <a:lstStyle/>
          <a:p>
            <a:pPr marL="0" indent="0">
              <a:buNone/>
            </a:pPr>
            <a:r>
              <a:rPr lang="en-US" sz="1100" kern="0" spc="250" dirty="0">
                <a:solidFill>
                  <a:srgbClr val="D9A883"/>
                </a:solidFill>
                <a:latin typeface="IBM Plex Mono" pitchFamily="34" charset="0"/>
                <a:ea typeface="IBM Plex Mono" pitchFamily="34" charset="-122"/>
                <a:cs typeface="IBM Plex Mono" pitchFamily="34" charset="-120"/>
              </a:rPr>
              <a:t>PANORAMA IA  ·  ÉDITION 2026</a:t>
            </a:r>
            <a:endParaRPr lang="en-US" sz="1100" dirty="0"/>
          </a:p>
        </p:txBody>
      </p:sp>
      <p:sp>
        <p:nvSpPr>
          <p:cNvPr id="3" name="Text 1"/>
          <p:cNvSpPr/>
          <p:nvPr/>
        </p:nvSpPr>
        <p:spPr>
          <a:xfrm>
            <a:off x="9235440" y="384048"/>
            <a:ext cx="2286000" cy="292608"/>
          </a:xfrm>
          <a:prstGeom prst="rect">
            <a:avLst/>
          </a:prstGeom>
          <a:noFill/>
          <a:ln/>
        </p:spPr>
        <p:txBody>
          <a:bodyPr wrap="square" lIns="0" tIns="0" rIns="0" bIns="0" rtlCol="0" anchor="ctr"/>
          <a:lstStyle/>
          <a:p>
            <a:pPr marL="0" indent="0" algn="r">
              <a:buNone/>
            </a:pPr>
            <a:r>
              <a:rPr lang="en-US" sz="950" kern="0" spc="120" dirty="0">
                <a:solidFill>
                  <a:srgbClr val="9A9089"/>
                </a:solidFill>
                <a:latin typeface="IBM Plex Mono" pitchFamily="34" charset="0"/>
                <a:ea typeface="IBM Plex Mono" pitchFamily="34" charset="-122"/>
                <a:cs typeface="IBM Plex Mono" pitchFamily="34" charset="-120"/>
              </a:rPr>
              <a:t>SYNTHÈSE</a:t>
            </a:r>
            <a:endParaRPr lang="en-US" sz="950" dirty="0"/>
          </a:p>
        </p:txBody>
      </p:sp>
      <p:sp>
        <p:nvSpPr>
          <p:cNvPr id="4" name="Text 2"/>
          <p:cNvSpPr/>
          <p:nvPr/>
        </p:nvSpPr>
        <p:spPr>
          <a:xfrm>
            <a:off x="640080" y="914400"/>
            <a:ext cx="9601200" cy="548640"/>
          </a:xfrm>
          <a:prstGeom prst="rect">
            <a:avLst/>
          </a:prstGeom>
          <a:noFill/>
          <a:ln/>
        </p:spPr>
        <p:txBody>
          <a:bodyPr wrap="square" lIns="0" tIns="0" rIns="0" bIns="0" rtlCol="0" anchor="ctr"/>
          <a:lstStyle/>
          <a:p>
            <a:pPr marL="0" indent="0">
              <a:buNone/>
            </a:pPr>
            <a:r>
              <a:rPr lang="en-US" sz="2400" b="1" dirty="0">
                <a:solidFill>
                  <a:srgbClr val="FAF6F0"/>
                </a:solidFill>
                <a:latin typeface="Space Grotesk" pitchFamily="34" charset="0"/>
                <a:ea typeface="Space Grotesk" pitchFamily="34" charset="-122"/>
                <a:cs typeface="Space Grotesk" pitchFamily="34" charset="-120"/>
              </a:rPr>
              <a:t>Récapitulatif : toutes les IA citées</a:t>
            </a:r>
            <a:endParaRPr lang="en-US" sz="2400" dirty="0"/>
          </a:p>
        </p:txBody>
      </p:sp>
      <p:sp>
        <p:nvSpPr>
          <p:cNvPr id="5" name="Text 3"/>
          <p:cNvSpPr/>
          <p:nvPr/>
        </p:nvSpPr>
        <p:spPr>
          <a:xfrm>
            <a:off x="640080" y="1417320"/>
            <a:ext cx="9144000" cy="320040"/>
          </a:xfrm>
          <a:prstGeom prst="rect">
            <a:avLst/>
          </a:prstGeom>
          <a:noFill/>
          <a:ln/>
        </p:spPr>
        <p:txBody>
          <a:bodyPr wrap="square" lIns="0" tIns="0" rIns="0" bIns="0" rtlCol="0" anchor="ctr"/>
          <a:lstStyle/>
          <a:p>
            <a:pPr marL="0" indent="0">
              <a:buNone/>
            </a:pPr>
            <a:r>
              <a:rPr lang="en-US" sz="1200" i="1" dirty="0">
                <a:solidFill>
                  <a:srgbClr val="A89F95"/>
                </a:solidFill>
                <a:latin typeface="IBM Plex Sans" pitchFamily="34" charset="0"/>
                <a:ea typeface="IBM Plex Sans" pitchFamily="34" charset="-122"/>
                <a:cs typeface="IBM Plex Sans" pitchFamily="34" charset="-120"/>
              </a:rPr>
              <a:t>Un coup d'œil sur l'ensemble du panorama</a:t>
            </a:r>
            <a:endParaRPr lang="en-US" sz="1200" dirty="0"/>
          </a:p>
        </p:txBody>
      </p:sp>
      <p:sp>
        <p:nvSpPr>
          <p:cNvPr id="6" name="Shape 4"/>
          <p:cNvSpPr/>
          <p:nvPr/>
        </p:nvSpPr>
        <p:spPr>
          <a:xfrm>
            <a:off x="7498080" y="987552"/>
            <a:ext cx="118872" cy="118872"/>
          </a:xfrm>
          <a:prstGeom prst="ellipse">
            <a:avLst/>
          </a:prstGeom>
          <a:solidFill>
            <a:srgbClr val="78C88C"/>
          </a:solidFill>
          <a:ln/>
        </p:spPr>
        <p:txBody>
          <a:bodyPr/>
          <a:lstStyle/>
          <a:p>
            <a:endParaRPr lang="fr-FR"/>
          </a:p>
        </p:txBody>
      </p:sp>
      <p:sp>
        <p:nvSpPr>
          <p:cNvPr id="7" name="Text 5"/>
          <p:cNvSpPr/>
          <p:nvPr/>
        </p:nvSpPr>
        <p:spPr>
          <a:xfrm>
            <a:off x="7680960" y="914400"/>
            <a:ext cx="850392" cy="256032"/>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Gratuit</a:t>
            </a:r>
            <a:endParaRPr lang="en-US" sz="900" dirty="0"/>
          </a:p>
        </p:txBody>
      </p:sp>
      <p:sp>
        <p:nvSpPr>
          <p:cNvPr id="8" name="Shape 6"/>
          <p:cNvSpPr/>
          <p:nvPr/>
        </p:nvSpPr>
        <p:spPr>
          <a:xfrm>
            <a:off x="8485632" y="987552"/>
            <a:ext cx="118872" cy="118872"/>
          </a:xfrm>
          <a:prstGeom prst="ellipse">
            <a:avLst/>
          </a:prstGeom>
          <a:solidFill>
            <a:srgbClr val="78B4DC"/>
          </a:solidFill>
          <a:ln/>
        </p:spPr>
        <p:txBody>
          <a:bodyPr/>
          <a:lstStyle/>
          <a:p>
            <a:endParaRPr lang="fr-FR"/>
          </a:p>
        </p:txBody>
      </p:sp>
      <p:sp>
        <p:nvSpPr>
          <p:cNvPr id="9" name="Text 7"/>
          <p:cNvSpPr/>
          <p:nvPr/>
        </p:nvSpPr>
        <p:spPr>
          <a:xfrm>
            <a:off x="8668512" y="914400"/>
            <a:ext cx="932688" cy="256032"/>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Freemium</a:t>
            </a:r>
            <a:endParaRPr lang="en-US" sz="900" dirty="0"/>
          </a:p>
        </p:txBody>
      </p:sp>
      <p:sp>
        <p:nvSpPr>
          <p:cNvPr id="10" name="Shape 8"/>
          <p:cNvSpPr/>
          <p:nvPr/>
        </p:nvSpPr>
        <p:spPr>
          <a:xfrm>
            <a:off x="9555480" y="987552"/>
            <a:ext cx="118872" cy="118872"/>
          </a:xfrm>
          <a:prstGeom prst="ellipse">
            <a:avLst/>
          </a:prstGeom>
          <a:solidFill>
            <a:srgbClr val="F0965A"/>
          </a:solidFill>
          <a:ln/>
        </p:spPr>
        <p:txBody>
          <a:bodyPr/>
          <a:lstStyle/>
          <a:p>
            <a:endParaRPr lang="fr-FR"/>
          </a:p>
        </p:txBody>
      </p:sp>
      <p:sp>
        <p:nvSpPr>
          <p:cNvPr id="11" name="Text 9"/>
          <p:cNvSpPr/>
          <p:nvPr/>
        </p:nvSpPr>
        <p:spPr>
          <a:xfrm>
            <a:off x="9738360" y="914400"/>
            <a:ext cx="768096" cy="256032"/>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Payant</a:t>
            </a:r>
            <a:endParaRPr lang="en-US" sz="900" dirty="0"/>
          </a:p>
        </p:txBody>
      </p:sp>
      <p:sp>
        <p:nvSpPr>
          <p:cNvPr id="12" name="Shape 10"/>
          <p:cNvSpPr/>
          <p:nvPr/>
        </p:nvSpPr>
        <p:spPr>
          <a:xfrm>
            <a:off x="10460736" y="987552"/>
            <a:ext cx="118872" cy="118872"/>
          </a:xfrm>
          <a:prstGeom prst="ellipse">
            <a:avLst/>
          </a:prstGeom>
          <a:solidFill>
            <a:srgbClr val="E06060"/>
          </a:solidFill>
          <a:ln/>
        </p:spPr>
        <p:txBody>
          <a:bodyPr/>
          <a:lstStyle/>
          <a:p>
            <a:endParaRPr lang="fr-FR"/>
          </a:p>
        </p:txBody>
      </p:sp>
      <p:sp>
        <p:nvSpPr>
          <p:cNvPr id="13" name="Text 11"/>
          <p:cNvSpPr/>
          <p:nvPr/>
        </p:nvSpPr>
        <p:spPr>
          <a:xfrm>
            <a:off x="10643616" y="914400"/>
            <a:ext cx="932688" cy="256032"/>
          </a:xfrm>
          <a:prstGeom prst="rect">
            <a:avLst/>
          </a:prstGeom>
          <a:noFill/>
          <a:ln/>
        </p:spPr>
        <p:txBody>
          <a:bodyPr wrap="square" lIns="0" tIns="0" rIns="0" bIns="0" rtlCol="0" anchor="ctr"/>
          <a:lstStyle/>
          <a:p>
            <a:pPr marL="0" indent="0">
              <a:buNone/>
            </a:pPr>
            <a:r>
              <a:rPr lang="en-US" sz="900" dirty="0">
                <a:solidFill>
                  <a:srgbClr val="A89F95"/>
                </a:solidFill>
                <a:latin typeface="IBM Plex Sans" pitchFamily="34" charset="0"/>
                <a:ea typeface="IBM Plex Sans" pitchFamily="34" charset="-122"/>
                <a:cs typeface="IBM Plex Sans" pitchFamily="34" charset="-120"/>
              </a:rPr>
              <a:t>À éviter</a:t>
            </a:r>
            <a:endParaRPr lang="en-US" sz="900" dirty="0"/>
          </a:p>
        </p:txBody>
      </p:sp>
      <p:sp>
        <p:nvSpPr>
          <p:cNvPr id="14" name="Shape 12"/>
          <p:cNvSpPr/>
          <p:nvPr/>
        </p:nvSpPr>
        <p:spPr>
          <a:xfrm>
            <a:off x="640080" y="1828800"/>
            <a:ext cx="3474720" cy="2011680"/>
          </a:xfrm>
          <a:prstGeom prst="roundRect">
            <a:avLst>
              <a:gd name="adj" fmla="val 4545"/>
            </a:avLst>
          </a:prstGeom>
          <a:solidFill>
            <a:srgbClr val="FFFFFF">
              <a:alpha val="10000"/>
            </a:srgbClr>
          </a:solidFill>
          <a:ln w="9525">
            <a:solidFill>
              <a:srgbClr val="F2ECE4">
                <a:alpha val="22000"/>
              </a:srgbClr>
            </a:solidFill>
            <a:prstDash val="solid"/>
          </a:ln>
        </p:spPr>
        <p:txBody>
          <a:bodyPr/>
          <a:lstStyle/>
          <a:p>
            <a:endParaRPr lang="fr-FR"/>
          </a:p>
        </p:txBody>
      </p:sp>
      <p:sp>
        <p:nvSpPr>
          <p:cNvPr id="15" name="Shape 13"/>
          <p:cNvSpPr/>
          <p:nvPr/>
        </p:nvSpPr>
        <p:spPr>
          <a:xfrm>
            <a:off x="804672" y="1975104"/>
            <a:ext cx="274320" cy="274320"/>
          </a:xfrm>
          <a:prstGeom prst="roundRect">
            <a:avLst>
              <a:gd name="adj" fmla="val 26000"/>
            </a:avLst>
          </a:prstGeom>
          <a:solidFill>
            <a:srgbClr val="78B4DC">
              <a:alpha val="28000"/>
            </a:srgbClr>
          </a:solidFill>
          <a:ln/>
        </p:spPr>
        <p:txBody>
          <a:bodyPr/>
          <a:lstStyle/>
          <a:p>
            <a:endParaRPr lang="fr-FR"/>
          </a:p>
        </p:txBody>
      </p:sp>
      <p:sp>
        <p:nvSpPr>
          <p:cNvPr id="16" name="Shape 14"/>
          <p:cNvSpPr/>
          <p:nvPr/>
        </p:nvSpPr>
        <p:spPr>
          <a:xfrm>
            <a:off x="892454" y="2062886"/>
            <a:ext cx="98755" cy="98755"/>
          </a:xfrm>
          <a:prstGeom prst="roundRect">
            <a:avLst>
              <a:gd name="adj" fmla="val 25000"/>
            </a:avLst>
          </a:prstGeom>
          <a:solidFill>
            <a:srgbClr val="78B4DC"/>
          </a:solidFill>
          <a:ln/>
        </p:spPr>
        <p:txBody>
          <a:bodyPr/>
          <a:lstStyle/>
          <a:p>
            <a:endParaRPr lang="fr-FR"/>
          </a:p>
        </p:txBody>
      </p:sp>
      <p:sp>
        <p:nvSpPr>
          <p:cNvPr id="17" name="Text 15"/>
          <p:cNvSpPr/>
          <p:nvPr/>
        </p:nvSpPr>
        <p:spPr>
          <a:xfrm>
            <a:off x="1143000" y="1956816"/>
            <a:ext cx="548640" cy="292608"/>
          </a:xfrm>
          <a:prstGeom prst="rect">
            <a:avLst/>
          </a:prstGeom>
          <a:noFill/>
          <a:ln/>
        </p:spPr>
        <p:txBody>
          <a:bodyPr wrap="square" lIns="0" tIns="0" rIns="0" bIns="0" rtlCol="0" anchor="ctr"/>
          <a:lstStyle/>
          <a:p>
            <a:pPr marL="0" indent="0">
              <a:buNone/>
            </a:pPr>
            <a:r>
              <a:rPr lang="en-US" sz="900" kern="0" spc="100" dirty="0">
                <a:solidFill>
                  <a:srgbClr val="9A9089"/>
                </a:solidFill>
                <a:latin typeface="IBM Plex Mono" pitchFamily="34" charset="0"/>
                <a:ea typeface="IBM Plex Mono" pitchFamily="34" charset="-122"/>
                <a:cs typeface="IBM Plex Mono" pitchFamily="34" charset="-120"/>
              </a:rPr>
              <a:t>01</a:t>
            </a:r>
            <a:endParaRPr lang="en-US" sz="900" dirty="0"/>
          </a:p>
        </p:txBody>
      </p:sp>
      <p:sp>
        <p:nvSpPr>
          <p:cNvPr id="18" name="Text 16"/>
          <p:cNvSpPr/>
          <p:nvPr/>
        </p:nvSpPr>
        <p:spPr>
          <a:xfrm>
            <a:off x="804672" y="2286000"/>
            <a:ext cx="3145536" cy="292608"/>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Texte</a:t>
            </a:r>
            <a:endParaRPr lang="en-US" sz="1300" dirty="0"/>
          </a:p>
        </p:txBody>
      </p:sp>
      <p:sp>
        <p:nvSpPr>
          <p:cNvPr id="19" name="Shape 17"/>
          <p:cNvSpPr/>
          <p:nvPr/>
        </p:nvSpPr>
        <p:spPr>
          <a:xfrm>
            <a:off x="804672" y="2670048"/>
            <a:ext cx="864108"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20" name="Text 18"/>
          <p:cNvSpPr/>
          <p:nvPr/>
        </p:nvSpPr>
        <p:spPr>
          <a:xfrm>
            <a:off x="804672" y="2670048"/>
            <a:ext cx="864108"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ChatGPT</a:t>
            </a:r>
            <a:endParaRPr lang="en-US" sz="800" dirty="0"/>
          </a:p>
        </p:txBody>
      </p:sp>
      <p:sp>
        <p:nvSpPr>
          <p:cNvPr id="21" name="Shape 19"/>
          <p:cNvSpPr/>
          <p:nvPr/>
        </p:nvSpPr>
        <p:spPr>
          <a:xfrm>
            <a:off x="1751076" y="2670048"/>
            <a:ext cx="777240"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22" name="Text 20"/>
          <p:cNvSpPr/>
          <p:nvPr/>
        </p:nvSpPr>
        <p:spPr>
          <a:xfrm>
            <a:off x="1751076" y="2670048"/>
            <a:ext cx="777240"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Claude</a:t>
            </a:r>
            <a:endParaRPr lang="en-US" sz="800" dirty="0"/>
          </a:p>
        </p:txBody>
      </p:sp>
      <p:sp>
        <p:nvSpPr>
          <p:cNvPr id="23" name="Shape 21"/>
          <p:cNvSpPr/>
          <p:nvPr/>
        </p:nvSpPr>
        <p:spPr>
          <a:xfrm>
            <a:off x="2610612" y="2670048"/>
            <a:ext cx="777240"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24" name="Text 22"/>
          <p:cNvSpPr/>
          <p:nvPr/>
        </p:nvSpPr>
        <p:spPr>
          <a:xfrm>
            <a:off x="2610612" y="2670048"/>
            <a:ext cx="777240"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Gemini</a:t>
            </a:r>
            <a:endParaRPr lang="en-US" sz="800" dirty="0"/>
          </a:p>
        </p:txBody>
      </p:sp>
      <p:sp>
        <p:nvSpPr>
          <p:cNvPr id="25" name="Shape 23"/>
          <p:cNvSpPr/>
          <p:nvPr/>
        </p:nvSpPr>
        <p:spPr>
          <a:xfrm>
            <a:off x="804672" y="3026664"/>
            <a:ext cx="864108"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26" name="Text 24"/>
          <p:cNvSpPr/>
          <p:nvPr/>
        </p:nvSpPr>
        <p:spPr>
          <a:xfrm>
            <a:off x="804672" y="3026664"/>
            <a:ext cx="864108"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Mistral</a:t>
            </a:r>
            <a:endParaRPr lang="en-US" sz="800" dirty="0"/>
          </a:p>
        </p:txBody>
      </p:sp>
      <p:sp>
        <p:nvSpPr>
          <p:cNvPr id="27" name="Shape 25"/>
          <p:cNvSpPr/>
          <p:nvPr/>
        </p:nvSpPr>
        <p:spPr>
          <a:xfrm>
            <a:off x="1751076" y="3026664"/>
            <a:ext cx="1124712"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28" name="Text 26"/>
          <p:cNvSpPr/>
          <p:nvPr/>
        </p:nvSpPr>
        <p:spPr>
          <a:xfrm>
            <a:off x="1751076" y="3026664"/>
            <a:ext cx="1124712"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Perplexity</a:t>
            </a:r>
            <a:endParaRPr lang="en-US" sz="800" dirty="0"/>
          </a:p>
        </p:txBody>
      </p:sp>
      <p:sp>
        <p:nvSpPr>
          <p:cNvPr id="29" name="Shape 27"/>
          <p:cNvSpPr/>
          <p:nvPr/>
        </p:nvSpPr>
        <p:spPr>
          <a:xfrm>
            <a:off x="4343400" y="1828800"/>
            <a:ext cx="3474720" cy="2011680"/>
          </a:xfrm>
          <a:prstGeom prst="roundRect">
            <a:avLst>
              <a:gd name="adj" fmla="val 4545"/>
            </a:avLst>
          </a:prstGeom>
          <a:solidFill>
            <a:srgbClr val="FFFFFF">
              <a:alpha val="10000"/>
            </a:srgbClr>
          </a:solidFill>
          <a:ln w="9525">
            <a:solidFill>
              <a:srgbClr val="F2ECE4">
                <a:alpha val="22000"/>
              </a:srgbClr>
            </a:solidFill>
            <a:prstDash val="solid"/>
          </a:ln>
        </p:spPr>
        <p:txBody>
          <a:bodyPr/>
          <a:lstStyle/>
          <a:p>
            <a:endParaRPr lang="fr-FR"/>
          </a:p>
        </p:txBody>
      </p:sp>
      <p:sp>
        <p:nvSpPr>
          <p:cNvPr id="30" name="Shape 28"/>
          <p:cNvSpPr/>
          <p:nvPr/>
        </p:nvSpPr>
        <p:spPr>
          <a:xfrm>
            <a:off x="4507992" y="1975104"/>
            <a:ext cx="274320" cy="274320"/>
          </a:xfrm>
          <a:prstGeom prst="roundRect">
            <a:avLst>
              <a:gd name="adj" fmla="val 26000"/>
            </a:avLst>
          </a:prstGeom>
          <a:solidFill>
            <a:srgbClr val="F0965A">
              <a:alpha val="28000"/>
            </a:srgbClr>
          </a:solidFill>
          <a:ln/>
        </p:spPr>
        <p:txBody>
          <a:bodyPr/>
          <a:lstStyle/>
          <a:p>
            <a:endParaRPr lang="fr-FR"/>
          </a:p>
        </p:txBody>
      </p:sp>
      <p:sp>
        <p:nvSpPr>
          <p:cNvPr id="31" name="Shape 29"/>
          <p:cNvSpPr/>
          <p:nvPr/>
        </p:nvSpPr>
        <p:spPr>
          <a:xfrm>
            <a:off x="4595774" y="2062886"/>
            <a:ext cx="98755" cy="98755"/>
          </a:xfrm>
          <a:prstGeom prst="roundRect">
            <a:avLst>
              <a:gd name="adj" fmla="val 25000"/>
            </a:avLst>
          </a:prstGeom>
          <a:solidFill>
            <a:srgbClr val="F0965A"/>
          </a:solidFill>
          <a:ln/>
        </p:spPr>
        <p:txBody>
          <a:bodyPr/>
          <a:lstStyle/>
          <a:p>
            <a:endParaRPr lang="fr-FR"/>
          </a:p>
        </p:txBody>
      </p:sp>
      <p:sp>
        <p:nvSpPr>
          <p:cNvPr id="32" name="Text 30"/>
          <p:cNvSpPr/>
          <p:nvPr/>
        </p:nvSpPr>
        <p:spPr>
          <a:xfrm>
            <a:off x="4846320" y="1956816"/>
            <a:ext cx="548640" cy="292608"/>
          </a:xfrm>
          <a:prstGeom prst="rect">
            <a:avLst/>
          </a:prstGeom>
          <a:noFill/>
          <a:ln/>
        </p:spPr>
        <p:txBody>
          <a:bodyPr wrap="square" lIns="0" tIns="0" rIns="0" bIns="0" rtlCol="0" anchor="ctr"/>
          <a:lstStyle/>
          <a:p>
            <a:pPr marL="0" indent="0">
              <a:buNone/>
            </a:pPr>
            <a:r>
              <a:rPr lang="en-US" sz="900" kern="0" spc="100" dirty="0">
                <a:solidFill>
                  <a:srgbClr val="9A9089"/>
                </a:solidFill>
                <a:latin typeface="IBM Plex Mono" pitchFamily="34" charset="0"/>
                <a:ea typeface="IBM Plex Mono" pitchFamily="34" charset="-122"/>
                <a:cs typeface="IBM Plex Mono" pitchFamily="34" charset="-120"/>
              </a:rPr>
              <a:t>02</a:t>
            </a:r>
            <a:endParaRPr lang="en-US" sz="900" dirty="0"/>
          </a:p>
        </p:txBody>
      </p:sp>
      <p:sp>
        <p:nvSpPr>
          <p:cNvPr id="33" name="Text 31"/>
          <p:cNvSpPr/>
          <p:nvPr/>
        </p:nvSpPr>
        <p:spPr>
          <a:xfrm>
            <a:off x="4507992" y="2286000"/>
            <a:ext cx="3145536" cy="292608"/>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Image</a:t>
            </a:r>
            <a:endParaRPr lang="en-US" sz="1300" dirty="0"/>
          </a:p>
        </p:txBody>
      </p:sp>
      <p:sp>
        <p:nvSpPr>
          <p:cNvPr id="34" name="Shape 32"/>
          <p:cNvSpPr/>
          <p:nvPr/>
        </p:nvSpPr>
        <p:spPr>
          <a:xfrm>
            <a:off x="4507992" y="2670048"/>
            <a:ext cx="1124712" cy="274320"/>
          </a:xfrm>
          <a:prstGeom prst="roundRect">
            <a:avLst>
              <a:gd name="adj" fmla="val 50000"/>
            </a:avLst>
          </a:prstGeom>
          <a:solidFill>
            <a:srgbClr val="F0965A">
              <a:alpha val="26000"/>
            </a:srgbClr>
          </a:solidFill>
          <a:ln w="6350">
            <a:solidFill>
              <a:srgbClr val="F0965A">
                <a:alpha val="55000"/>
              </a:srgbClr>
            </a:solidFill>
            <a:prstDash val="solid"/>
          </a:ln>
        </p:spPr>
        <p:txBody>
          <a:bodyPr/>
          <a:lstStyle/>
          <a:p>
            <a:endParaRPr lang="fr-FR"/>
          </a:p>
        </p:txBody>
      </p:sp>
      <p:sp>
        <p:nvSpPr>
          <p:cNvPr id="35" name="Text 33"/>
          <p:cNvSpPr/>
          <p:nvPr/>
        </p:nvSpPr>
        <p:spPr>
          <a:xfrm>
            <a:off x="4507992" y="2670048"/>
            <a:ext cx="1124712" cy="274320"/>
          </a:xfrm>
          <a:prstGeom prst="rect">
            <a:avLst/>
          </a:prstGeom>
          <a:noFill/>
          <a:ln/>
        </p:spPr>
        <p:txBody>
          <a:bodyPr wrap="square" lIns="0" tIns="0" rIns="0" bIns="0" rtlCol="0" anchor="ctr"/>
          <a:lstStyle/>
          <a:p>
            <a:pPr marL="0" indent="0" algn="ctr">
              <a:buNone/>
            </a:pPr>
            <a:r>
              <a:rPr lang="en-US" sz="800" dirty="0">
                <a:solidFill>
                  <a:srgbClr val="F0A875"/>
                </a:solidFill>
                <a:latin typeface="IBM Plex Mono" pitchFamily="34" charset="0"/>
                <a:ea typeface="IBM Plex Mono" pitchFamily="34" charset="-122"/>
                <a:cs typeface="IBM Plex Mono" pitchFamily="34" charset="-120"/>
              </a:rPr>
              <a:t>Midjourney</a:t>
            </a:r>
            <a:endParaRPr lang="en-US" sz="800" dirty="0"/>
          </a:p>
        </p:txBody>
      </p:sp>
      <p:sp>
        <p:nvSpPr>
          <p:cNvPr id="36" name="Shape 34"/>
          <p:cNvSpPr/>
          <p:nvPr/>
        </p:nvSpPr>
        <p:spPr>
          <a:xfrm>
            <a:off x="5715000" y="2670048"/>
            <a:ext cx="950976"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37" name="Text 35"/>
          <p:cNvSpPr/>
          <p:nvPr/>
        </p:nvSpPr>
        <p:spPr>
          <a:xfrm>
            <a:off x="5715000" y="2670048"/>
            <a:ext cx="950976"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DALL·E 3</a:t>
            </a:r>
            <a:endParaRPr lang="en-US" sz="800" dirty="0"/>
          </a:p>
        </p:txBody>
      </p:sp>
      <p:sp>
        <p:nvSpPr>
          <p:cNvPr id="38" name="Shape 36"/>
          <p:cNvSpPr/>
          <p:nvPr/>
        </p:nvSpPr>
        <p:spPr>
          <a:xfrm>
            <a:off x="4507992" y="3026664"/>
            <a:ext cx="1298448" cy="274320"/>
          </a:xfrm>
          <a:prstGeom prst="roundRect">
            <a:avLst>
              <a:gd name="adj" fmla="val 50000"/>
            </a:avLst>
          </a:prstGeom>
          <a:solidFill>
            <a:srgbClr val="78C88C">
              <a:alpha val="26000"/>
            </a:srgbClr>
          </a:solidFill>
          <a:ln w="6350">
            <a:solidFill>
              <a:srgbClr val="78C88C">
                <a:alpha val="55000"/>
              </a:srgbClr>
            </a:solidFill>
            <a:prstDash val="solid"/>
          </a:ln>
        </p:spPr>
        <p:txBody>
          <a:bodyPr/>
          <a:lstStyle/>
          <a:p>
            <a:endParaRPr lang="fr-FR"/>
          </a:p>
        </p:txBody>
      </p:sp>
      <p:sp>
        <p:nvSpPr>
          <p:cNvPr id="39" name="Text 37"/>
          <p:cNvSpPr/>
          <p:nvPr/>
        </p:nvSpPr>
        <p:spPr>
          <a:xfrm>
            <a:off x="4507992" y="3026664"/>
            <a:ext cx="1298448" cy="274320"/>
          </a:xfrm>
          <a:prstGeom prst="rect">
            <a:avLst/>
          </a:prstGeom>
          <a:noFill/>
          <a:ln/>
        </p:spPr>
        <p:txBody>
          <a:bodyPr wrap="square" lIns="0" tIns="0" rIns="0" bIns="0" rtlCol="0" anchor="ctr"/>
          <a:lstStyle/>
          <a:p>
            <a:pPr marL="0" indent="0" algn="ctr">
              <a:buNone/>
            </a:pPr>
            <a:r>
              <a:rPr lang="en-US" sz="800" dirty="0">
                <a:solidFill>
                  <a:srgbClr val="8FDCA0"/>
                </a:solidFill>
                <a:latin typeface="IBM Plex Mono" pitchFamily="34" charset="0"/>
                <a:ea typeface="IBM Plex Mono" pitchFamily="34" charset="-122"/>
                <a:cs typeface="IBM Plex Mono" pitchFamily="34" charset="-120"/>
              </a:rPr>
              <a:t>Stable Diff.</a:t>
            </a:r>
            <a:endParaRPr lang="en-US" sz="800" dirty="0"/>
          </a:p>
        </p:txBody>
      </p:sp>
      <p:sp>
        <p:nvSpPr>
          <p:cNvPr id="40" name="Shape 38"/>
          <p:cNvSpPr/>
          <p:nvPr/>
        </p:nvSpPr>
        <p:spPr>
          <a:xfrm>
            <a:off x="5888736" y="3026664"/>
            <a:ext cx="864108"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41" name="Text 39"/>
          <p:cNvSpPr/>
          <p:nvPr/>
        </p:nvSpPr>
        <p:spPr>
          <a:xfrm>
            <a:off x="5888736" y="3026664"/>
            <a:ext cx="864108"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Firefly</a:t>
            </a:r>
            <a:endParaRPr lang="en-US" sz="800" dirty="0"/>
          </a:p>
        </p:txBody>
      </p:sp>
      <p:sp>
        <p:nvSpPr>
          <p:cNvPr id="42" name="Shape 40"/>
          <p:cNvSpPr/>
          <p:nvPr/>
        </p:nvSpPr>
        <p:spPr>
          <a:xfrm>
            <a:off x="4507992" y="3383280"/>
            <a:ext cx="950976"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43" name="Text 41"/>
          <p:cNvSpPr/>
          <p:nvPr/>
        </p:nvSpPr>
        <p:spPr>
          <a:xfrm>
            <a:off x="4507992" y="3383280"/>
            <a:ext cx="950976"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Ideogram</a:t>
            </a:r>
            <a:endParaRPr lang="en-US" sz="800" dirty="0"/>
          </a:p>
        </p:txBody>
      </p:sp>
      <p:sp>
        <p:nvSpPr>
          <p:cNvPr id="44" name="Shape 42"/>
          <p:cNvSpPr/>
          <p:nvPr/>
        </p:nvSpPr>
        <p:spPr>
          <a:xfrm>
            <a:off x="8046720" y="1828800"/>
            <a:ext cx="3474720" cy="2011680"/>
          </a:xfrm>
          <a:prstGeom prst="roundRect">
            <a:avLst>
              <a:gd name="adj" fmla="val 4545"/>
            </a:avLst>
          </a:prstGeom>
          <a:solidFill>
            <a:srgbClr val="FFFFFF">
              <a:alpha val="10000"/>
            </a:srgbClr>
          </a:solidFill>
          <a:ln w="9525">
            <a:solidFill>
              <a:srgbClr val="F2ECE4">
                <a:alpha val="22000"/>
              </a:srgbClr>
            </a:solidFill>
            <a:prstDash val="solid"/>
          </a:ln>
        </p:spPr>
        <p:txBody>
          <a:bodyPr/>
          <a:lstStyle/>
          <a:p>
            <a:endParaRPr lang="fr-FR"/>
          </a:p>
        </p:txBody>
      </p:sp>
      <p:sp>
        <p:nvSpPr>
          <p:cNvPr id="45" name="Shape 43"/>
          <p:cNvSpPr/>
          <p:nvPr/>
        </p:nvSpPr>
        <p:spPr>
          <a:xfrm>
            <a:off x="8211312" y="1975104"/>
            <a:ext cx="274320" cy="274320"/>
          </a:xfrm>
          <a:prstGeom prst="roundRect">
            <a:avLst>
              <a:gd name="adj" fmla="val 26000"/>
            </a:avLst>
          </a:prstGeom>
          <a:solidFill>
            <a:srgbClr val="C896DC">
              <a:alpha val="28000"/>
            </a:srgbClr>
          </a:solidFill>
          <a:ln/>
        </p:spPr>
        <p:txBody>
          <a:bodyPr/>
          <a:lstStyle/>
          <a:p>
            <a:endParaRPr lang="fr-FR"/>
          </a:p>
        </p:txBody>
      </p:sp>
      <p:sp>
        <p:nvSpPr>
          <p:cNvPr id="46" name="Shape 44"/>
          <p:cNvSpPr/>
          <p:nvPr/>
        </p:nvSpPr>
        <p:spPr>
          <a:xfrm>
            <a:off x="8299094" y="2062886"/>
            <a:ext cx="98755" cy="98755"/>
          </a:xfrm>
          <a:prstGeom prst="roundRect">
            <a:avLst>
              <a:gd name="adj" fmla="val 25000"/>
            </a:avLst>
          </a:prstGeom>
          <a:solidFill>
            <a:srgbClr val="C896DC"/>
          </a:solidFill>
          <a:ln/>
        </p:spPr>
        <p:txBody>
          <a:bodyPr/>
          <a:lstStyle/>
          <a:p>
            <a:endParaRPr lang="fr-FR"/>
          </a:p>
        </p:txBody>
      </p:sp>
      <p:sp>
        <p:nvSpPr>
          <p:cNvPr id="47" name="Text 45"/>
          <p:cNvSpPr/>
          <p:nvPr/>
        </p:nvSpPr>
        <p:spPr>
          <a:xfrm>
            <a:off x="8549640" y="1956816"/>
            <a:ext cx="548640" cy="292608"/>
          </a:xfrm>
          <a:prstGeom prst="rect">
            <a:avLst/>
          </a:prstGeom>
          <a:noFill/>
          <a:ln/>
        </p:spPr>
        <p:txBody>
          <a:bodyPr wrap="square" lIns="0" tIns="0" rIns="0" bIns="0" rtlCol="0" anchor="ctr"/>
          <a:lstStyle/>
          <a:p>
            <a:pPr marL="0" indent="0">
              <a:buNone/>
            </a:pPr>
            <a:r>
              <a:rPr lang="en-US" sz="900" kern="0" spc="100" dirty="0">
                <a:solidFill>
                  <a:srgbClr val="9A9089"/>
                </a:solidFill>
                <a:latin typeface="IBM Plex Mono" pitchFamily="34" charset="0"/>
                <a:ea typeface="IBM Plex Mono" pitchFamily="34" charset="-122"/>
                <a:cs typeface="IBM Plex Mono" pitchFamily="34" charset="-120"/>
              </a:rPr>
              <a:t>03</a:t>
            </a:r>
            <a:endParaRPr lang="en-US" sz="900" dirty="0"/>
          </a:p>
        </p:txBody>
      </p:sp>
      <p:sp>
        <p:nvSpPr>
          <p:cNvPr id="48" name="Text 46"/>
          <p:cNvSpPr/>
          <p:nvPr/>
        </p:nvSpPr>
        <p:spPr>
          <a:xfrm>
            <a:off x="8211312" y="2286000"/>
            <a:ext cx="3145536" cy="292608"/>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Vidéo</a:t>
            </a:r>
            <a:endParaRPr lang="en-US" sz="1300" dirty="0"/>
          </a:p>
        </p:txBody>
      </p:sp>
      <p:sp>
        <p:nvSpPr>
          <p:cNvPr id="49" name="Shape 47"/>
          <p:cNvSpPr/>
          <p:nvPr/>
        </p:nvSpPr>
        <p:spPr>
          <a:xfrm>
            <a:off x="8211312" y="2670048"/>
            <a:ext cx="685800" cy="274320"/>
          </a:xfrm>
          <a:prstGeom prst="roundRect">
            <a:avLst>
              <a:gd name="adj" fmla="val 50000"/>
            </a:avLst>
          </a:prstGeom>
          <a:solidFill>
            <a:srgbClr val="F0965A">
              <a:alpha val="26000"/>
            </a:srgbClr>
          </a:solidFill>
          <a:ln w="6350">
            <a:solidFill>
              <a:srgbClr val="F0965A">
                <a:alpha val="55000"/>
              </a:srgbClr>
            </a:solidFill>
            <a:prstDash val="solid"/>
          </a:ln>
        </p:spPr>
        <p:txBody>
          <a:bodyPr/>
          <a:lstStyle/>
          <a:p>
            <a:endParaRPr lang="fr-FR"/>
          </a:p>
        </p:txBody>
      </p:sp>
      <p:sp>
        <p:nvSpPr>
          <p:cNvPr id="50" name="Text 48"/>
          <p:cNvSpPr/>
          <p:nvPr/>
        </p:nvSpPr>
        <p:spPr>
          <a:xfrm>
            <a:off x="8211312" y="2670048"/>
            <a:ext cx="685800" cy="274320"/>
          </a:xfrm>
          <a:prstGeom prst="rect">
            <a:avLst/>
          </a:prstGeom>
          <a:noFill/>
          <a:ln/>
        </p:spPr>
        <p:txBody>
          <a:bodyPr wrap="square" lIns="0" tIns="0" rIns="0" bIns="0" rtlCol="0" anchor="ctr"/>
          <a:lstStyle/>
          <a:p>
            <a:pPr marL="0" indent="0" algn="ctr">
              <a:buNone/>
            </a:pPr>
            <a:r>
              <a:rPr lang="en-US" sz="800" dirty="0">
                <a:solidFill>
                  <a:srgbClr val="F0A875"/>
                </a:solidFill>
                <a:latin typeface="IBM Plex Mono" pitchFamily="34" charset="0"/>
                <a:ea typeface="IBM Plex Mono" pitchFamily="34" charset="-122"/>
                <a:cs typeface="IBM Plex Mono" pitchFamily="34" charset="-120"/>
              </a:rPr>
              <a:t>Sora</a:t>
            </a:r>
            <a:endParaRPr lang="en-US" sz="800" dirty="0"/>
          </a:p>
        </p:txBody>
      </p:sp>
      <p:sp>
        <p:nvSpPr>
          <p:cNvPr id="51" name="Shape 49"/>
          <p:cNvSpPr/>
          <p:nvPr/>
        </p:nvSpPr>
        <p:spPr>
          <a:xfrm>
            <a:off x="8979408" y="2670048"/>
            <a:ext cx="777240"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52" name="Text 50"/>
          <p:cNvSpPr/>
          <p:nvPr/>
        </p:nvSpPr>
        <p:spPr>
          <a:xfrm>
            <a:off x="8979408" y="2670048"/>
            <a:ext cx="777240"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Runway</a:t>
            </a:r>
            <a:endParaRPr lang="en-US" sz="800" dirty="0"/>
          </a:p>
        </p:txBody>
      </p:sp>
      <p:sp>
        <p:nvSpPr>
          <p:cNvPr id="53" name="Shape 51"/>
          <p:cNvSpPr/>
          <p:nvPr/>
        </p:nvSpPr>
        <p:spPr>
          <a:xfrm>
            <a:off x="9838944" y="2670048"/>
            <a:ext cx="690372"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54" name="Text 52"/>
          <p:cNvSpPr/>
          <p:nvPr/>
        </p:nvSpPr>
        <p:spPr>
          <a:xfrm>
            <a:off x="9838944" y="2670048"/>
            <a:ext cx="690372"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Kling</a:t>
            </a:r>
            <a:endParaRPr lang="en-US" sz="800" dirty="0"/>
          </a:p>
        </p:txBody>
      </p:sp>
      <p:sp>
        <p:nvSpPr>
          <p:cNvPr id="55" name="Shape 53"/>
          <p:cNvSpPr/>
          <p:nvPr/>
        </p:nvSpPr>
        <p:spPr>
          <a:xfrm>
            <a:off x="10611612" y="2670048"/>
            <a:ext cx="685800" cy="274320"/>
          </a:xfrm>
          <a:prstGeom prst="roundRect">
            <a:avLst>
              <a:gd name="adj" fmla="val 50000"/>
            </a:avLst>
          </a:prstGeom>
          <a:solidFill>
            <a:srgbClr val="F0965A">
              <a:alpha val="26000"/>
            </a:srgbClr>
          </a:solidFill>
          <a:ln w="6350">
            <a:solidFill>
              <a:srgbClr val="F0965A">
                <a:alpha val="55000"/>
              </a:srgbClr>
            </a:solidFill>
            <a:prstDash val="solid"/>
          </a:ln>
        </p:spPr>
        <p:txBody>
          <a:bodyPr/>
          <a:lstStyle/>
          <a:p>
            <a:endParaRPr lang="fr-FR"/>
          </a:p>
        </p:txBody>
      </p:sp>
      <p:sp>
        <p:nvSpPr>
          <p:cNvPr id="56" name="Text 54"/>
          <p:cNvSpPr/>
          <p:nvPr/>
        </p:nvSpPr>
        <p:spPr>
          <a:xfrm>
            <a:off x="10611612" y="2670048"/>
            <a:ext cx="685800" cy="274320"/>
          </a:xfrm>
          <a:prstGeom prst="rect">
            <a:avLst/>
          </a:prstGeom>
          <a:noFill/>
          <a:ln/>
        </p:spPr>
        <p:txBody>
          <a:bodyPr wrap="square" lIns="0" tIns="0" rIns="0" bIns="0" rtlCol="0" anchor="ctr"/>
          <a:lstStyle/>
          <a:p>
            <a:pPr marL="0" indent="0" algn="ctr">
              <a:buNone/>
            </a:pPr>
            <a:r>
              <a:rPr lang="en-US" sz="800" dirty="0">
                <a:solidFill>
                  <a:srgbClr val="F0A875"/>
                </a:solidFill>
                <a:latin typeface="IBM Plex Mono" pitchFamily="34" charset="0"/>
                <a:ea typeface="IBM Plex Mono" pitchFamily="34" charset="-122"/>
                <a:cs typeface="IBM Plex Mono" pitchFamily="34" charset="-120"/>
              </a:rPr>
              <a:t>Veo</a:t>
            </a:r>
            <a:endParaRPr lang="en-US" sz="800" dirty="0"/>
          </a:p>
        </p:txBody>
      </p:sp>
      <p:sp>
        <p:nvSpPr>
          <p:cNvPr id="57" name="Shape 55"/>
          <p:cNvSpPr/>
          <p:nvPr/>
        </p:nvSpPr>
        <p:spPr>
          <a:xfrm>
            <a:off x="8211312" y="3026664"/>
            <a:ext cx="685800"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58" name="Text 56"/>
          <p:cNvSpPr/>
          <p:nvPr/>
        </p:nvSpPr>
        <p:spPr>
          <a:xfrm>
            <a:off x="8211312" y="3026664"/>
            <a:ext cx="685800"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Pika</a:t>
            </a:r>
            <a:endParaRPr lang="en-US" sz="800" dirty="0"/>
          </a:p>
        </p:txBody>
      </p:sp>
      <p:sp>
        <p:nvSpPr>
          <p:cNvPr id="59" name="Shape 57"/>
          <p:cNvSpPr/>
          <p:nvPr/>
        </p:nvSpPr>
        <p:spPr>
          <a:xfrm>
            <a:off x="640080" y="4023360"/>
            <a:ext cx="3474720" cy="2011680"/>
          </a:xfrm>
          <a:prstGeom prst="roundRect">
            <a:avLst>
              <a:gd name="adj" fmla="val 4545"/>
            </a:avLst>
          </a:prstGeom>
          <a:solidFill>
            <a:srgbClr val="FFFFFF">
              <a:alpha val="10000"/>
            </a:srgbClr>
          </a:solidFill>
          <a:ln w="9525">
            <a:solidFill>
              <a:srgbClr val="F2ECE4">
                <a:alpha val="22000"/>
              </a:srgbClr>
            </a:solidFill>
            <a:prstDash val="solid"/>
          </a:ln>
        </p:spPr>
        <p:txBody>
          <a:bodyPr/>
          <a:lstStyle/>
          <a:p>
            <a:endParaRPr lang="fr-FR"/>
          </a:p>
        </p:txBody>
      </p:sp>
      <p:sp>
        <p:nvSpPr>
          <p:cNvPr id="60" name="Shape 58"/>
          <p:cNvSpPr/>
          <p:nvPr/>
        </p:nvSpPr>
        <p:spPr>
          <a:xfrm>
            <a:off x="804672" y="4169664"/>
            <a:ext cx="274320" cy="274320"/>
          </a:xfrm>
          <a:prstGeom prst="roundRect">
            <a:avLst>
              <a:gd name="adj" fmla="val 26000"/>
            </a:avLst>
          </a:prstGeom>
          <a:solidFill>
            <a:srgbClr val="E6C86E">
              <a:alpha val="28000"/>
            </a:srgbClr>
          </a:solidFill>
          <a:ln/>
        </p:spPr>
        <p:txBody>
          <a:bodyPr/>
          <a:lstStyle/>
          <a:p>
            <a:endParaRPr lang="fr-FR"/>
          </a:p>
        </p:txBody>
      </p:sp>
      <p:sp>
        <p:nvSpPr>
          <p:cNvPr id="61" name="Shape 59"/>
          <p:cNvSpPr/>
          <p:nvPr/>
        </p:nvSpPr>
        <p:spPr>
          <a:xfrm>
            <a:off x="892454" y="4257446"/>
            <a:ext cx="98755" cy="98755"/>
          </a:xfrm>
          <a:prstGeom prst="roundRect">
            <a:avLst>
              <a:gd name="adj" fmla="val 25000"/>
            </a:avLst>
          </a:prstGeom>
          <a:solidFill>
            <a:srgbClr val="E6C86E"/>
          </a:solidFill>
          <a:ln/>
        </p:spPr>
        <p:txBody>
          <a:bodyPr/>
          <a:lstStyle/>
          <a:p>
            <a:endParaRPr lang="fr-FR"/>
          </a:p>
        </p:txBody>
      </p:sp>
      <p:sp>
        <p:nvSpPr>
          <p:cNvPr id="62" name="Text 60"/>
          <p:cNvSpPr/>
          <p:nvPr/>
        </p:nvSpPr>
        <p:spPr>
          <a:xfrm>
            <a:off x="1143000" y="4151376"/>
            <a:ext cx="548640" cy="292608"/>
          </a:xfrm>
          <a:prstGeom prst="rect">
            <a:avLst/>
          </a:prstGeom>
          <a:noFill/>
          <a:ln/>
        </p:spPr>
        <p:txBody>
          <a:bodyPr wrap="square" lIns="0" tIns="0" rIns="0" bIns="0" rtlCol="0" anchor="ctr"/>
          <a:lstStyle/>
          <a:p>
            <a:pPr marL="0" indent="0">
              <a:buNone/>
            </a:pPr>
            <a:r>
              <a:rPr lang="en-US" sz="900" kern="0" spc="100" dirty="0">
                <a:solidFill>
                  <a:srgbClr val="9A9089"/>
                </a:solidFill>
                <a:latin typeface="IBM Plex Mono" pitchFamily="34" charset="0"/>
                <a:ea typeface="IBM Plex Mono" pitchFamily="34" charset="-122"/>
                <a:cs typeface="IBM Plex Mono" pitchFamily="34" charset="-120"/>
              </a:rPr>
              <a:t>04</a:t>
            </a:r>
            <a:endParaRPr lang="en-US" sz="900" dirty="0"/>
          </a:p>
        </p:txBody>
      </p:sp>
      <p:sp>
        <p:nvSpPr>
          <p:cNvPr id="63" name="Text 61"/>
          <p:cNvSpPr/>
          <p:nvPr/>
        </p:nvSpPr>
        <p:spPr>
          <a:xfrm>
            <a:off x="804672" y="4480560"/>
            <a:ext cx="3145536" cy="292608"/>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Musique</a:t>
            </a:r>
            <a:endParaRPr lang="en-US" sz="1300" dirty="0"/>
          </a:p>
        </p:txBody>
      </p:sp>
      <p:sp>
        <p:nvSpPr>
          <p:cNvPr id="64" name="Shape 62"/>
          <p:cNvSpPr/>
          <p:nvPr/>
        </p:nvSpPr>
        <p:spPr>
          <a:xfrm>
            <a:off x="804672" y="4864608"/>
            <a:ext cx="685800"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65" name="Text 63"/>
          <p:cNvSpPr/>
          <p:nvPr/>
        </p:nvSpPr>
        <p:spPr>
          <a:xfrm>
            <a:off x="804672" y="4864608"/>
            <a:ext cx="685800"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Suno</a:t>
            </a:r>
            <a:endParaRPr lang="en-US" sz="800" dirty="0"/>
          </a:p>
        </p:txBody>
      </p:sp>
      <p:sp>
        <p:nvSpPr>
          <p:cNvPr id="66" name="Shape 64"/>
          <p:cNvSpPr/>
          <p:nvPr/>
        </p:nvSpPr>
        <p:spPr>
          <a:xfrm>
            <a:off x="1572768" y="4864608"/>
            <a:ext cx="685800"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67" name="Text 65"/>
          <p:cNvSpPr/>
          <p:nvPr/>
        </p:nvSpPr>
        <p:spPr>
          <a:xfrm>
            <a:off x="1572768" y="4864608"/>
            <a:ext cx="685800"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Udio</a:t>
            </a:r>
            <a:endParaRPr lang="en-US" sz="800" dirty="0"/>
          </a:p>
        </p:txBody>
      </p:sp>
      <p:sp>
        <p:nvSpPr>
          <p:cNvPr id="68" name="Shape 66"/>
          <p:cNvSpPr/>
          <p:nvPr/>
        </p:nvSpPr>
        <p:spPr>
          <a:xfrm>
            <a:off x="804672" y="5221224"/>
            <a:ext cx="1645920" cy="274320"/>
          </a:xfrm>
          <a:prstGeom prst="roundRect">
            <a:avLst>
              <a:gd name="adj" fmla="val 50000"/>
            </a:avLst>
          </a:prstGeom>
          <a:solidFill>
            <a:srgbClr val="F0965A">
              <a:alpha val="26000"/>
            </a:srgbClr>
          </a:solidFill>
          <a:ln w="6350">
            <a:solidFill>
              <a:srgbClr val="F0965A">
                <a:alpha val="55000"/>
              </a:srgbClr>
            </a:solidFill>
            <a:prstDash val="solid"/>
          </a:ln>
        </p:spPr>
        <p:txBody>
          <a:bodyPr/>
          <a:lstStyle/>
          <a:p>
            <a:endParaRPr lang="fr-FR"/>
          </a:p>
        </p:txBody>
      </p:sp>
      <p:sp>
        <p:nvSpPr>
          <p:cNvPr id="69" name="Text 67"/>
          <p:cNvSpPr/>
          <p:nvPr/>
        </p:nvSpPr>
        <p:spPr>
          <a:xfrm>
            <a:off x="804672" y="5221224"/>
            <a:ext cx="1645920" cy="274320"/>
          </a:xfrm>
          <a:prstGeom prst="rect">
            <a:avLst/>
          </a:prstGeom>
          <a:noFill/>
          <a:ln/>
        </p:spPr>
        <p:txBody>
          <a:bodyPr wrap="square" lIns="0" tIns="0" rIns="0" bIns="0" rtlCol="0" anchor="ctr"/>
          <a:lstStyle/>
          <a:p>
            <a:pPr marL="0" indent="0" algn="ctr">
              <a:buNone/>
            </a:pPr>
            <a:r>
              <a:rPr lang="en-US" sz="800" dirty="0">
                <a:solidFill>
                  <a:srgbClr val="F0A875"/>
                </a:solidFill>
                <a:latin typeface="IBM Plex Mono" pitchFamily="34" charset="0"/>
                <a:ea typeface="IBM Plex Mono" pitchFamily="34" charset="-122"/>
                <a:cs typeface="IBM Plex Mono" pitchFamily="34" charset="-120"/>
              </a:rPr>
              <a:t>ElevenLabs Music</a:t>
            </a:r>
            <a:endParaRPr lang="en-US" sz="800" dirty="0"/>
          </a:p>
        </p:txBody>
      </p:sp>
      <p:sp>
        <p:nvSpPr>
          <p:cNvPr id="70" name="Shape 68"/>
          <p:cNvSpPr/>
          <p:nvPr/>
        </p:nvSpPr>
        <p:spPr>
          <a:xfrm>
            <a:off x="4343400" y="4023360"/>
            <a:ext cx="3474720" cy="2011680"/>
          </a:xfrm>
          <a:prstGeom prst="roundRect">
            <a:avLst>
              <a:gd name="adj" fmla="val 4545"/>
            </a:avLst>
          </a:prstGeom>
          <a:solidFill>
            <a:srgbClr val="FFFFFF">
              <a:alpha val="10000"/>
            </a:srgbClr>
          </a:solidFill>
          <a:ln w="9525">
            <a:solidFill>
              <a:srgbClr val="F2ECE4">
                <a:alpha val="22000"/>
              </a:srgbClr>
            </a:solidFill>
            <a:prstDash val="solid"/>
          </a:ln>
        </p:spPr>
        <p:txBody>
          <a:bodyPr/>
          <a:lstStyle/>
          <a:p>
            <a:endParaRPr lang="fr-FR"/>
          </a:p>
        </p:txBody>
      </p:sp>
      <p:sp>
        <p:nvSpPr>
          <p:cNvPr id="71" name="Shape 69"/>
          <p:cNvSpPr/>
          <p:nvPr/>
        </p:nvSpPr>
        <p:spPr>
          <a:xfrm>
            <a:off x="4507992" y="4169664"/>
            <a:ext cx="274320" cy="274320"/>
          </a:xfrm>
          <a:prstGeom prst="roundRect">
            <a:avLst>
              <a:gd name="adj" fmla="val 26000"/>
            </a:avLst>
          </a:prstGeom>
          <a:solidFill>
            <a:srgbClr val="78C88C">
              <a:alpha val="28000"/>
            </a:srgbClr>
          </a:solidFill>
          <a:ln/>
        </p:spPr>
        <p:txBody>
          <a:bodyPr/>
          <a:lstStyle/>
          <a:p>
            <a:endParaRPr lang="fr-FR"/>
          </a:p>
        </p:txBody>
      </p:sp>
      <p:sp>
        <p:nvSpPr>
          <p:cNvPr id="72" name="Shape 70"/>
          <p:cNvSpPr/>
          <p:nvPr/>
        </p:nvSpPr>
        <p:spPr>
          <a:xfrm>
            <a:off x="4595774" y="4257446"/>
            <a:ext cx="98755" cy="98755"/>
          </a:xfrm>
          <a:prstGeom prst="roundRect">
            <a:avLst>
              <a:gd name="adj" fmla="val 25000"/>
            </a:avLst>
          </a:prstGeom>
          <a:solidFill>
            <a:srgbClr val="78C88C"/>
          </a:solidFill>
          <a:ln/>
        </p:spPr>
        <p:txBody>
          <a:bodyPr/>
          <a:lstStyle/>
          <a:p>
            <a:endParaRPr lang="fr-FR"/>
          </a:p>
        </p:txBody>
      </p:sp>
      <p:sp>
        <p:nvSpPr>
          <p:cNvPr id="73" name="Text 71"/>
          <p:cNvSpPr/>
          <p:nvPr/>
        </p:nvSpPr>
        <p:spPr>
          <a:xfrm>
            <a:off x="4846320" y="4151376"/>
            <a:ext cx="548640" cy="292608"/>
          </a:xfrm>
          <a:prstGeom prst="rect">
            <a:avLst/>
          </a:prstGeom>
          <a:noFill/>
          <a:ln/>
        </p:spPr>
        <p:txBody>
          <a:bodyPr wrap="square" lIns="0" tIns="0" rIns="0" bIns="0" rtlCol="0" anchor="ctr"/>
          <a:lstStyle/>
          <a:p>
            <a:pPr marL="0" indent="0">
              <a:buNone/>
            </a:pPr>
            <a:r>
              <a:rPr lang="en-US" sz="900" kern="0" spc="100" dirty="0">
                <a:solidFill>
                  <a:srgbClr val="9A9089"/>
                </a:solidFill>
                <a:latin typeface="IBM Plex Mono" pitchFamily="34" charset="0"/>
                <a:ea typeface="IBM Plex Mono" pitchFamily="34" charset="-122"/>
                <a:cs typeface="IBM Plex Mono" pitchFamily="34" charset="-120"/>
              </a:rPr>
              <a:t>05</a:t>
            </a:r>
            <a:endParaRPr lang="en-US" sz="900" dirty="0"/>
          </a:p>
        </p:txBody>
      </p:sp>
      <p:sp>
        <p:nvSpPr>
          <p:cNvPr id="74" name="Text 72"/>
          <p:cNvSpPr/>
          <p:nvPr/>
        </p:nvSpPr>
        <p:spPr>
          <a:xfrm>
            <a:off x="4507992" y="4480560"/>
            <a:ext cx="3145536" cy="292608"/>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Voix</a:t>
            </a:r>
            <a:endParaRPr lang="en-US" sz="1300" dirty="0"/>
          </a:p>
        </p:txBody>
      </p:sp>
      <p:sp>
        <p:nvSpPr>
          <p:cNvPr id="75" name="Shape 73"/>
          <p:cNvSpPr/>
          <p:nvPr/>
        </p:nvSpPr>
        <p:spPr>
          <a:xfrm>
            <a:off x="4507992" y="4864608"/>
            <a:ext cx="1124712"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76" name="Text 74"/>
          <p:cNvSpPr/>
          <p:nvPr/>
        </p:nvSpPr>
        <p:spPr>
          <a:xfrm>
            <a:off x="4507992" y="4864608"/>
            <a:ext cx="1124712"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ElevenLabs</a:t>
            </a:r>
            <a:endParaRPr lang="en-US" sz="800" dirty="0"/>
          </a:p>
        </p:txBody>
      </p:sp>
      <p:sp>
        <p:nvSpPr>
          <p:cNvPr id="77" name="Shape 75"/>
          <p:cNvSpPr/>
          <p:nvPr/>
        </p:nvSpPr>
        <p:spPr>
          <a:xfrm>
            <a:off x="5715000" y="4864608"/>
            <a:ext cx="685800" cy="274320"/>
          </a:xfrm>
          <a:prstGeom prst="roundRect">
            <a:avLst>
              <a:gd name="adj" fmla="val 50000"/>
            </a:avLst>
          </a:prstGeom>
          <a:solidFill>
            <a:srgbClr val="F0965A">
              <a:alpha val="26000"/>
            </a:srgbClr>
          </a:solidFill>
          <a:ln w="6350">
            <a:solidFill>
              <a:srgbClr val="F0965A">
                <a:alpha val="55000"/>
              </a:srgbClr>
            </a:solidFill>
            <a:prstDash val="solid"/>
          </a:ln>
        </p:spPr>
        <p:txBody>
          <a:bodyPr/>
          <a:lstStyle/>
          <a:p>
            <a:endParaRPr lang="fr-FR"/>
          </a:p>
        </p:txBody>
      </p:sp>
      <p:sp>
        <p:nvSpPr>
          <p:cNvPr id="78" name="Text 76"/>
          <p:cNvSpPr/>
          <p:nvPr/>
        </p:nvSpPr>
        <p:spPr>
          <a:xfrm>
            <a:off x="5715000" y="4864608"/>
            <a:ext cx="685800" cy="274320"/>
          </a:xfrm>
          <a:prstGeom prst="rect">
            <a:avLst/>
          </a:prstGeom>
          <a:noFill/>
          <a:ln/>
        </p:spPr>
        <p:txBody>
          <a:bodyPr wrap="square" lIns="0" tIns="0" rIns="0" bIns="0" rtlCol="0" anchor="ctr"/>
          <a:lstStyle/>
          <a:p>
            <a:pPr marL="0" indent="0" algn="ctr">
              <a:buNone/>
            </a:pPr>
            <a:r>
              <a:rPr lang="en-US" sz="800" dirty="0">
                <a:solidFill>
                  <a:srgbClr val="F0A875"/>
                </a:solidFill>
                <a:latin typeface="IBM Plex Mono" pitchFamily="34" charset="0"/>
                <a:ea typeface="IBM Plex Mono" pitchFamily="34" charset="-122"/>
                <a:cs typeface="IBM Plex Mono" pitchFamily="34" charset="-120"/>
              </a:rPr>
              <a:t>Murf</a:t>
            </a:r>
            <a:endParaRPr lang="en-US" sz="800" dirty="0"/>
          </a:p>
        </p:txBody>
      </p:sp>
      <p:sp>
        <p:nvSpPr>
          <p:cNvPr id="79" name="Shape 77"/>
          <p:cNvSpPr/>
          <p:nvPr/>
        </p:nvSpPr>
        <p:spPr>
          <a:xfrm>
            <a:off x="6483096" y="4864608"/>
            <a:ext cx="777240" cy="274320"/>
          </a:xfrm>
          <a:prstGeom prst="roundRect">
            <a:avLst>
              <a:gd name="adj" fmla="val 50000"/>
            </a:avLst>
          </a:prstGeom>
          <a:solidFill>
            <a:srgbClr val="78B4DC">
              <a:alpha val="26000"/>
            </a:srgbClr>
          </a:solidFill>
          <a:ln w="6350">
            <a:solidFill>
              <a:srgbClr val="78B4DC">
                <a:alpha val="55000"/>
              </a:srgbClr>
            </a:solidFill>
            <a:prstDash val="solid"/>
          </a:ln>
        </p:spPr>
        <p:txBody>
          <a:bodyPr/>
          <a:lstStyle/>
          <a:p>
            <a:endParaRPr lang="fr-FR"/>
          </a:p>
        </p:txBody>
      </p:sp>
      <p:sp>
        <p:nvSpPr>
          <p:cNvPr id="80" name="Text 78"/>
          <p:cNvSpPr/>
          <p:nvPr/>
        </p:nvSpPr>
        <p:spPr>
          <a:xfrm>
            <a:off x="6483096" y="4864608"/>
            <a:ext cx="777240" cy="274320"/>
          </a:xfrm>
          <a:prstGeom prst="rect">
            <a:avLst/>
          </a:prstGeom>
          <a:noFill/>
          <a:ln/>
        </p:spPr>
        <p:txBody>
          <a:bodyPr wrap="square" lIns="0" tIns="0" rIns="0" bIns="0" rtlCol="0" anchor="ctr"/>
          <a:lstStyle/>
          <a:p>
            <a:pPr marL="0" indent="0" algn="ctr">
              <a:buNone/>
            </a:pPr>
            <a:r>
              <a:rPr lang="en-US" sz="800" dirty="0">
                <a:solidFill>
                  <a:srgbClr val="8FC4E2"/>
                </a:solidFill>
                <a:latin typeface="IBM Plex Mono" pitchFamily="34" charset="0"/>
                <a:ea typeface="IBM Plex Mono" pitchFamily="34" charset="-122"/>
                <a:cs typeface="IBM Plex Mono" pitchFamily="34" charset="-120"/>
              </a:rPr>
              <a:t>PlayHT</a:t>
            </a:r>
            <a:endParaRPr lang="en-US" sz="800" dirty="0"/>
          </a:p>
        </p:txBody>
      </p:sp>
      <p:sp>
        <p:nvSpPr>
          <p:cNvPr id="81" name="Shape 79"/>
          <p:cNvSpPr/>
          <p:nvPr/>
        </p:nvSpPr>
        <p:spPr>
          <a:xfrm>
            <a:off x="8046720" y="4023360"/>
            <a:ext cx="3474720" cy="2011680"/>
          </a:xfrm>
          <a:prstGeom prst="roundRect">
            <a:avLst>
              <a:gd name="adj" fmla="val 4545"/>
            </a:avLst>
          </a:prstGeom>
          <a:solidFill>
            <a:srgbClr val="FFFFFF">
              <a:alpha val="10000"/>
            </a:srgbClr>
          </a:solidFill>
          <a:ln w="12700">
            <a:solidFill>
              <a:srgbClr val="E06060">
                <a:alpha val="55000"/>
              </a:srgbClr>
            </a:solidFill>
            <a:prstDash val="solid"/>
          </a:ln>
        </p:spPr>
        <p:txBody>
          <a:bodyPr/>
          <a:lstStyle/>
          <a:p>
            <a:endParaRPr lang="fr-FR"/>
          </a:p>
        </p:txBody>
      </p:sp>
      <p:sp>
        <p:nvSpPr>
          <p:cNvPr id="82" name="Shape 80"/>
          <p:cNvSpPr/>
          <p:nvPr/>
        </p:nvSpPr>
        <p:spPr>
          <a:xfrm>
            <a:off x="8211312" y="4169664"/>
            <a:ext cx="274320" cy="274320"/>
          </a:xfrm>
          <a:prstGeom prst="roundRect">
            <a:avLst>
              <a:gd name="adj" fmla="val 26000"/>
            </a:avLst>
          </a:prstGeom>
          <a:solidFill>
            <a:srgbClr val="E06060">
              <a:alpha val="28000"/>
            </a:srgbClr>
          </a:solidFill>
          <a:ln/>
        </p:spPr>
        <p:txBody>
          <a:bodyPr/>
          <a:lstStyle/>
          <a:p>
            <a:endParaRPr lang="fr-FR"/>
          </a:p>
        </p:txBody>
      </p:sp>
      <p:sp>
        <p:nvSpPr>
          <p:cNvPr id="83" name="Shape 81"/>
          <p:cNvSpPr/>
          <p:nvPr/>
        </p:nvSpPr>
        <p:spPr>
          <a:xfrm>
            <a:off x="8299094" y="4257446"/>
            <a:ext cx="98755" cy="98755"/>
          </a:xfrm>
          <a:prstGeom prst="roundRect">
            <a:avLst>
              <a:gd name="adj" fmla="val 25000"/>
            </a:avLst>
          </a:prstGeom>
          <a:solidFill>
            <a:srgbClr val="E06060"/>
          </a:solidFill>
          <a:ln/>
        </p:spPr>
        <p:txBody>
          <a:bodyPr/>
          <a:lstStyle/>
          <a:p>
            <a:endParaRPr lang="fr-FR"/>
          </a:p>
        </p:txBody>
      </p:sp>
      <p:sp>
        <p:nvSpPr>
          <p:cNvPr id="84" name="Text 82"/>
          <p:cNvSpPr/>
          <p:nvPr/>
        </p:nvSpPr>
        <p:spPr>
          <a:xfrm>
            <a:off x="8549640" y="4151376"/>
            <a:ext cx="548640" cy="292608"/>
          </a:xfrm>
          <a:prstGeom prst="rect">
            <a:avLst/>
          </a:prstGeom>
          <a:noFill/>
          <a:ln/>
        </p:spPr>
        <p:txBody>
          <a:bodyPr wrap="square" lIns="0" tIns="0" rIns="0" bIns="0" rtlCol="0" anchor="ctr"/>
          <a:lstStyle/>
          <a:p>
            <a:pPr marL="0" indent="0">
              <a:buNone/>
            </a:pPr>
            <a:r>
              <a:rPr lang="en-US" sz="900" kern="0" spc="100" dirty="0">
                <a:solidFill>
                  <a:srgbClr val="9A9089"/>
                </a:solidFill>
                <a:latin typeface="IBM Plex Mono" pitchFamily="34" charset="0"/>
                <a:ea typeface="IBM Plex Mono" pitchFamily="34" charset="-122"/>
                <a:cs typeface="IBM Plex Mono" pitchFamily="34" charset="-120"/>
              </a:rPr>
              <a:t>06</a:t>
            </a:r>
            <a:endParaRPr lang="en-US" sz="900" dirty="0"/>
          </a:p>
        </p:txBody>
      </p:sp>
      <p:sp>
        <p:nvSpPr>
          <p:cNvPr id="85" name="Text 83"/>
          <p:cNvSpPr/>
          <p:nvPr/>
        </p:nvSpPr>
        <p:spPr>
          <a:xfrm>
            <a:off x="8211312" y="4480560"/>
            <a:ext cx="3145536" cy="292608"/>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Dark IA</a:t>
            </a:r>
            <a:endParaRPr lang="en-US" sz="1300" dirty="0"/>
          </a:p>
        </p:txBody>
      </p:sp>
      <p:sp>
        <p:nvSpPr>
          <p:cNvPr id="86" name="Text 84"/>
          <p:cNvSpPr/>
          <p:nvPr/>
        </p:nvSpPr>
        <p:spPr>
          <a:xfrm>
            <a:off x="8211312" y="4736592"/>
            <a:ext cx="3145536" cy="228600"/>
          </a:xfrm>
          <a:prstGeom prst="rect">
            <a:avLst/>
          </a:prstGeom>
          <a:noFill/>
          <a:ln/>
        </p:spPr>
        <p:txBody>
          <a:bodyPr wrap="square" lIns="0" tIns="0" rIns="0" bIns="0" rtlCol="0" anchor="ctr"/>
          <a:lstStyle/>
          <a:p>
            <a:pPr marL="0" indent="0">
              <a:buNone/>
            </a:pPr>
            <a:r>
              <a:rPr lang="en-US" sz="850" i="1" dirty="0">
                <a:solidFill>
                  <a:srgbClr val="E06060"/>
                </a:solidFill>
                <a:latin typeface="IBM Plex Sans" pitchFamily="34" charset="0"/>
                <a:ea typeface="IBM Plex Sans" pitchFamily="34" charset="-122"/>
                <a:cs typeface="IBM Plex Sans" pitchFamily="34" charset="-120"/>
              </a:rPr>
              <a:t>— usage illégal, à fuir</a:t>
            </a:r>
            <a:endParaRPr lang="en-US" sz="850" dirty="0"/>
          </a:p>
        </p:txBody>
      </p:sp>
      <p:sp>
        <p:nvSpPr>
          <p:cNvPr id="87" name="Shape 85"/>
          <p:cNvSpPr/>
          <p:nvPr/>
        </p:nvSpPr>
        <p:spPr>
          <a:xfrm>
            <a:off x="8211312" y="5029200"/>
            <a:ext cx="864108" cy="274320"/>
          </a:xfrm>
          <a:prstGeom prst="roundRect">
            <a:avLst>
              <a:gd name="adj" fmla="val 50000"/>
            </a:avLst>
          </a:prstGeom>
          <a:solidFill>
            <a:srgbClr val="E06060">
              <a:alpha val="26000"/>
            </a:srgbClr>
          </a:solidFill>
          <a:ln w="6350">
            <a:solidFill>
              <a:srgbClr val="E06060">
                <a:alpha val="55000"/>
              </a:srgbClr>
            </a:solidFill>
            <a:prstDash val="solid"/>
          </a:ln>
        </p:spPr>
        <p:txBody>
          <a:bodyPr/>
          <a:lstStyle/>
          <a:p>
            <a:endParaRPr lang="fr-FR"/>
          </a:p>
        </p:txBody>
      </p:sp>
      <p:sp>
        <p:nvSpPr>
          <p:cNvPr id="88" name="Text 86"/>
          <p:cNvSpPr/>
          <p:nvPr/>
        </p:nvSpPr>
        <p:spPr>
          <a:xfrm>
            <a:off x="8211312" y="5029200"/>
            <a:ext cx="864108" cy="274320"/>
          </a:xfrm>
          <a:prstGeom prst="rect">
            <a:avLst/>
          </a:prstGeom>
          <a:noFill/>
          <a:ln/>
        </p:spPr>
        <p:txBody>
          <a:bodyPr wrap="square" lIns="0" tIns="0" rIns="0" bIns="0" rtlCol="0" anchor="ctr"/>
          <a:lstStyle/>
          <a:p>
            <a:pPr marL="0" indent="0" algn="ctr">
              <a:buNone/>
            </a:pPr>
            <a:r>
              <a:rPr lang="en-US" sz="800" dirty="0">
                <a:solidFill>
                  <a:srgbClr val="F2A0A0"/>
                </a:solidFill>
                <a:latin typeface="IBM Plex Mono" pitchFamily="34" charset="0"/>
                <a:ea typeface="IBM Plex Mono" pitchFamily="34" charset="-122"/>
                <a:cs typeface="IBM Plex Mono" pitchFamily="34" charset="-120"/>
              </a:rPr>
              <a:t>WormGPT</a:t>
            </a:r>
            <a:endParaRPr lang="en-US" sz="800" dirty="0"/>
          </a:p>
        </p:txBody>
      </p:sp>
      <p:sp>
        <p:nvSpPr>
          <p:cNvPr id="89" name="Shape 87"/>
          <p:cNvSpPr/>
          <p:nvPr/>
        </p:nvSpPr>
        <p:spPr>
          <a:xfrm>
            <a:off x="9157716" y="5029200"/>
            <a:ext cx="950976" cy="274320"/>
          </a:xfrm>
          <a:prstGeom prst="roundRect">
            <a:avLst>
              <a:gd name="adj" fmla="val 50000"/>
            </a:avLst>
          </a:prstGeom>
          <a:solidFill>
            <a:srgbClr val="E06060">
              <a:alpha val="26000"/>
            </a:srgbClr>
          </a:solidFill>
          <a:ln w="6350">
            <a:solidFill>
              <a:srgbClr val="E06060">
                <a:alpha val="55000"/>
              </a:srgbClr>
            </a:solidFill>
            <a:prstDash val="solid"/>
          </a:ln>
        </p:spPr>
        <p:txBody>
          <a:bodyPr/>
          <a:lstStyle/>
          <a:p>
            <a:endParaRPr lang="fr-FR"/>
          </a:p>
        </p:txBody>
      </p:sp>
      <p:sp>
        <p:nvSpPr>
          <p:cNvPr id="90" name="Text 88"/>
          <p:cNvSpPr/>
          <p:nvPr/>
        </p:nvSpPr>
        <p:spPr>
          <a:xfrm>
            <a:off x="9157716" y="5029200"/>
            <a:ext cx="950976" cy="274320"/>
          </a:xfrm>
          <a:prstGeom prst="rect">
            <a:avLst/>
          </a:prstGeom>
          <a:noFill/>
          <a:ln/>
        </p:spPr>
        <p:txBody>
          <a:bodyPr wrap="square" lIns="0" tIns="0" rIns="0" bIns="0" rtlCol="0" anchor="ctr"/>
          <a:lstStyle/>
          <a:p>
            <a:pPr marL="0" indent="0" algn="ctr">
              <a:buNone/>
            </a:pPr>
            <a:r>
              <a:rPr lang="en-US" sz="800" dirty="0">
                <a:solidFill>
                  <a:srgbClr val="F2A0A0"/>
                </a:solidFill>
                <a:latin typeface="IBM Plex Mono" pitchFamily="34" charset="0"/>
                <a:ea typeface="IBM Plex Mono" pitchFamily="34" charset="-122"/>
                <a:cs typeface="IBM Plex Mono" pitchFamily="34" charset="-120"/>
              </a:rPr>
              <a:t>FraudGPT</a:t>
            </a:r>
            <a:endParaRPr lang="en-US" sz="800" dirty="0"/>
          </a:p>
        </p:txBody>
      </p:sp>
      <p:sp>
        <p:nvSpPr>
          <p:cNvPr id="91" name="Shape 89"/>
          <p:cNvSpPr/>
          <p:nvPr/>
        </p:nvSpPr>
        <p:spPr>
          <a:xfrm>
            <a:off x="10190988" y="5029200"/>
            <a:ext cx="950976" cy="274320"/>
          </a:xfrm>
          <a:prstGeom prst="roundRect">
            <a:avLst>
              <a:gd name="adj" fmla="val 50000"/>
            </a:avLst>
          </a:prstGeom>
          <a:solidFill>
            <a:srgbClr val="E06060">
              <a:alpha val="26000"/>
            </a:srgbClr>
          </a:solidFill>
          <a:ln w="6350">
            <a:solidFill>
              <a:srgbClr val="E06060">
                <a:alpha val="55000"/>
              </a:srgbClr>
            </a:solidFill>
            <a:prstDash val="solid"/>
          </a:ln>
        </p:spPr>
        <p:txBody>
          <a:bodyPr/>
          <a:lstStyle/>
          <a:p>
            <a:endParaRPr lang="fr-FR"/>
          </a:p>
        </p:txBody>
      </p:sp>
      <p:sp>
        <p:nvSpPr>
          <p:cNvPr id="92" name="Text 90"/>
          <p:cNvSpPr/>
          <p:nvPr/>
        </p:nvSpPr>
        <p:spPr>
          <a:xfrm>
            <a:off x="10190988" y="5029200"/>
            <a:ext cx="950976" cy="274320"/>
          </a:xfrm>
          <a:prstGeom prst="rect">
            <a:avLst/>
          </a:prstGeom>
          <a:noFill/>
          <a:ln/>
        </p:spPr>
        <p:txBody>
          <a:bodyPr wrap="square" lIns="0" tIns="0" rIns="0" bIns="0" rtlCol="0" anchor="ctr"/>
          <a:lstStyle/>
          <a:p>
            <a:pPr marL="0" indent="0" algn="ctr">
              <a:buNone/>
            </a:pPr>
            <a:r>
              <a:rPr lang="en-US" sz="800" dirty="0">
                <a:solidFill>
                  <a:srgbClr val="F2A0A0"/>
                </a:solidFill>
                <a:latin typeface="IBM Plex Mono" pitchFamily="34" charset="0"/>
                <a:ea typeface="IBM Plex Mono" pitchFamily="34" charset="-122"/>
                <a:cs typeface="IBM Plex Mono" pitchFamily="34" charset="-120"/>
              </a:rPr>
              <a:t>DarkBERT</a:t>
            </a:r>
            <a:endParaRPr lang="en-US" sz="800" dirty="0"/>
          </a:p>
        </p:txBody>
      </p:sp>
      <p:sp>
        <p:nvSpPr>
          <p:cNvPr id="93" name="Text 91"/>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94" name="Text 92"/>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16</a:t>
            </a:r>
            <a:endParaRPr lang="en-US" sz="900" dirty="0"/>
          </a:p>
        </p:txBody>
      </p:sp>
      <p:pic>
        <p:nvPicPr>
          <p:cNvPr id="96" name="Image 95">
            <a:extLst>
              <a:ext uri="{FF2B5EF4-FFF2-40B4-BE49-F238E27FC236}">
                <a16:creationId xmlns:a16="http://schemas.microsoft.com/office/drawing/2014/main" id="{C1766CFC-04E7-3169-88A2-8E961FDA9377}"/>
              </a:ext>
            </a:extLst>
          </p:cNvPr>
          <p:cNvPicPr>
            <a:picLocks noChangeAspect="1"/>
          </p:cNvPicPr>
          <p:nvPr/>
        </p:nvPicPr>
        <p:blipFill>
          <a:blip r:embed="rId3"/>
          <a:stretch>
            <a:fillRect/>
          </a:stretch>
        </p:blipFill>
        <p:spPr>
          <a:xfrm>
            <a:off x="11521440" y="694925"/>
            <a:ext cx="630333" cy="63399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219"/>
        </a:solidFill>
        <a:effectLst/>
      </p:bgPr>
    </p:bg>
    <p:spTree>
      <p:nvGrpSpPr>
        <p:cNvPr id="1" name=""/>
        <p:cNvGrpSpPr/>
        <p:nvPr/>
      </p:nvGrpSpPr>
      <p:grpSpPr>
        <a:xfrm>
          <a:off x="0" y="0"/>
          <a:ext cx="0" cy="0"/>
          <a:chOff x="0" y="0"/>
          <a:chExt cx="0" cy="0"/>
        </a:xfrm>
      </p:grpSpPr>
      <p:sp>
        <p:nvSpPr>
          <p:cNvPr id="2" name="Shape 0"/>
          <p:cNvSpPr/>
          <p:nvPr/>
        </p:nvSpPr>
        <p:spPr>
          <a:xfrm>
            <a:off x="640080" y="411480"/>
            <a:ext cx="594360" cy="59436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3" name="Image 0" descr="preencoded.png"/>
          <p:cNvPicPr>
            <a:picLocks noChangeAspect="1"/>
          </p:cNvPicPr>
          <p:nvPr/>
        </p:nvPicPr>
        <p:blipFill>
          <a:blip r:embed="rId3"/>
          <a:stretch>
            <a:fillRect/>
          </a:stretch>
        </p:blipFill>
        <p:spPr>
          <a:xfrm>
            <a:off x="717347" y="488747"/>
            <a:ext cx="439826" cy="439826"/>
          </a:xfrm>
          <a:prstGeom prst="rect">
            <a:avLst/>
          </a:prstGeom>
        </p:spPr>
      </p:pic>
      <p:sp>
        <p:nvSpPr>
          <p:cNvPr id="4" name="Text 1"/>
          <p:cNvSpPr/>
          <p:nvPr/>
        </p:nvSpPr>
        <p:spPr>
          <a:xfrm>
            <a:off x="1417320" y="384048"/>
            <a:ext cx="8686800" cy="457200"/>
          </a:xfrm>
          <a:prstGeom prst="rect">
            <a:avLst/>
          </a:prstGeom>
          <a:noFill/>
          <a:ln/>
        </p:spPr>
        <p:txBody>
          <a:bodyPr wrap="square" lIns="0" tIns="0" rIns="0" bIns="0" rtlCol="0" anchor="ctr"/>
          <a:lstStyle/>
          <a:p>
            <a:pPr marL="0" indent="0">
              <a:buNone/>
            </a:pPr>
            <a:r>
              <a:rPr lang="en-US" sz="2200" b="1" dirty="0">
                <a:solidFill>
                  <a:srgbClr val="FAF6F0"/>
                </a:solidFill>
                <a:latin typeface="Space Grotesk" pitchFamily="34" charset="0"/>
                <a:ea typeface="Space Grotesk" pitchFamily="34" charset="-122"/>
                <a:cs typeface="Space Grotesk" pitchFamily="34" charset="-120"/>
              </a:rPr>
              <a:t>Les agents IA</a:t>
            </a:r>
            <a:endParaRPr lang="en-US" sz="2200" dirty="0"/>
          </a:p>
        </p:txBody>
      </p:sp>
      <p:sp>
        <p:nvSpPr>
          <p:cNvPr id="5" name="Text 2"/>
          <p:cNvSpPr/>
          <p:nvPr/>
        </p:nvSpPr>
        <p:spPr>
          <a:xfrm>
            <a:off x="1417320" y="841248"/>
            <a:ext cx="9418320" cy="320040"/>
          </a:xfrm>
          <a:prstGeom prst="rect">
            <a:avLst/>
          </a:prstGeom>
          <a:noFill/>
          <a:ln/>
        </p:spPr>
        <p:txBody>
          <a:bodyPr wrap="square" lIns="0" tIns="0" rIns="0" bIns="0" rtlCol="0" anchor="ctr"/>
          <a:lstStyle/>
          <a:p>
            <a:pPr marL="0" indent="0">
              <a:buNone/>
            </a:pPr>
            <a:r>
              <a:rPr lang="en-US" sz="1200" dirty="0">
                <a:solidFill>
                  <a:srgbClr val="A89F95"/>
                </a:solidFill>
                <a:latin typeface="IBM Plex Sans" pitchFamily="34" charset="0"/>
                <a:ea typeface="IBM Plex Sans" pitchFamily="34" charset="-122"/>
                <a:cs typeface="IBM Plex Sans" pitchFamily="34" charset="-120"/>
              </a:rPr>
              <a:t>La nouveauté 2025-2026 : quand l'IA ne répond plus, mais agit</a:t>
            </a:r>
            <a:endParaRPr lang="en-US" sz="1200" dirty="0"/>
          </a:p>
        </p:txBody>
      </p:sp>
      <p:sp>
        <p:nvSpPr>
          <p:cNvPr id="6" name="Shape 3"/>
          <p:cNvSpPr/>
          <p:nvPr/>
        </p:nvSpPr>
        <p:spPr>
          <a:xfrm>
            <a:off x="640080" y="1508760"/>
            <a:ext cx="5257800" cy="2057400"/>
          </a:xfrm>
          <a:prstGeom prst="roundRect">
            <a:avLst>
              <a:gd name="adj" fmla="val 5778"/>
            </a:avLst>
          </a:prstGeom>
          <a:solidFill>
            <a:srgbClr val="FFFFFF">
              <a:alpha val="10000"/>
            </a:srgbClr>
          </a:solidFill>
          <a:ln w="9525">
            <a:solidFill>
              <a:srgbClr val="F2ECE4">
                <a:alpha val="22000"/>
              </a:srgbClr>
            </a:solidFill>
            <a:prstDash val="solid"/>
          </a:ln>
        </p:spPr>
        <p:txBody>
          <a:bodyPr/>
          <a:lstStyle/>
          <a:p>
            <a:endParaRPr lang="fr-FR"/>
          </a:p>
        </p:txBody>
      </p:sp>
      <p:sp>
        <p:nvSpPr>
          <p:cNvPr id="7" name="Shape 4"/>
          <p:cNvSpPr/>
          <p:nvPr/>
        </p:nvSpPr>
        <p:spPr>
          <a:xfrm>
            <a:off x="914400" y="1783080"/>
            <a:ext cx="594360" cy="59436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8" name="Image 1" descr="preencoded.png"/>
          <p:cNvPicPr>
            <a:picLocks noChangeAspect="1"/>
          </p:cNvPicPr>
          <p:nvPr/>
        </p:nvPicPr>
        <p:blipFill>
          <a:blip r:embed="rId3"/>
          <a:stretch>
            <a:fillRect/>
          </a:stretch>
        </p:blipFill>
        <p:spPr>
          <a:xfrm>
            <a:off x="991667" y="1860347"/>
            <a:ext cx="439826" cy="439826"/>
          </a:xfrm>
          <a:prstGeom prst="rect">
            <a:avLst/>
          </a:prstGeom>
        </p:spPr>
      </p:pic>
      <p:sp>
        <p:nvSpPr>
          <p:cNvPr id="9" name="Text 5"/>
          <p:cNvSpPr/>
          <p:nvPr/>
        </p:nvSpPr>
        <p:spPr>
          <a:xfrm>
            <a:off x="1691640" y="176479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Définition</a:t>
            </a:r>
            <a:endParaRPr lang="en-US" sz="1400" dirty="0"/>
          </a:p>
        </p:txBody>
      </p:sp>
      <p:sp>
        <p:nvSpPr>
          <p:cNvPr id="10" name="Text 6"/>
          <p:cNvSpPr/>
          <p:nvPr/>
        </p:nvSpPr>
        <p:spPr>
          <a:xfrm>
            <a:off x="914400" y="2560320"/>
            <a:ext cx="4709160" cy="91440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Un agent IA planifie et exécute seul une suite d'actions pour atteindre un objectif, sans validation à chaque étape.</a:t>
            </a:r>
            <a:endParaRPr lang="en-US" sz="1050" dirty="0"/>
          </a:p>
        </p:txBody>
      </p:sp>
      <p:sp>
        <p:nvSpPr>
          <p:cNvPr id="11" name="Shape 7"/>
          <p:cNvSpPr/>
          <p:nvPr/>
        </p:nvSpPr>
        <p:spPr>
          <a:xfrm>
            <a:off x="6263640" y="1508760"/>
            <a:ext cx="5257800" cy="2057400"/>
          </a:xfrm>
          <a:prstGeom prst="roundRect">
            <a:avLst>
              <a:gd name="adj" fmla="val 5778"/>
            </a:avLst>
          </a:prstGeom>
          <a:solidFill>
            <a:srgbClr val="FFFFFF">
              <a:alpha val="10000"/>
            </a:srgbClr>
          </a:solidFill>
          <a:ln w="9525">
            <a:solidFill>
              <a:srgbClr val="F2ECE4">
                <a:alpha val="22000"/>
              </a:srgbClr>
            </a:solidFill>
            <a:prstDash val="solid"/>
          </a:ln>
        </p:spPr>
        <p:txBody>
          <a:bodyPr/>
          <a:lstStyle/>
          <a:p>
            <a:endParaRPr lang="fr-FR"/>
          </a:p>
        </p:txBody>
      </p:sp>
      <p:sp>
        <p:nvSpPr>
          <p:cNvPr id="12" name="Shape 8"/>
          <p:cNvSpPr/>
          <p:nvPr/>
        </p:nvSpPr>
        <p:spPr>
          <a:xfrm>
            <a:off x="6537960" y="1783080"/>
            <a:ext cx="594360" cy="59436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13" name="Image 2" descr="preencoded.png"/>
          <p:cNvPicPr>
            <a:picLocks noChangeAspect="1"/>
          </p:cNvPicPr>
          <p:nvPr/>
        </p:nvPicPr>
        <p:blipFill>
          <a:blip r:embed="rId4"/>
          <a:stretch>
            <a:fillRect/>
          </a:stretch>
        </p:blipFill>
        <p:spPr>
          <a:xfrm>
            <a:off x="6615227" y="1860347"/>
            <a:ext cx="439826" cy="439826"/>
          </a:xfrm>
          <a:prstGeom prst="rect">
            <a:avLst/>
          </a:prstGeom>
        </p:spPr>
      </p:pic>
      <p:sp>
        <p:nvSpPr>
          <p:cNvPr id="14" name="Text 9"/>
          <p:cNvSpPr/>
          <p:nvPr/>
        </p:nvSpPr>
        <p:spPr>
          <a:xfrm>
            <a:off x="7315200" y="176479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Exemples concrets</a:t>
            </a:r>
            <a:endParaRPr lang="en-US" sz="1400" dirty="0"/>
          </a:p>
        </p:txBody>
      </p:sp>
      <p:sp>
        <p:nvSpPr>
          <p:cNvPr id="15" name="Text 10"/>
          <p:cNvSpPr/>
          <p:nvPr/>
        </p:nvSpPr>
        <p:spPr>
          <a:xfrm>
            <a:off x="6537960" y="2560320"/>
            <a:ext cx="4709160" cy="91440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Claude Code écrit et exécute du code, ChatGPT Agent navigue sur le web et remplit des formulaires, Copilot Studio automatise des tâches bureautiques.</a:t>
            </a:r>
            <a:endParaRPr lang="en-US" sz="1050" dirty="0"/>
          </a:p>
        </p:txBody>
      </p:sp>
      <p:sp>
        <p:nvSpPr>
          <p:cNvPr id="16" name="Shape 11"/>
          <p:cNvSpPr/>
          <p:nvPr/>
        </p:nvSpPr>
        <p:spPr>
          <a:xfrm>
            <a:off x="640080" y="3840480"/>
            <a:ext cx="5257800" cy="2057400"/>
          </a:xfrm>
          <a:prstGeom prst="roundRect">
            <a:avLst>
              <a:gd name="adj" fmla="val 5778"/>
            </a:avLst>
          </a:prstGeom>
          <a:solidFill>
            <a:srgbClr val="FFFFFF">
              <a:alpha val="10000"/>
            </a:srgbClr>
          </a:solidFill>
          <a:ln w="9525">
            <a:solidFill>
              <a:srgbClr val="F2ECE4">
                <a:alpha val="22000"/>
              </a:srgbClr>
            </a:solidFill>
            <a:prstDash val="solid"/>
          </a:ln>
        </p:spPr>
        <p:txBody>
          <a:bodyPr/>
          <a:lstStyle/>
          <a:p>
            <a:endParaRPr lang="fr-FR"/>
          </a:p>
        </p:txBody>
      </p:sp>
      <p:sp>
        <p:nvSpPr>
          <p:cNvPr id="17" name="Shape 12"/>
          <p:cNvSpPr/>
          <p:nvPr/>
        </p:nvSpPr>
        <p:spPr>
          <a:xfrm>
            <a:off x="914400" y="4114800"/>
            <a:ext cx="594360" cy="59436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18" name="Image 3" descr="preencoded.png"/>
          <p:cNvPicPr>
            <a:picLocks noChangeAspect="1"/>
          </p:cNvPicPr>
          <p:nvPr/>
        </p:nvPicPr>
        <p:blipFill>
          <a:blip r:embed="rId5"/>
          <a:stretch>
            <a:fillRect/>
          </a:stretch>
        </p:blipFill>
        <p:spPr>
          <a:xfrm>
            <a:off x="991667" y="4192067"/>
            <a:ext cx="439826" cy="439826"/>
          </a:xfrm>
          <a:prstGeom prst="rect">
            <a:avLst/>
          </a:prstGeom>
        </p:spPr>
      </p:pic>
      <p:sp>
        <p:nvSpPr>
          <p:cNvPr id="19" name="Text 13"/>
          <p:cNvSpPr/>
          <p:nvPr/>
        </p:nvSpPr>
        <p:spPr>
          <a:xfrm>
            <a:off x="1691640" y="409651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Avantage</a:t>
            </a:r>
            <a:endParaRPr lang="en-US" sz="1400" dirty="0"/>
          </a:p>
        </p:txBody>
      </p:sp>
      <p:sp>
        <p:nvSpPr>
          <p:cNvPr id="20" name="Text 14"/>
          <p:cNvSpPr/>
          <p:nvPr/>
        </p:nvSpPr>
        <p:spPr>
          <a:xfrm>
            <a:off x="914400" y="4892040"/>
            <a:ext cx="4709160" cy="91440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Un gain de temps réel sur des tâches longues et répétitives, avec plusieurs étapes enchaînées automatiquement.</a:t>
            </a:r>
            <a:endParaRPr lang="en-US" sz="1050" dirty="0"/>
          </a:p>
        </p:txBody>
      </p:sp>
      <p:sp>
        <p:nvSpPr>
          <p:cNvPr id="21" name="Shape 15"/>
          <p:cNvSpPr/>
          <p:nvPr/>
        </p:nvSpPr>
        <p:spPr>
          <a:xfrm>
            <a:off x="6263640" y="3840480"/>
            <a:ext cx="5257800" cy="2057400"/>
          </a:xfrm>
          <a:prstGeom prst="roundRect">
            <a:avLst>
              <a:gd name="adj" fmla="val 5778"/>
            </a:avLst>
          </a:prstGeom>
          <a:solidFill>
            <a:srgbClr val="FFFFFF">
              <a:alpha val="10000"/>
            </a:srgbClr>
          </a:solidFill>
          <a:ln w="9525">
            <a:solidFill>
              <a:srgbClr val="F2ECE4">
                <a:alpha val="22000"/>
              </a:srgbClr>
            </a:solidFill>
            <a:prstDash val="solid"/>
          </a:ln>
        </p:spPr>
        <p:txBody>
          <a:bodyPr/>
          <a:lstStyle/>
          <a:p>
            <a:endParaRPr lang="fr-FR"/>
          </a:p>
        </p:txBody>
      </p:sp>
      <p:sp>
        <p:nvSpPr>
          <p:cNvPr id="22" name="Shape 16"/>
          <p:cNvSpPr/>
          <p:nvPr/>
        </p:nvSpPr>
        <p:spPr>
          <a:xfrm>
            <a:off x="6537960" y="4114800"/>
            <a:ext cx="594360" cy="59436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23" name="Image 4" descr="preencoded.png"/>
          <p:cNvPicPr>
            <a:picLocks noChangeAspect="1"/>
          </p:cNvPicPr>
          <p:nvPr/>
        </p:nvPicPr>
        <p:blipFill>
          <a:blip r:embed="rId6"/>
          <a:stretch>
            <a:fillRect/>
          </a:stretch>
        </p:blipFill>
        <p:spPr>
          <a:xfrm>
            <a:off x="6615227" y="4192067"/>
            <a:ext cx="439826" cy="439826"/>
          </a:xfrm>
          <a:prstGeom prst="rect">
            <a:avLst/>
          </a:prstGeom>
        </p:spPr>
      </p:pic>
      <p:sp>
        <p:nvSpPr>
          <p:cNvPr id="24" name="Text 17"/>
          <p:cNvSpPr/>
          <p:nvPr/>
        </p:nvSpPr>
        <p:spPr>
          <a:xfrm>
            <a:off x="7315200" y="409651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Vigilance</a:t>
            </a:r>
            <a:endParaRPr lang="en-US" sz="1400" dirty="0"/>
          </a:p>
        </p:txBody>
      </p:sp>
      <p:sp>
        <p:nvSpPr>
          <p:cNvPr id="25" name="Text 18"/>
          <p:cNvSpPr/>
          <p:nvPr/>
        </p:nvSpPr>
        <p:spPr>
          <a:xfrm>
            <a:off x="6537960" y="4892040"/>
            <a:ext cx="4709160" cy="91440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Un agent qui agit seul peut aussi se tromper seul : toujours superviser les actions sensibles (achats, envois, suppressions).</a:t>
            </a:r>
            <a:endParaRPr lang="en-US" sz="1050" dirty="0"/>
          </a:p>
        </p:txBody>
      </p:sp>
      <p:sp>
        <p:nvSpPr>
          <p:cNvPr id="26" name="Text 19"/>
          <p:cNvSpPr/>
          <p:nvPr/>
        </p:nvSpPr>
        <p:spPr>
          <a:xfrm>
            <a:off x="640080" y="5989320"/>
            <a:ext cx="10881360" cy="411480"/>
          </a:xfrm>
          <a:prstGeom prst="rect">
            <a:avLst/>
          </a:prstGeom>
          <a:noFill/>
          <a:ln/>
        </p:spPr>
        <p:txBody>
          <a:bodyPr wrap="square" lIns="0" tIns="0" rIns="0" bIns="0" rtlCol="0" anchor="ctr"/>
          <a:lstStyle/>
          <a:p>
            <a:pPr marL="0" indent="0">
              <a:buNone/>
            </a:pPr>
            <a:r>
              <a:rPr lang="en-US" sz="950" i="1" dirty="0">
                <a:solidFill>
                  <a:srgbClr val="9A9089"/>
                </a:solidFill>
                <a:latin typeface="IBM Plex Sans" pitchFamily="34" charset="0"/>
                <a:ea typeface="IBM Plex Sans" pitchFamily="34" charset="-122"/>
                <a:cs typeface="IBM Plex Sans" pitchFamily="34" charset="-120"/>
              </a:rPr>
              <a:t>Repère chiffré : l'IA agentique fait partie des tendances technologiques stratégiques 2025 identifiées par Gartner, qui prévoit que 33% des applications d'entreprise en intégreront d'ici 2028 (contre moins de 1% en 2024).</a:t>
            </a:r>
            <a:endParaRPr lang="en-US" sz="950" dirty="0"/>
          </a:p>
        </p:txBody>
      </p:sp>
      <p:sp>
        <p:nvSpPr>
          <p:cNvPr id="27" name="Text 20"/>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Yggdrasil — Médiation Numérique</a:t>
            </a:r>
            <a:endParaRPr lang="en-US" sz="900" dirty="0"/>
          </a:p>
        </p:txBody>
      </p:sp>
      <p:sp>
        <p:nvSpPr>
          <p:cNvPr id="28" name="Text 2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17</a:t>
            </a:r>
            <a:endParaRPr lang="en-US" sz="900" dirty="0"/>
          </a:p>
        </p:txBody>
      </p:sp>
      <p:pic>
        <p:nvPicPr>
          <p:cNvPr id="30" name="Image 29">
            <a:extLst>
              <a:ext uri="{FF2B5EF4-FFF2-40B4-BE49-F238E27FC236}">
                <a16:creationId xmlns:a16="http://schemas.microsoft.com/office/drawing/2014/main" id="{53738A84-5B61-05C4-38BB-F0ED6A985569}"/>
              </a:ext>
            </a:extLst>
          </p:cNvPr>
          <p:cNvPicPr>
            <a:picLocks noChangeAspect="1"/>
          </p:cNvPicPr>
          <p:nvPr/>
        </p:nvPicPr>
        <p:blipFill>
          <a:blip r:embed="rId7"/>
          <a:stretch>
            <a:fillRect/>
          </a:stretch>
        </p:blipFill>
        <p:spPr>
          <a:xfrm>
            <a:off x="10950351" y="106589"/>
            <a:ext cx="1048603" cy="10546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219"/>
        </a:solidFill>
        <a:effectLst/>
      </p:bgPr>
    </p:bg>
    <p:spTree>
      <p:nvGrpSpPr>
        <p:cNvPr id="1" name=""/>
        <p:cNvGrpSpPr/>
        <p:nvPr/>
      </p:nvGrpSpPr>
      <p:grpSpPr>
        <a:xfrm>
          <a:off x="0" y="0"/>
          <a:ext cx="0" cy="0"/>
          <a:chOff x="0" y="0"/>
          <a:chExt cx="0" cy="0"/>
        </a:xfrm>
      </p:grpSpPr>
      <p:sp>
        <p:nvSpPr>
          <p:cNvPr id="2" name="Shape 0"/>
          <p:cNvSpPr/>
          <p:nvPr/>
        </p:nvSpPr>
        <p:spPr>
          <a:xfrm>
            <a:off x="640080" y="411480"/>
            <a:ext cx="594360" cy="59436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3" name="Image 0" descr="preencoded.png"/>
          <p:cNvPicPr>
            <a:picLocks noChangeAspect="1"/>
          </p:cNvPicPr>
          <p:nvPr/>
        </p:nvPicPr>
        <p:blipFill>
          <a:blip r:embed="rId3"/>
          <a:stretch>
            <a:fillRect/>
          </a:stretch>
        </p:blipFill>
        <p:spPr>
          <a:xfrm>
            <a:off x="717347" y="488747"/>
            <a:ext cx="439826" cy="439826"/>
          </a:xfrm>
          <a:prstGeom prst="rect">
            <a:avLst/>
          </a:prstGeom>
        </p:spPr>
      </p:pic>
      <p:sp>
        <p:nvSpPr>
          <p:cNvPr id="4" name="Text 1"/>
          <p:cNvSpPr/>
          <p:nvPr/>
        </p:nvSpPr>
        <p:spPr>
          <a:xfrm>
            <a:off x="1417320" y="384048"/>
            <a:ext cx="9144000" cy="457200"/>
          </a:xfrm>
          <a:prstGeom prst="rect">
            <a:avLst/>
          </a:prstGeom>
          <a:noFill/>
          <a:ln/>
        </p:spPr>
        <p:txBody>
          <a:bodyPr wrap="square" lIns="0" tIns="0" rIns="0" bIns="0" rtlCol="0" anchor="ctr"/>
          <a:lstStyle/>
          <a:p>
            <a:pPr marL="0" indent="0">
              <a:buNone/>
            </a:pPr>
            <a:r>
              <a:rPr lang="en-US" sz="2200" b="1" dirty="0">
                <a:solidFill>
                  <a:srgbClr val="FAF6F0"/>
                </a:solidFill>
                <a:latin typeface="Space Grotesk" pitchFamily="34" charset="0"/>
                <a:ea typeface="Space Grotesk" pitchFamily="34" charset="-122"/>
                <a:cs typeface="Space Grotesk" pitchFamily="34" charset="-120"/>
              </a:rPr>
              <a:t>L'IA déjà partout, sans le savoir</a:t>
            </a:r>
            <a:endParaRPr lang="en-US" sz="2200" dirty="0"/>
          </a:p>
        </p:txBody>
      </p:sp>
      <p:sp>
        <p:nvSpPr>
          <p:cNvPr id="5" name="Text 2"/>
          <p:cNvSpPr/>
          <p:nvPr/>
        </p:nvSpPr>
        <p:spPr>
          <a:xfrm>
            <a:off x="1417320" y="841248"/>
            <a:ext cx="9144000" cy="320040"/>
          </a:xfrm>
          <a:prstGeom prst="rect">
            <a:avLst/>
          </a:prstGeom>
          <a:noFill/>
          <a:ln/>
        </p:spPr>
        <p:txBody>
          <a:bodyPr wrap="square" lIns="0" tIns="0" rIns="0" bIns="0" rtlCol="0" anchor="ctr"/>
          <a:lstStyle/>
          <a:p>
            <a:pPr marL="0" indent="0">
              <a:buNone/>
            </a:pPr>
            <a:r>
              <a:rPr lang="en-US" sz="1200" dirty="0">
                <a:solidFill>
                  <a:srgbClr val="A89F95"/>
                </a:solidFill>
                <a:latin typeface="IBM Plex Sans" pitchFamily="34" charset="0"/>
                <a:ea typeface="IBM Plex Sans" pitchFamily="34" charset="-122"/>
                <a:cs typeface="IBM Plex Sans" pitchFamily="34" charset="-120"/>
              </a:rPr>
              <a:t>Bien au-delà des chatbots, dans les objets du quotidien</a:t>
            </a:r>
            <a:endParaRPr lang="en-US" sz="1200" dirty="0"/>
          </a:p>
        </p:txBody>
      </p:sp>
      <p:sp>
        <p:nvSpPr>
          <p:cNvPr id="6" name="Shape 3"/>
          <p:cNvSpPr/>
          <p:nvPr/>
        </p:nvSpPr>
        <p:spPr>
          <a:xfrm>
            <a:off x="77724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7" name="Shape 4"/>
          <p:cNvSpPr/>
          <p:nvPr/>
        </p:nvSpPr>
        <p:spPr>
          <a:xfrm>
            <a:off x="1005840" y="1828800"/>
            <a:ext cx="548640" cy="54864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8" name="Image 1" descr="preencoded.png"/>
          <p:cNvPicPr>
            <a:picLocks noChangeAspect="1"/>
          </p:cNvPicPr>
          <p:nvPr/>
        </p:nvPicPr>
        <p:blipFill>
          <a:blip r:embed="rId4"/>
          <a:stretch>
            <a:fillRect/>
          </a:stretch>
        </p:blipFill>
        <p:spPr>
          <a:xfrm>
            <a:off x="1077163" y="1900123"/>
            <a:ext cx="405994" cy="405994"/>
          </a:xfrm>
          <a:prstGeom prst="rect">
            <a:avLst/>
          </a:prstGeom>
        </p:spPr>
      </p:pic>
      <p:sp>
        <p:nvSpPr>
          <p:cNvPr id="9" name="Text 5"/>
          <p:cNvSpPr/>
          <p:nvPr/>
        </p:nvSpPr>
        <p:spPr>
          <a:xfrm>
            <a:off x="1737360" y="180136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Smartphone</a:t>
            </a:r>
            <a:endParaRPr lang="en-US" sz="1300" dirty="0"/>
          </a:p>
        </p:txBody>
      </p:sp>
      <p:sp>
        <p:nvSpPr>
          <p:cNvPr id="10" name="Text 6"/>
          <p:cNvSpPr/>
          <p:nvPr/>
        </p:nvSpPr>
        <p:spPr>
          <a:xfrm>
            <a:off x="1005840" y="246888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Retouche photo automatique, reconnaissance faciale, clavier prédictif.</a:t>
            </a:r>
            <a:endParaRPr lang="en-US" sz="1000" dirty="0"/>
          </a:p>
        </p:txBody>
      </p:sp>
      <p:sp>
        <p:nvSpPr>
          <p:cNvPr id="11" name="Shape 7"/>
          <p:cNvSpPr/>
          <p:nvPr/>
        </p:nvSpPr>
        <p:spPr>
          <a:xfrm>
            <a:off x="441960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2" name="Shape 8"/>
          <p:cNvSpPr/>
          <p:nvPr/>
        </p:nvSpPr>
        <p:spPr>
          <a:xfrm>
            <a:off x="4648200" y="1828800"/>
            <a:ext cx="548640" cy="54864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13" name="Image 2" descr="preencoded.png"/>
          <p:cNvPicPr>
            <a:picLocks noChangeAspect="1"/>
          </p:cNvPicPr>
          <p:nvPr/>
        </p:nvPicPr>
        <p:blipFill>
          <a:blip r:embed="rId5"/>
          <a:stretch>
            <a:fillRect/>
          </a:stretch>
        </p:blipFill>
        <p:spPr>
          <a:xfrm>
            <a:off x="4719523" y="1900123"/>
            <a:ext cx="405994" cy="405994"/>
          </a:xfrm>
          <a:prstGeom prst="rect">
            <a:avLst/>
          </a:prstGeom>
        </p:spPr>
      </p:pic>
      <p:sp>
        <p:nvSpPr>
          <p:cNvPr id="14" name="Text 9"/>
          <p:cNvSpPr/>
          <p:nvPr/>
        </p:nvSpPr>
        <p:spPr>
          <a:xfrm>
            <a:off x="5379720" y="180136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Voiture</a:t>
            </a:r>
            <a:endParaRPr lang="en-US" sz="1300" dirty="0"/>
          </a:p>
        </p:txBody>
      </p:sp>
      <p:sp>
        <p:nvSpPr>
          <p:cNvPr id="15" name="Text 10"/>
          <p:cNvSpPr/>
          <p:nvPr/>
        </p:nvSpPr>
        <p:spPr>
          <a:xfrm>
            <a:off x="4648200" y="246888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Aide à la conduite, régulateur adaptatif, détection d'obstacles.</a:t>
            </a:r>
            <a:endParaRPr lang="en-US" sz="1000" dirty="0"/>
          </a:p>
        </p:txBody>
      </p:sp>
      <p:sp>
        <p:nvSpPr>
          <p:cNvPr id="16" name="Shape 11"/>
          <p:cNvSpPr/>
          <p:nvPr/>
        </p:nvSpPr>
        <p:spPr>
          <a:xfrm>
            <a:off x="8061960" y="160020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7" name="Shape 12"/>
          <p:cNvSpPr/>
          <p:nvPr/>
        </p:nvSpPr>
        <p:spPr>
          <a:xfrm>
            <a:off x="8290560" y="1828800"/>
            <a:ext cx="548640" cy="54864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18" name="Image 3" descr="preencoded.png"/>
          <p:cNvPicPr>
            <a:picLocks noChangeAspect="1"/>
          </p:cNvPicPr>
          <p:nvPr/>
        </p:nvPicPr>
        <p:blipFill>
          <a:blip r:embed="rId6"/>
          <a:stretch>
            <a:fillRect/>
          </a:stretch>
        </p:blipFill>
        <p:spPr>
          <a:xfrm>
            <a:off x="8361883" y="1900123"/>
            <a:ext cx="405994" cy="405994"/>
          </a:xfrm>
          <a:prstGeom prst="rect">
            <a:avLst/>
          </a:prstGeom>
        </p:spPr>
      </p:pic>
      <p:sp>
        <p:nvSpPr>
          <p:cNvPr id="19" name="Text 13"/>
          <p:cNvSpPr/>
          <p:nvPr/>
        </p:nvSpPr>
        <p:spPr>
          <a:xfrm>
            <a:off x="9022080" y="180136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Maison connectée</a:t>
            </a:r>
            <a:endParaRPr lang="en-US" sz="1300" dirty="0"/>
          </a:p>
        </p:txBody>
      </p:sp>
      <p:sp>
        <p:nvSpPr>
          <p:cNvPr id="20" name="Text 14"/>
          <p:cNvSpPr/>
          <p:nvPr/>
        </p:nvSpPr>
        <p:spPr>
          <a:xfrm>
            <a:off x="8290560" y="246888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Thermostats intelligents, caméras de surveillance, enceintes.</a:t>
            </a:r>
            <a:endParaRPr lang="en-US" sz="1000" dirty="0"/>
          </a:p>
        </p:txBody>
      </p:sp>
      <p:sp>
        <p:nvSpPr>
          <p:cNvPr id="21" name="Shape 15"/>
          <p:cNvSpPr/>
          <p:nvPr/>
        </p:nvSpPr>
        <p:spPr>
          <a:xfrm>
            <a:off x="77724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22" name="Shape 16"/>
          <p:cNvSpPr/>
          <p:nvPr/>
        </p:nvSpPr>
        <p:spPr>
          <a:xfrm>
            <a:off x="1005840" y="4069080"/>
            <a:ext cx="548640" cy="54864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23" name="Image 4" descr="preencoded.png"/>
          <p:cNvPicPr>
            <a:picLocks noChangeAspect="1"/>
          </p:cNvPicPr>
          <p:nvPr/>
        </p:nvPicPr>
        <p:blipFill>
          <a:blip r:embed="rId7"/>
          <a:stretch>
            <a:fillRect/>
          </a:stretch>
        </p:blipFill>
        <p:spPr>
          <a:xfrm>
            <a:off x="1077163" y="4140403"/>
            <a:ext cx="405994" cy="405994"/>
          </a:xfrm>
          <a:prstGeom prst="rect">
            <a:avLst/>
          </a:prstGeom>
        </p:spPr>
      </p:pic>
      <p:sp>
        <p:nvSpPr>
          <p:cNvPr id="24" name="Text 17"/>
          <p:cNvSpPr/>
          <p:nvPr/>
        </p:nvSpPr>
        <p:spPr>
          <a:xfrm>
            <a:off x="1737360" y="404164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Oreillettes traductrices</a:t>
            </a:r>
            <a:endParaRPr lang="en-US" sz="1300" dirty="0"/>
          </a:p>
        </p:txBody>
      </p:sp>
      <p:sp>
        <p:nvSpPr>
          <p:cNvPr id="25" name="Text 18"/>
          <p:cNvSpPr/>
          <p:nvPr/>
        </p:nvSpPr>
        <p:spPr>
          <a:xfrm>
            <a:off x="1005840" y="470916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Traduction et interprétation en temps réel dans une conversation.</a:t>
            </a:r>
            <a:endParaRPr lang="en-US" sz="1000" dirty="0"/>
          </a:p>
        </p:txBody>
      </p:sp>
      <p:sp>
        <p:nvSpPr>
          <p:cNvPr id="26" name="Shape 19"/>
          <p:cNvSpPr/>
          <p:nvPr/>
        </p:nvSpPr>
        <p:spPr>
          <a:xfrm>
            <a:off x="441960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27" name="Shape 20"/>
          <p:cNvSpPr/>
          <p:nvPr/>
        </p:nvSpPr>
        <p:spPr>
          <a:xfrm>
            <a:off x="4648200" y="4069080"/>
            <a:ext cx="548640" cy="548640"/>
          </a:xfrm>
          <a:prstGeom prst="roundRect">
            <a:avLst>
              <a:gd name="adj" fmla="val 22000"/>
            </a:avLst>
          </a:prstGeom>
          <a:solidFill>
            <a:srgbClr val="78C88C">
              <a:alpha val="30000"/>
            </a:srgbClr>
          </a:solidFill>
          <a:ln w="9525">
            <a:solidFill>
              <a:srgbClr val="78C88C">
                <a:alpha val="65000"/>
              </a:srgbClr>
            </a:solidFill>
            <a:prstDash val="solid"/>
          </a:ln>
        </p:spPr>
        <p:txBody>
          <a:bodyPr/>
          <a:lstStyle/>
          <a:p>
            <a:endParaRPr lang="fr-FR"/>
          </a:p>
        </p:txBody>
      </p:sp>
      <p:pic>
        <p:nvPicPr>
          <p:cNvPr id="28" name="Image 5" descr="preencoded.png"/>
          <p:cNvPicPr>
            <a:picLocks noChangeAspect="1"/>
          </p:cNvPicPr>
          <p:nvPr/>
        </p:nvPicPr>
        <p:blipFill>
          <a:blip r:embed="rId8"/>
          <a:stretch>
            <a:fillRect/>
          </a:stretch>
        </p:blipFill>
        <p:spPr>
          <a:xfrm>
            <a:off x="4719523" y="4140403"/>
            <a:ext cx="405994" cy="405994"/>
          </a:xfrm>
          <a:prstGeom prst="rect">
            <a:avLst/>
          </a:prstGeom>
        </p:spPr>
      </p:pic>
      <p:sp>
        <p:nvSpPr>
          <p:cNvPr id="29" name="Text 21"/>
          <p:cNvSpPr/>
          <p:nvPr/>
        </p:nvSpPr>
        <p:spPr>
          <a:xfrm>
            <a:off x="5379720" y="404164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Banque</a:t>
            </a:r>
            <a:endParaRPr lang="en-US" sz="1300" dirty="0"/>
          </a:p>
        </p:txBody>
      </p:sp>
      <p:sp>
        <p:nvSpPr>
          <p:cNvPr id="30" name="Text 22"/>
          <p:cNvSpPr/>
          <p:nvPr/>
        </p:nvSpPr>
        <p:spPr>
          <a:xfrm>
            <a:off x="4648200" y="470916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Détection de fraude en temps réel, chatbots du service client.</a:t>
            </a:r>
            <a:endParaRPr lang="en-US" sz="1000" dirty="0"/>
          </a:p>
        </p:txBody>
      </p:sp>
      <p:sp>
        <p:nvSpPr>
          <p:cNvPr id="31" name="Shape 23"/>
          <p:cNvSpPr/>
          <p:nvPr/>
        </p:nvSpPr>
        <p:spPr>
          <a:xfrm>
            <a:off x="8061960" y="3840480"/>
            <a:ext cx="332232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32" name="Shape 24"/>
          <p:cNvSpPr/>
          <p:nvPr/>
        </p:nvSpPr>
        <p:spPr>
          <a:xfrm>
            <a:off x="8290560" y="4069080"/>
            <a:ext cx="548640" cy="54864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33" name="Image 6" descr="preencoded.png"/>
          <p:cNvPicPr>
            <a:picLocks noChangeAspect="1"/>
          </p:cNvPicPr>
          <p:nvPr/>
        </p:nvPicPr>
        <p:blipFill>
          <a:blip r:embed="rId9"/>
          <a:stretch>
            <a:fillRect/>
          </a:stretch>
        </p:blipFill>
        <p:spPr>
          <a:xfrm>
            <a:off x="8361883" y="4140403"/>
            <a:ext cx="405994" cy="405994"/>
          </a:xfrm>
          <a:prstGeom prst="rect">
            <a:avLst/>
          </a:prstGeom>
        </p:spPr>
      </p:pic>
      <p:sp>
        <p:nvSpPr>
          <p:cNvPr id="34" name="Text 25"/>
          <p:cNvSpPr/>
          <p:nvPr/>
        </p:nvSpPr>
        <p:spPr>
          <a:xfrm>
            <a:off x="9022080" y="4041648"/>
            <a:ext cx="2179320" cy="3657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Réseaux sociaux</a:t>
            </a:r>
            <a:endParaRPr lang="en-US" sz="1300" dirty="0"/>
          </a:p>
        </p:txBody>
      </p:sp>
      <p:sp>
        <p:nvSpPr>
          <p:cNvPr id="35" name="Text 26"/>
          <p:cNvSpPr/>
          <p:nvPr/>
        </p:nvSpPr>
        <p:spPr>
          <a:xfrm>
            <a:off x="8290560" y="4709160"/>
            <a:ext cx="286512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Fils d'actualité personnalisés, modération et filtrage de contenu.</a:t>
            </a:r>
            <a:endParaRPr lang="en-US" sz="1000" dirty="0"/>
          </a:p>
        </p:txBody>
      </p:sp>
      <p:sp>
        <p:nvSpPr>
          <p:cNvPr id="36" name="Text 27"/>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37" name="Text 28"/>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18</a:t>
            </a:r>
            <a:endParaRPr lang="en-US" sz="900" dirty="0"/>
          </a:p>
        </p:txBody>
      </p:sp>
      <p:pic>
        <p:nvPicPr>
          <p:cNvPr id="39" name="Image 38">
            <a:extLst>
              <a:ext uri="{FF2B5EF4-FFF2-40B4-BE49-F238E27FC236}">
                <a16:creationId xmlns:a16="http://schemas.microsoft.com/office/drawing/2014/main" id="{5F54870E-AD74-72A6-E701-4316A9A4F7E0}"/>
              </a:ext>
            </a:extLst>
          </p:cNvPr>
          <p:cNvPicPr>
            <a:picLocks noChangeAspect="1"/>
          </p:cNvPicPr>
          <p:nvPr/>
        </p:nvPicPr>
        <p:blipFill>
          <a:blip r:embed="rId10"/>
          <a:stretch>
            <a:fillRect/>
          </a:stretch>
        </p:blipFill>
        <p:spPr>
          <a:xfrm>
            <a:off x="11027618" y="68444"/>
            <a:ext cx="1048603" cy="10546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02920"/>
          </a:xfrm>
          <a:prstGeom prst="rect">
            <a:avLst/>
          </a:prstGeom>
          <a:noFill/>
          <a:ln/>
        </p:spPr>
        <p:txBody>
          <a:bodyPr wrap="square" lIns="0" tIns="0" rIns="0" bIns="0" rtlCol="0" anchor="ctr"/>
          <a:lstStyle/>
          <a:p>
            <a:pPr marL="0" indent="0">
              <a:buNone/>
            </a:pPr>
            <a:r>
              <a:rPr lang="en-US" sz="2600" b="1" dirty="0">
                <a:solidFill>
                  <a:srgbClr val="FAF6F0"/>
                </a:solidFill>
                <a:latin typeface="Space Grotesk" pitchFamily="34" charset="0"/>
                <a:ea typeface="Space Grotesk" pitchFamily="34" charset="-122"/>
                <a:cs typeface="Space Grotesk" pitchFamily="34" charset="-120"/>
              </a:rPr>
              <a:t>DROIT D'AUTEUR ET IA</a:t>
            </a:r>
            <a:endParaRPr lang="en-US" sz="2600" dirty="0"/>
          </a:p>
        </p:txBody>
      </p:sp>
      <p:sp>
        <p:nvSpPr>
          <p:cNvPr id="3" name="Text 1"/>
          <p:cNvSpPr/>
          <p:nvPr/>
        </p:nvSpPr>
        <p:spPr>
          <a:xfrm>
            <a:off x="640080" y="960120"/>
            <a:ext cx="8229600"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Qui possède un contenu généré par IA ?</a:t>
            </a:r>
            <a:endParaRPr lang="en-US" sz="1250" dirty="0"/>
          </a:p>
        </p:txBody>
      </p:sp>
      <p:sp>
        <p:nvSpPr>
          <p:cNvPr id="4" name="Shape 2"/>
          <p:cNvSpPr/>
          <p:nvPr/>
        </p:nvSpPr>
        <p:spPr>
          <a:xfrm>
            <a:off x="640080" y="1554480"/>
            <a:ext cx="6492240" cy="4389120"/>
          </a:xfrm>
          <a:prstGeom prst="roundRect">
            <a:avLst>
              <a:gd name="adj" fmla="val 2708"/>
            </a:avLst>
          </a:prstGeom>
          <a:solidFill>
            <a:srgbClr val="FFFFFF">
              <a:alpha val="10000"/>
            </a:srgbClr>
          </a:solidFill>
          <a:ln w="9525">
            <a:solidFill>
              <a:srgbClr val="F2ECE4">
                <a:alpha val="22000"/>
              </a:srgbClr>
            </a:solidFill>
            <a:prstDash val="solid"/>
          </a:ln>
        </p:spPr>
        <p:txBody>
          <a:bodyPr/>
          <a:lstStyle/>
          <a:p>
            <a:endParaRPr lang="fr-FR"/>
          </a:p>
        </p:txBody>
      </p:sp>
      <p:sp>
        <p:nvSpPr>
          <p:cNvPr id="5" name="Shape 3"/>
          <p:cNvSpPr/>
          <p:nvPr/>
        </p:nvSpPr>
        <p:spPr>
          <a:xfrm>
            <a:off x="960120" y="1874520"/>
            <a:ext cx="685800" cy="68580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1049274" y="1963674"/>
            <a:ext cx="507492" cy="507492"/>
          </a:xfrm>
          <a:prstGeom prst="rect">
            <a:avLst/>
          </a:prstGeom>
        </p:spPr>
      </p:pic>
      <p:sp>
        <p:nvSpPr>
          <p:cNvPr id="7" name="Text 4"/>
          <p:cNvSpPr/>
          <p:nvPr/>
        </p:nvSpPr>
        <p:spPr>
          <a:xfrm>
            <a:off x="1828800" y="1828800"/>
            <a:ext cx="5120640" cy="914400"/>
          </a:xfrm>
          <a:prstGeom prst="rect">
            <a:avLst/>
          </a:prstGeom>
          <a:noFill/>
          <a:ln/>
        </p:spPr>
        <p:txBody>
          <a:bodyPr wrap="square" lIns="0" tIns="0" rIns="0" bIns="0" rtlCol="0" anchor="ctr"/>
          <a:lstStyle/>
          <a:p>
            <a:pPr marL="0" indent="0">
              <a:buNone/>
            </a:pPr>
            <a:r>
              <a:rPr lang="en-US" sz="1300" dirty="0">
                <a:solidFill>
                  <a:srgbClr val="F2ECE4"/>
                </a:solidFill>
                <a:latin typeface="IBM Plex Sans" pitchFamily="34" charset="0"/>
                <a:ea typeface="IBM Plex Sans" pitchFamily="34" charset="-122"/>
                <a:cs typeface="IBM Plex Sans" pitchFamily="34" charset="-120"/>
              </a:rPr>
              <a:t>En France, une œuvre n'est protégée par le droit d'auteur que si elle porte l'empreinte de la personnalité d'un auteur humain.</a:t>
            </a:r>
            <a:endParaRPr lang="en-US" sz="1300" dirty="0"/>
          </a:p>
        </p:txBody>
      </p:sp>
      <p:sp>
        <p:nvSpPr>
          <p:cNvPr id="8" name="Shape 5"/>
          <p:cNvSpPr/>
          <p:nvPr/>
        </p:nvSpPr>
        <p:spPr>
          <a:xfrm>
            <a:off x="914400" y="2971800"/>
            <a:ext cx="5943600" cy="0"/>
          </a:xfrm>
          <a:prstGeom prst="line">
            <a:avLst/>
          </a:prstGeom>
          <a:noFill/>
          <a:ln w="12700">
            <a:solidFill>
              <a:srgbClr val="37312A"/>
            </a:solidFill>
            <a:prstDash val="solid"/>
          </a:ln>
        </p:spPr>
        <p:txBody>
          <a:bodyPr/>
          <a:lstStyle/>
          <a:p>
            <a:endParaRPr lang="fr-FR"/>
          </a:p>
        </p:txBody>
      </p:sp>
      <p:sp>
        <p:nvSpPr>
          <p:cNvPr id="9" name="Text 6"/>
          <p:cNvSpPr/>
          <p:nvPr/>
        </p:nvSpPr>
        <p:spPr>
          <a:xfrm>
            <a:off x="914400" y="3200400"/>
            <a:ext cx="5943600" cy="260604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200" dirty="0">
                <a:solidFill>
                  <a:srgbClr val="B3AAA0"/>
                </a:solidFill>
                <a:latin typeface="IBM Plex Sans" pitchFamily="34" charset="0"/>
                <a:ea typeface="IBM Plex Sans" pitchFamily="34" charset="-122"/>
                <a:cs typeface="IBM Plex Sans" pitchFamily="34" charset="-120"/>
              </a:rPr>
              <a:t>Un contenu 100% généré par IA, sans intervention humaine créative, n'est donc pas protégeable en l'état actuel du droit.</a:t>
            </a:r>
            <a:endParaRPr lang="en-US" sz="1200" dirty="0"/>
          </a:p>
          <a:p>
            <a:pPr marL="342900" indent="-342900">
              <a:lnSpc>
                <a:spcPct val="120000"/>
              </a:lnSpc>
              <a:spcAft>
                <a:spcPts val="1200"/>
              </a:spcAft>
              <a:buSzPct val="100000"/>
              <a:buChar char="–"/>
            </a:pPr>
            <a:r>
              <a:rPr lang="en-US" sz="1200" dirty="0">
                <a:solidFill>
                  <a:srgbClr val="B3AAA0"/>
                </a:solidFill>
                <a:latin typeface="IBM Plex Sans" pitchFamily="34" charset="0"/>
                <a:ea typeface="IBM Plex Sans" pitchFamily="34" charset="-122"/>
                <a:cs typeface="IBM Plex Sans" pitchFamily="34" charset="-120"/>
              </a:rPr>
              <a:t>Risque inverse : une IA peut reproduire un style ou des éléments d'œuvres protégées présentes dans ses données d'entraînement, exposant à un risque de contrefaçon.</a:t>
            </a:r>
            <a:endParaRPr lang="en-US" sz="1200" dirty="0"/>
          </a:p>
          <a:p>
            <a:pPr marL="342900" indent="-342900">
              <a:lnSpc>
                <a:spcPct val="120000"/>
              </a:lnSpc>
              <a:spcAft>
                <a:spcPts val="1200"/>
              </a:spcAft>
              <a:buSzPct val="100000"/>
              <a:buChar char="–"/>
            </a:pPr>
            <a:r>
              <a:rPr lang="en-US" sz="1200" dirty="0">
                <a:solidFill>
                  <a:srgbClr val="B3AAA0"/>
                </a:solidFill>
                <a:latin typeface="IBM Plex Sans" pitchFamily="34" charset="0"/>
                <a:ea typeface="IBM Plex Sans" pitchFamily="34" charset="-122"/>
                <a:cs typeface="IBM Plex Sans" pitchFamily="34" charset="-120"/>
              </a:rPr>
              <a:t>Plusieurs procès sont en cours dans le monde (auteurs, artistes, presse) contre des éditeurs d'IA pour usage de contenus protégés sans autorisation.</a:t>
            </a:r>
            <a:endParaRPr lang="en-US" sz="1200" dirty="0"/>
          </a:p>
        </p:txBody>
      </p:sp>
      <p:sp>
        <p:nvSpPr>
          <p:cNvPr id="10" name="Shape 7"/>
          <p:cNvSpPr/>
          <p:nvPr/>
        </p:nvSpPr>
        <p:spPr>
          <a:xfrm>
            <a:off x="7360920" y="1554480"/>
            <a:ext cx="4160520" cy="4389120"/>
          </a:xfrm>
          <a:prstGeom prst="roundRect">
            <a:avLst>
              <a:gd name="adj" fmla="val 2857"/>
            </a:avLst>
          </a:prstGeom>
          <a:solidFill>
            <a:srgbClr val="FFFFFF">
              <a:alpha val="10000"/>
            </a:srgbClr>
          </a:solidFill>
          <a:ln w="9525">
            <a:solidFill>
              <a:srgbClr val="F2ECE4">
                <a:alpha val="22000"/>
              </a:srgbClr>
            </a:solidFill>
            <a:prstDash val="solid"/>
          </a:ln>
        </p:spPr>
        <p:txBody>
          <a:bodyPr/>
          <a:lstStyle/>
          <a:p>
            <a:endParaRPr lang="fr-FR"/>
          </a:p>
        </p:txBody>
      </p:sp>
      <p:sp>
        <p:nvSpPr>
          <p:cNvPr id="11" name="Text 8"/>
          <p:cNvSpPr/>
          <p:nvPr/>
        </p:nvSpPr>
        <p:spPr>
          <a:xfrm>
            <a:off x="7680960" y="1828800"/>
            <a:ext cx="3566160" cy="320040"/>
          </a:xfrm>
          <a:prstGeom prst="rect">
            <a:avLst/>
          </a:prstGeom>
          <a:noFill/>
          <a:ln/>
        </p:spPr>
        <p:txBody>
          <a:bodyPr wrap="square" lIns="0" tIns="0" rIns="0" bIns="0" rtlCol="0" anchor="ctr"/>
          <a:lstStyle/>
          <a:p>
            <a:pPr marL="0" indent="0">
              <a:buNone/>
            </a:pPr>
            <a:r>
              <a:rPr lang="en-US" sz="1050" kern="0" spc="200" dirty="0">
                <a:solidFill>
                  <a:srgbClr val="D9A883"/>
                </a:solidFill>
                <a:latin typeface="IBM Plex Mono" pitchFamily="34" charset="0"/>
                <a:ea typeface="IBM Plex Mono" pitchFamily="34" charset="-122"/>
                <a:cs typeface="IBM Plex Mono" pitchFamily="34" charset="-120"/>
              </a:rPr>
              <a:t>BONNE PRATIQUE</a:t>
            </a:r>
            <a:endParaRPr lang="en-US" sz="1050" dirty="0"/>
          </a:p>
        </p:txBody>
      </p:sp>
      <p:sp>
        <p:nvSpPr>
          <p:cNvPr id="12" name="Text 9"/>
          <p:cNvSpPr/>
          <p:nvPr/>
        </p:nvSpPr>
        <p:spPr>
          <a:xfrm>
            <a:off x="7680960" y="2286000"/>
            <a:ext cx="3520440" cy="2377440"/>
          </a:xfrm>
          <a:prstGeom prst="rect">
            <a:avLst/>
          </a:prstGeom>
          <a:noFill/>
          <a:ln/>
        </p:spPr>
        <p:txBody>
          <a:bodyPr wrap="square" lIns="0" tIns="0" rIns="0" bIns="0" rtlCol="0" anchor="t"/>
          <a:lstStyle/>
          <a:p>
            <a:pPr marL="0" indent="0">
              <a:lnSpc>
                <a:spcPct val="125000"/>
              </a:lnSpc>
              <a:buNone/>
            </a:pPr>
            <a:r>
              <a:rPr lang="en-US" sz="1400" i="1" dirty="0">
                <a:solidFill>
                  <a:srgbClr val="FAF6F0"/>
                </a:solidFill>
                <a:latin typeface="Space Grotesk" pitchFamily="34" charset="0"/>
                <a:ea typeface="Space Grotesk" pitchFamily="34" charset="-122"/>
                <a:cs typeface="Space Grotesk" pitchFamily="34" charset="-120"/>
              </a:rPr>
              <a:t>Vérifiez les conditions d'utilisation de l'outil avant tout usage commercial, et évitez de publier tel quel un contenu généré sans relecture ni adaptation humaine.</a:t>
            </a:r>
            <a:endParaRPr lang="en-US" sz="1400" dirty="0"/>
          </a:p>
        </p:txBody>
      </p:sp>
      <p:sp>
        <p:nvSpPr>
          <p:cNvPr id="13" name="Shape 10"/>
          <p:cNvSpPr/>
          <p:nvPr/>
        </p:nvSpPr>
        <p:spPr>
          <a:xfrm>
            <a:off x="7680960" y="5074920"/>
            <a:ext cx="914400" cy="0"/>
          </a:xfrm>
          <a:prstGeom prst="line">
            <a:avLst/>
          </a:prstGeom>
          <a:noFill/>
          <a:ln w="19050">
            <a:solidFill>
              <a:srgbClr val="F0965A"/>
            </a:solidFill>
            <a:prstDash val="solid"/>
          </a:ln>
        </p:spPr>
        <p:txBody>
          <a:bodyPr/>
          <a:lstStyle/>
          <a:p>
            <a:endParaRPr lang="fr-FR"/>
          </a:p>
        </p:txBody>
      </p:sp>
      <p:sp>
        <p:nvSpPr>
          <p:cNvPr id="14" name="Text 11"/>
          <p:cNvSpPr/>
          <p:nvPr/>
        </p:nvSpPr>
        <p:spPr>
          <a:xfrm>
            <a:off x="7680960" y="5257800"/>
            <a:ext cx="3520440" cy="548640"/>
          </a:xfrm>
          <a:prstGeom prst="rect">
            <a:avLst/>
          </a:prstGeom>
          <a:noFill/>
          <a:ln/>
        </p:spPr>
        <p:txBody>
          <a:bodyPr wrap="square" lIns="0" tIns="0" rIns="0" bIns="0" rtlCol="0" anchor="ctr"/>
          <a:lstStyle/>
          <a:p>
            <a:pPr marL="0" indent="0">
              <a:buNone/>
            </a:pPr>
            <a:r>
              <a:rPr lang="en-US" sz="1050" dirty="0">
                <a:solidFill>
                  <a:srgbClr val="A89F95"/>
                </a:solidFill>
                <a:latin typeface="IBM Plex Sans" pitchFamily="34" charset="0"/>
                <a:ea typeface="IBM Plex Sans" pitchFamily="34" charset="-122"/>
                <a:cs typeface="IBM Plex Sans" pitchFamily="34" charset="-120"/>
              </a:rPr>
              <a:t>Surtout pour un usage professionnel ou de médiation.</a:t>
            </a:r>
            <a:endParaRPr lang="en-US" sz="1050" dirty="0"/>
          </a:p>
        </p:txBody>
      </p:sp>
      <p:sp>
        <p:nvSpPr>
          <p:cNvPr id="15" name="Text 12"/>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16" name="Text 1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19</a:t>
            </a:r>
            <a:endParaRPr lang="en-US" sz="900" dirty="0"/>
          </a:p>
        </p:txBody>
      </p:sp>
      <p:pic>
        <p:nvPicPr>
          <p:cNvPr id="18" name="Image 17">
            <a:extLst>
              <a:ext uri="{FF2B5EF4-FFF2-40B4-BE49-F238E27FC236}">
                <a16:creationId xmlns:a16="http://schemas.microsoft.com/office/drawing/2014/main" id="{4FAAD1FB-BE10-FCB2-D424-503A2949F120}"/>
              </a:ext>
            </a:extLst>
          </p:cNvPr>
          <p:cNvPicPr>
            <a:picLocks noChangeAspect="1"/>
          </p:cNvPicPr>
          <p:nvPr/>
        </p:nvPicPr>
        <p:blipFill>
          <a:blip r:embed="rId4"/>
          <a:stretch>
            <a:fillRect/>
          </a:stretch>
        </p:blipFill>
        <p:spPr>
          <a:xfrm>
            <a:off x="10951418" y="88301"/>
            <a:ext cx="1048603" cy="10546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219"/>
        </a:solidFill>
        <a:effectLst/>
      </p:bgPr>
    </p:bg>
    <p:spTree>
      <p:nvGrpSpPr>
        <p:cNvPr id="1" name=""/>
        <p:cNvGrpSpPr/>
        <p:nvPr/>
      </p:nvGrpSpPr>
      <p:grpSpPr>
        <a:xfrm>
          <a:off x="0" y="0"/>
          <a:ext cx="0" cy="0"/>
          <a:chOff x="0" y="0"/>
          <a:chExt cx="0" cy="0"/>
        </a:xfrm>
      </p:grpSpPr>
      <p:sp>
        <p:nvSpPr>
          <p:cNvPr id="2" name="Shape 0"/>
          <p:cNvSpPr/>
          <p:nvPr/>
        </p:nvSpPr>
        <p:spPr>
          <a:xfrm>
            <a:off x="640080" y="411480"/>
            <a:ext cx="594360" cy="59436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3" name="Image 0" descr="preencoded.png"/>
          <p:cNvPicPr>
            <a:picLocks noChangeAspect="1"/>
          </p:cNvPicPr>
          <p:nvPr/>
        </p:nvPicPr>
        <p:blipFill>
          <a:blip r:embed="rId3"/>
          <a:stretch>
            <a:fillRect/>
          </a:stretch>
        </p:blipFill>
        <p:spPr>
          <a:xfrm>
            <a:off x="717347" y="488747"/>
            <a:ext cx="439826" cy="439826"/>
          </a:xfrm>
          <a:prstGeom prst="rect">
            <a:avLst/>
          </a:prstGeom>
        </p:spPr>
      </p:pic>
      <p:sp>
        <p:nvSpPr>
          <p:cNvPr id="4" name="Text 1"/>
          <p:cNvSpPr/>
          <p:nvPr/>
        </p:nvSpPr>
        <p:spPr>
          <a:xfrm>
            <a:off x="1417320" y="384048"/>
            <a:ext cx="9144000" cy="457200"/>
          </a:xfrm>
          <a:prstGeom prst="rect">
            <a:avLst/>
          </a:prstGeom>
          <a:noFill/>
          <a:ln/>
        </p:spPr>
        <p:txBody>
          <a:bodyPr wrap="square" lIns="0" tIns="0" rIns="0" bIns="0" rtlCol="0" anchor="ctr"/>
          <a:lstStyle/>
          <a:p>
            <a:pPr marL="0" indent="0">
              <a:buNone/>
            </a:pPr>
            <a:r>
              <a:rPr lang="en-US" sz="2000" b="1" dirty="0">
                <a:solidFill>
                  <a:srgbClr val="FAF6F0"/>
                </a:solidFill>
                <a:latin typeface="Space Grotesk" pitchFamily="34" charset="0"/>
                <a:ea typeface="Space Grotesk" pitchFamily="34" charset="-122"/>
                <a:cs typeface="Space Grotesk" pitchFamily="34" charset="-120"/>
              </a:rPr>
              <a:t>RGPD : usage professionnel de l'IA</a:t>
            </a:r>
            <a:endParaRPr lang="en-US" sz="2000" dirty="0"/>
          </a:p>
        </p:txBody>
      </p:sp>
      <p:sp>
        <p:nvSpPr>
          <p:cNvPr id="5" name="Text 2"/>
          <p:cNvSpPr/>
          <p:nvPr/>
        </p:nvSpPr>
        <p:spPr>
          <a:xfrm>
            <a:off x="1417320" y="841248"/>
            <a:ext cx="9418320" cy="320040"/>
          </a:xfrm>
          <a:prstGeom prst="rect">
            <a:avLst/>
          </a:prstGeom>
          <a:noFill/>
          <a:ln/>
        </p:spPr>
        <p:txBody>
          <a:bodyPr wrap="square" lIns="0" tIns="0" rIns="0" bIns="0" rtlCol="0" anchor="ctr"/>
          <a:lstStyle/>
          <a:p>
            <a:pPr marL="0" indent="0">
              <a:buNone/>
            </a:pPr>
            <a:r>
              <a:rPr lang="en-US" sz="1100" dirty="0">
                <a:solidFill>
                  <a:srgbClr val="A89F95"/>
                </a:solidFill>
                <a:latin typeface="IBM Plex Sans" pitchFamily="34" charset="0"/>
                <a:ea typeface="IBM Plex Sans" pitchFamily="34" charset="-122"/>
                <a:cs typeface="IBM Plex Sans" pitchFamily="34" charset="-120"/>
              </a:rPr>
              <a:t>Ce qu'il faut savoir avant de déployer l'IA dans une structure recevant du public</a:t>
            </a:r>
            <a:endParaRPr lang="en-US" sz="1100" dirty="0"/>
          </a:p>
        </p:txBody>
      </p:sp>
      <p:sp>
        <p:nvSpPr>
          <p:cNvPr id="6" name="Shape 3"/>
          <p:cNvSpPr/>
          <p:nvPr/>
        </p:nvSpPr>
        <p:spPr>
          <a:xfrm>
            <a:off x="640080" y="160020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7" name="Shape 4"/>
          <p:cNvSpPr/>
          <p:nvPr/>
        </p:nvSpPr>
        <p:spPr>
          <a:xfrm>
            <a:off x="914400" y="1874520"/>
            <a:ext cx="594360" cy="59436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8" name="Image 1" descr="preencoded.png"/>
          <p:cNvPicPr>
            <a:picLocks noChangeAspect="1"/>
          </p:cNvPicPr>
          <p:nvPr/>
        </p:nvPicPr>
        <p:blipFill>
          <a:blip r:embed="rId4"/>
          <a:stretch>
            <a:fillRect/>
          </a:stretch>
        </p:blipFill>
        <p:spPr>
          <a:xfrm>
            <a:off x="991667" y="1951787"/>
            <a:ext cx="439826" cy="439826"/>
          </a:xfrm>
          <a:prstGeom prst="rect">
            <a:avLst/>
          </a:prstGeom>
        </p:spPr>
      </p:pic>
      <p:sp>
        <p:nvSpPr>
          <p:cNvPr id="9" name="Text 5"/>
          <p:cNvSpPr/>
          <p:nvPr/>
        </p:nvSpPr>
        <p:spPr>
          <a:xfrm>
            <a:off x="1691640" y="1856232"/>
            <a:ext cx="3977640" cy="64008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Base légale</a:t>
            </a:r>
            <a:endParaRPr lang="en-US" sz="1300" dirty="0"/>
          </a:p>
        </p:txBody>
      </p:sp>
      <p:sp>
        <p:nvSpPr>
          <p:cNvPr id="10" name="Text 6"/>
          <p:cNvSpPr/>
          <p:nvPr/>
        </p:nvSpPr>
        <p:spPr>
          <a:xfrm>
            <a:off x="914400" y="2651760"/>
            <a:ext cx="470916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On n'a pas le droit d'utiliser l'IA avec des données personnelles « juste parce que c'est pratique » : il faut une raison légale valable, le plus souvent l'accord explicite de la personne concernée.</a:t>
            </a:r>
            <a:endParaRPr lang="en-US" sz="1000" dirty="0"/>
          </a:p>
        </p:txBody>
      </p:sp>
      <p:sp>
        <p:nvSpPr>
          <p:cNvPr id="11" name="Shape 7"/>
          <p:cNvSpPr/>
          <p:nvPr/>
        </p:nvSpPr>
        <p:spPr>
          <a:xfrm>
            <a:off x="6263640" y="160020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12" name="Shape 8"/>
          <p:cNvSpPr/>
          <p:nvPr/>
        </p:nvSpPr>
        <p:spPr>
          <a:xfrm>
            <a:off x="6537960" y="1874520"/>
            <a:ext cx="594360" cy="594360"/>
          </a:xfrm>
          <a:prstGeom prst="roundRect">
            <a:avLst>
              <a:gd name="adj" fmla="val 22000"/>
            </a:avLst>
          </a:prstGeom>
          <a:solidFill>
            <a:srgbClr val="F0965A">
              <a:alpha val="30000"/>
            </a:srgbClr>
          </a:solidFill>
          <a:ln w="9525">
            <a:solidFill>
              <a:srgbClr val="F0965A">
                <a:alpha val="65000"/>
              </a:srgbClr>
            </a:solidFill>
            <a:prstDash val="solid"/>
          </a:ln>
        </p:spPr>
        <p:txBody>
          <a:bodyPr/>
          <a:lstStyle/>
          <a:p>
            <a:endParaRPr lang="fr-FR"/>
          </a:p>
        </p:txBody>
      </p:sp>
      <p:pic>
        <p:nvPicPr>
          <p:cNvPr id="13" name="Image 2" descr="preencoded.png"/>
          <p:cNvPicPr>
            <a:picLocks noChangeAspect="1"/>
          </p:cNvPicPr>
          <p:nvPr/>
        </p:nvPicPr>
        <p:blipFill>
          <a:blip r:embed="rId5"/>
          <a:stretch>
            <a:fillRect/>
          </a:stretch>
        </p:blipFill>
        <p:spPr>
          <a:xfrm>
            <a:off x="6615227" y="1951787"/>
            <a:ext cx="439826" cy="439826"/>
          </a:xfrm>
          <a:prstGeom prst="rect">
            <a:avLst/>
          </a:prstGeom>
        </p:spPr>
      </p:pic>
      <p:sp>
        <p:nvSpPr>
          <p:cNvPr id="14" name="Text 9"/>
          <p:cNvSpPr/>
          <p:nvPr/>
        </p:nvSpPr>
        <p:spPr>
          <a:xfrm>
            <a:off x="7315200" y="1856232"/>
            <a:ext cx="3977640" cy="64008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Données sensibles</a:t>
            </a:r>
            <a:endParaRPr lang="en-US" sz="1300" dirty="0"/>
          </a:p>
        </p:txBody>
      </p:sp>
      <p:sp>
        <p:nvSpPr>
          <p:cNvPr id="15" name="Text 10"/>
          <p:cNvSpPr/>
          <p:nvPr/>
        </p:nvSpPr>
        <p:spPr>
          <a:xfrm>
            <a:off x="6537960" y="2651760"/>
            <a:ext cx="470916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Ne jamais saisir de données de santé, d'origine ou d'opinions dans un chatbot sans consentement explicite et sans nécessité claire.</a:t>
            </a:r>
            <a:endParaRPr lang="en-US" sz="1000" dirty="0"/>
          </a:p>
        </p:txBody>
      </p:sp>
      <p:sp>
        <p:nvSpPr>
          <p:cNvPr id="16" name="Shape 11"/>
          <p:cNvSpPr/>
          <p:nvPr/>
        </p:nvSpPr>
        <p:spPr>
          <a:xfrm>
            <a:off x="640080" y="406908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17" name="Shape 12"/>
          <p:cNvSpPr/>
          <p:nvPr/>
        </p:nvSpPr>
        <p:spPr>
          <a:xfrm>
            <a:off x="914400" y="4343400"/>
            <a:ext cx="594360" cy="59436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18" name="Image 3" descr="preencoded.png"/>
          <p:cNvPicPr>
            <a:picLocks noChangeAspect="1"/>
          </p:cNvPicPr>
          <p:nvPr/>
        </p:nvPicPr>
        <p:blipFill>
          <a:blip r:embed="rId6"/>
          <a:stretch>
            <a:fillRect/>
          </a:stretch>
        </p:blipFill>
        <p:spPr>
          <a:xfrm>
            <a:off x="991667" y="4420667"/>
            <a:ext cx="439826" cy="439826"/>
          </a:xfrm>
          <a:prstGeom prst="rect">
            <a:avLst/>
          </a:prstGeom>
        </p:spPr>
      </p:pic>
      <p:sp>
        <p:nvSpPr>
          <p:cNvPr id="19" name="Text 13"/>
          <p:cNvSpPr/>
          <p:nvPr/>
        </p:nvSpPr>
        <p:spPr>
          <a:xfrm>
            <a:off x="1691640" y="4325112"/>
            <a:ext cx="3977640" cy="64008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Hébergement des données</a:t>
            </a:r>
            <a:endParaRPr lang="en-US" sz="1300" dirty="0"/>
          </a:p>
        </p:txBody>
      </p:sp>
      <p:sp>
        <p:nvSpPr>
          <p:cNvPr id="20" name="Text 14"/>
          <p:cNvSpPr/>
          <p:nvPr/>
        </p:nvSpPr>
        <p:spPr>
          <a:xfrm>
            <a:off x="914400" y="5120640"/>
            <a:ext cx="470916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Mistral (Le Chat) héberge en France/UE. ChatGPT, Claude, Gemini hébergent majoritairement aux États-Unis — avec des garanties légales pour ce transfert de données à l'étranger.</a:t>
            </a:r>
            <a:endParaRPr lang="en-US" sz="1000" dirty="0"/>
          </a:p>
        </p:txBody>
      </p:sp>
      <p:sp>
        <p:nvSpPr>
          <p:cNvPr id="21" name="Shape 15"/>
          <p:cNvSpPr/>
          <p:nvPr/>
        </p:nvSpPr>
        <p:spPr>
          <a:xfrm>
            <a:off x="6263640" y="406908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22" name="Shape 16"/>
          <p:cNvSpPr/>
          <p:nvPr/>
        </p:nvSpPr>
        <p:spPr>
          <a:xfrm>
            <a:off x="6537960" y="4343400"/>
            <a:ext cx="594360" cy="59436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23" name="Image 4" descr="preencoded.png"/>
          <p:cNvPicPr>
            <a:picLocks noChangeAspect="1"/>
          </p:cNvPicPr>
          <p:nvPr/>
        </p:nvPicPr>
        <p:blipFill>
          <a:blip r:embed="rId7"/>
          <a:stretch>
            <a:fillRect/>
          </a:stretch>
        </p:blipFill>
        <p:spPr>
          <a:xfrm>
            <a:off x="6615227" y="4420667"/>
            <a:ext cx="439826" cy="439826"/>
          </a:xfrm>
          <a:prstGeom prst="rect">
            <a:avLst/>
          </a:prstGeom>
        </p:spPr>
      </p:pic>
      <p:sp>
        <p:nvSpPr>
          <p:cNvPr id="24" name="Text 17"/>
          <p:cNvSpPr/>
          <p:nvPr/>
        </p:nvSpPr>
        <p:spPr>
          <a:xfrm>
            <a:off x="7315200" y="4325112"/>
            <a:ext cx="3977640" cy="64008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Durée de conservation &amp; DPO</a:t>
            </a:r>
            <a:endParaRPr lang="en-US" sz="1300" dirty="0"/>
          </a:p>
        </p:txBody>
      </p:sp>
      <p:sp>
        <p:nvSpPr>
          <p:cNvPr id="25" name="Text 18"/>
          <p:cNvSpPr/>
          <p:nvPr/>
        </p:nvSpPr>
        <p:spPr>
          <a:xfrm>
            <a:off x="6537960" y="5120640"/>
            <a:ext cx="4709160" cy="1005840"/>
          </a:xfrm>
          <a:prstGeom prst="rect">
            <a:avLst/>
          </a:prstGeom>
          <a:noFill/>
          <a:ln/>
        </p:spPr>
        <p:txBody>
          <a:bodyPr wrap="square" lIns="0" tIns="0" rIns="0" bIns="0" rtlCol="0" anchor="ctr"/>
          <a:lstStyle/>
          <a:p>
            <a:pPr marL="0" indent="0">
              <a:lnSpc>
                <a:spcPct val="120000"/>
              </a:lnSpc>
              <a:buNone/>
            </a:pPr>
            <a:r>
              <a:rPr lang="en-US" sz="1000" dirty="0">
                <a:solidFill>
                  <a:srgbClr val="B3AAA0"/>
                </a:solidFill>
                <a:latin typeface="IBM Plex Sans" pitchFamily="34" charset="0"/>
                <a:ea typeface="IBM Plex Sans" pitchFamily="34" charset="-122"/>
                <a:cs typeface="IBM Plex Sans" pitchFamily="34" charset="-120"/>
              </a:rPr>
              <a:t>Vérifier les conditions d'utilisation (CGU) sur la conservation des échanges, et consulter le responsable de la protection des données (DPO) avant tout déploiement.</a:t>
            </a:r>
            <a:endParaRPr lang="en-US" sz="1000" dirty="0"/>
          </a:p>
        </p:txBody>
      </p:sp>
      <p:sp>
        <p:nvSpPr>
          <p:cNvPr id="26" name="Text 19"/>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27" name="Text 20"/>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20</a:t>
            </a:r>
            <a:endParaRPr lang="en-US" sz="900" dirty="0"/>
          </a:p>
        </p:txBody>
      </p:sp>
      <p:pic>
        <p:nvPicPr>
          <p:cNvPr id="29" name="Image 28">
            <a:extLst>
              <a:ext uri="{FF2B5EF4-FFF2-40B4-BE49-F238E27FC236}">
                <a16:creationId xmlns:a16="http://schemas.microsoft.com/office/drawing/2014/main" id="{F433B36E-D6E9-7511-75E7-241CA0966446}"/>
              </a:ext>
            </a:extLst>
          </p:cNvPr>
          <p:cNvPicPr>
            <a:picLocks noChangeAspect="1"/>
          </p:cNvPicPr>
          <p:nvPr/>
        </p:nvPicPr>
        <p:blipFill>
          <a:blip r:embed="rId8"/>
          <a:stretch>
            <a:fillRect/>
          </a:stretch>
        </p:blipFill>
        <p:spPr>
          <a:xfrm>
            <a:off x="10950351" y="106589"/>
            <a:ext cx="1048603" cy="10546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219"/>
        </a:solidFill>
        <a:effectLst/>
      </p:bgPr>
    </p:bg>
    <p:spTree>
      <p:nvGrpSpPr>
        <p:cNvPr id="1" name=""/>
        <p:cNvGrpSpPr/>
        <p:nvPr/>
      </p:nvGrpSpPr>
      <p:grpSpPr>
        <a:xfrm>
          <a:off x="0" y="0"/>
          <a:ext cx="0" cy="0"/>
          <a:chOff x="0" y="0"/>
          <a:chExt cx="0" cy="0"/>
        </a:xfrm>
      </p:grpSpPr>
      <p:sp>
        <p:nvSpPr>
          <p:cNvPr id="2" name="Shape 0"/>
          <p:cNvSpPr/>
          <p:nvPr/>
        </p:nvSpPr>
        <p:spPr>
          <a:xfrm>
            <a:off x="640080" y="411480"/>
            <a:ext cx="594360" cy="59436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3" name="Image 0" descr="preencoded.png"/>
          <p:cNvPicPr>
            <a:picLocks noChangeAspect="1"/>
          </p:cNvPicPr>
          <p:nvPr/>
        </p:nvPicPr>
        <p:blipFill>
          <a:blip r:embed="rId3"/>
          <a:stretch>
            <a:fillRect/>
          </a:stretch>
        </p:blipFill>
        <p:spPr>
          <a:xfrm>
            <a:off x="717347" y="488747"/>
            <a:ext cx="439826" cy="439826"/>
          </a:xfrm>
          <a:prstGeom prst="rect">
            <a:avLst/>
          </a:prstGeom>
        </p:spPr>
      </p:pic>
      <p:sp>
        <p:nvSpPr>
          <p:cNvPr id="4" name="Text 1"/>
          <p:cNvSpPr/>
          <p:nvPr/>
        </p:nvSpPr>
        <p:spPr>
          <a:xfrm>
            <a:off x="1417320" y="384048"/>
            <a:ext cx="8686800" cy="457200"/>
          </a:xfrm>
          <a:prstGeom prst="rect">
            <a:avLst/>
          </a:prstGeom>
          <a:noFill/>
          <a:ln/>
        </p:spPr>
        <p:txBody>
          <a:bodyPr wrap="square" lIns="0" tIns="0" rIns="0" bIns="0" rtlCol="0" anchor="ctr"/>
          <a:lstStyle/>
          <a:p>
            <a:pPr marL="0" indent="0">
              <a:buNone/>
            </a:pPr>
            <a:r>
              <a:rPr lang="en-US" sz="2200" b="1" dirty="0">
                <a:solidFill>
                  <a:srgbClr val="FAF6F0"/>
                </a:solidFill>
                <a:latin typeface="Space Grotesk" pitchFamily="34" charset="0"/>
                <a:ea typeface="Space Grotesk" pitchFamily="34" charset="-122"/>
                <a:cs typeface="Space Grotesk" pitchFamily="34" charset="-120"/>
              </a:rPr>
              <a:t>La « Dark IA »</a:t>
            </a:r>
            <a:endParaRPr lang="en-US" sz="2200" dirty="0"/>
          </a:p>
        </p:txBody>
      </p:sp>
      <p:sp>
        <p:nvSpPr>
          <p:cNvPr id="5" name="Text 2"/>
          <p:cNvSpPr/>
          <p:nvPr/>
        </p:nvSpPr>
        <p:spPr>
          <a:xfrm>
            <a:off x="1417320" y="841248"/>
            <a:ext cx="9418320" cy="320040"/>
          </a:xfrm>
          <a:prstGeom prst="rect">
            <a:avLst/>
          </a:prstGeom>
          <a:noFill/>
          <a:ln/>
        </p:spPr>
        <p:txBody>
          <a:bodyPr wrap="square" lIns="0" tIns="0" rIns="0" bIns="0" rtlCol="0" anchor="ctr"/>
          <a:lstStyle/>
          <a:p>
            <a:pPr marL="0" indent="0">
              <a:buNone/>
            </a:pPr>
            <a:r>
              <a:rPr lang="en-US" sz="1200" dirty="0">
                <a:solidFill>
                  <a:srgbClr val="A89F95"/>
                </a:solidFill>
                <a:latin typeface="IBM Plex Sans" pitchFamily="34" charset="0"/>
                <a:ea typeface="IBM Plex Sans" pitchFamily="34" charset="-122"/>
                <a:cs typeface="IBM Plex Sans" pitchFamily="34" charset="-120"/>
              </a:rPr>
              <a:t>Quand l'IA est détournée à des fins malveillantes sur le dark web</a:t>
            </a:r>
            <a:endParaRPr lang="en-US" sz="1200" dirty="0"/>
          </a:p>
        </p:txBody>
      </p:sp>
      <p:sp>
        <p:nvSpPr>
          <p:cNvPr id="6" name="Shape 3"/>
          <p:cNvSpPr/>
          <p:nvPr/>
        </p:nvSpPr>
        <p:spPr>
          <a:xfrm>
            <a:off x="640080" y="1508760"/>
            <a:ext cx="525780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7" name="Shape 4"/>
          <p:cNvSpPr/>
          <p:nvPr/>
        </p:nvSpPr>
        <p:spPr>
          <a:xfrm>
            <a:off x="914400" y="1764792"/>
            <a:ext cx="548640" cy="54864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8" name="Image 1" descr="preencoded.png"/>
          <p:cNvPicPr>
            <a:picLocks noChangeAspect="1"/>
          </p:cNvPicPr>
          <p:nvPr/>
        </p:nvPicPr>
        <p:blipFill>
          <a:blip r:embed="rId3"/>
          <a:stretch>
            <a:fillRect/>
          </a:stretch>
        </p:blipFill>
        <p:spPr>
          <a:xfrm>
            <a:off x="985723" y="1836115"/>
            <a:ext cx="405994" cy="405994"/>
          </a:xfrm>
          <a:prstGeom prst="rect">
            <a:avLst/>
          </a:prstGeom>
        </p:spPr>
      </p:pic>
      <p:sp>
        <p:nvSpPr>
          <p:cNvPr id="9" name="Text 5"/>
          <p:cNvSpPr/>
          <p:nvPr/>
        </p:nvSpPr>
        <p:spPr>
          <a:xfrm>
            <a:off x="1645920" y="1746504"/>
            <a:ext cx="4023360" cy="5943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Qu'est-ce que c'est ?</a:t>
            </a:r>
            <a:endParaRPr lang="en-US" sz="1300" dirty="0"/>
          </a:p>
        </p:txBody>
      </p:sp>
      <p:sp>
        <p:nvSpPr>
          <p:cNvPr id="10" name="Text 6"/>
          <p:cNvSpPr/>
          <p:nvPr/>
        </p:nvSpPr>
        <p:spPr>
          <a:xfrm>
            <a:off x="914400" y="2423160"/>
            <a:ext cx="4709160" cy="914400"/>
          </a:xfrm>
          <a:prstGeom prst="rect">
            <a:avLst/>
          </a:prstGeom>
          <a:noFill/>
          <a:ln/>
        </p:spPr>
        <p:txBody>
          <a:bodyPr wrap="square" lIns="0" tIns="0" rIns="0" bIns="0" rtlCol="0" anchor="ctr"/>
          <a:lstStyle/>
          <a:p>
            <a:pPr marL="0" indent="0">
              <a:lnSpc>
                <a:spcPct val="120000"/>
              </a:lnSpc>
              <a:buNone/>
            </a:pPr>
            <a:r>
              <a:rPr lang="en-US" sz="980" dirty="0">
                <a:solidFill>
                  <a:srgbClr val="B3AAA0"/>
                </a:solidFill>
                <a:latin typeface="IBM Plex Sans" pitchFamily="34" charset="0"/>
                <a:ea typeface="IBM Plex Sans" pitchFamily="34" charset="-122"/>
                <a:cs typeface="IBM Plex Sans" pitchFamily="34" charset="-120"/>
              </a:rPr>
              <a:t>Des IA gratuites et publiques, bricolées pour supprimer leurs limites de sécurité, puis vendues sur le dark web comme un abonnement, dès 200 $/mois.</a:t>
            </a:r>
            <a:endParaRPr lang="en-US" sz="980" dirty="0"/>
          </a:p>
        </p:txBody>
      </p:sp>
      <p:sp>
        <p:nvSpPr>
          <p:cNvPr id="11" name="Shape 7"/>
          <p:cNvSpPr/>
          <p:nvPr/>
        </p:nvSpPr>
        <p:spPr>
          <a:xfrm>
            <a:off x="6263640" y="1508760"/>
            <a:ext cx="525780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2" name="Shape 8"/>
          <p:cNvSpPr/>
          <p:nvPr/>
        </p:nvSpPr>
        <p:spPr>
          <a:xfrm>
            <a:off x="6537960" y="1764792"/>
            <a:ext cx="548640" cy="54864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13" name="Image 2" descr="preencoded.png"/>
          <p:cNvPicPr>
            <a:picLocks noChangeAspect="1"/>
          </p:cNvPicPr>
          <p:nvPr/>
        </p:nvPicPr>
        <p:blipFill>
          <a:blip r:embed="rId4"/>
          <a:stretch>
            <a:fillRect/>
          </a:stretch>
        </p:blipFill>
        <p:spPr>
          <a:xfrm>
            <a:off x="6609283" y="1836115"/>
            <a:ext cx="405994" cy="405994"/>
          </a:xfrm>
          <a:prstGeom prst="rect">
            <a:avLst/>
          </a:prstGeom>
        </p:spPr>
      </p:pic>
      <p:sp>
        <p:nvSpPr>
          <p:cNvPr id="14" name="Text 9"/>
          <p:cNvSpPr/>
          <p:nvPr/>
        </p:nvSpPr>
        <p:spPr>
          <a:xfrm>
            <a:off x="7269480" y="1746504"/>
            <a:ext cx="4023360" cy="5943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WormGPT &amp; FraudGPT</a:t>
            </a:r>
            <a:endParaRPr lang="en-US" sz="1300" dirty="0"/>
          </a:p>
        </p:txBody>
      </p:sp>
      <p:sp>
        <p:nvSpPr>
          <p:cNvPr id="15" name="Text 10"/>
          <p:cNvSpPr/>
          <p:nvPr/>
        </p:nvSpPr>
        <p:spPr>
          <a:xfrm>
            <a:off x="6537960" y="2423160"/>
            <a:ext cx="4709160" cy="914400"/>
          </a:xfrm>
          <a:prstGeom prst="rect">
            <a:avLst/>
          </a:prstGeom>
          <a:noFill/>
          <a:ln/>
        </p:spPr>
        <p:txBody>
          <a:bodyPr wrap="square" lIns="0" tIns="0" rIns="0" bIns="0" rtlCol="0" anchor="ctr"/>
          <a:lstStyle/>
          <a:p>
            <a:pPr marL="0" indent="0">
              <a:lnSpc>
                <a:spcPct val="120000"/>
              </a:lnSpc>
              <a:buNone/>
            </a:pPr>
            <a:r>
              <a:rPr lang="en-US" sz="980" dirty="0">
                <a:solidFill>
                  <a:srgbClr val="B3AAA0"/>
                </a:solidFill>
                <a:latin typeface="IBM Plex Sans" pitchFamily="34" charset="0"/>
                <a:ea typeface="IBM Plex Sans" pitchFamily="34" charset="-122"/>
                <a:cs typeface="IBM Plex Sans" pitchFamily="34" charset="-120"/>
              </a:rPr>
              <a:t>Génèrent du code malveillant, de fausses pages bancaires et des emails de phishing indétectables, sans compétence technique requise.</a:t>
            </a:r>
            <a:endParaRPr lang="en-US" sz="980" dirty="0"/>
          </a:p>
        </p:txBody>
      </p:sp>
      <p:sp>
        <p:nvSpPr>
          <p:cNvPr id="16" name="Shape 11"/>
          <p:cNvSpPr/>
          <p:nvPr/>
        </p:nvSpPr>
        <p:spPr>
          <a:xfrm>
            <a:off x="640080" y="3794760"/>
            <a:ext cx="525780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17" name="Shape 12"/>
          <p:cNvSpPr/>
          <p:nvPr/>
        </p:nvSpPr>
        <p:spPr>
          <a:xfrm>
            <a:off x="914400" y="4050792"/>
            <a:ext cx="548640" cy="548640"/>
          </a:xfrm>
          <a:prstGeom prst="roundRect">
            <a:avLst>
              <a:gd name="adj" fmla="val 22000"/>
            </a:avLst>
          </a:prstGeom>
          <a:solidFill>
            <a:srgbClr val="78C88C">
              <a:alpha val="30000"/>
            </a:srgbClr>
          </a:solidFill>
          <a:ln w="9525">
            <a:solidFill>
              <a:srgbClr val="78C88C">
                <a:alpha val="65000"/>
              </a:srgbClr>
            </a:solidFill>
            <a:prstDash val="solid"/>
          </a:ln>
        </p:spPr>
        <p:txBody>
          <a:bodyPr/>
          <a:lstStyle/>
          <a:p>
            <a:endParaRPr lang="fr-FR"/>
          </a:p>
        </p:txBody>
      </p:sp>
      <p:pic>
        <p:nvPicPr>
          <p:cNvPr id="18" name="Image 3" descr="preencoded.png"/>
          <p:cNvPicPr>
            <a:picLocks noChangeAspect="1"/>
          </p:cNvPicPr>
          <p:nvPr/>
        </p:nvPicPr>
        <p:blipFill>
          <a:blip r:embed="rId5"/>
          <a:stretch>
            <a:fillRect/>
          </a:stretch>
        </p:blipFill>
        <p:spPr>
          <a:xfrm>
            <a:off x="985723" y="4122115"/>
            <a:ext cx="405994" cy="405994"/>
          </a:xfrm>
          <a:prstGeom prst="rect">
            <a:avLst/>
          </a:prstGeom>
        </p:spPr>
      </p:pic>
      <p:sp>
        <p:nvSpPr>
          <p:cNvPr id="19" name="Text 13"/>
          <p:cNvSpPr/>
          <p:nvPr/>
        </p:nvSpPr>
        <p:spPr>
          <a:xfrm>
            <a:off x="1645920" y="4032504"/>
            <a:ext cx="4023360" cy="5943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Deepfakes &amp; clonage vocal</a:t>
            </a:r>
            <a:endParaRPr lang="en-US" sz="1300" dirty="0"/>
          </a:p>
        </p:txBody>
      </p:sp>
      <p:sp>
        <p:nvSpPr>
          <p:cNvPr id="20" name="Text 14"/>
          <p:cNvSpPr/>
          <p:nvPr/>
        </p:nvSpPr>
        <p:spPr>
          <a:xfrm>
            <a:off x="914400" y="4709160"/>
            <a:ext cx="4709160" cy="914400"/>
          </a:xfrm>
          <a:prstGeom prst="rect">
            <a:avLst/>
          </a:prstGeom>
          <a:noFill/>
          <a:ln/>
        </p:spPr>
        <p:txBody>
          <a:bodyPr wrap="square" lIns="0" tIns="0" rIns="0" bIns="0" rtlCol="0" anchor="ctr"/>
          <a:lstStyle/>
          <a:p>
            <a:pPr marL="0" indent="0">
              <a:lnSpc>
                <a:spcPct val="120000"/>
              </a:lnSpc>
              <a:buNone/>
            </a:pPr>
            <a:r>
              <a:rPr lang="en-US" sz="980" dirty="0">
                <a:solidFill>
                  <a:srgbClr val="B3AAA0"/>
                </a:solidFill>
                <a:latin typeface="IBM Plex Sans" pitchFamily="34" charset="0"/>
                <a:ea typeface="IBM Plex Sans" pitchFamily="34" charset="-122"/>
                <a:cs typeface="IBM Plex Sans" pitchFamily="34" charset="-120"/>
              </a:rPr>
              <a:t>Une voix clonée à partir de 3 secondes d'audio ; une entreprise a perdu 25 millions de dollars sur une visioconférence entièrement simulée en 2024.</a:t>
            </a:r>
            <a:endParaRPr lang="en-US" sz="980" dirty="0"/>
          </a:p>
        </p:txBody>
      </p:sp>
      <p:sp>
        <p:nvSpPr>
          <p:cNvPr id="21" name="Shape 15"/>
          <p:cNvSpPr/>
          <p:nvPr/>
        </p:nvSpPr>
        <p:spPr>
          <a:xfrm>
            <a:off x="6263640" y="3794760"/>
            <a:ext cx="5257800" cy="1965960"/>
          </a:xfrm>
          <a:prstGeom prst="roundRect">
            <a:avLst>
              <a:gd name="adj" fmla="val 6047"/>
            </a:avLst>
          </a:prstGeom>
          <a:solidFill>
            <a:srgbClr val="FFFFFF">
              <a:alpha val="10000"/>
            </a:srgbClr>
          </a:solidFill>
          <a:ln w="9525">
            <a:solidFill>
              <a:srgbClr val="F2ECE4">
                <a:alpha val="22000"/>
              </a:srgbClr>
            </a:solidFill>
            <a:prstDash val="solid"/>
          </a:ln>
        </p:spPr>
        <p:txBody>
          <a:bodyPr/>
          <a:lstStyle/>
          <a:p>
            <a:endParaRPr lang="fr-FR"/>
          </a:p>
        </p:txBody>
      </p:sp>
      <p:sp>
        <p:nvSpPr>
          <p:cNvPr id="22" name="Shape 16"/>
          <p:cNvSpPr/>
          <p:nvPr/>
        </p:nvSpPr>
        <p:spPr>
          <a:xfrm>
            <a:off x="6537960" y="4050792"/>
            <a:ext cx="548640" cy="54864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23" name="Image 4" descr="preencoded.png"/>
          <p:cNvPicPr>
            <a:picLocks noChangeAspect="1"/>
          </p:cNvPicPr>
          <p:nvPr/>
        </p:nvPicPr>
        <p:blipFill>
          <a:blip r:embed="rId6"/>
          <a:stretch>
            <a:fillRect/>
          </a:stretch>
        </p:blipFill>
        <p:spPr>
          <a:xfrm>
            <a:off x="6609283" y="4122115"/>
            <a:ext cx="405994" cy="405994"/>
          </a:xfrm>
          <a:prstGeom prst="rect">
            <a:avLst/>
          </a:prstGeom>
        </p:spPr>
      </p:pic>
      <p:sp>
        <p:nvSpPr>
          <p:cNvPr id="24" name="Text 17"/>
          <p:cNvSpPr/>
          <p:nvPr/>
        </p:nvSpPr>
        <p:spPr>
          <a:xfrm>
            <a:off x="7269480" y="4032504"/>
            <a:ext cx="4023360" cy="594360"/>
          </a:xfrm>
          <a:prstGeom prst="rect">
            <a:avLst/>
          </a:prstGeom>
          <a:noFill/>
          <a:ln/>
        </p:spPr>
        <p:txBody>
          <a:bodyPr wrap="square" lIns="0" tIns="0" rIns="0" bIns="0" rtlCol="0" anchor="ctr"/>
          <a:lstStyle/>
          <a:p>
            <a:pPr marL="0" indent="0">
              <a:buNone/>
            </a:pPr>
            <a:r>
              <a:rPr lang="en-US" sz="1300" b="1" dirty="0">
                <a:solidFill>
                  <a:srgbClr val="FAF6F0"/>
                </a:solidFill>
                <a:latin typeface="Space Grotesk" pitchFamily="34" charset="0"/>
                <a:ea typeface="Space Grotesk" pitchFamily="34" charset="-122"/>
                <a:cs typeface="Space Grotesk" pitchFamily="34" charset="-120"/>
              </a:rPr>
              <a:t>Le bon réflexe</a:t>
            </a:r>
            <a:endParaRPr lang="en-US" sz="1300" dirty="0"/>
          </a:p>
        </p:txBody>
      </p:sp>
      <p:sp>
        <p:nvSpPr>
          <p:cNvPr id="25" name="Text 18"/>
          <p:cNvSpPr/>
          <p:nvPr/>
        </p:nvSpPr>
        <p:spPr>
          <a:xfrm>
            <a:off x="6537960" y="4709160"/>
            <a:ext cx="4709160" cy="914400"/>
          </a:xfrm>
          <a:prstGeom prst="rect">
            <a:avLst/>
          </a:prstGeom>
          <a:noFill/>
          <a:ln/>
        </p:spPr>
        <p:txBody>
          <a:bodyPr wrap="square" lIns="0" tIns="0" rIns="0" bIns="0" rtlCol="0" anchor="ctr"/>
          <a:lstStyle/>
          <a:p>
            <a:pPr marL="0" indent="0">
              <a:lnSpc>
                <a:spcPct val="120000"/>
              </a:lnSpc>
              <a:buNone/>
            </a:pPr>
            <a:r>
              <a:rPr lang="en-US" sz="980" dirty="0">
                <a:solidFill>
                  <a:srgbClr val="B3AAA0"/>
                </a:solidFill>
                <a:latin typeface="IBM Plex Sans" pitchFamily="34" charset="0"/>
                <a:ea typeface="IBM Plex Sans" pitchFamily="34" charset="-122"/>
                <a:cs typeface="IBM Plex Sans" pitchFamily="34" charset="-120"/>
              </a:rPr>
              <a:t>Ce n'est pas un outil à tester par curiosité : usage illégal, et la simple recherche expose à des arnaques (fausses applications à installer, faux sites).</a:t>
            </a:r>
            <a:endParaRPr lang="en-US" sz="980" dirty="0"/>
          </a:p>
        </p:txBody>
      </p:sp>
      <p:sp>
        <p:nvSpPr>
          <p:cNvPr id="26" name="Text 19"/>
          <p:cNvSpPr/>
          <p:nvPr/>
        </p:nvSpPr>
        <p:spPr>
          <a:xfrm>
            <a:off x="640080" y="5806440"/>
            <a:ext cx="10881360" cy="457200"/>
          </a:xfrm>
          <a:prstGeom prst="rect">
            <a:avLst/>
          </a:prstGeom>
          <a:noFill/>
          <a:ln/>
        </p:spPr>
        <p:txBody>
          <a:bodyPr wrap="square" lIns="0" tIns="0" rIns="0" bIns="0" rtlCol="0" anchor="ctr"/>
          <a:lstStyle/>
          <a:p>
            <a:pPr marL="0" indent="0">
              <a:buNone/>
            </a:pPr>
            <a:r>
              <a:rPr lang="en-US" sz="950" i="1" dirty="0">
                <a:solidFill>
                  <a:srgbClr val="9A9089"/>
                </a:solidFill>
                <a:latin typeface="IBM Plex Sans" pitchFamily="34" charset="0"/>
                <a:ea typeface="IBM Plex Sans" pitchFamily="34" charset="-122"/>
                <a:cs typeface="IBM Plex Sans" pitchFamily="34" charset="-120"/>
              </a:rPr>
              <a:t>Repère chiffré : un email de phishing généré par IA obtient un taux de clic 37% supérieur à un phishing artisanal (IBM X-Force, 2025).</a:t>
            </a:r>
            <a:endParaRPr lang="en-US" sz="950" dirty="0"/>
          </a:p>
        </p:txBody>
      </p:sp>
      <p:sp>
        <p:nvSpPr>
          <p:cNvPr id="27" name="Text 20"/>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28" name="Text 2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21</a:t>
            </a:r>
            <a:endParaRPr lang="en-US" sz="900" dirty="0"/>
          </a:p>
        </p:txBody>
      </p:sp>
      <p:pic>
        <p:nvPicPr>
          <p:cNvPr id="30" name="Image 29">
            <a:extLst>
              <a:ext uri="{FF2B5EF4-FFF2-40B4-BE49-F238E27FC236}">
                <a16:creationId xmlns:a16="http://schemas.microsoft.com/office/drawing/2014/main" id="{4352BDED-C364-1424-1412-AF2C64698D69}"/>
              </a:ext>
            </a:extLst>
          </p:cNvPr>
          <p:cNvPicPr>
            <a:picLocks noChangeAspect="1"/>
          </p:cNvPicPr>
          <p:nvPr/>
        </p:nvPicPr>
        <p:blipFill>
          <a:blip r:embed="rId7"/>
          <a:stretch>
            <a:fillRect/>
          </a:stretch>
        </p:blipFill>
        <p:spPr>
          <a:xfrm>
            <a:off x="10997138" y="59300"/>
            <a:ext cx="1048603" cy="10546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219"/>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02920"/>
          </a:xfrm>
          <a:prstGeom prst="rect">
            <a:avLst/>
          </a:prstGeom>
          <a:noFill/>
          <a:ln/>
        </p:spPr>
        <p:txBody>
          <a:bodyPr wrap="square" lIns="0" tIns="0" rIns="0" bIns="0" rtlCol="0" anchor="ctr"/>
          <a:lstStyle/>
          <a:p>
            <a:pPr marL="0" indent="0">
              <a:buNone/>
            </a:pPr>
            <a:r>
              <a:rPr lang="en-US" sz="2600" b="1" dirty="0">
                <a:solidFill>
                  <a:srgbClr val="FAF6F0"/>
                </a:solidFill>
                <a:latin typeface="Space Grotesk" pitchFamily="34" charset="0"/>
                <a:ea typeface="Space Grotesk" pitchFamily="34" charset="-122"/>
                <a:cs typeface="Space Grotesk" pitchFamily="34" charset="-120"/>
              </a:rPr>
              <a:t>POUR UN BON USAGE DE L'IA</a:t>
            </a:r>
            <a:endParaRPr lang="en-US" sz="2600" dirty="0"/>
          </a:p>
        </p:txBody>
      </p:sp>
      <p:sp>
        <p:nvSpPr>
          <p:cNvPr id="3" name="Text 1"/>
          <p:cNvSpPr/>
          <p:nvPr/>
        </p:nvSpPr>
        <p:spPr>
          <a:xfrm>
            <a:off x="640080" y="960120"/>
            <a:ext cx="8229600" cy="320040"/>
          </a:xfrm>
          <a:prstGeom prst="rect">
            <a:avLst/>
          </a:prstGeom>
          <a:noFill/>
          <a:ln/>
        </p:spPr>
        <p:txBody>
          <a:bodyPr wrap="square" lIns="0" tIns="0" rIns="0" bIns="0" rtlCol="0" anchor="ctr"/>
          <a:lstStyle/>
          <a:p>
            <a:pPr marL="0" indent="0">
              <a:buNone/>
            </a:pPr>
            <a:r>
              <a:rPr lang="en-US" sz="1250" dirty="0">
                <a:solidFill>
                  <a:srgbClr val="A89F95"/>
                </a:solidFill>
                <a:latin typeface="IBM Plex Sans" pitchFamily="34" charset="0"/>
                <a:ea typeface="IBM Plex Sans" pitchFamily="34" charset="-122"/>
                <a:cs typeface="IBM Plex Sans" pitchFamily="34" charset="-120"/>
              </a:rPr>
              <a:t>Quelques réflexes simples à adopter et à transmettre</a:t>
            </a:r>
            <a:endParaRPr lang="en-US" sz="1250" dirty="0"/>
          </a:p>
        </p:txBody>
      </p:sp>
      <p:sp>
        <p:nvSpPr>
          <p:cNvPr id="4" name="Shape 2"/>
          <p:cNvSpPr/>
          <p:nvPr/>
        </p:nvSpPr>
        <p:spPr>
          <a:xfrm>
            <a:off x="640080" y="160020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5" name="Shape 3"/>
          <p:cNvSpPr/>
          <p:nvPr/>
        </p:nvSpPr>
        <p:spPr>
          <a:xfrm>
            <a:off x="914400" y="1874520"/>
            <a:ext cx="594360" cy="594360"/>
          </a:xfrm>
          <a:prstGeom prst="roundRect">
            <a:avLst>
              <a:gd name="adj" fmla="val 22000"/>
            </a:avLst>
          </a:prstGeom>
          <a:solidFill>
            <a:srgbClr val="C896DC">
              <a:alpha val="30000"/>
            </a:srgbClr>
          </a:solidFill>
          <a:ln w="9525">
            <a:solidFill>
              <a:srgbClr val="C896DC">
                <a:alpha val="65000"/>
              </a:srgbClr>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991667" y="1951787"/>
            <a:ext cx="439826" cy="439826"/>
          </a:xfrm>
          <a:prstGeom prst="rect">
            <a:avLst/>
          </a:prstGeom>
        </p:spPr>
      </p:pic>
      <p:sp>
        <p:nvSpPr>
          <p:cNvPr id="7" name="Text 4"/>
          <p:cNvSpPr/>
          <p:nvPr/>
        </p:nvSpPr>
        <p:spPr>
          <a:xfrm>
            <a:off x="1691640" y="185623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Toujours vérifier</a:t>
            </a:r>
            <a:endParaRPr lang="en-US" sz="1400" dirty="0"/>
          </a:p>
        </p:txBody>
      </p:sp>
      <p:sp>
        <p:nvSpPr>
          <p:cNvPr id="8" name="Text 5"/>
          <p:cNvSpPr/>
          <p:nvPr/>
        </p:nvSpPr>
        <p:spPr>
          <a:xfrm>
            <a:off x="914400" y="2651760"/>
            <a:ext cx="4709160" cy="100584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Une IA peut se tromper avec assurance. Recoupez les informations importantes avec une autre source.</a:t>
            </a:r>
            <a:endParaRPr lang="en-US" sz="1050" dirty="0"/>
          </a:p>
        </p:txBody>
      </p:sp>
      <p:sp>
        <p:nvSpPr>
          <p:cNvPr id="9" name="Shape 6"/>
          <p:cNvSpPr/>
          <p:nvPr/>
        </p:nvSpPr>
        <p:spPr>
          <a:xfrm>
            <a:off x="6263640" y="160020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10" name="Shape 7"/>
          <p:cNvSpPr/>
          <p:nvPr/>
        </p:nvSpPr>
        <p:spPr>
          <a:xfrm>
            <a:off x="6537960" y="1874520"/>
            <a:ext cx="594360" cy="594360"/>
          </a:xfrm>
          <a:prstGeom prst="roundRect">
            <a:avLst>
              <a:gd name="adj" fmla="val 22000"/>
            </a:avLst>
          </a:prstGeom>
          <a:solidFill>
            <a:srgbClr val="E6C86E">
              <a:alpha val="30000"/>
            </a:srgbClr>
          </a:solidFill>
          <a:ln w="9525">
            <a:solidFill>
              <a:srgbClr val="E6C86E">
                <a:alpha val="65000"/>
              </a:srgbClr>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6615227" y="1951787"/>
            <a:ext cx="439826" cy="439826"/>
          </a:xfrm>
          <a:prstGeom prst="rect">
            <a:avLst/>
          </a:prstGeom>
        </p:spPr>
      </p:pic>
      <p:sp>
        <p:nvSpPr>
          <p:cNvPr id="12" name="Text 8"/>
          <p:cNvSpPr/>
          <p:nvPr/>
        </p:nvSpPr>
        <p:spPr>
          <a:xfrm>
            <a:off x="7315200" y="185623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Protéger ses données</a:t>
            </a:r>
            <a:endParaRPr lang="en-US" sz="1400" dirty="0"/>
          </a:p>
        </p:txBody>
      </p:sp>
      <p:sp>
        <p:nvSpPr>
          <p:cNvPr id="13" name="Text 9"/>
          <p:cNvSpPr/>
          <p:nvPr/>
        </p:nvSpPr>
        <p:spPr>
          <a:xfrm>
            <a:off x="6537960" y="2651760"/>
            <a:ext cx="4709160" cy="100584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Ne saisissez jamais de mot de passe, numéro de sécu, ou données médicales/bancaires dans un chatbot.</a:t>
            </a:r>
            <a:endParaRPr lang="en-US" sz="1050" dirty="0"/>
          </a:p>
        </p:txBody>
      </p:sp>
      <p:sp>
        <p:nvSpPr>
          <p:cNvPr id="14" name="Shape 10"/>
          <p:cNvSpPr/>
          <p:nvPr/>
        </p:nvSpPr>
        <p:spPr>
          <a:xfrm>
            <a:off x="640080" y="406908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15" name="Shape 11"/>
          <p:cNvSpPr/>
          <p:nvPr/>
        </p:nvSpPr>
        <p:spPr>
          <a:xfrm>
            <a:off x="914400" y="4343400"/>
            <a:ext cx="594360" cy="594360"/>
          </a:xfrm>
          <a:prstGeom prst="roundRect">
            <a:avLst>
              <a:gd name="adj" fmla="val 22000"/>
            </a:avLst>
          </a:prstGeom>
          <a:solidFill>
            <a:srgbClr val="78C88C">
              <a:alpha val="30000"/>
            </a:srgbClr>
          </a:solidFill>
          <a:ln w="9525">
            <a:solidFill>
              <a:srgbClr val="78C88C">
                <a:alpha val="65000"/>
              </a:srgbClr>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991667" y="4420667"/>
            <a:ext cx="439826" cy="439826"/>
          </a:xfrm>
          <a:prstGeom prst="rect">
            <a:avLst/>
          </a:prstGeom>
        </p:spPr>
      </p:pic>
      <p:sp>
        <p:nvSpPr>
          <p:cNvPr id="17" name="Text 12"/>
          <p:cNvSpPr/>
          <p:nvPr/>
        </p:nvSpPr>
        <p:spPr>
          <a:xfrm>
            <a:off x="1691640" y="432511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Garder l'esprit critique</a:t>
            </a:r>
            <a:endParaRPr lang="en-US" sz="1400" dirty="0"/>
          </a:p>
        </p:txBody>
      </p:sp>
      <p:sp>
        <p:nvSpPr>
          <p:cNvPr id="18" name="Text 13"/>
          <p:cNvSpPr/>
          <p:nvPr/>
        </p:nvSpPr>
        <p:spPr>
          <a:xfrm>
            <a:off x="914400" y="5120640"/>
            <a:ext cx="4709160" cy="100584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Utilisez l'IA comme un assistant, pas comme une vérité absolue. Gardez vos propres compétences actives.</a:t>
            </a:r>
            <a:endParaRPr lang="en-US" sz="1050" dirty="0"/>
          </a:p>
        </p:txBody>
      </p:sp>
      <p:sp>
        <p:nvSpPr>
          <p:cNvPr id="19" name="Shape 14"/>
          <p:cNvSpPr/>
          <p:nvPr/>
        </p:nvSpPr>
        <p:spPr>
          <a:xfrm>
            <a:off x="6263640" y="4069080"/>
            <a:ext cx="5257800" cy="2148840"/>
          </a:xfrm>
          <a:prstGeom prst="roundRect">
            <a:avLst>
              <a:gd name="adj" fmla="val 5532"/>
            </a:avLst>
          </a:prstGeom>
          <a:solidFill>
            <a:srgbClr val="FFFFFF">
              <a:alpha val="10000"/>
            </a:srgbClr>
          </a:solidFill>
          <a:ln w="9525">
            <a:solidFill>
              <a:srgbClr val="F2ECE4">
                <a:alpha val="22000"/>
              </a:srgbClr>
            </a:solidFill>
            <a:prstDash val="solid"/>
          </a:ln>
        </p:spPr>
        <p:txBody>
          <a:bodyPr/>
          <a:lstStyle/>
          <a:p>
            <a:endParaRPr lang="fr-FR"/>
          </a:p>
        </p:txBody>
      </p:sp>
      <p:sp>
        <p:nvSpPr>
          <p:cNvPr id="20" name="Shape 15"/>
          <p:cNvSpPr/>
          <p:nvPr/>
        </p:nvSpPr>
        <p:spPr>
          <a:xfrm>
            <a:off x="6537960" y="4343400"/>
            <a:ext cx="594360" cy="594360"/>
          </a:xfrm>
          <a:prstGeom prst="roundRect">
            <a:avLst>
              <a:gd name="adj" fmla="val 22000"/>
            </a:avLst>
          </a:prstGeom>
          <a:solidFill>
            <a:srgbClr val="78B4DC">
              <a:alpha val="30000"/>
            </a:srgbClr>
          </a:solidFill>
          <a:ln w="9525">
            <a:solidFill>
              <a:srgbClr val="78B4DC">
                <a:alpha val="65000"/>
              </a:srgbClr>
            </a:solidFill>
            <a:prstDash val="solid"/>
          </a:ln>
        </p:spPr>
        <p:txBody>
          <a:bodyPr/>
          <a:lstStyle/>
          <a:p>
            <a:endParaRPr lang="fr-FR"/>
          </a:p>
        </p:txBody>
      </p:sp>
      <p:pic>
        <p:nvPicPr>
          <p:cNvPr id="21" name="Image 3" descr="preencoded.png"/>
          <p:cNvPicPr>
            <a:picLocks noChangeAspect="1"/>
          </p:cNvPicPr>
          <p:nvPr/>
        </p:nvPicPr>
        <p:blipFill>
          <a:blip r:embed="rId6"/>
          <a:stretch>
            <a:fillRect/>
          </a:stretch>
        </p:blipFill>
        <p:spPr>
          <a:xfrm>
            <a:off x="6615227" y="4420667"/>
            <a:ext cx="439826" cy="439826"/>
          </a:xfrm>
          <a:prstGeom prst="rect">
            <a:avLst/>
          </a:prstGeom>
        </p:spPr>
      </p:pic>
      <p:sp>
        <p:nvSpPr>
          <p:cNvPr id="22" name="Text 16"/>
          <p:cNvSpPr/>
          <p:nvPr/>
        </p:nvSpPr>
        <p:spPr>
          <a:xfrm>
            <a:off x="7315200" y="4325112"/>
            <a:ext cx="3977640" cy="640080"/>
          </a:xfrm>
          <a:prstGeom prst="rect">
            <a:avLst/>
          </a:prstGeom>
          <a:noFill/>
          <a:ln/>
        </p:spPr>
        <p:txBody>
          <a:bodyPr wrap="square" lIns="0" tIns="0" rIns="0" bIns="0" rtlCol="0" anchor="ctr"/>
          <a:lstStyle/>
          <a:p>
            <a:pPr marL="0" indent="0">
              <a:buNone/>
            </a:pPr>
            <a:r>
              <a:rPr lang="en-US" sz="1400" b="1" dirty="0">
                <a:solidFill>
                  <a:srgbClr val="FAF6F0"/>
                </a:solidFill>
                <a:latin typeface="Space Grotesk" pitchFamily="34" charset="0"/>
                <a:ea typeface="Space Grotesk" pitchFamily="34" charset="-122"/>
                <a:cs typeface="Space Grotesk" pitchFamily="34" charset="-120"/>
              </a:rPr>
              <a:t>Lire les CGU</a:t>
            </a:r>
            <a:endParaRPr lang="en-US" sz="1400" dirty="0"/>
          </a:p>
        </p:txBody>
      </p:sp>
      <p:sp>
        <p:nvSpPr>
          <p:cNvPr id="23" name="Text 17"/>
          <p:cNvSpPr/>
          <p:nvPr/>
        </p:nvSpPr>
        <p:spPr>
          <a:xfrm>
            <a:off x="6537960" y="5120640"/>
            <a:ext cx="4709160" cy="1005840"/>
          </a:xfrm>
          <a:prstGeom prst="rect">
            <a:avLst/>
          </a:prstGeom>
          <a:noFill/>
          <a:ln/>
        </p:spPr>
        <p:txBody>
          <a:bodyPr wrap="square" lIns="0" tIns="0" rIns="0" bIns="0" rtlCol="0" anchor="ctr"/>
          <a:lstStyle/>
          <a:p>
            <a:pPr marL="0" indent="0">
              <a:lnSpc>
                <a:spcPct val="120000"/>
              </a:lnSpc>
              <a:buNone/>
            </a:pPr>
            <a:r>
              <a:rPr lang="en-US" sz="1050" dirty="0">
                <a:solidFill>
                  <a:srgbClr val="B3AAA0"/>
                </a:solidFill>
                <a:latin typeface="IBM Plex Sans" pitchFamily="34" charset="0"/>
                <a:ea typeface="IBM Plex Sans" pitchFamily="34" charset="-122"/>
                <a:cs typeface="IBM Plex Sans" pitchFamily="34" charset="-120"/>
              </a:rPr>
              <a:t>Savoir si vos données servent à entraîner le modèle, et pouvoir vous y opposer (opt-out) si possible.</a:t>
            </a:r>
            <a:endParaRPr lang="en-US" sz="1050" dirty="0"/>
          </a:p>
        </p:txBody>
      </p:sp>
      <p:sp>
        <p:nvSpPr>
          <p:cNvPr id="24" name="Text 18"/>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A89F95"/>
                </a:solidFill>
                <a:latin typeface="IBM Plex Sans" pitchFamily="34" charset="0"/>
                <a:ea typeface="IBM Plex Sans" pitchFamily="34" charset="-122"/>
                <a:cs typeface="IBM Plex Sans" pitchFamily="34" charset="-120"/>
              </a:rPr>
              <a:t>        </a:t>
            </a:r>
            <a:r>
              <a:rPr lang="en-US" sz="900" dirty="0" err="1">
                <a:solidFill>
                  <a:srgbClr val="A89F95"/>
                </a:solidFill>
                <a:latin typeface="IBM Plex Sans" pitchFamily="34" charset="0"/>
                <a:ea typeface="IBM Plex Sans" pitchFamily="34" charset="-122"/>
                <a:cs typeface="IBM Plex Sans" pitchFamily="34" charset="-120"/>
              </a:rPr>
              <a:t>Médiation</a:t>
            </a:r>
            <a:r>
              <a:rPr lang="en-US" sz="900" dirty="0">
                <a:solidFill>
                  <a:srgbClr val="A89F95"/>
                </a:solidFill>
                <a:latin typeface="IBM Plex Sans" pitchFamily="34" charset="0"/>
                <a:ea typeface="IBM Plex Sans" pitchFamily="34" charset="-122"/>
                <a:cs typeface="IBM Plex Sans" pitchFamily="34" charset="-120"/>
              </a:rPr>
              <a:t> Numérique</a:t>
            </a:r>
            <a:endParaRPr lang="en-US" sz="900" dirty="0"/>
          </a:p>
        </p:txBody>
      </p:sp>
      <p:sp>
        <p:nvSpPr>
          <p:cNvPr id="25" name="Text 19"/>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A89F95"/>
                </a:solidFill>
                <a:latin typeface="IBM Plex Sans" pitchFamily="34" charset="0"/>
                <a:ea typeface="IBM Plex Sans" pitchFamily="34" charset="-122"/>
                <a:cs typeface="IBM Plex Sans" pitchFamily="34" charset="-120"/>
              </a:rPr>
              <a:t>22</a:t>
            </a:r>
            <a:endParaRPr lang="en-US" sz="900" dirty="0"/>
          </a:p>
        </p:txBody>
      </p:sp>
      <p:pic>
        <p:nvPicPr>
          <p:cNvPr id="27" name="Image 26">
            <a:extLst>
              <a:ext uri="{FF2B5EF4-FFF2-40B4-BE49-F238E27FC236}">
                <a16:creationId xmlns:a16="http://schemas.microsoft.com/office/drawing/2014/main" id="{A38830CD-2A20-9422-A10A-E55FB42C15F5}"/>
              </a:ext>
            </a:extLst>
          </p:cNvPr>
          <p:cNvPicPr>
            <a:picLocks noChangeAspect="1"/>
          </p:cNvPicPr>
          <p:nvPr/>
        </p:nvPicPr>
        <p:blipFill>
          <a:blip r:embed="rId7"/>
          <a:stretch>
            <a:fillRect/>
          </a:stretch>
        </p:blipFill>
        <p:spPr>
          <a:xfrm>
            <a:off x="11027618" y="76154"/>
            <a:ext cx="1048603" cy="10546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219"/>
        </a:solidFill>
        <a:effectLst/>
      </p:bgPr>
    </p:bg>
    <p:spTree>
      <p:nvGrpSpPr>
        <p:cNvPr id="1" name=""/>
        <p:cNvGrpSpPr/>
        <p:nvPr/>
      </p:nvGrpSpPr>
      <p:grpSpPr>
        <a:xfrm>
          <a:off x="0" y="0"/>
          <a:ext cx="0" cy="0"/>
          <a:chOff x="0" y="0"/>
          <a:chExt cx="0" cy="0"/>
        </a:xfrm>
      </p:grpSpPr>
      <p:pic>
        <p:nvPicPr>
          <p:cNvPr id="2" name="Image 0" descr="/home/claude/ia_deck/images/logo.png"/>
          <p:cNvPicPr>
            <a:picLocks noChangeAspect="1"/>
          </p:cNvPicPr>
          <p:nvPr/>
        </p:nvPicPr>
        <p:blipFill>
          <a:blip r:embed="rId3"/>
          <a:stretch>
            <a:fillRect/>
          </a:stretch>
        </p:blipFill>
        <p:spPr>
          <a:xfrm>
            <a:off x="5166360" y="1005840"/>
            <a:ext cx="1828800" cy="1828800"/>
          </a:xfrm>
          <a:prstGeom prst="rect">
            <a:avLst/>
          </a:prstGeom>
        </p:spPr>
      </p:pic>
      <p:sp>
        <p:nvSpPr>
          <p:cNvPr id="3" name="Text 0"/>
          <p:cNvSpPr/>
          <p:nvPr/>
        </p:nvSpPr>
        <p:spPr>
          <a:xfrm>
            <a:off x="1508760" y="3108960"/>
            <a:ext cx="9144000" cy="731520"/>
          </a:xfrm>
          <a:prstGeom prst="rect">
            <a:avLst/>
          </a:prstGeom>
          <a:noFill/>
          <a:ln/>
        </p:spPr>
        <p:txBody>
          <a:bodyPr wrap="square" lIns="0" tIns="0" rIns="0" bIns="0" rtlCol="0" anchor="ctr"/>
          <a:lstStyle/>
          <a:p>
            <a:pPr marL="0" indent="0" algn="ctr">
              <a:buNone/>
            </a:pPr>
            <a:r>
              <a:rPr lang="en-US" sz="2600" b="1" dirty="0">
                <a:solidFill>
                  <a:srgbClr val="FAF6F0"/>
                </a:solidFill>
                <a:latin typeface="Space Grotesk" pitchFamily="34" charset="0"/>
                <a:ea typeface="Space Grotesk" pitchFamily="34" charset="-122"/>
                <a:cs typeface="Space Grotesk" pitchFamily="34" charset="-120"/>
              </a:rPr>
              <a:t>L'IA est un outil — pas une vérité</a:t>
            </a:r>
            <a:endParaRPr lang="en-US" sz="2600" dirty="0"/>
          </a:p>
        </p:txBody>
      </p:sp>
      <p:sp>
        <p:nvSpPr>
          <p:cNvPr id="4" name="Text 1"/>
          <p:cNvSpPr/>
          <p:nvPr/>
        </p:nvSpPr>
        <p:spPr>
          <a:xfrm>
            <a:off x="1965960" y="3794760"/>
            <a:ext cx="8229600" cy="457200"/>
          </a:xfrm>
          <a:prstGeom prst="rect">
            <a:avLst/>
          </a:prstGeom>
          <a:noFill/>
          <a:ln/>
        </p:spPr>
        <p:txBody>
          <a:bodyPr wrap="square" lIns="0" tIns="0" rIns="0" bIns="0" rtlCol="0" anchor="ctr"/>
          <a:lstStyle/>
          <a:p>
            <a:pPr marL="0" indent="0" algn="ctr">
              <a:buNone/>
            </a:pPr>
            <a:r>
              <a:rPr lang="en-US" sz="1400" dirty="0">
                <a:solidFill>
                  <a:srgbClr val="A89F95"/>
                </a:solidFill>
                <a:latin typeface="IBM Plex Sans" pitchFamily="34" charset="0"/>
                <a:ea typeface="IBM Plex Sans" pitchFamily="34" charset="-122"/>
                <a:cs typeface="IBM Plex Sans" pitchFamily="34" charset="-120"/>
              </a:rPr>
              <a:t>À utiliser avec curiosité, avec méthode, et toujours avec un regard critique.</a:t>
            </a:r>
            <a:endParaRPr lang="en-US" sz="1400" dirty="0"/>
          </a:p>
        </p:txBody>
      </p:sp>
      <p:sp>
        <p:nvSpPr>
          <p:cNvPr id="5" name="Shape 2"/>
          <p:cNvSpPr/>
          <p:nvPr/>
        </p:nvSpPr>
        <p:spPr>
          <a:xfrm>
            <a:off x="5166360" y="4572000"/>
            <a:ext cx="1828800" cy="0"/>
          </a:xfrm>
          <a:prstGeom prst="line">
            <a:avLst/>
          </a:prstGeom>
          <a:noFill/>
          <a:ln w="19050">
            <a:solidFill>
              <a:srgbClr val="F0965A"/>
            </a:solidFill>
            <a:prstDash val="solid"/>
          </a:ln>
        </p:spPr>
        <p:txBody>
          <a:bodyPr/>
          <a:lstStyle/>
          <a:p>
            <a:endParaRPr lang="fr-FR"/>
          </a:p>
        </p:txBody>
      </p:sp>
      <p:sp>
        <p:nvSpPr>
          <p:cNvPr id="6" name="Text 3"/>
          <p:cNvSpPr/>
          <p:nvPr/>
        </p:nvSpPr>
        <p:spPr>
          <a:xfrm>
            <a:off x="1508760" y="6035040"/>
            <a:ext cx="9144000" cy="365760"/>
          </a:xfrm>
          <a:prstGeom prst="rect">
            <a:avLst/>
          </a:prstGeom>
          <a:noFill/>
          <a:ln/>
        </p:spPr>
        <p:txBody>
          <a:bodyPr wrap="square" lIns="0" tIns="0" rIns="0" bIns="0" rtlCol="0" anchor="ctr"/>
          <a:lstStyle/>
          <a:p>
            <a:pPr marL="0" indent="0" algn="ctr">
              <a:buNone/>
            </a:pPr>
            <a:r>
              <a:rPr lang="en-US" sz="1100" dirty="0" err="1">
                <a:solidFill>
                  <a:srgbClr val="9A9089"/>
                </a:solidFill>
                <a:latin typeface="IBM Plex Sans" pitchFamily="34" charset="0"/>
                <a:ea typeface="IBM Plex Sans" pitchFamily="34" charset="-122"/>
                <a:cs typeface="IBM Plex Sans" pitchFamily="34" charset="-120"/>
              </a:rPr>
              <a:t>Médiation</a:t>
            </a:r>
            <a:r>
              <a:rPr lang="en-US" sz="1100" dirty="0">
                <a:solidFill>
                  <a:srgbClr val="9A9089"/>
                </a:solidFill>
                <a:latin typeface="IBM Plex Sans" pitchFamily="34" charset="0"/>
                <a:ea typeface="IBM Plex Sans" pitchFamily="34" charset="-122"/>
                <a:cs typeface="IBM Plex Sans" pitchFamily="34" charset="-120"/>
              </a:rPr>
              <a:t> Numérique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7326</Words>
  <Application>Microsoft Office PowerPoint</Application>
  <PresentationFormat>Grand écran</PresentationFormat>
  <Paragraphs>747</Paragraphs>
  <Slides>23</Slides>
  <Notes>23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23</vt:i4>
      </vt:variant>
    </vt:vector>
  </HeadingPairs>
  <TitlesOfParts>
    <vt:vector size="28" baseType="lpstr">
      <vt:lpstr>Arial</vt:lpstr>
      <vt:lpstr>IBM Plex Mono</vt:lpstr>
      <vt:lpstr>IBM Plex Sans</vt:lpstr>
      <vt:lpstr>Space Grotesk</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L'Intelligence Artificielle</dc:title>
  <dc:subject>PptxGenJS Presentation</dc:subject>
  <dc:creator>Yggdrasil</dc:creator>
  <cp:lastModifiedBy>titi 23</cp:lastModifiedBy>
  <cp:revision>4</cp:revision>
  <dcterms:created xsi:type="dcterms:W3CDTF">2026-07-06T07:17:38Z</dcterms:created>
  <dcterms:modified xsi:type="dcterms:W3CDTF">2026-07-29T07:22:05Z</dcterms:modified>
</cp:coreProperties>
</file>