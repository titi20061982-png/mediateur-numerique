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70" r:id="rId3"/>
    <p:sldId id="257" r:id="rId4"/>
    <p:sldId id="272" r:id="rId5"/>
    <p:sldId id="258" r:id="rId6"/>
    <p:sldId id="259" r:id="rId7"/>
    <p:sldId id="260" r:id="rId8"/>
    <p:sldId id="261" r:id="rId9"/>
    <p:sldId id="273" r:id="rId10"/>
    <p:sldId id="274" r:id="rId11"/>
    <p:sldId id="262" r:id="rId12"/>
    <p:sldId id="271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610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slide" Target="slide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3" Type="http://schemas.openxmlformats.org/officeDocument/2006/relationships/slide" Target="slide4.xml"/><Relationship Id="rId7" Type="http://schemas.openxmlformats.org/officeDocument/2006/relationships/slide" Target="slide8.xml"/><Relationship Id="rId2" Type="http://schemas.openxmlformats.org/officeDocument/2006/relationships/slide" Target="slide3.xml"/><Relationship Id="rId1" Type="http://schemas.openxmlformats.org/officeDocument/2006/relationships/slideLayout" Target="../slideLayouts/slideLayout1.xml"/><Relationship Id="rId6" Type="http://schemas.openxmlformats.org/officeDocument/2006/relationships/slide" Target="slide7.xml"/><Relationship Id="rId5" Type="http://schemas.openxmlformats.org/officeDocument/2006/relationships/slide" Target="slide6.xml"/><Relationship Id="rId10" Type="http://schemas.openxmlformats.org/officeDocument/2006/relationships/slide" Target="slide11.xml"/><Relationship Id="rId4" Type="http://schemas.openxmlformats.org/officeDocument/2006/relationships/slide" Target="slide5.xml"/><Relationship Id="rId9" Type="http://schemas.openxmlformats.org/officeDocument/2006/relationships/slide" Target="slide10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hyperlink" Target="https://www.youtube.com/watch?v=pi8DCsoGGzk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slide" Target="slide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54864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3822192" y="114300"/>
            <a:ext cx="3200400" cy="3200400"/>
          </a:xfrm>
          <a:prstGeom prst="ellipse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6729984" y="2446020"/>
            <a:ext cx="2286000" cy="2286000"/>
          </a:xfrm>
          <a:prstGeom prst="ellipse">
            <a:avLst/>
          </a:prstGeom>
          <a:solidFill>
            <a:srgbClr val="1C7293">
              <a:alpha val="25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97280"/>
            <a:ext cx="914400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1031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Comprendre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facture téléphonique &amp; son forfait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457200" y="34290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pratique pour tout comprendre en un coup d'œil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457200" y="4846320"/>
            <a:ext cx="82296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Orange · SFR · Bouygues · Free · Sosh</a:t>
            </a:r>
            <a:endParaRPr lang="en-US" sz="1200" dirty="0"/>
          </a:p>
        </p:txBody>
      </p:sp>
      <p:sp>
        <p:nvSpPr>
          <p:cNvPr id="990" name="Commencer">
            <a:hlinkClick r:id="rId4" action="ppaction://hlinksldjump"/>
          </p:cNvPr>
          <p:cNvSpPr/>
          <p:nvPr/>
        </p:nvSpPr>
        <p:spPr>
          <a:xfrm>
            <a:off x="548640" y="3850000"/>
            <a:ext cx="2300000" cy="430000"/>
          </a:xfrm>
          <a:prstGeom prst="roundRect">
            <a:avLst>
              <a:gd name="adj" fmla="val 18000"/>
            </a:avLst>
          </a:prstGeom>
          <a:solidFill>
            <a:srgbClr val="02C39A"/>
          </a:solidFill>
          <a:ln>
            <a:noFill/>
          </a:ln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fr-FR" sz="1300" b="1" dirty="0">
                <a:solidFill>
                  <a:srgbClr val="21295C"/>
                </a:solidFill>
                <a:latin typeface="Calibri"/>
              </a:rPr>
              <a:t>▶  Commencer</a:t>
            </a:r>
          </a:p>
        </p:txBody>
      </p:sp>
      <p:pic>
        <p:nvPicPr>
          <p:cNvPr id="9001" name="Ygg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000" y="4423500"/>
            <a:ext cx="620000" cy="620000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854BED4C-344E-4F75-496C-F36CF2A2947A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MenuTitre"/>
          <p:cNvSpPr>
            <a:spLocks noGrp="1"/>
          </p:cNvSpPr>
          <p:nvPr/>
        </p:nvSpPr>
        <p:spPr>
          <a:xfrm>
            <a:off x="0" y="450000"/>
            <a:ext cx="9144000" cy="700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fr-FR" sz="3200" b="1" dirty="0">
                <a:solidFill>
                  <a:srgbClr val="FFFFFF"/>
                </a:solidFill>
                <a:latin typeface="Calibri"/>
              </a:rPr>
              <a:t>📱  Sommaire</a:t>
            </a:r>
          </a:p>
        </p:txBody>
      </p:sp>
      <p:sp>
        <p:nvSpPr>
          <p:cNvPr id="41" name="tile_41">
            <a:hlinkClick r:id="rId2" action="ppaction://hlinksldjump"/>
          </p:cNvPr>
          <p:cNvSpPr/>
          <p:nvPr/>
        </p:nvSpPr>
        <p:spPr>
          <a:xfrm>
            <a:off x="600000" y="1250000"/>
            <a:ext cx="2500000" cy="82000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 w="19050">
            <a:solidFill>
              <a:srgbClr val="02C39A"/>
            </a:solidFill>
          </a:ln>
        </p:spPr>
        <p:txBody>
          <a:bodyPr wrap="square" lIns="100000" tIns="0" rIns="50000" bIns="0" anchor="ctr"/>
          <a:lstStyle/>
          <a:p>
            <a:pPr marL="0" indent="0" algn="l">
              <a:buNone/>
            </a:pPr>
            <a:r>
              <a:rPr lang="fr-FR" sz="1300" b="1" dirty="0">
                <a:solidFill>
                  <a:srgbClr val="FFFFFF"/>
                </a:solidFill>
                <a:latin typeface="Calibri"/>
              </a:rPr>
              <a:t>📄  Structure d'une facture</a:t>
            </a:r>
          </a:p>
        </p:txBody>
      </p:sp>
      <p:sp>
        <p:nvSpPr>
          <p:cNvPr id="42" name="tile_42">
            <a:hlinkClick r:id="rId3" action="ppaction://hlinksldjump"/>
          </p:cNvPr>
          <p:cNvSpPr/>
          <p:nvPr/>
        </p:nvSpPr>
        <p:spPr>
          <a:xfrm>
            <a:off x="3322000" y="1250000"/>
            <a:ext cx="2500000" cy="82000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 w="19050">
            <a:solidFill>
              <a:srgbClr val="02C39A"/>
            </a:solidFill>
          </a:ln>
        </p:spPr>
        <p:txBody>
          <a:bodyPr wrap="square" lIns="100000" tIns="0" rIns="50000" bIns="0" anchor="ctr"/>
          <a:lstStyle/>
          <a:p>
            <a:pPr marL="0" indent="0" algn="l">
              <a:buNone/>
            </a:pPr>
            <a:r>
              <a:rPr lang="fr-FR" sz="1300" b="1" dirty="0">
                <a:solidFill>
                  <a:srgbClr val="FFFFFF"/>
                </a:solidFill>
                <a:latin typeface="Calibri"/>
              </a:rPr>
              <a:t>📝  Facture annotée</a:t>
            </a:r>
          </a:p>
        </p:txBody>
      </p:sp>
      <p:sp>
        <p:nvSpPr>
          <p:cNvPr id="43" name="tile_43">
            <a:hlinkClick r:id="rId4" action="ppaction://hlinksldjump"/>
          </p:cNvPr>
          <p:cNvSpPr/>
          <p:nvPr/>
        </p:nvSpPr>
        <p:spPr>
          <a:xfrm>
            <a:off x="6044000" y="1250000"/>
            <a:ext cx="2500000" cy="82000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 w="19050">
            <a:solidFill>
              <a:srgbClr val="02C39A"/>
            </a:solidFill>
          </a:ln>
        </p:spPr>
        <p:txBody>
          <a:bodyPr wrap="square" lIns="100000" tIns="0" rIns="50000" bIns="0" anchor="ctr"/>
          <a:lstStyle/>
          <a:p>
            <a:pPr marL="0" indent="0" algn="l">
              <a:buNone/>
            </a:pPr>
            <a:r>
              <a:rPr lang="fr-FR" sz="1300" b="1" dirty="0">
                <a:solidFill>
                  <a:srgbClr val="FFFFFF"/>
                </a:solidFill>
                <a:latin typeface="Calibri"/>
              </a:rPr>
              <a:t>📦  Comprendre son forfait</a:t>
            </a:r>
          </a:p>
        </p:txBody>
      </p:sp>
      <p:sp>
        <p:nvSpPr>
          <p:cNvPr id="44" name="tile_44">
            <a:hlinkClick r:id="rId5" action="ppaction://hlinksldjump"/>
          </p:cNvPr>
          <p:cNvSpPr/>
          <p:nvPr/>
        </p:nvSpPr>
        <p:spPr>
          <a:xfrm>
            <a:off x="600000" y="2380000"/>
            <a:ext cx="2500000" cy="82000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 w="19050">
            <a:solidFill>
              <a:srgbClr val="02C39A"/>
            </a:solidFill>
          </a:ln>
        </p:spPr>
        <p:txBody>
          <a:bodyPr wrap="square" lIns="100000" tIns="0" rIns="50000" bIns="0" anchor="ctr"/>
          <a:lstStyle/>
          <a:p>
            <a:pPr marL="0" indent="0" algn="l">
              <a:buNone/>
            </a:pPr>
            <a:r>
              <a:rPr lang="fr-FR" sz="1300" b="1" dirty="0">
                <a:solidFill>
                  <a:srgbClr val="FFFFFF"/>
                </a:solidFill>
                <a:latin typeface="Calibri"/>
              </a:rPr>
              <a:t>💶  Postes de dépenses</a:t>
            </a:r>
          </a:p>
        </p:txBody>
      </p:sp>
      <p:sp>
        <p:nvSpPr>
          <p:cNvPr id="45" name="tile_45">
            <a:hlinkClick r:id="rId6" action="ppaction://hlinksldjump"/>
          </p:cNvPr>
          <p:cNvSpPr/>
          <p:nvPr/>
        </p:nvSpPr>
        <p:spPr>
          <a:xfrm>
            <a:off x="3322000" y="2380000"/>
            <a:ext cx="2500000" cy="82000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 w="19050">
            <a:solidFill>
              <a:srgbClr val="02C39A"/>
            </a:solidFill>
          </a:ln>
        </p:spPr>
        <p:txBody>
          <a:bodyPr wrap="square" lIns="100000" tIns="0" rIns="50000" bIns="0" anchor="ctr"/>
          <a:lstStyle/>
          <a:p>
            <a:pPr marL="0" indent="0" algn="l">
              <a:buNone/>
            </a:pPr>
            <a:r>
              <a:rPr lang="fr-FR" sz="1300" b="1" dirty="0">
                <a:solidFill>
                  <a:srgbClr val="FFFFFF"/>
                </a:solidFill>
                <a:latin typeface="Calibri"/>
              </a:rPr>
              <a:t>🔎  HT, TTC, TVA</a:t>
            </a:r>
          </a:p>
        </p:txBody>
      </p:sp>
      <p:sp>
        <p:nvSpPr>
          <p:cNvPr id="46" name="tile_46">
            <a:hlinkClick r:id="rId7" action="ppaction://hlinksldjump"/>
          </p:cNvPr>
          <p:cNvSpPr/>
          <p:nvPr/>
        </p:nvSpPr>
        <p:spPr>
          <a:xfrm>
            <a:off x="6044000" y="2380000"/>
            <a:ext cx="2500000" cy="82000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 w="19050">
            <a:solidFill>
              <a:srgbClr val="02C39A"/>
            </a:solidFill>
          </a:ln>
        </p:spPr>
        <p:txBody>
          <a:bodyPr wrap="square" lIns="100000" tIns="0" rIns="50000" bIns="0" anchor="ctr"/>
          <a:lstStyle/>
          <a:p>
            <a:pPr marL="0" indent="0" algn="l">
              <a:buNone/>
            </a:pPr>
            <a:r>
              <a:rPr lang="fr-FR" sz="1300" b="1" dirty="0">
                <a:solidFill>
                  <a:srgbClr val="FFFFFF"/>
                </a:solidFill>
                <a:latin typeface="Calibri"/>
              </a:rPr>
              <a:t>💡  Conseils pratiques</a:t>
            </a:r>
          </a:p>
        </p:txBody>
      </p:sp>
      <p:sp>
        <p:nvSpPr>
          <p:cNvPr id="47" name="tile_47">
            <a:hlinkClick r:id="rId8" action="ppaction://hlinksldjump"/>
          </p:cNvPr>
          <p:cNvSpPr/>
          <p:nvPr/>
        </p:nvSpPr>
        <p:spPr>
          <a:xfrm>
            <a:off x="600000" y="3510000"/>
            <a:ext cx="2500000" cy="82000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 w="19050">
            <a:solidFill>
              <a:srgbClr val="02C39A"/>
            </a:solidFill>
          </a:ln>
        </p:spPr>
        <p:txBody>
          <a:bodyPr wrap="square" lIns="100000" tIns="0" rIns="50000" bIns="0" anchor="ctr"/>
          <a:lstStyle/>
          <a:p>
            <a:pPr marL="0" indent="0" algn="l">
              <a:buNone/>
            </a:pPr>
            <a:r>
              <a:rPr lang="fr-FR" sz="1300" b="1" dirty="0">
                <a:solidFill>
                  <a:srgbClr val="FFFFFF"/>
                </a:solidFill>
                <a:latin typeface="Calibri"/>
              </a:rPr>
              <a:t>🔁  Changer / résilier</a:t>
            </a:r>
          </a:p>
        </p:txBody>
      </p:sp>
      <p:sp>
        <p:nvSpPr>
          <p:cNvPr id="48" name="tile_48">
            <a:hlinkClick r:id="rId9" action="ppaction://hlinksldjump"/>
          </p:cNvPr>
          <p:cNvSpPr/>
          <p:nvPr/>
        </p:nvSpPr>
        <p:spPr>
          <a:xfrm>
            <a:off x="3322000" y="3510000"/>
            <a:ext cx="2500000" cy="82000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 w="19050">
            <a:solidFill>
              <a:srgbClr val="02C39A"/>
            </a:solidFill>
          </a:ln>
        </p:spPr>
        <p:txBody>
          <a:bodyPr wrap="square" lIns="100000" tIns="0" rIns="50000" bIns="0" anchor="ctr"/>
          <a:lstStyle/>
          <a:p>
            <a:pPr marL="0" indent="0" algn="l">
              <a:buNone/>
            </a:pPr>
            <a:r>
              <a:rPr lang="fr-FR" sz="1300" b="1" dirty="0">
                <a:solidFill>
                  <a:srgbClr val="FFFFFF"/>
                </a:solidFill>
                <a:latin typeface="Calibri"/>
              </a:rPr>
              <a:t>⚠️  Arnaques &amp; surtaxés</a:t>
            </a:r>
          </a:p>
        </p:txBody>
      </p:sp>
      <p:sp>
        <p:nvSpPr>
          <p:cNvPr id="49" name="tile_49">
            <a:hlinkClick r:id="rId10" action="ppaction://hlinksldjump"/>
          </p:cNvPr>
          <p:cNvSpPr/>
          <p:nvPr/>
        </p:nvSpPr>
        <p:spPr>
          <a:xfrm>
            <a:off x="6044000" y="3510000"/>
            <a:ext cx="2500000" cy="82000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 w="19050">
            <a:solidFill>
              <a:srgbClr val="02C39A"/>
            </a:solidFill>
          </a:ln>
        </p:spPr>
        <p:txBody>
          <a:bodyPr wrap="square" lIns="100000" tIns="0" rIns="50000" bIns="0" anchor="ctr"/>
          <a:lstStyle/>
          <a:p>
            <a:pPr marL="0" indent="0" algn="l">
              <a:buNone/>
            </a:pPr>
            <a:r>
              <a:rPr lang="fr-FR" sz="1300" b="1" dirty="0">
                <a:solidFill>
                  <a:srgbClr val="FFFFFF"/>
                </a:solidFill>
                <a:latin typeface="Calibri"/>
              </a:rPr>
              <a:t>✅  Checklist en 5 min</a:t>
            </a:r>
          </a:p>
        </p:txBody>
      </p:sp>
      <p:sp>
        <p:nvSpPr>
          <p:cNvPr id="50" name="Hint"/>
          <p:cNvSpPr>
            <a:spLocks noGrp="1"/>
          </p:cNvSpPr>
          <p:nvPr/>
        </p:nvSpPr>
        <p:spPr>
          <a:xfrm>
            <a:off x="0" y="4520000"/>
            <a:ext cx="9144000" cy="350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fr-FR" sz="1100" i="1" dirty="0">
                <a:solidFill>
                  <a:srgbClr val="E2E8F0"/>
                </a:solidFill>
                <a:latin typeface="Calibri"/>
              </a:rPr>
              <a:t>Cliquez sur une section pour y accéder directement</a:t>
            </a:r>
          </a:p>
        </p:txBody>
      </p:sp>
      <p:sp>
        <p:nvSpPr>
          <p:cNvPr id="9002" name="YggSign"/>
          <p:cNvSpPr txBox="1"/>
          <p:nvPr/>
        </p:nvSpPr>
        <p:spPr>
          <a:xfrm>
            <a:off x="200000" y="4843500"/>
            <a:ext cx="6500000" cy="24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fr-FR" sz="900" b="0">
                <a:solidFill>
                  <a:srgbClr val="8A93A8"/>
                </a:solidFill>
              </a:rPr>
              <a:t>Yggdrasil · Cédric WALTENER · Médiateur Numérique · 2026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A0B7A6B2-C339-B7FF-0FAE-C3D835028D54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Structure d'une facture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64008" cy="10058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41732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123444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Informations client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32688" y="1600200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Nom, adresse, numéro de contrat, IBAN si prélèvement automatique.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74320" y="2377440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274320" y="2377440"/>
            <a:ext cx="64008" cy="10058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265176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32688" y="246888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Résumé de facturation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932688" y="2834640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Période facturée, montant total TTC, date d'échéance du paiement.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274320" y="3611880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1"/>
          <p:cNvSpPr/>
          <p:nvPr/>
        </p:nvSpPr>
        <p:spPr>
          <a:xfrm>
            <a:off x="274320" y="3611880"/>
            <a:ext cx="64008" cy="10058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" y="388620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32688" y="370332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Détail du forfait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932688" y="4069080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de l'offre souscrite, engagements, options actives.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846320" y="1143000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5"/>
          <p:cNvSpPr/>
          <p:nvPr/>
        </p:nvSpPr>
        <p:spPr>
          <a:xfrm>
            <a:off x="4846320" y="1143000"/>
            <a:ext cx="64008" cy="10058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0912" y="141732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04688" y="123444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Consommations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504688" y="1600200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Appels, SMS, data utilisés, dépassements éventuels.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846320" y="2377440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19"/>
          <p:cNvSpPr/>
          <p:nvPr/>
        </p:nvSpPr>
        <p:spPr>
          <a:xfrm>
            <a:off x="4846320" y="2377440"/>
            <a:ext cx="64008" cy="10058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10912" y="2651760"/>
            <a:ext cx="411480" cy="4114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504688" y="246888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Frais supplémentaires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504688" y="2834640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 payantes, achats hors forfait, itinérance (roaming).</a:t>
            </a:r>
            <a:endParaRPr lang="en-US" sz="1100" dirty="0"/>
          </a:p>
        </p:txBody>
      </p:sp>
      <p:sp>
        <p:nvSpPr>
          <p:cNvPr id="708" name="NavMenu">
            <a:hlinkClick r:id="rId8" action="ppaction://hlinksldjump"/>
          </p:cNvPr>
          <p:cNvSpPr/>
          <p:nvPr/>
        </p:nvSpPr>
        <p:spPr>
          <a:xfrm>
            <a:off x="7950000" y="4754880"/>
            <a:ext cx="1050000" cy="32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fr-FR" sz="950" b="1" u="sng" dirty="0">
                <a:solidFill>
                  <a:srgbClr val="065A82"/>
                </a:solidFill>
                <a:latin typeface="Calibri"/>
              </a:rPr>
              <a:t>☰  Menu</a:t>
            </a:r>
          </a:p>
        </p:txBody>
      </p:sp>
      <p:sp>
        <p:nvSpPr>
          <p:cNvPr id="985" name="VideoBtn">
            <a:hlinkClick r:id="rId9"/>
          </p:cNvPr>
          <p:cNvSpPr>
            <a:spLocks noGrp="1"/>
          </p:cNvSpPr>
          <p:nvPr/>
        </p:nvSpPr>
        <p:spPr>
          <a:xfrm>
            <a:off x="6250000" y="150000"/>
            <a:ext cx="2750000" cy="330000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0">
            <a:noFill/>
          </a:ln>
        </p:spPr>
        <p:txBody>
          <a:bodyPr anchor="ctr"/>
          <a:lstStyle/>
          <a:p>
            <a:pPr algn="ctr"/>
            <a:r>
              <a:rPr lang="fr-FR" sz="850" b="1" dirty="0">
                <a:solidFill>
                  <a:srgbClr val="FFFFFF"/>
                </a:solidFill>
                <a:latin typeface="Calibri"/>
              </a:rPr>
              <a:t>▶  Vidéo : comprendre sa facture</a:t>
            </a:r>
          </a:p>
        </p:txBody>
      </p:sp>
      <p:sp>
        <p:nvSpPr>
          <p:cNvPr id="9003" name="YggSign"/>
          <p:cNvSpPr txBox="1"/>
          <p:nvPr/>
        </p:nvSpPr>
        <p:spPr>
          <a:xfrm>
            <a:off x="200000" y="4843500"/>
            <a:ext cx="6500000" cy="24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fr-FR" sz="900" b="0">
                <a:solidFill>
                  <a:srgbClr val="8A93A8"/>
                </a:solidFill>
              </a:rPr>
              <a:t>Yggdrasil · Cédric WALTENER · Médiateur Numérique · 2026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390F5953-5B95-9CED-1391-C1AEBD073C54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Lire une facture : où regarder ?</a:t>
            </a:r>
            <a:endParaRPr lang="en-US" sz="2400" dirty="0"/>
          </a:p>
        </p:txBody>
      </p:sp>
      <p:sp>
        <p:nvSpPr>
          <p:cNvPr id="60" name="FactCard"/>
          <p:cNvSpPr/>
          <p:nvPr/>
        </p:nvSpPr>
        <p:spPr>
          <a:xfrm>
            <a:off x="430000" y="1110000"/>
            <a:ext cx="4060000" cy="356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9FB6C9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61" name="FactHdr"/>
          <p:cNvSpPr/>
          <p:nvPr/>
        </p:nvSpPr>
        <p:spPr>
          <a:xfrm>
            <a:off x="430000" y="1110000"/>
            <a:ext cx="4060000" cy="470000"/>
          </a:xfrm>
          <a:prstGeom prst="roundRect">
            <a:avLst>
              <a:gd name="adj" fmla="val 6000"/>
            </a:avLst>
          </a:prstGeom>
          <a:solidFill>
            <a:srgbClr val="21295C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62" name="FactHdrTxt"/>
          <p:cNvSpPr/>
          <p:nvPr/>
        </p:nvSpPr>
        <p:spPr>
          <a:xfrm>
            <a:off x="600000" y="1150000"/>
            <a:ext cx="3760000" cy="400000"/>
          </a:xfrm>
          <a:prstGeom prst="rect">
            <a:avLst/>
          </a:prstGeom>
          <a:noFill/>
        </p:spPr>
        <p:txBody>
          <a:bodyPr wrap="square" lIns="40000" tIns="20000" rIns="40000" bIns="0" anchor="ctr"/>
          <a:lstStyle/>
          <a:p>
            <a:pPr marL="0" indent="0" algn="l">
              <a:buNone/>
            </a:pPr>
            <a:r>
              <a:rPr lang="fr-FR" sz="1300" b="1" dirty="0">
                <a:solidFill>
                  <a:srgbClr val="FFFFFF"/>
                </a:solidFill>
                <a:latin typeface="Calibri"/>
              </a:rPr>
              <a:t>Facture mobile  —  Mars 2026</a:t>
            </a:r>
          </a:p>
        </p:txBody>
      </p:sp>
      <p:sp>
        <p:nvSpPr>
          <p:cNvPr id="63" name="FactLine0"/>
          <p:cNvSpPr/>
          <p:nvPr/>
        </p:nvSpPr>
        <p:spPr>
          <a:xfrm>
            <a:off x="580000" y="1710000"/>
            <a:ext cx="3780000" cy="500000"/>
          </a:xfrm>
          <a:prstGeom prst="rect">
            <a:avLst/>
          </a:prstGeom>
          <a:noFill/>
        </p:spPr>
        <p:txBody>
          <a:bodyPr wrap="square" lIns="40000" tIns="20000" rIns="40000" bIns="0" anchor="t"/>
          <a:lstStyle/>
          <a:p>
            <a:pPr marL="0" indent="0" algn="l">
              <a:buNone/>
            </a:pPr>
            <a:r>
              <a:rPr lang="fr-FR" sz="1500" b="1" dirty="0">
                <a:solidFill>
                  <a:srgbClr val="1C7293"/>
                </a:solidFill>
                <a:latin typeface="Calibri"/>
              </a:rPr>
              <a:t>①  </a:t>
            </a:r>
            <a:r>
              <a:rPr lang="fr-FR" sz="1150" dirty="0">
                <a:solidFill>
                  <a:srgbClr val="21295C"/>
                </a:solidFill>
                <a:latin typeface="Calibri"/>
              </a:rPr>
              <a:t>Informations : M. Dupont · Contrat n° 0412</a:t>
            </a:r>
          </a:p>
        </p:txBody>
      </p:sp>
      <p:sp>
        <p:nvSpPr>
          <p:cNvPr id="64" name="FactSep0"/>
          <p:cNvSpPr/>
          <p:nvPr/>
        </p:nvSpPr>
        <p:spPr>
          <a:xfrm>
            <a:off x="580000" y="2180000"/>
            <a:ext cx="3760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65" name="FactLine1"/>
          <p:cNvSpPr/>
          <p:nvPr/>
        </p:nvSpPr>
        <p:spPr>
          <a:xfrm>
            <a:off x="580000" y="2270000"/>
            <a:ext cx="3780000" cy="500000"/>
          </a:xfrm>
          <a:prstGeom prst="rect">
            <a:avLst/>
          </a:prstGeom>
          <a:noFill/>
        </p:spPr>
        <p:txBody>
          <a:bodyPr wrap="square" lIns="40000" tIns="20000" rIns="40000" bIns="0" anchor="t"/>
          <a:lstStyle/>
          <a:p>
            <a:pPr marL="0" indent="0" algn="l">
              <a:buNone/>
            </a:pPr>
            <a:r>
              <a:rPr lang="fr-FR" sz="1500" b="1" dirty="0">
                <a:solidFill>
                  <a:srgbClr val="1C7293"/>
                </a:solidFill>
                <a:latin typeface="Calibri"/>
              </a:rPr>
              <a:t>②  </a:t>
            </a:r>
            <a:r>
              <a:rPr lang="fr-FR" sz="1150" dirty="0">
                <a:solidFill>
                  <a:srgbClr val="21295C"/>
                </a:solidFill>
                <a:latin typeface="Calibri"/>
              </a:rPr>
              <a:t>Total à payer : 45,78 € TTC · le 15/03</a:t>
            </a:r>
          </a:p>
        </p:txBody>
      </p:sp>
      <p:sp>
        <p:nvSpPr>
          <p:cNvPr id="66" name="FactSep1"/>
          <p:cNvSpPr/>
          <p:nvPr/>
        </p:nvSpPr>
        <p:spPr>
          <a:xfrm>
            <a:off x="580000" y="2740000"/>
            <a:ext cx="3760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67" name="FactLine2"/>
          <p:cNvSpPr/>
          <p:nvPr/>
        </p:nvSpPr>
        <p:spPr>
          <a:xfrm>
            <a:off x="580000" y="2830000"/>
            <a:ext cx="3780000" cy="500000"/>
          </a:xfrm>
          <a:prstGeom prst="rect">
            <a:avLst/>
          </a:prstGeom>
          <a:noFill/>
        </p:spPr>
        <p:txBody>
          <a:bodyPr wrap="square" lIns="40000" tIns="20000" rIns="40000" bIns="0" anchor="t"/>
          <a:lstStyle/>
          <a:p>
            <a:pPr marL="0" indent="0" algn="l">
              <a:buNone/>
            </a:pPr>
            <a:r>
              <a:rPr lang="fr-FR" sz="1500" b="1" dirty="0">
                <a:solidFill>
                  <a:srgbClr val="1C7293"/>
                </a:solidFill>
                <a:latin typeface="Calibri"/>
              </a:rPr>
              <a:t>③  </a:t>
            </a:r>
            <a:r>
              <a:rPr lang="fr-FR" sz="1150" dirty="0">
                <a:solidFill>
                  <a:srgbClr val="21295C"/>
                </a:solidFill>
                <a:latin typeface="Calibri"/>
              </a:rPr>
              <a:t>Forfait Mobile 100 Go · engagt 12 mois</a:t>
            </a:r>
          </a:p>
        </p:txBody>
      </p:sp>
      <p:sp>
        <p:nvSpPr>
          <p:cNvPr id="68" name="FactSep2"/>
          <p:cNvSpPr/>
          <p:nvPr/>
        </p:nvSpPr>
        <p:spPr>
          <a:xfrm>
            <a:off x="580000" y="3300000"/>
            <a:ext cx="3760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69" name="FactLine3"/>
          <p:cNvSpPr/>
          <p:nvPr/>
        </p:nvSpPr>
        <p:spPr>
          <a:xfrm>
            <a:off x="580000" y="3390000"/>
            <a:ext cx="3780000" cy="500000"/>
          </a:xfrm>
          <a:prstGeom prst="rect">
            <a:avLst/>
          </a:prstGeom>
          <a:noFill/>
        </p:spPr>
        <p:txBody>
          <a:bodyPr wrap="square" lIns="40000" tIns="20000" rIns="40000" bIns="0" anchor="t"/>
          <a:lstStyle/>
          <a:p>
            <a:pPr marL="0" indent="0" algn="l">
              <a:buNone/>
            </a:pPr>
            <a:r>
              <a:rPr lang="fr-FR" sz="1500" b="1" dirty="0">
                <a:solidFill>
                  <a:srgbClr val="1C7293"/>
                </a:solidFill>
                <a:latin typeface="Calibri"/>
              </a:rPr>
              <a:t>④  </a:t>
            </a:r>
            <a:r>
              <a:rPr lang="fr-FR" sz="1150" dirty="0">
                <a:solidFill>
                  <a:srgbClr val="21295C"/>
                </a:solidFill>
                <a:latin typeface="Calibri"/>
              </a:rPr>
              <a:t>Conso : 3 h appels · 250 SMS · 82 Go</a:t>
            </a:r>
          </a:p>
        </p:txBody>
      </p:sp>
      <p:sp>
        <p:nvSpPr>
          <p:cNvPr id="70" name="FactSep3"/>
          <p:cNvSpPr/>
          <p:nvPr/>
        </p:nvSpPr>
        <p:spPr>
          <a:xfrm>
            <a:off x="580000" y="3860000"/>
            <a:ext cx="3760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71" name="FactLine4"/>
          <p:cNvSpPr/>
          <p:nvPr/>
        </p:nvSpPr>
        <p:spPr>
          <a:xfrm>
            <a:off x="580000" y="3950000"/>
            <a:ext cx="3780000" cy="500000"/>
          </a:xfrm>
          <a:prstGeom prst="rect">
            <a:avLst/>
          </a:prstGeom>
          <a:noFill/>
        </p:spPr>
        <p:txBody>
          <a:bodyPr wrap="square" lIns="40000" tIns="20000" rIns="40000" bIns="0" anchor="t"/>
          <a:lstStyle/>
          <a:p>
            <a:pPr marL="0" indent="0" algn="l">
              <a:buNone/>
            </a:pPr>
            <a:r>
              <a:rPr lang="fr-FR" sz="1500" b="1" dirty="0">
                <a:solidFill>
                  <a:srgbClr val="1C7293"/>
                </a:solidFill>
                <a:latin typeface="Calibri"/>
              </a:rPr>
              <a:t>⑤  </a:t>
            </a:r>
            <a:r>
              <a:rPr lang="fr-FR" sz="1150" dirty="0">
                <a:solidFill>
                  <a:srgbClr val="21295C"/>
                </a:solidFill>
                <a:latin typeface="Calibri"/>
              </a:rPr>
              <a:t>Hors forfait 8,50 € · Roaming 12,30 €</a:t>
            </a:r>
          </a:p>
        </p:txBody>
      </p:sp>
      <p:sp>
        <p:nvSpPr>
          <p:cNvPr id="80" name="LegTitle"/>
          <p:cNvSpPr/>
          <p:nvPr/>
        </p:nvSpPr>
        <p:spPr>
          <a:xfrm>
            <a:off x="4790000" y="1140000"/>
            <a:ext cx="3960000" cy="520000"/>
          </a:xfrm>
          <a:prstGeom prst="rect">
            <a:avLst/>
          </a:prstGeom>
          <a:noFill/>
        </p:spPr>
        <p:txBody>
          <a:bodyPr wrap="square" lIns="40000" tIns="20000" rIns="40000" bIns="0" anchor="t"/>
          <a:lstStyle/>
          <a:p>
            <a:pPr marL="0" indent="0" algn="l">
              <a:buNone/>
            </a:pPr>
            <a:r>
              <a:rPr lang="fr-FR" sz="1900" b="1" dirty="0">
                <a:solidFill>
                  <a:srgbClr val="FFFFFF"/>
                </a:solidFill>
                <a:latin typeface="Calibri"/>
              </a:rPr>
              <a:t>Les 5 zones à repérer</a:t>
            </a:r>
          </a:p>
        </p:txBody>
      </p:sp>
      <p:sp>
        <p:nvSpPr>
          <p:cNvPr id="81" name="Leg0"/>
          <p:cNvSpPr/>
          <p:nvPr/>
        </p:nvSpPr>
        <p:spPr>
          <a:xfrm>
            <a:off x="4790000" y="1820000"/>
            <a:ext cx="3980000" cy="540000"/>
          </a:xfrm>
          <a:prstGeom prst="rect">
            <a:avLst/>
          </a:prstGeom>
          <a:noFill/>
        </p:spPr>
        <p:txBody>
          <a:bodyPr wrap="square" lIns="40000" tIns="20000" rIns="40000" bIns="0" anchor="t"/>
          <a:lstStyle/>
          <a:p>
            <a:pPr marL="0" indent="0" algn="l">
              <a:buNone/>
            </a:pPr>
            <a:r>
              <a:rPr lang="fr-FR" sz="1500" b="1" dirty="0">
                <a:solidFill>
                  <a:srgbClr val="02C39A"/>
                </a:solidFill>
                <a:latin typeface="Calibri"/>
              </a:rPr>
              <a:t>①  </a:t>
            </a:r>
            <a:r>
              <a:rPr lang="fr-FR" sz="1300" b="1" dirty="0">
                <a:solidFill>
                  <a:srgbClr val="FFFFFF"/>
                </a:solidFill>
                <a:latin typeface="Calibri"/>
              </a:rPr>
              <a:t>Informations client</a:t>
            </a:r>
            <a:r>
              <a:rPr lang="fr-FR" sz="1150" dirty="0">
                <a:solidFill>
                  <a:srgbClr val="CBD5E1"/>
                </a:solidFill>
                <a:latin typeface="Calibri"/>
              </a:rPr>
              <a:t> — qui paie, n° de contrat, IBAN.</a:t>
            </a:r>
          </a:p>
        </p:txBody>
      </p:sp>
      <p:sp>
        <p:nvSpPr>
          <p:cNvPr id="82" name="Leg1"/>
          <p:cNvSpPr/>
          <p:nvPr/>
        </p:nvSpPr>
        <p:spPr>
          <a:xfrm>
            <a:off x="4790000" y="2380000"/>
            <a:ext cx="3980000" cy="540000"/>
          </a:xfrm>
          <a:prstGeom prst="rect">
            <a:avLst/>
          </a:prstGeom>
          <a:noFill/>
        </p:spPr>
        <p:txBody>
          <a:bodyPr wrap="square" lIns="40000" tIns="20000" rIns="40000" bIns="0" anchor="t"/>
          <a:lstStyle/>
          <a:p>
            <a:pPr marL="0" indent="0" algn="l">
              <a:buNone/>
            </a:pPr>
            <a:r>
              <a:rPr lang="fr-FR" sz="1500" b="1" dirty="0">
                <a:solidFill>
                  <a:srgbClr val="02C39A"/>
                </a:solidFill>
                <a:latin typeface="Calibri"/>
              </a:rPr>
              <a:t>②  </a:t>
            </a:r>
            <a:r>
              <a:rPr lang="fr-FR" sz="1300" b="1" dirty="0">
                <a:solidFill>
                  <a:srgbClr val="FFFFFF"/>
                </a:solidFill>
                <a:latin typeface="Calibri"/>
              </a:rPr>
              <a:t>Résumé de facturation</a:t>
            </a:r>
            <a:r>
              <a:rPr lang="fr-FR" sz="1150" dirty="0">
                <a:solidFill>
                  <a:srgbClr val="CBD5E1"/>
                </a:solidFill>
                <a:latin typeface="Calibri"/>
              </a:rPr>
              <a:t> — total TTC et date de prélèvement.</a:t>
            </a:r>
          </a:p>
        </p:txBody>
      </p:sp>
      <p:sp>
        <p:nvSpPr>
          <p:cNvPr id="83" name="Leg2"/>
          <p:cNvSpPr/>
          <p:nvPr/>
        </p:nvSpPr>
        <p:spPr>
          <a:xfrm>
            <a:off x="4790000" y="2940000"/>
            <a:ext cx="3980000" cy="540000"/>
          </a:xfrm>
          <a:prstGeom prst="rect">
            <a:avLst/>
          </a:prstGeom>
          <a:noFill/>
        </p:spPr>
        <p:txBody>
          <a:bodyPr wrap="square" lIns="40000" tIns="20000" rIns="40000" bIns="0" anchor="t"/>
          <a:lstStyle/>
          <a:p>
            <a:pPr marL="0" indent="0" algn="l">
              <a:buNone/>
            </a:pPr>
            <a:r>
              <a:rPr lang="fr-FR" sz="1500" b="1" dirty="0">
                <a:solidFill>
                  <a:srgbClr val="02C39A"/>
                </a:solidFill>
                <a:latin typeface="Calibri"/>
              </a:rPr>
              <a:t>③  </a:t>
            </a:r>
            <a:r>
              <a:rPr lang="fr-FR" sz="1300" b="1" dirty="0">
                <a:solidFill>
                  <a:srgbClr val="FFFFFF"/>
                </a:solidFill>
                <a:latin typeface="Calibri"/>
              </a:rPr>
              <a:t>Détail du forfait</a:t>
            </a:r>
            <a:r>
              <a:rPr lang="fr-FR" sz="1150" dirty="0">
                <a:solidFill>
                  <a:srgbClr val="CBD5E1"/>
                </a:solidFill>
                <a:latin typeface="Calibri"/>
              </a:rPr>
              <a:t> — offre, engagement, options.</a:t>
            </a:r>
          </a:p>
        </p:txBody>
      </p:sp>
      <p:sp>
        <p:nvSpPr>
          <p:cNvPr id="84" name="Leg3"/>
          <p:cNvSpPr/>
          <p:nvPr/>
        </p:nvSpPr>
        <p:spPr>
          <a:xfrm>
            <a:off x="4790000" y="3500000"/>
            <a:ext cx="3980000" cy="540000"/>
          </a:xfrm>
          <a:prstGeom prst="rect">
            <a:avLst/>
          </a:prstGeom>
          <a:noFill/>
        </p:spPr>
        <p:txBody>
          <a:bodyPr wrap="square" lIns="40000" tIns="20000" rIns="40000" bIns="0" anchor="t"/>
          <a:lstStyle/>
          <a:p>
            <a:pPr marL="0" indent="0" algn="l">
              <a:buNone/>
            </a:pPr>
            <a:r>
              <a:rPr lang="fr-FR" sz="1500" b="1" dirty="0">
                <a:solidFill>
                  <a:srgbClr val="02C39A"/>
                </a:solidFill>
                <a:latin typeface="Calibri"/>
              </a:rPr>
              <a:t>④  </a:t>
            </a:r>
            <a:r>
              <a:rPr lang="fr-FR" sz="1300" b="1" dirty="0">
                <a:solidFill>
                  <a:srgbClr val="FFFFFF"/>
                </a:solidFill>
                <a:latin typeface="Calibri"/>
              </a:rPr>
              <a:t>Consommations</a:t>
            </a:r>
            <a:r>
              <a:rPr lang="fr-FR" sz="1150" dirty="0">
                <a:solidFill>
                  <a:srgbClr val="CBD5E1"/>
                </a:solidFill>
                <a:latin typeface="Calibri"/>
              </a:rPr>
              <a:t> — ce que vous avez réellement utilisé.</a:t>
            </a:r>
          </a:p>
        </p:txBody>
      </p:sp>
      <p:sp>
        <p:nvSpPr>
          <p:cNvPr id="85" name="Leg4"/>
          <p:cNvSpPr/>
          <p:nvPr/>
        </p:nvSpPr>
        <p:spPr>
          <a:xfrm>
            <a:off x="4790000" y="4060000"/>
            <a:ext cx="3980000" cy="540000"/>
          </a:xfrm>
          <a:prstGeom prst="rect">
            <a:avLst/>
          </a:prstGeom>
          <a:noFill/>
        </p:spPr>
        <p:txBody>
          <a:bodyPr wrap="square" lIns="40000" tIns="20000" rIns="40000" bIns="0" anchor="t"/>
          <a:lstStyle/>
          <a:p>
            <a:pPr marL="0" indent="0" algn="l">
              <a:buNone/>
            </a:pPr>
            <a:r>
              <a:rPr lang="fr-FR" sz="1500" b="1" dirty="0">
                <a:solidFill>
                  <a:srgbClr val="02C39A"/>
                </a:solidFill>
                <a:latin typeface="Calibri"/>
              </a:rPr>
              <a:t>⑤  </a:t>
            </a:r>
            <a:r>
              <a:rPr lang="fr-FR" sz="1300" b="1" dirty="0">
                <a:solidFill>
                  <a:srgbClr val="FFFFFF"/>
                </a:solidFill>
                <a:latin typeface="Calibri"/>
              </a:rPr>
              <a:t>Frais en plus</a:t>
            </a:r>
            <a:r>
              <a:rPr lang="fr-FR" sz="1150" dirty="0">
                <a:solidFill>
                  <a:srgbClr val="CBD5E1"/>
                </a:solidFill>
                <a:latin typeface="Calibri"/>
              </a:rPr>
              <a:t> — hors forfait, options, roaming : à surveiller.</a:t>
            </a:r>
          </a:p>
        </p:txBody>
      </p:sp>
      <p:sp>
        <p:nvSpPr>
          <p:cNvPr id="720" name="NavMenu">
            <a:hlinkClick r:id="rId2" action="ppaction://hlinksldjump"/>
          </p:cNvPr>
          <p:cNvSpPr/>
          <p:nvPr/>
        </p:nvSpPr>
        <p:spPr>
          <a:xfrm>
            <a:off x="7950000" y="4754880"/>
            <a:ext cx="1050000" cy="32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fr-FR" sz="950" b="1" u="sng" dirty="0">
                <a:solidFill>
                  <a:srgbClr val="065A82"/>
                </a:solidFill>
                <a:latin typeface="Calibri"/>
              </a:rPr>
              <a:t>☰  Menu</a:t>
            </a:r>
          </a:p>
        </p:txBody>
      </p:sp>
      <p:sp>
        <p:nvSpPr>
          <p:cNvPr id="9004" name="YggSign"/>
          <p:cNvSpPr txBox="1"/>
          <p:nvPr/>
        </p:nvSpPr>
        <p:spPr>
          <a:xfrm>
            <a:off x="200000" y="4843500"/>
            <a:ext cx="6500000" cy="24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fr-FR" sz="900" b="0">
                <a:solidFill>
                  <a:srgbClr val="8A93A8"/>
                </a:solidFill>
              </a:rPr>
              <a:t>Yggdrasil · Cédric WALTENER · Médiateur Numérique · 2026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E7D3FA61-C6C2-5B5D-3A3D-ECE8DE80DFFF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Comprendre son forfait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743200" cy="3794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123444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" y="19659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Appels &amp; SMS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560320"/>
            <a:ext cx="219456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438912" y="269748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Illimités vers mobiles/fixes France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38912" y="33375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si illimité vers l'étranger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38912" y="39776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Numéros spéciaux souvent hors forfait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27832" y="1051560"/>
            <a:ext cx="2743200" cy="3794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9392" y="1234440"/>
            <a:ext cx="640080" cy="6400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64992" y="19659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(internet mobile)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3502152" y="2560320"/>
            <a:ext cx="219456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1"/>
          <p:cNvSpPr/>
          <p:nvPr/>
        </p:nvSpPr>
        <p:spPr>
          <a:xfrm>
            <a:off x="3392424" y="269748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inclus (ex : 100 Go)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392424" y="33375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Vitesse réduite après épuisement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392424" y="39776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 de connexion (hotspot) possible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181344" y="1051560"/>
            <a:ext cx="2743200" cy="3794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2904" y="1234440"/>
            <a:ext cx="640080" cy="6400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18504" y="19659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Roaming (hors France)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6455664" y="2560320"/>
            <a:ext cx="219456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17"/>
          <p:cNvSpPr/>
          <p:nvPr/>
        </p:nvSpPr>
        <p:spPr>
          <a:xfrm>
            <a:off x="6345936" y="269748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 : souvent inclus dans le forfait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6345936" y="33375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 UE : tarifs élevés, activer manuellement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6345936" y="39776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Désactiver les données en itinérance si besoin</a:t>
            </a:r>
            <a:endParaRPr lang="en-US" sz="1100" dirty="0"/>
          </a:p>
        </p:txBody>
      </p:sp>
      <p:sp>
        <p:nvSpPr>
          <p:cNvPr id="711" name="NavMenu">
            <a:hlinkClick r:id="rId6" action="ppaction://hlinksldjump"/>
          </p:cNvPr>
          <p:cNvSpPr/>
          <p:nvPr/>
        </p:nvSpPr>
        <p:spPr>
          <a:xfrm>
            <a:off x="7950000" y="4754880"/>
            <a:ext cx="1050000" cy="32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fr-FR" sz="950" b="1" u="sng" dirty="0">
                <a:solidFill>
                  <a:srgbClr val="065A82"/>
                </a:solidFill>
                <a:latin typeface="Calibri"/>
              </a:rPr>
              <a:t>☰  Menu</a:t>
            </a:r>
          </a:p>
        </p:txBody>
      </p:sp>
      <p:sp>
        <p:nvSpPr>
          <p:cNvPr id="9005" name="YggSign"/>
          <p:cNvSpPr txBox="1"/>
          <p:nvPr/>
        </p:nvSpPr>
        <p:spPr>
          <a:xfrm>
            <a:off x="200000" y="4843500"/>
            <a:ext cx="6500000" cy="24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fr-FR" sz="900" b="0">
                <a:solidFill>
                  <a:srgbClr val="8A93A8"/>
                </a:solidFill>
              </a:rPr>
              <a:t>Yggdrasil · Cédric WALTENER · Médiateur Numérique · 2026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99F6DD0C-4910-F932-EA6D-2CE6ADB43CEB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💶  Les postes de dépenses sur la facture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51560"/>
          <a:ext cx="8595360" cy="3776472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94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À surveiller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Abonnement mensuel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Prix de base du forfait (hors options)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Comparer régulièrement les offres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 box / téléphone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téléphone en location ou crédit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Vérifier durée d'engagement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Hors forfait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SMS, data ou appels dépassant le plafond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Peut doubler la facture !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Options souscrites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Netflix, antivirus, assistance…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Désabonner ce qui n'est pas utilisé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Itinérance (roaming)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Usage à l'étranger hors 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Désactiver les données avant le voyage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Frais de résiliation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Pénalités si départ avant fin engagement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Calculer avant de changer d'opérateur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14" name="NavMenu">
            <a:hlinkClick r:id="rId3" action="ppaction://hlinksldjump"/>
          </p:cNvPr>
          <p:cNvSpPr/>
          <p:nvPr/>
        </p:nvSpPr>
        <p:spPr>
          <a:xfrm>
            <a:off x="7950000" y="4754880"/>
            <a:ext cx="1050000" cy="32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fr-FR" sz="950" b="1" u="sng" dirty="0">
                <a:solidFill>
                  <a:srgbClr val="065A82"/>
                </a:solidFill>
                <a:latin typeface="Calibri"/>
              </a:rPr>
              <a:t>☰  Menu</a:t>
            </a:r>
          </a:p>
        </p:txBody>
      </p:sp>
      <p:sp>
        <p:nvSpPr>
          <p:cNvPr id="9006" name="YggSign"/>
          <p:cNvSpPr txBox="1"/>
          <p:nvPr/>
        </p:nvSpPr>
        <p:spPr>
          <a:xfrm>
            <a:off x="200000" y="4843500"/>
            <a:ext cx="6500000" cy="24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fr-FR" sz="900" b="0">
                <a:solidFill>
                  <a:srgbClr val="8A93A8"/>
                </a:solidFill>
              </a:rPr>
              <a:t>Yggdrasil · Cédric WALTENER · Médiateur Numérique · 2026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4ACE45A-3175-4531-B837-E7F95CE28F3A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 HT, TTC, TVA : ce que signifient ces sigles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2377440" cy="13716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HT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12,50 €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383280" y="1143000"/>
            <a:ext cx="2377440" cy="13716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383280" y="11887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TVA 20%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383280" y="17373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+ 2,50 €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6217920" y="1143000"/>
            <a:ext cx="2377440" cy="1371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6217920" y="11887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Prix TTC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217920" y="17373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15,00 €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2907792" y="1773936"/>
            <a:ext cx="228600" cy="7315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5742432" y="1773936"/>
            <a:ext cx="228600" cy="7315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274320" y="2788920"/>
            <a:ext cx="4114800" cy="868680"/>
          </a:xfrm>
          <a:prstGeom prst="rect">
            <a:avLst/>
          </a:prstGeom>
          <a:solidFill>
            <a:srgbClr val="EFF6FB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274320" y="2788920"/>
            <a:ext cx="64008" cy="8686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38912" y="2843784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 (Hors Taxes)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38912" y="313639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prix net avant application de la TVA. C'est ce que perçoit l'opérateur.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3794760"/>
            <a:ext cx="4114800" cy="868680"/>
          </a:xfrm>
          <a:prstGeom prst="rect">
            <a:avLst/>
          </a:prstGeom>
          <a:solidFill>
            <a:srgbClr val="EFF6FB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274320" y="3794760"/>
            <a:ext cx="64008" cy="8686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38912" y="3849624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TVA (Taxe sur la Valeur Ajoutée)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38912" y="414223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France, la TVA sur les forfaits téléphoniques est de 20 %. Elle est reversée à l'État.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54880" y="2788920"/>
            <a:ext cx="4114800" cy="868680"/>
          </a:xfrm>
          <a:prstGeom prst="rect">
            <a:avLst/>
          </a:prstGeom>
          <a:solidFill>
            <a:srgbClr val="EFF6FB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4754880" y="2788920"/>
            <a:ext cx="64008" cy="8686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4919472" y="2843784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TTC (Toutes Taxes Comprises)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19472" y="313639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montant réel que vous payez. C'est le prix affiché dans les offres commerciales.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54880" y="3794760"/>
            <a:ext cx="4114800" cy="868680"/>
          </a:xfrm>
          <a:prstGeom prst="rect">
            <a:avLst/>
          </a:prstGeom>
          <a:solidFill>
            <a:srgbClr val="EFF6FB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4754880" y="3794760"/>
            <a:ext cx="64008" cy="8686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4919472" y="3849624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URSSAF / Contribution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19472" y="414223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Certaines factures incluent aussi des contributions (ex. audiovisuel public).</a:t>
            </a:r>
            <a:endParaRPr lang="en-US" sz="1050" dirty="0"/>
          </a:p>
        </p:txBody>
      </p:sp>
      <p:sp>
        <p:nvSpPr>
          <p:cNvPr id="717" name="NavMenu">
            <a:hlinkClick r:id="rId3" action="ppaction://hlinksldjump"/>
          </p:cNvPr>
          <p:cNvSpPr/>
          <p:nvPr/>
        </p:nvSpPr>
        <p:spPr>
          <a:xfrm>
            <a:off x="7950000" y="4754880"/>
            <a:ext cx="1050000" cy="32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fr-FR" sz="950" b="1" u="sng" dirty="0">
                <a:solidFill>
                  <a:srgbClr val="065A82"/>
                </a:solidFill>
                <a:latin typeface="Calibri"/>
              </a:rPr>
              <a:t>☰  Menu</a:t>
            </a:r>
          </a:p>
        </p:txBody>
      </p:sp>
      <p:sp>
        <p:nvSpPr>
          <p:cNvPr id="9007" name="YggSign"/>
          <p:cNvSpPr txBox="1"/>
          <p:nvPr/>
        </p:nvSpPr>
        <p:spPr>
          <a:xfrm>
            <a:off x="200000" y="4843500"/>
            <a:ext cx="6500000" cy="24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fr-FR" sz="900" b="0">
                <a:solidFill>
                  <a:srgbClr val="8A93A8"/>
                </a:solidFill>
              </a:rPr>
              <a:t>Yggdrasil · Cédric WALTENER · Médiateur Numérique · 2026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2C5D50B0-8FA7-B8AE-C2AF-F0A817E7F1C3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Conseils pour maîtriser sa facture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344168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12344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Activer les alertes de consommation dans l'application de votre opérateur.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74320" y="2286000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2532888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0120" y="24231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Mettre un plafond de hors-forfait (souvent gratuit, demandez à votre opérateur).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274320" y="3474720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" y="3721608"/>
            <a:ext cx="411480" cy="4114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0120" y="36118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connecter au Wi-Fi dès que possible pour économiser la data mobile.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4709160" y="1097280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3752" y="1344168"/>
            <a:ext cx="411480" cy="4114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394960" y="12344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Désactiver les données mobiles en itinérance hors Union Européenne.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4709160" y="2286000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3752" y="2532888"/>
            <a:ext cx="411480" cy="41148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394960" y="24231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chaque mois les options actives et supprimer celles non utilisées.</a:t>
            </a:r>
            <a:endParaRPr lang="en-US" sz="1200" dirty="0"/>
          </a:p>
        </p:txBody>
      </p:sp>
      <p:sp>
        <p:nvSpPr>
          <p:cNvPr id="19" name="Shape 12"/>
          <p:cNvSpPr/>
          <p:nvPr/>
        </p:nvSpPr>
        <p:spPr>
          <a:xfrm>
            <a:off x="4709160" y="3474720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73752" y="3721608"/>
            <a:ext cx="411480" cy="41148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394960" y="36118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Comparer les offres tous les ans : les tarifs baissent régulièrement.</a:t>
            </a:r>
            <a:endParaRPr lang="en-US" sz="1200" dirty="0"/>
          </a:p>
        </p:txBody>
      </p:sp>
      <p:sp>
        <p:nvSpPr>
          <p:cNvPr id="720" name="NavMenu">
            <a:hlinkClick r:id="rId9" action="ppaction://hlinksldjump"/>
          </p:cNvPr>
          <p:cNvSpPr/>
          <p:nvPr/>
        </p:nvSpPr>
        <p:spPr>
          <a:xfrm>
            <a:off x="7950000" y="4754880"/>
            <a:ext cx="1050000" cy="32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fr-FR" sz="950" b="1" u="sng" dirty="0">
                <a:solidFill>
                  <a:srgbClr val="065A82"/>
                </a:solidFill>
                <a:latin typeface="Calibri"/>
              </a:rPr>
              <a:t>☰  Menu</a:t>
            </a:r>
          </a:p>
        </p:txBody>
      </p:sp>
      <p:sp>
        <p:nvSpPr>
          <p:cNvPr id="9008" name="YggSign"/>
          <p:cNvSpPr txBox="1"/>
          <p:nvPr/>
        </p:nvSpPr>
        <p:spPr>
          <a:xfrm>
            <a:off x="200000" y="4843500"/>
            <a:ext cx="6500000" cy="24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fr-FR" sz="900" b="0">
                <a:solidFill>
                  <a:srgbClr val="8A93A8"/>
                </a:solidFill>
              </a:rPr>
              <a:t>Yggdrasil · Cédric WALTENER · Médiateur Numérique · 2026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A56A2CBC-82A1-3707-207D-EBA85853BBEA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Changer d'opérateur ou résilier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344168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12344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la durée d'engagement (12 ou 24 mois) avant tout changement.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74320" y="2286000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2532888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0120" y="24231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Loi Chatel : après 12 mois d'un engagement de 24 mois, résiliation à frais réduits.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274320" y="3474720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3721608"/>
            <a:ext cx="411480" cy="4114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0120" y="36118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Garder son numéro : demander le RIO en composant le 3179 (gratuit).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4709160" y="1097280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3752" y="1344168"/>
            <a:ext cx="411480" cy="4114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394960" y="12344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le nouvel opérateur qui résilie l'ancien : aucune coupure de ligne.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4709160" y="2286000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3752" y="2532888"/>
            <a:ext cx="411480" cy="41148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394960" y="24231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engagement : résiliable à tout moment, préavis de 10 jours.</a:t>
            </a:r>
            <a:endParaRPr lang="en-US" sz="1200" dirty="0"/>
          </a:p>
        </p:txBody>
      </p:sp>
      <p:sp>
        <p:nvSpPr>
          <p:cNvPr id="19" name="Shape 12"/>
          <p:cNvSpPr/>
          <p:nvPr/>
        </p:nvSpPr>
        <p:spPr>
          <a:xfrm>
            <a:off x="4709160" y="3474720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3752" y="3721608"/>
            <a:ext cx="411480" cy="41148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394960" y="36118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Comparer avant de partir : un forfait équivalent coûte souvent moins cher.</a:t>
            </a:r>
            <a:endParaRPr lang="en-US" sz="1200" dirty="0"/>
          </a:p>
        </p:txBody>
      </p:sp>
      <p:sp>
        <p:nvSpPr>
          <p:cNvPr id="720" name="NavMenu">
            <a:hlinkClick r:id="rId8" action="ppaction://hlinksldjump"/>
          </p:cNvPr>
          <p:cNvSpPr/>
          <p:nvPr/>
        </p:nvSpPr>
        <p:spPr>
          <a:xfrm>
            <a:off x="7950000" y="4754880"/>
            <a:ext cx="1050000" cy="32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fr-FR" sz="950" b="1" u="sng" dirty="0">
                <a:solidFill>
                  <a:srgbClr val="065A82"/>
                </a:solidFill>
                <a:latin typeface="Calibri"/>
              </a:rPr>
              <a:t>☰  Menu</a:t>
            </a:r>
          </a:p>
        </p:txBody>
      </p:sp>
      <p:sp>
        <p:nvSpPr>
          <p:cNvPr id="9009" name="YggSign"/>
          <p:cNvSpPr txBox="1"/>
          <p:nvPr/>
        </p:nvSpPr>
        <p:spPr>
          <a:xfrm>
            <a:off x="200000" y="4843500"/>
            <a:ext cx="6500000" cy="24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fr-FR" sz="900" b="0">
                <a:solidFill>
                  <a:srgbClr val="8A93A8"/>
                </a:solidFill>
              </a:rPr>
              <a:t>Yggdrasil · Cédric WALTENER · Médiateur Numérique · 2026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F05386DB-0250-A079-AAB6-0ED40243A670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Factures qui gonflent : arnaques &amp; surtaxés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344168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12344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Abonnements cachés « SMS+ » : achats facturés via le mobile, parfois sans accord clair.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74320" y="2286000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2532888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0120" y="24231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Numéros surtaxés (0890, 118…) : facturés en plus, vérifier le tarif avant d'appeler.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274320" y="3474720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3721608"/>
            <a:ext cx="411480" cy="4114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0120" y="36118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Faux SMS de l'opérateur : ne jamais cliquer, il ne demande jamais vos codes.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4709160" y="1097280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3752" y="1344168"/>
            <a:ext cx="411480" cy="4114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394960" y="12344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Signaler un SMS ou appel indésirable : le transférer au 33700 (gratuit).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4709160" y="2286000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3752" y="2532888"/>
            <a:ext cx="411480" cy="41148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394960" y="24231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Bloquer les achats surtaxés : demander le blocage au service client (gratuit).</a:t>
            </a:r>
            <a:endParaRPr lang="en-US" sz="1200" dirty="0"/>
          </a:p>
        </p:txBody>
      </p:sp>
      <p:sp>
        <p:nvSpPr>
          <p:cNvPr id="19" name="Shape 12"/>
          <p:cNvSpPr/>
          <p:nvPr/>
        </p:nvSpPr>
        <p:spPr>
          <a:xfrm>
            <a:off x="4709160" y="3474720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3752" y="3721608"/>
            <a:ext cx="411480" cy="41148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394960" y="36118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chaque ligne : une somme inconnue se conteste sous 1 mois.</a:t>
            </a:r>
            <a:endParaRPr lang="en-US" sz="1200" dirty="0"/>
          </a:p>
        </p:txBody>
      </p:sp>
      <p:sp>
        <p:nvSpPr>
          <p:cNvPr id="720" name="NavMenu">
            <a:hlinkClick r:id="rId8" action="ppaction://hlinksldjump"/>
          </p:cNvPr>
          <p:cNvSpPr/>
          <p:nvPr/>
        </p:nvSpPr>
        <p:spPr>
          <a:xfrm>
            <a:off x="7950000" y="4754880"/>
            <a:ext cx="1050000" cy="32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fr-FR" sz="950" b="1" u="sng" dirty="0">
                <a:solidFill>
                  <a:srgbClr val="065A82"/>
                </a:solidFill>
                <a:latin typeface="Calibri"/>
              </a:rPr>
              <a:t>☰  Menu</a:t>
            </a:r>
          </a:p>
        </p:txBody>
      </p:sp>
      <p:sp>
        <p:nvSpPr>
          <p:cNvPr id="9010" name="YggSign"/>
          <p:cNvSpPr txBox="1"/>
          <p:nvPr/>
        </p:nvSpPr>
        <p:spPr>
          <a:xfrm>
            <a:off x="200000" y="4843500"/>
            <a:ext cx="6500000" cy="24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fr-FR" sz="900" b="0">
                <a:solidFill>
                  <a:srgbClr val="8A93A8"/>
                </a:solidFill>
              </a:rPr>
              <a:t>Yggdrasil · Cédric WALTENER · Médiateur Numérique · 2026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33F8EDB1-439D-FAE7-AACD-5DB447A5888C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F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Checklist : relire sa facture en 5 min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411480" y="1207008"/>
            <a:ext cx="329184" cy="32918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11480" y="12070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1188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que le montant correspond au forfait annoncé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728216"/>
            <a:ext cx="8595360" cy="548640"/>
          </a:xfrm>
          <a:prstGeom prst="rect">
            <a:avLst/>
          </a:prstGeom>
          <a:solidFill>
            <a:srgbClr val="EBF5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411480" y="1837944"/>
            <a:ext cx="329184" cy="32918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11480" y="18379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1819656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Contrôler les options actives (payantes ou offertes)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359152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411480" y="2468880"/>
            <a:ext cx="329184" cy="32918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11480" y="2468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245059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Repérer les frais hors forfait (appels, data dépassés)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2990088"/>
            <a:ext cx="8595360" cy="548640"/>
          </a:xfrm>
          <a:prstGeom prst="rect">
            <a:avLst/>
          </a:prstGeom>
          <a:solidFill>
            <a:srgbClr val="EBF5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411480" y="3099816"/>
            <a:ext cx="329184" cy="32918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11480" y="30998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308152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la période de facturation et la date de prélèvement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621024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411480" y="3730752"/>
            <a:ext cx="329184" cy="32918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11480" y="37307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8680" y="371246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Contrôler si un engagement est toujours en cours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74320" y="4251960"/>
            <a:ext cx="8595360" cy="548640"/>
          </a:xfrm>
          <a:prstGeom prst="rect">
            <a:avLst/>
          </a:prstGeom>
          <a:solidFill>
            <a:srgbClr val="EBF5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411480" y="4361688"/>
            <a:ext cx="329184" cy="32918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11480" y="43616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68680" y="4343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Signaler toute anomalie sous 1 mois au service client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cas de litige : contactez votre opérateur, puis le médiateur des communications électroniques (www.mediation-telecom.org)</a:t>
            </a:r>
            <a:endParaRPr lang="en-US" sz="1050" dirty="0"/>
          </a:p>
        </p:txBody>
      </p:sp>
      <p:sp>
        <p:nvSpPr>
          <p:cNvPr id="723" name="NavMenu">
            <a:hlinkClick r:id="rId3" action="ppaction://hlinksldjump"/>
          </p:cNvPr>
          <p:cNvSpPr/>
          <p:nvPr/>
        </p:nvSpPr>
        <p:spPr>
          <a:xfrm>
            <a:off x="7950000" y="4754880"/>
            <a:ext cx="1050000" cy="32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fr-FR" sz="950" b="1" u="sng" dirty="0">
                <a:solidFill>
                  <a:srgbClr val="065A82"/>
                </a:solidFill>
                <a:latin typeface="Calibri"/>
              </a:rPr>
              <a:t>☰  Menu</a:t>
            </a:r>
          </a:p>
        </p:txBody>
      </p:sp>
      <p:sp>
        <p:nvSpPr>
          <p:cNvPr id="9011" name="YggSign"/>
          <p:cNvSpPr txBox="1"/>
          <p:nvPr/>
        </p:nvSpPr>
        <p:spPr>
          <a:xfrm>
            <a:off x="200000" y="4843500"/>
            <a:ext cx="6500000" cy="24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fr-FR" sz="900" b="0">
                <a:solidFill>
                  <a:srgbClr val="8A93A8"/>
                </a:solidFill>
              </a:rPr>
              <a:t>Yggdrasil · Cédric WALTENER · Médiateur Numérique · 2026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C885820-E3F4-A60D-D359-B4A3E63191F9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MTitre"/>
          <p:cNvSpPr>
            <a:spLocks noGrp="1"/>
          </p:cNvSpPr>
          <p:nvPr/>
        </p:nvSpPr>
        <p:spPr>
          <a:xfrm>
            <a:off x="0" y="1300000"/>
            <a:ext cx="9144000" cy="11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fr-FR" sz="6400" b="1" dirty="0">
                <a:solidFill>
                  <a:srgbClr val="FFFFFF"/>
                </a:solidFill>
                <a:latin typeface="Calibri"/>
              </a:rPr>
              <a:t>MERCI</a:t>
            </a:r>
          </a:p>
        </p:txBody>
      </p:sp>
      <p:sp>
        <p:nvSpPr>
          <p:cNvPr id="31" name="MSub"/>
          <p:cNvSpPr>
            <a:spLocks noGrp="1"/>
          </p:cNvSpPr>
          <p:nvPr/>
        </p:nvSpPr>
        <p:spPr>
          <a:xfrm>
            <a:off x="0" y="2650000"/>
            <a:ext cx="9144000" cy="5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fr-FR" sz="2000" b="1" dirty="0">
                <a:solidFill>
                  <a:srgbClr val="02C39A"/>
                </a:solidFill>
                <a:latin typeface="Calibri"/>
              </a:rPr>
              <a:t>Vous savez maintenant lire et maîtriser votre facture.</a:t>
            </a:r>
          </a:p>
        </p:txBody>
      </p:sp>
      <p:sp>
        <p:nvSpPr>
          <p:cNvPr id="32" name="MBody"/>
          <p:cNvSpPr>
            <a:spLocks noGrp="1"/>
          </p:cNvSpPr>
          <p:nvPr/>
        </p:nvSpPr>
        <p:spPr>
          <a:xfrm>
            <a:off x="1200000" y="3350000"/>
            <a:ext cx="6744000" cy="7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fr-FR" sz="1300" b="0" dirty="0">
                <a:solidFill>
                  <a:srgbClr val="E2E8F0"/>
                </a:solidFill>
                <a:latin typeface="Calibri"/>
              </a:rPr>
              <a:t>Un doute ? Contactez votre opérateur, puis le médiateur des</a:t>
            </a:r>
          </a:p>
          <a:p>
            <a:pPr algn="ctr"/>
            <a:r>
              <a:rPr lang="fr-FR" sz="1300" b="0" dirty="0">
                <a:solidFill>
                  <a:srgbClr val="E2E8F0"/>
                </a:solidFill>
                <a:latin typeface="Calibri"/>
              </a:rPr>
              <a:t>communications électroniques : www.mediation-telecom.org</a:t>
            </a:r>
          </a:p>
        </p:txBody>
      </p:sp>
      <p:sp>
        <p:nvSpPr>
          <p:cNvPr id="60" name="NavMenu">
            <a:hlinkClick r:id="rId2" action="ppaction://hlinksldjump"/>
          </p:cNvPr>
          <p:cNvSpPr/>
          <p:nvPr/>
        </p:nvSpPr>
        <p:spPr>
          <a:xfrm>
            <a:off x="7950000" y="4754880"/>
            <a:ext cx="1050000" cy="32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fr-FR" sz="950" b="1" u="sng" dirty="0">
                <a:solidFill>
                  <a:srgbClr val="02C39A"/>
                </a:solidFill>
                <a:latin typeface="Calibri"/>
              </a:rPr>
              <a:t>☰  Menu</a:t>
            </a:r>
          </a:p>
        </p:txBody>
      </p:sp>
      <p:sp>
        <p:nvSpPr>
          <p:cNvPr id="9012" name="YggSign"/>
          <p:cNvSpPr txBox="1"/>
          <p:nvPr/>
        </p:nvSpPr>
        <p:spPr>
          <a:xfrm>
            <a:off x="200000" y="4843500"/>
            <a:ext cx="6500000" cy="24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fr-FR" sz="900" b="0">
                <a:solidFill>
                  <a:srgbClr val="8A93A8"/>
                </a:solidFill>
              </a:rPr>
              <a:t>Yggdrasil · Cédric WALTENER · Médiateur Numérique · 2026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0F9B4AE4-8450-A764-5BEB-B0686D3FC164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1308</Words>
  <Application>Microsoft Office PowerPoint</Application>
  <PresentationFormat>Affichage à l'écran (16:9)</PresentationFormat>
  <Paragraphs>170</Paragraphs>
  <Slides>12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Comprendre sa Facture Téléphonique</dc:title>
  <dc:subject>PptxGenJS Presentation</dc:subject>
  <dc:creator>PptxGenJS</dc:creator>
  <cp:lastModifiedBy>titi 23</cp:lastModifiedBy>
  <cp:revision>3</cp:revision>
  <dcterms:created xsi:type="dcterms:W3CDTF">2026-05-28T06:59:00Z</dcterms:created>
  <dcterms:modified xsi:type="dcterms:W3CDTF">2026-09-08T11:32:48Z</dcterms:modified>
</cp:coreProperties>
</file>