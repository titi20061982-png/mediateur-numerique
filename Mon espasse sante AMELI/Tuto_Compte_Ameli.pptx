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0876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 d'accueil. Présenter l'objectif : à la fin de l'atelier, chacun sait créer son compte Ameli, s'y connecter par au moins une méthode, et repérer les arnaques. Rassurer : on avance lentement, on peut poser des questions à tout moment.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la carte du voyage. Insister : c'est linéaire, on suit les étapes dans l'ordre, personne ne se perd. La partie arnaques (6) est celle qu'on retient le plus, on la garde pour la fin.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 avant tout. Demander à la salle : « qui a déjà eu besoin d'une attestation de droits ? » — c'est l'usage n°1. Rappeler que tout ça remplace les courriers et les files d'attente à la CPAM.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de l'atelier : la confusion Ameli / Mon espace santé est très fréquente. Image simple à donner : Ameli = « les sous et les papiers », Mon espace santé = « le carnet de santé ». Aujourd'hui on travaille uniquement sur Ameli (à gauche).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sortir la carte Vitale maintenant : montrer où sont les 15 chiffres. Vérifier que chaque participant a une adresse e-mail active — sinon, c'est le préalable n°1 (atelier création de boîte mail à prévoir). Le RIB est rarement redemandé mais on l'a au cas où.</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plan des prochaines diapos : on va voir les 3 méthodes une par une. Rassurer : il suffit d'en maîtriser UNE. Conseil d'animateur : pour un débutant total, la méthode 1 (identifiants directs) est la plus simple à comprendre ; FranceConnect devient utile dès qu'on a déjà un compte Impôts.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en direct sur le vidéoprojecteur si possible. L'écran de gauche est un schéma : le vrai site peut être un peu différent mais la logique est la même. Bien insister sur le format du numéro de Sécu (15 chiffres) et sur l'orthographe exacte de l'adresse e-mail.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réflexe « spam / courriers indésirables » est essentiel : c'est là que beaucoup de gens se bloquent. Insister sur le mot de passe : long, pas le même que la boîte mail, noté quelque part de sûr (carnet papier rangé, gestionnaire de mots de passe). Lien à terme de validité : ne pas traîner.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de référence. Rappeler : le numéro de Sécu n'est pas un secret (il est sur la carte Vitale), MAIS le mot de passe, lui, ne se donne jamais. Si le compte se bloque après 3 essais, on verra la récupération à la diapo « mot de passe oublié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à donner : FranceConnect = le portier / le vigile qui vérifie la carte d'identité à l'entrée, mais qui ne rentre pas dans la maison. C'est LE point qui rassure les personnes méfiantes vis-à-vis du partage de données. Bien marteler : il ne stocke pas les données de santé.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bouton FranceConnect est toujours bleu, avec le logo Marianne : apprendre à le reconnaître. Piège classique : à l'étape 3, les gens retapent leur mot de passe Ameli — non, c'est celui du fournisseur choisi (Impôts, etc.). Le redire deux fois.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qui a déjà un compte Impôts en ligne : pour eux, FranceConnect est immédiat. L'Identité Numérique La Poste est une bonne option pour ceux qui n'ont rien : se crée gratuitement et se valide en bureau de poste. Mention YRIS : info d'actualité, ne pas s'attarder mais signaler la fermeture.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 est souvent la méthode préférée au quotidien : une fois le code à 4 chiffres en place, c'est très rapide. Bien dire que l'appli ne REMPLACE pas la carte Vitale physique. Montrer où chercher dans le store et reconnaître l'icône officielle (gare aux fausses applis).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Rassurer : oublier son mot de passe est normal et se règle en 5 minutes. Le vrai point de friction est l'accès à la boîte mail — d'où l'importance d'une adresse qu'on sait consulter. Donner le 3646 comme filet de sécurité humain.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 rapide du tableau de bord. Le geste le plus utile à montrer en vrai : télécharger une attestation de droits (PDF). La messagerie remplace avantageusement les appels téléphoniques pour beaucoup de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moment le plus important de l'atelier. Faire le lien avec l'atelier phishing si déjà suivi. Règle d'or à répéter : « on ne clique jamais sur un lien dans un mail/SMS pour aller sur Ameli — on tape l'adresse soi-même ». Donner le 33 700 comme réflexe de signalement.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Faire répéter oralement la règle d'or anti-arnaque. Distribuer la fiche mémo (PDF) si disponible. Vérifier qu'au moins une personne sur deux est arrivée à se connecter pendant l'atelier — sinon, proposer un créneau d'accompagnement individuel.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Ouvrir la pratique libre : que chacun tente la méthode de son choix, on circule pour aider. Proposer la fiche mémo à emporter et noter les personnes qui souhaitent un rendez-vous d'accompagnement individuel.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7498080" y="-2377440"/>
            <a:ext cx="7772400" cy="7772400"/>
          </a:xfrm>
          <a:prstGeom prst="ellipse">
            <a:avLst/>
          </a:prstGeom>
          <a:solidFill>
            <a:srgbClr val="16335A">
              <a:alpha val="70000"/>
            </a:srgbClr>
          </a:solidFill>
          <a:ln/>
        </p:spPr>
        <p:txBody>
          <a:bodyPr/>
          <a:lstStyle/>
          <a:p>
            <a:endParaRPr lang="fr-FR"/>
          </a:p>
        </p:txBody>
      </p:sp>
      <p:sp>
        <p:nvSpPr>
          <p:cNvPr id="3" name="Shape 1"/>
          <p:cNvSpPr/>
          <p:nvPr/>
        </p:nvSpPr>
        <p:spPr>
          <a:xfrm>
            <a:off x="9692640" y="3108960"/>
            <a:ext cx="5486400" cy="5486400"/>
          </a:xfrm>
          <a:prstGeom prst="ellipse">
            <a:avLst/>
          </a:prstGeom>
          <a:solidFill>
            <a:srgbClr val="0F8B8D">
              <a:alpha val="28000"/>
            </a:srgbClr>
          </a:solidFill>
          <a:ln/>
        </p:spPr>
        <p:txBody>
          <a:bodyPr/>
          <a:lstStyle/>
          <a:p>
            <a:endParaRPr lang="fr-FR"/>
          </a:p>
        </p:txBody>
      </p:sp>
      <p:sp>
        <p:nvSpPr>
          <p:cNvPr id="4" name="Shape 2"/>
          <p:cNvSpPr/>
          <p:nvPr/>
        </p:nvSpPr>
        <p:spPr>
          <a:xfrm>
            <a:off x="548640" y="5806440"/>
            <a:ext cx="1106424" cy="0"/>
          </a:xfrm>
          <a:prstGeom prst="line">
            <a:avLst/>
          </a:prstGeom>
          <a:noFill/>
          <a:ln w="19050">
            <a:solidFill>
              <a:srgbClr val="1E5C6E"/>
            </a:solidFill>
            <a:prstDash val="solid"/>
          </a:ln>
        </p:spPr>
        <p:txBody>
          <a:bodyPr/>
          <a:lstStyle/>
          <a:p>
            <a:endParaRPr lang="fr-FR"/>
          </a:p>
        </p:txBody>
      </p:sp>
      <p:sp>
        <p:nvSpPr>
          <p:cNvPr id="5" name="Shape 3"/>
          <p:cNvSpPr/>
          <p:nvPr/>
        </p:nvSpPr>
        <p:spPr>
          <a:xfrm>
            <a:off x="1655064" y="5806440"/>
            <a:ext cx="442570" cy="0"/>
          </a:xfrm>
          <a:prstGeom prst="line">
            <a:avLst/>
          </a:prstGeom>
          <a:noFill/>
          <a:ln w="19050">
            <a:solidFill>
              <a:srgbClr val="1E5C6E"/>
            </a:solidFill>
            <a:prstDash val="solid"/>
          </a:ln>
        </p:spPr>
        <p:txBody>
          <a:bodyPr/>
          <a:lstStyle/>
          <a:p>
            <a:endParaRPr lang="fr-FR"/>
          </a:p>
        </p:txBody>
      </p:sp>
      <p:sp>
        <p:nvSpPr>
          <p:cNvPr id="6" name="Shape 4"/>
          <p:cNvSpPr/>
          <p:nvPr/>
        </p:nvSpPr>
        <p:spPr>
          <a:xfrm>
            <a:off x="2097634" y="5748833"/>
            <a:ext cx="442570" cy="96012"/>
          </a:xfrm>
          <a:prstGeom prst="line">
            <a:avLst/>
          </a:prstGeom>
          <a:noFill/>
          <a:ln w="19050">
            <a:solidFill>
              <a:srgbClr val="1E5C6E"/>
            </a:solidFill>
            <a:prstDash val="solid"/>
          </a:ln>
        </p:spPr>
        <p:txBody>
          <a:bodyPr/>
          <a:lstStyle/>
          <a:p>
            <a:endParaRPr lang="fr-FR"/>
          </a:p>
        </p:txBody>
      </p:sp>
      <p:sp>
        <p:nvSpPr>
          <p:cNvPr id="7" name="Shape 5"/>
          <p:cNvSpPr/>
          <p:nvPr/>
        </p:nvSpPr>
        <p:spPr>
          <a:xfrm>
            <a:off x="2540203" y="5844845"/>
            <a:ext cx="442570" cy="0"/>
          </a:xfrm>
          <a:prstGeom prst="line">
            <a:avLst/>
          </a:prstGeom>
          <a:noFill/>
          <a:ln w="19050">
            <a:solidFill>
              <a:srgbClr val="1E5C6E"/>
            </a:solidFill>
            <a:prstDash val="solid"/>
          </a:ln>
        </p:spPr>
        <p:txBody>
          <a:bodyPr/>
          <a:lstStyle/>
          <a:p>
            <a:endParaRPr lang="fr-FR"/>
          </a:p>
        </p:txBody>
      </p:sp>
      <p:sp>
        <p:nvSpPr>
          <p:cNvPr id="8" name="Shape 6"/>
          <p:cNvSpPr/>
          <p:nvPr/>
        </p:nvSpPr>
        <p:spPr>
          <a:xfrm>
            <a:off x="2982773" y="5806440"/>
            <a:ext cx="885139" cy="0"/>
          </a:xfrm>
          <a:prstGeom prst="line">
            <a:avLst/>
          </a:prstGeom>
          <a:noFill/>
          <a:ln w="19050">
            <a:solidFill>
              <a:srgbClr val="1E5C6E"/>
            </a:solidFill>
            <a:prstDash val="solid"/>
          </a:ln>
        </p:spPr>
        <p:txBody>
          <a:bodyPr/>
          <a:lstStyle/>
          <a:p>
            <a:endParaRPr lang="fr-FR"/>
          </a:p>
        </p:txBody>
      </p:sp>
      <p:sp>
        <p:nvSpPr>
          <p:cNvPr id="9" name="Shape 7"/>
          <p:cNvSpPr/>
          <p:nvPr/>
        </p:nvSpPr>
        <p:spPr>
          <a:xfrm>
            <a:off x="3867912" y="5806440"/>
            <a:ext cx="442570" cy="0"/>
          </a:xfrm>
          <a:prstGeom prst="line">
            <a:avLst/>
          </a:prstGeom>
          <a:noFill/>
          <a:ln w="19050">
            <a:solidFill>
              <a:srgbClr val="1E5C6E"/>
            </a:solidFill>
            <a:prstDash val="solid"/>
          </a:ln>
        </p:spPr>
        <p:txBody>
          <a:bodyPr/>
          <a:lstStyle/>
          <a:p>
            <a:endParaRPr lang="fr-FR"/>
          </a:p>
        </p:txBody>
      </p:sp>
      <p:sp>
        <p:nvSpPr>
          <p:cNvPr id="10" name="Shape 8"/>
          <p:cNvSpPr/>
          <p:nvPr/>
        </p:nvSpPr>
        <p:spPr>
          <a:xfrm>
            <a:off x="4310482" y="5787238"/>
            <a:ext cx="331927" cy="384048"/>
          </a:xfrm>
          <a:prstGeom prst="line">
            <a:avLst/>
          </a:prstGeom>
          <a:noFill/>
          <a:ln w="19050">
            <a:solidFill>
              <a:srgbClr val="1E5C6E"/>
            </a:solidFill>
            <a:prstDash val="solid"/>
          </a:ln>
        </p:spPr>
        <p:txBody>
          <a:bodyPr/>
          <a:lstStyle/>
          <a:p>
            <a:endParaRPr lang="fr-FR"/>
          </a:p>
        </p:txBody>
      </p:sp>
      <p:sp>
        <p:nvSpPr>
          <p:cNvPr id="11" name="Shape 9"/>
          <p:cNvSpPr/>
          <p:nvPr/>
        </p:nvSpPr>
        <p:spPr>
          <a:xfrm>
            <a:off x="4642409" y="6171286"/>
            <a:ext cx="331927" cy="0"/>
          </a:xfrm>
          <a:prstGeom prst="line">
            <a:avLst/>
          </a:prstGeom>
          <a:noFill/>
          <a:ln w="19050">
            <a:solidFill>
              <a:srgbClr val="1E5C6E"/>
            </a:solidFill>
            <a:prstDash val="solid"/>
          </a:ln>
        </p:spPr>
        <p:txBody>
          <a:bodyPr/>
          <a:lstStyle/>
          <a:p>
            <a:endParaRPr lang="fr-FR"/>
          </a:p>
        </p:txBody>
      </p:sp>
      <p:sp>
        <p:nvSpPr>
          <p:cNvPr id="12" name="Shape 10"/>
          <p:cNvSpPr/>
          <p:nvPr/>
        </p:nvSpPr>
        <p:spPr>
          <a:xfrm>
            <a:off x="4974336" y="5518404"/>
            <a:ext cx="331927" cy="357165"/>
          </a:xfrm>
          <a:prstGeom prst="line">
            <a:avLst/>
          </a:prstGeom>
          <a:noFill/>
          <a:ln w="19050">
            <a:solidFill>
              <a:srgbClr val="1E5C6E"/>
            </a:solidFill>
            <a:prstDash val="solid"/>
          </a:ln>
        </p:spPr>
        <p:txBody>
          <a:bodyPr/>
          <a:lstStyle/>
          <a:p>
            <a:endParaRPr lang="fr-FR"/>
          </a:p>
        </p:txBody>
      </p:sp>
      <p:sp>
        <p:nvSpPr>
          <p:cNvPr id="13" name="Shape 11"/>
          <p:cNvSpPr/>
          <p:nvPr/>
        </p:nvSpPr>
        <p:spPr>
          <a:xfrm>
            <a:off x="5306263" y="5875569"/>
            <a:ext cx="442570" cy="0"/>
          </a:xfrm>
          <a:prstGeom prst="line">
            <a:avLst/>
          </a:prstGeom>
          <a:noFill/>
          <a:ln w="19050">
            <a:solidFill>
              <a:srgbClr val="1E5C6E"/>
            </a:solidFill>
            <a:prstDash val="solid"/>
          </a:ln>
        </p:spPr>
        <p:txBody>
          <a:bodyPr/>
          <a:lstStyle/>
          <a:p>
            <a:endParaRPr lang="fr-FR"/>
          </a:p>
        </p:txBody>
      </p:sp>
      <p:sp>
        <p:nvSpPr>
          <p:cNvPr id="14" name="Shape 12"/>
          <p:cNvSpPr/>
          <p:nvPr/>
        </p:nvSpPr>
        <p:spPr>
          <a:xfrm>
            <a:off x="5748833" y="5806440"/>
            <a:ext cx="1659636" cy="0"/>
          </a:xfrm>
          <a:prstGeom prst="line">
            <a:avLst/>
          </a:prstGeom>
          <a:noFill/>
          <a:ln w="19050">
            <a:solidFill>
              <a:srgbClr val="1E5C6E"/>
            </a:solidFill>
            <a:prstDash val="solid"/>
          </a:ln>
        </p:spPr>
        <p:txBody>
          <a:bodyPr/>
          <a:lstStyle/>
          <a:p>
            <a:endParaRPr lang="fr-FR"/>
          </a:p>
        </p:txBody>
      </p:sp>
      <p:sp>
        <p:nvSpPr>
          <p:cNvPr id="15" name="Shape 13"/>
          <p:cNvSpPr/>
          <p:nvPr/>
        </p:nvSpPr>
        <p:spPr>
          <a:xfrm>
            <a:off x="7408469" y="5806440"/>
            <a:ext cx="442570" cy="0"/>
          </a:xfrm>
          <a:prstGeom prst="line">
            <a:avLst/>
          </a:prstGeom>
          <a:noFill/>
          <a:ln w="19050">
            <a:solidFill>
              <a:srgbClr val="1E5C6E"/>
            </a:solidFill>
            <a:prstDash val="solid"/>
          </a:ln>
        </p:spPr>
        <p:txBody>
          <a:bodyPr/>
          <a:lstStyle/>
          <a:p>
            <a:endParaRPr lang="fr-FR"/>
          </a:p>
        </p:txBody>
      </p:sp>
      <p:sp>
        <p:nvSpPr>
          <p:cNvPr id="16" name="Shape 14"/>
          <p:cNvSpPr/>
          <p:nvPr/>
        </p:nvSpPr>
        <p:spPr>
          <a:xfrm>
            <a:off x="7851038" y="5737311"/>
            <a:ext cx="442570" cy="115214"/>
          </a:xfrm>
          <a:prstGeom prst="line">
            <a:avLst/>
          </a:prstGeom>
          <a:noFill/>
          <a:ln w="19050">
            <a:solidFill>
              <a:srgbClr val="1E5C6E"/>
            </a:solidFill>
            <a:prstDash val="solid"/>
          </a:ln>
        </p:spPr>
        <p:txBody>
          <a:bodyPr/>
          <a:lstStyle/>
          <a:p>
            <a:endParaRPr lang="fr-FR"/>
          </a:p>
        </p:txBody>
      </p:sp>
      <p:sp>
        <p:nvSpPr>
          <p:cNvPr id="17" name="Shape 15"/>
          <p:cNvSpPr/>
          <p:nvPr/>
        </p:nvSpPr>
        <p:spPr>
          <a:xfrm>
            <a:off x="8293608" y="5852526"/>
            <a:ext cx="442570" cy="0"/>
          </a:xfrm>
          <a:prstGeom prst="line">
            <a:avLst/>
          </a:prstGeom>
          <a:noFill/>
          <a:ln w="19050">
            <a:solidFill>
              <a:srgbClr val="1E5C6E"/>
            </a:solidFill>
            <a:prstDash val="solid"/>
          </a:ln>
        </p:spPr>
        <p:txBody>
          <a:bodyPr/>
          <a:lstStyle/>
          <a:p>
            <a:endParaRPr lang="fr-FR"/>
          </a:p>
        </p:txBody>
      </p:sp>
      <p:sp>
        <p:nvSpPr>
          <p:cNvPr id="18" name="Shape 16"/>
          <p:cNvSpPr/>
          <p:nvPr/>
        </p:nvSpPr>
        <p:spPr>
          <a:xfrm>
            <a:off x="8736178" y="5806440"/>
            <a:ext cx="1327709" cy="0"/>
          </a:xfrm>
          <a:prstGeom prst="line">
            <a:avLst/>
          </a:prstGeom>
          <a:noFill/>
          <a:ln w="19050">
            <a:solidFill>
              <a:srgbClr val="1E5C6E"/>
            </a:solidFill>
            <a:prstDash val="solid"/>
          </a:ln>
        </p:spPr>
        <p:txBody>
          <a:bodyPr/>
          <a:lstStyle/>
          <a:p>
            <a:endParaRPr lang="fr-FR"/>
          </a:p>
        </p:txBody>
      </p:sp>
      <p:sp>
        <p:nvSpPr>
          <p:cNvPr id="19" name="Shape 17"/>
          <p:cNvSpPr/>
          <p:nvPr/>
        </p:nvSpPr>
        <p:spPr>
          <a:xfrm>
            <a:off x="10063886" y="5806440"/>
            <a:ext cx="442570" cy="0"/>
          </a:xfrm>
          <a:prstGeom prst="line">
            <a:avLst/>
          </a:prstGeom>
          <a:noFill/>
          <a:ln w="19050">
            <a:solidFill>
              <a:srgbClr val="1E5C6E"/>
            </a:solidFill>
            <a:prstDash val="solid"/>
          </a:ln>
        </p:spPr>
        <p:txBody>
          <a:bodyPr/>
          <a:lstStyle/>
          <a:p>
            <a:endParaRPr lang="fr-FR"/>
          </a:p>
        </p:txBody>
      </p:sp>
      <p:sp>
        <p:nvSpPr>
          <p:cNvPr id="20" name="Shape 18"/>
          <p:cNvSpPr/>
          <p:nvPr/>
        </p:nvSpPr>
        <p:spPr>
          <a:xfrm>
            <a:off x="10506456" y="5748833"/>
            <a:ext cx="442570" cy="96012"/>
          </a:xfrm>
          <a:prstGeom prst="line">
            <a:avLst/>
          </a:prstGeom>
          <a:noFill/>
          <a:ln w="19050">
            <a:solidFill>
              <a:srgbClr val="1E5C6E"/>
            </a:solidFill>
            <a:prstDash val="solid"/>
          </a:ln>
        </p:spPr>
        <p:txBody>
          <a:bodyPr/>
          <a:lstStyle/>
          <a:p>
            <a:endParaRPr lang="fr-FR"/>
          </a:p>
        </p:txBody>
      </p:sp>
      <p:sp>
        <p:nvSpPr>
          <p:cNvPr id="21" name="Shape 19"/>
          <p:cNvSpPr/>
          <p:nvPr/>
        </p:nvSpPr>
        <p:spPr>
          <a:xfrm>
            <a:off x="10949026" y="5844845"/>
            <a:ext cx="442570" cy="0"/>
          </a:xfrm>
          <a:prstGeom prst="line">
            <a:avLst/>
          </a:prstGeom>
          <a:noFill/>
          <a:ln w="19050">
            <a:solidFill>
              <a:srgbClr val="1E5C6E"/>
            </a:solidFill>
            <a:prstDash val="solid"/>
          </a:ln>
        </p:spPr>
        <p:txBody>
          <a:bodyPr/>
          <a:lstStyle/>
          <a:p>
            <a:endParaRPr lang="fr-FR"/>
          </a:p>
        </p:txBody>
      </p:sp>
      <p:sp>
        <p:nvSpPr>
          <p:cNvPr id="22" name="Shape 20"/>
          <p:cNvSpPr/>
          <p:nvPr/>
        </p:nvSpPr>
        <p:spPr>
          <a:xfrm>
            <a:off x="11391595" y="5806440"/>
            <a:ext cx="221285" cy="0"/>
          </a:xfrm>
          <a:prstGeom prst="line">
            <a:avLst/>
          </a:prstGeom>
          <a:noFill/>
          <a:ln w="19050">
            <a:solidFill>
              <a:srgbClr val="1E5C6E"/>
            </a:solidFill>
            <a:prstDash val="solid"/>
          </a:ln>
        </p:spPr>
        <p:txBody>
          <a:bodyPr/>
          <a:lstStyle/>
          <a:p>
            <a:endParaRPr lang="fr-FR"/>
          </a:p>
        </p:txBody>
      </p:sp>
      <p:sp>
        <p:nvSpPr>
          <p:cNvPr id="23" name="Shape 21"/>
          <p:cNvSpPr/>
          <p:nvPr/>
        </p:nvSpPr>
        <p:spPr>
          <a:xfrm>
            <a:off x="548640" y="5788152"/>
            <a:ext cx="1106424" cy="0"/>
          </a:xfrm>
          <a:prstGeom prst="line">
            <a:avLst/>
          </a:prstGeom>
          <a:noFill/>
          <a:ln w="9525">
            <a:solidFill>
              <a:srgbClr val="27D3DE"/>
            </a:solidFill>
            <a:prstDash val="solid"/>
          </a:ln>
        </p:spPr>
        <p:txBody>
          <a:bodyPr/>
          <a:lstStyle/>
          <a:p>
            <a:endParaRPr lang="fr-FR"/>
          </a:p>
        </p:txBody>
      </p:sp>
      <p:sp>
        <p:nvSpPr>
          <p:cNvPr id="24" name="Shape 22"/>
          <p:cNvSpPr/>
          <p:nvPr/>
        </p:nvSpPr>
        <p:spPr>
          <a:xfrm>
            <a:off x="1655064" y="5788152"/>
            <a:ext cx="442570" cy="0"/>
          </a:xfrm>
          <a:prstGeom prst="line">
            <a:avLst/>
          </a:prstGeom>
          <a:noFill/>
          <a:ln w="9525">
            <a:solidFill>
              <a:srgbClr val="27D3DE"/>
            </a:solidFill>
            <a:prstDash val="solid"/>
          </a:ln>
        </p:spPr>
        <p:txBody>
          <a:bodyPr/>
          <a:lstStyle/>
          <a:p>
            <a:endParaRPr lang="fr-FR"/>
          </a:p>
        </p:txBody>
      </p:sp>
      <p:sp>
        <p:nvSpPr>
          <p:cNvPr id="25" name="Shape 23"/>
          <p:cNvSpPr/>
          <p:nvPr/>
        </p:nvSpPr>
        <p:spPr>
          <a:xfrm>
            <a:off x="2097634" y="5730545"/>
            <a:ext cx="442570" cy="96012"/>
          </a:xfrm>
          <a:prstGeom prst="line">
            <a:avLst/>
          </a:prstGeom>
          <a:noFill/>
          <a:ln w="9525">
            <a:solidFill>
              <a:srgbClr val="27D3DE"/>
            </a:solidFill>
            <a:prstDash val="solid"/>
          </a:ln>
        </p:spPr>
        <p:txBody>
          <a:bodyPr/>
          <a:lstStyle/>
          <a:p>
            <a:endParaRPr lang="fr-FR"/>
          </a:p>
        </p:txBody>
      </p:sp>
      <p:sp>
        <p:nvSpPr>
          <p:cNvPr id="26" name="Shape 24"/>
          <p:cNvSpPr/>
          <p:nvPr/>
        </p:nvSpPr>
        <p:spPr>
          <a:xfrm>
            <a:off x="2540203" y="5826557"/>
            <a:ext cx="442570" cy="0"/>
          </a:xfrm>
          <a:prstGeom prst="line">
            <a:avLst/>
          </a:prstGeom>
          <a:noFill/>
          <a:ln w="9525">
            <a:solidFill>
              <a:srgbClr val="27D3DE"/>
            </a:solidFill>
            <a:prstDash val="solid"/>
          </a:ln>
        </p:spPr>
        <p:txBody>
          <a:bodyPr/>
          <a:lstStyle/>
          <a:p>
            <a:endParaRPr lang="fr-FR"/>
          </a:p>
        </p:txBody>
      </p:sp>
      <p:sp>
        <p:nvSpPr>
          <p:cNvPr id="27" name="Shape 25"/>
          <p:cNvSpPr/>
          <p:nvPr/>
        </p:nvSpPr>
        <p:spPr>
          <a:xfrm>
            <a:off x="2982773" y="5788152"/>
            <a:ext cx="885139" cy="0"/>
          </a:xfrm>
          <a:prstGeom prst="line">
            <a:avLst/>
          </a:prstGeom>
          <a:noFill/>
          <a:ln w="9525">
            <a:solidFill>
              <a:srgbClr val="27D3DE"/>
            </a:solidFill>
            <a:prstDash val="solid"/>
          </a:ln>
        </p:spPr>
        <p:txBody>
          <a:bodyPr/>
          <a:lstStyle/>
          <a:p>
            <a:endParaRPr lang="fr-FR"/>
          </a:p>
        </p:txBody>
      </p:sp>
      <p:sp>
        <p:nvSpPr>
          <p:cNvPr id="28" name="Shape 26"/>
          <p:cNvSpPr/>
          <p:nvPr/>
        </p:nvSpPr>
        <p:spPr>
          <a:xfrm>
            <a:off x="3867912" y="5788152"/>
            <a:ext cx="442570" cy="0"/>
          </a:xfrm>
          <a:prstGeom prst="line">
            <a:avLst/>
          </a:prstGeom>
          <a:noFill/>
          <a:ln w="9525">
            <a:solidFill>
              <a:srgbClr val="27D3DE"/>
            </a:solidFill>
            <a:prstDash val="solid"/>
          </a:ln>
        </p:spPr>
        <p:txBody>
          <a:bodyPr/>
          <a:lstStyle/>
          <a:p>
            <a:endParaRPr lang="fr-FR"/>
          </a:p>
        </p:txBody>
      </p:sp>
      <p:sp>
        <p:nvSpPr>
          <p:cNvPr id="29" name="Shape 27"/>
          <p:cNvSpPr/>
          <p:nvPr/>
        </p:nvSpPr>
        <p:spPr>
          <a:xfrm>
            <a:off x="4310482" y="5768950"/>
            <a:ext cx="331927" cy="384048"/>
          </a:xfrm>
          <a:prstGeom prst="line">
            <a:avLst/>
          </a:prstGeom>
          <a:noFill/>
          <a:ln w="9525">
            <a:solidFill>
              <a:srgbClr val="27D3DE"/>
            </a:solidFill>
            <a:prstDash val="solid"/>
          </a:ln>
        </p:spPr>
        <p:txBody>
          <a:bodyPr/>
          <a:lstStyle/>
          <a:p>
            <a:endParaRPr lang="fr-FR"/>
          </a:p>
        </p:txBody>
      </p:sp>
      <p:sp>
        <p:nvSpPr>
          <p:cNvPr id="30" name="Shape 28"/>
          <p:cNvSpPr/>
          <p:nvPr/>
        </p:nvSpPr>
        <p:spPr>
          <a:xfrm>
            <a:off x="4642409" y="6152998"/>
            <a:ext cx="331927" cy="0"/>
          </a:xfrm>
          <a:prstGeom prst="line">
            <a:avLst/>
          </a:prstGeom>
          <a:noFill/>
          <a:ln w="9525">
            <a:solidFill>
              <a:srgbClr val="27D3DE"/>
            </a:solidFill>
            <a:prstDash val="solid"/>
          </a:ln>
        </p:spPr>
        <p:txBody>
          <a:bodyPr/>
          <a:lstStyle/>
          <a:p>
            <a:endParaRPr lang="fr-FR"/>
          </a:p>
        </p:txBody>
      </p:sp>
      <p:sp>
        <p:nvSpPr>
          <p:cNvPr id="31" name="Shape 29"/>
          <p:cNvSpPr/>
          <p:nvPr/>
        </p:nvSpPr>
        <p:spPr>
          <a:xfrm>
            <a:off x="4974336" y="5500116"/>
            <a:ext cx="331927" cy="357165"/>
          </a:xfrm>
          <a:prstGeom prst="line">
            <a:avLst/>
          </a:prstGeom>
          <a:noFill/>
          <a:ln w="9525">
            <a:solidFill>
              <a:srgbClr val="27D3DE"/>
            </a:solidFill>
            <a:prstDash val="solid"/>
          </a:ln>
        </p:spPr>
        <p:txBody>
          <a:bodyPr/>
          <a:lstStyle/>
          <a:p>
            <a:endParaRPr lang="fr-FR"/>
          </a:p>
        </p:txBody>
      </p:sp>
      <p:sp>
        <p:nvSpPr>
          <p:cNvPr id="32" name="Shape 30"/>
          <p:cNvSpPr/>
          <p:nvPr/>
        </p:nvSpPr>
        <p:spPr>
          <a:xfrm>
            <a:off x="5306263" y="5857281"/>
            <a:ext cx="442570" cy="0"/>
          </a:xfrm>
          <a:prstGeom prst="line">
            <a:avLst/>
          </a:prstGeom>
          <a:noFill/>
          <a:ln w="9525">
            <a:solidFill>
              <a:srgbClr val="27D3DE"/>
            </a:solidFill>
            <a:prstDash val="solid"/>
          </a:ln>
        </p:spPr>
        <p:txBody>
          <a:bodyPr/>
          <a:lstStyle/>
          <a:p>
            <a:endParaRPr lang="fr-FR"/>
          </a:p>
        </p:txBody>
      </p:sp>
      <p:sp>
        <p:nvSpPr>
          <p:cNvPr id="33" name="Shape 31"/>
          <p:cNvSpPr/>
          <p:nvPr/>
        </p:nvSpPr>
        <p:spPr>
          <a:xfrm>
            <a:off x="5748833" y="5788152"/>
            <a:ext cx="1659636" cy="0"/>
          </a:xfrm>
          <a:prstGeom prst="line">
            <a:avLst/>
          </a:prstGeom>
          <a:noFill/>
          <a:ln w="9525">
            <a:solidFill>
              <a:srgbClr val="27D3DE"/>
            </a:solidFill>
            <a:prstDash val="solid"/>
          </a:ln>
        </p:spPr>
        <p:txBody>
          <a:bodyPr/>
          <a:lstStyle/>
          <a:p>
            <a:endParaRPr lang="fr-FR"/>
          </a:p>
        </p:txBody>
      </p:sp>
      <p:sp>
        <p:nvSpPr>
          <p:cNvPr id="34" name="Shape 32"/>
          <p:cNvSpPr/>
          <p:nvPr/>
        </p:nvSpPr>
        <p:spPr>
          <a:xfrm>
            <a:off x="7408469" y="5788152"/>
            <a:ext cx="442570" cy="0"/>
          </a:xfrm>
          <a:prstGeom prst="line">
            <a:avLst/>
          </a:prstGeom>
          <a:noFill/>
          <a:ln w="9525">
            <a:solidFill>
              <a:srgbClr val="27D3DE"/>
            </a:solidFill>
            <a:prstDash val="solid"/>
          </a:ln>
        </p:spPr>
        <p:txBody>
          <a:bodyPr/>
          <a:lstStyle/>
          <a:p>
            <a:endParaRPr lang="fr-FR"/>
          </a:p>
        </p:txBody>
      </p:sp>
      <p:sp>
        <p:nvSpPr>
          <p:cNvPr id="35" name="Shape 33"/>
          <p:cNvSpPr/>
          <p:nvPr/>
        </p:nvSpPr>
        <p:spPr>
          <a:xfrm>
            <a:off x="7851038" y="5719023"/>
            <a:ext cx="442570" cy="115214"/>
          </a:xfrm>
          <a:prstGeom prst="line">
            <a:avLst/>
          </a:prstGeom>
          <a:noFill/>
          <a:ln w="9525">
            <a:solidFill>
              <a:srgbClr val="27D3DE"/>
            </a:solidFill>
            <a:prstDash val="solid"/>
          </a:ln>
        </p:spPr>
        <p:txBody>
          <a:bodyPr/>
          <a:lstStyle/>
          <a:p>
            <a:endParaRPr lang="fr-FR"/>
          </a:p>
        </p:txBody>
      </p:sp>
      <p:sp>
        <p:nvSpPr>
          <p:cNvPr id="36" name="Shape 34"/>
          <p:cNvSpPr/>
          <p:nvPr/>
        </p:nvSpPr>
        <p:spPr>
          <a:xfrm>
            <a:off x="8293608" y="5834238"/>
            <a:ext cx="442570" cy="0"/>
          </a:xfrm>
          <a:prstGeom prst="line">
            <a:avLst/>
          </a:prstGeom>
          <a:noFill/>
          <a:ln w="9525">
            <a:solidFill>
              <a:srgbClr val="27D3DE"/>
            </a:solidFill>
            <a:prstDash val="solid"/>
          </a:ln>
        </p:spPr>
        <p:txBody>
          <a:bodyPr/>
          <a:lstStyle/>
          <a:p>
            <a:endParaRPr lang="fr-FR"/>
          </a:p>
        </p:txBody>
      </p:sp>
      <p:sp>
        <p:nvSpPr>
          <p:cNvPr id="37" name="Shape 35"/>
          <p:cNvSpPr/>
          <p:nvPr/>
        </p:nvSpPr>
        <p:spPr>
          <a:xfrm>
            <a:off x="8736178" y="5788152"/>
            <a:ext cx="1327709" cy="0"/>
          </a:xfrm>
          <a:prstGeom prst="line">
            <a:avLst/>
          </a:prstGeom>
          <a:noFill/>
          <a:ln w="9525">
            <a:solidFill>
              <a:srgbClr val="27D3DE"/>
            </a:solidFill>
            <a:prstDash val="solid"/>
          </a:ln>
        </p:spPr>
        <p:txBody>
          <a:bodyPr/>
          <a:lstStyle/>
          <a:p>
            <a:endParaRPr lang="fr-FR"/>
          </a:p>
        </p:txBody>
      </p:sp>
      <p:sp>
        <p:nvSpPr>
          <p:cNvPr id="38" name="Shape 36"/>
          <p:cNvSpPr/>
          <p:nvPr/>
        </p:nvSpPr>
        <p:spPr>
          <a:xfrm>
            <a:off x="10063886" y="5788152"/>
            <a:ext cx="442570" cy="0"/>
          </a:xfrm>
          <a:prstGeom prst="line">
            <a:avLst/>
          </a:prstGeom>
          <a:noFill/>
          <a:ln w="9525">
            <a:solidFill>
              <a:srgbClr val="27D3DE"/>
            </a:solidFill>
            <a:prstDash val="solid"/>
          </a:ln>
        </p:spPr>
        <p:txBody>
          <a:bodyPr/>
          <a:lstStyle/>
          <a:p>
            <a:endParaRPr lang="fr-FR"/>
          </a:p>
        </p:txBody>
      </p:sp>
      <p:sp>
        <p:nvSpPr>
          <p:cNvPr id="39" name="Shape 37"/>
          <p:cNvSpPr/>
          <p:nvPr/>
        </p:nvSpPr>
        <p:spPr>
          <a:xfrm>
            <a:off x="10506456" y="5730545"/>
            <a:ext cx="442570" cy="96012"/>
          </a:xfrm>
          <a:prstGeom prst="line">
            <a:avLst/>
          </a:prstGeom>
          <a:noFill/>
          <a:ln w="9525">
            <a:solidFill>
              <a:srgbClr val="27D3DE"/>
            </a:solidFill>
            <a:prstDash val="solid"/>
          </a:ln>
        </p:spPr>
        <p:txBody>
          <a:bodyPr/>
          <a:lstStyle/>
          <a:p>
            <a:endParaRPr lang="fr-FR"/>
          </a:p>
        </p:txBody>
      </p:sp>
      <p:sp>
        <p:nvSpPr>
          <p:cNvPr id="40" name="Shape 38"/>
          <p:cNvSpPr/>
          <p:nvPr/>
        </p:nvSpPr>
        <p:spPr>
          <a:xfrm>
            <a:off x="10949026" y="5826557"/>
            <a:ext cx="442570" cy="0"/>
          </a:xfrm>
          <a:prstGeom prst="line">
            <a:avLst/>
          </a:prstGeom>
          <a:noFill/>
          <a:ln w="9525">
            <a:solidFill>
              <a:srgbClr val="27D3DE"/>
            </a:solidFill>
            <a:prstDash val="solid"/>
          </a:ln>
        </p:spPr>
        <p:txBody>
          <a:bodyPr/>
          <a:lstStyle/>
          <a:p>
            <a:endParaRPr lang="fr-FR"/>
          </a:p>
        </p:txBody>
      </p:sp>
      <p:sp>
        <p:nvSpPr>
          <p:cNvPr id="41" name="Shape 39"/>
          <p:cNvSpPr/>
          <p:nvPr/>
        </p:nvSpPr>
        <p:spPr>
          <a:xfrm>
            <a:off x="11391595" y="5788152"/>
            <a:ext cx="221285" cy="0"/>
          </a:xfrm>
          <a:prstGeom prst="line">
            <a:avLst/>
          </a:prstGeom>
          <a:noFill/>
          <a:ln w="9525">
            <a:solidFill>
              <a:srgbClr val="27D3DE"/>
            </a:solidFill>
            <a:prstDash val="solid"/>
          </a:ln>
        </p:spPr>
        <p:txBody>
          <a:bodyPr/>
          <a:lstStyle/>
          <a:p>
            <a:endParaRPr lang="fr-FR"/>
          </a:p>
        </p:txBody>
      </p:sp>
      <p:sp>
        <p:nvSpPr>
          <p:cNvPr id="42" name="Shape 40"/>
          <p:cNvSpPr/>
          <p:nvPr/>
        </p:nvSpPr>
        <p:spPr>
          <a:xfrm rot="-480000">
            <a:off x="8092440" y="1874520"/>
            <a:ext cx="3200400" cy="1965960"/>
          </a:xfrm>
          <a:prstGeom prst="roundRect">
            <a:avLst>
              <a:gd name="adj" fmla="val 5581"/>
            </a:avLst>
          </a:prstGeom>
          <a:solidFill>
            <a:srgbClr val="3AA055"/>
          </a:solidFill>
          <a:ln w="12700">
            <a:solidFill>
              <a:srgbClr val="2C7A3E"/>
            </a:solidFill>
            <a:prstDash val="solid"/>
          </a:ln>
          <a:effectLst>
            <a:outerShdw blurRad="88900" dist="38100" dir="2700000" algn="bl" rotWithShape="0">
              <a:srgbClr val="0A1626">
                <a:alpha val="30000"/>
              </a:srgbClr>
            </a:outerShdw>
          </a:effectLst>
        </p:spPr>
        <p:txBody>
          <a:bodyPr/>
          <a:lstStyle/>
          <a:p>
            <a:endParaRPr lang="fr-FR"/>
          </a:p>
        </p:txBody>
      </p:sp>
      <p:sp>
        <p:nvSpPr>
          <p:cNvPr id="43" name="Shape 41"/>
          <p:cNvSpPr/>
          <p:nvPr/>
        </p:nvSpPr>
        <p:spPr>
          <a:xfrm rot="-480000">
            <a:off x="8366760" y="2286000"/>
            <a:ext cx="502920" cy="384048"/>
          </a:xfrm>
          <a:prstGeom prst="roundRect">
            <a:avLst>
              <a:gd name="adj" fmla="val 11905"/>
            </a:avLst>
          </a:prstGeom>
          <a:solidFill>
            <a:srgbClr val="E7B53C"/>
          </a:solidFill>
          <a:ln/>
        </p:spPr>
        <p:txBody>
          <a:bodyPr/>
          <a:lstStyle/>
          <a:p>
            <a:endParaRPr lang="fr-FR"/>
          </a:p>
        </p:txBody>
      </p:sp>
      <p:sp>
        <p:nvSpPr>
          <p:cNvPr id="44" name="Shape 42"/>
          <p:cNvSpPr/>
          <p:nvPr/>
        </p:nvSpPr>
        <p:spPr>
          <a:xfrm rot="-480000">
            <a:off x="9052560" y="2377440"/>
            <a:ext cx="1920240" cy="109728"/>
          </a:xfrm>
          <a:prstGeom prst="rect">
            <a:avLst/>
          </a:prstGeom>
          <a:solidFill>
            <a:srgbClr val="FFFFFF">
              <a:alpha val="65000"/>
            </a:srgbClr>
          </a:solidFill>
          <a:ln/>
        </p:spPr>
        <p:txBody>
          <a:bodyPr/>
          <a:lstStyle/>
          <a:p>
            <a:endParaRPr lang="fr-FR"/>
          </a:p>
        </p:txBody>
      </p:sp>
      <p:sp>
        <p:nvSpPr>
          <p:cNvPr id="45" name="Shape 43"/>
          <p:cNvSpPr/>
          <p:nvPr/>
        </p:nvSpPr>
        <p:spPr>
          <a:xfrm rot="-480000">
            <a:off x="9052560" y="2587752"/>
            <a:ext cx="1463040" cy="91440"/>
          </a:xfrm>
          <a:prstGeom prst="rect">
            <a:avLst/>
          </a:prstGeom>
          <a:solidFill>
            <a:srgbClr val="FFFFFF">
              <a:alpha val="45000"/>
            </a:srgbClr>
          </a:solidFill>
          <a:ln/>
        </p:spPr>
        <p:txBody>
          <a:bodyPr/>
          <a:lstStyle/>
          <a:p>
            <a:endParaRPr lang="fr-FR"/>
          </a:p>
        </p:txBody>
      </p:sp>
      <p:sp>
        <p:nvSpPr>
          <p:cNvPr id="46" name="Text 44"/>
          <p:cNvSpPr/>
          <p:nvPr/>
        </p:nvSpPr>
        <p:spPr>
          <a:xfrm rot="-480000">
            <a:off x="8366760" y="3337560"/>
            <a:ext cx="2651760" cy="274320"/>
          </a:xfrm>
          <a:prstGeom prst="rect">
            <a:avLst/>
          </a:prstGeom>
          <a:noFill/>
          <a:ln/>
        </p:spPr>
        <p:txBody>
          <a:bodyPr wrap="square" lIns="0" tIns="0" rIns="0" bIns="0" rtlCol="0" anchor="ctr"/>
          <a:lstStyle/>
          <a:p>
            <a:pPr marL="0" indent="0" algn="l">
              <a:buNone/>
            </a:pPr>
            <a:r>
              <a:rPr lang="en-US" sz="1100" b="1" kern="0" spc="200" dirty="0">
                <a:solidFill>
                  <a:srgbClr val="FFFFFF"/>
                </a:solidFill>
                <a:latin typeface="Calibri" pitchFamily="34" charset="0"/>
                <a:ea typeface="Calibri" pitchFamily="34" charset="-122"/>
                <a:cs typeface="Calibri" pitchFamily="34" charset="-120"/>
              </a:rPr>
              <a:t>CARTE VITALE</a:t>
            </a:r>
            <a:endParaRPr lang="en-US" sz="1100" dirty="0"/>
          </a:p>
        </p:txBody>
      </p:sp>
      <p:sp>
        <p:nvSpPr>
          <p:cNvPr id="47" name="Shape 45"/>
          <p:cNvSpPr/>
          <p:nvPr/>
        </p:nvSpPr>
        <p:spPr>
          <a:xfrm>
            <a:off x="7635240" y="1417320"/>
            <a:ext cx="914400" cy="914400"/>
          </a:xfrm>
          <a:prstGeom prst="ellipse">
            <a:avLst/>
          </a:prstGeom>
          <a:solidFill>
            <a:srgbClr val="1E4170"/>
          </a:solidFill>
          <a:ln w="12700">
            <a:solidFill>
              <a:srgbClr val="27D3DE"/>
            </a:solidFill>
            <a:prstDash val="solid"/>
          </a:ln>
        </p:spPr>
        <p:txBody>
          <a:bodyPr/>
          <a:lstStyle/>
          <a:p>
            <a:endParaRPr lang="fr-FR"/>
          </a:p>
        </p:txBody>
      </p:sp>
      <p:pic>
        <p:nvPicPr>
          <p:cNvPr id="48" name="Image 0" descr="preencoded.png"/>
          <p:cNvPicPr>
            <a:picLocks noChangeAspect="1"/>
          </p:cNvPicPr>
          <p:nvPr/>
        </p:nvPicPr>
        <p:blipFill>
          <a:blip r:embed="rId3"/>
          <a:stretch>
            <a:fillRect/>
          </a:stretch>
        </p:blipFill>
        <p:spPr>
          <a:xfrm>
            <a:off x="7845552" y="1627632"/>
            <a:ext cx="493776" cy="493776"/>
          </a:xfrm>
          <a:prstGeom prst="rect">
            <a:avLst/>
          </a:prstGeom>
        </p:spPr>
      </p:pic>
      <p:pic>
        <p:nvPicPr>
          <p:cNvPr id="49" name="Image 1" descr="/home/claude/logo.png"/>
          <p:cNvPicPr>
            <a:picLocks noChangeAspect="1"/>
          </p:cNvPicPr>
          <p:nvPr/>
        </p:nvPicPr>
        <p:blipFill>
          <a:blip r:embed="rId4"/>
          <a:stretch>
            <a:fillRect/>
          </a:stretch>
        </p:blipFill>
        <p:spPr>
          <a:xfrm>
            <a:off x="786384" y="786384"/>
            <a:ext cx="1682496" cy="1682496"/>
          </a:xfrm>
          <a:prstGeom prst="rect">
            <a:avLst/>
          </a:prstGeom>
        </p:spPr>
      </p:pic>
      <p:sp>
        <p:nvSpPr>
          <p:cNvPr id="50" name="Text 46"/>
          <p:cNvSpPr/>
          <p:nvPr/>
        </p:nvSpPr>
        <p:spPr>
          <a:xfrm>
            <a:off x="841248" y="2743200"/>
            <a:ext cx="7315200" cy="320040"/>
          </a:xfrm>
          <a:prstGeom prst="rect">
            <a:avLst/>
          </a:prstGeom>
          <a:noFill/>
          <a:ln/>
        </p:spPr>
        <p:txBody>
          <a:bodyPr wrap="square" rtlCol="0" anchor="ctr"/>
          <a:lstStyle/>
          <a:p>
            <a:pPr marL="0" indent="0">
              <a:buNone/>
            </a:pPr>
            <a:r>
              <a:rPr lang="en-US" sz="1300" b="1" kern="0" spc="300" dirty="0">
                <a:solidFill>
                  <a:srgbClr val="27D3DE"/>
                </a:solidFill>
                <a:latin typeface="Calibri" pitchFamily="34" charset="0"/>
                <a:ea typeface="Calibri" pitchFamily="34" charset="-122"/>
                <a:cs typeface="Calibri" pitchFamily="34" charset="-120"/>
              </a:rPr>
              <a:t>YGGDRASIL · MÉDIATION NUMÉRIQUE</a:t>
            </a:r>
            <a:endParaRPr lang="en-US" sz="1300" dirty="0"/>
          </a:p>
        </p:txBody>
      </p:sp>
      <p:sp>
        <p:nvSpPr>
          <p:cNvPr id="51" name="Text 47"/>
          <p:cNvSpPr/>
          <p:nvPr/>
        </p:nvSpPr>
        <p:spPr>
          <a:xfrm>
            <a:off x="786384" y="3127248"/>
            <a:ext cx="7498080" cy="1097280"/>
          </a:xfrm>
          <a:prstGeom prst="rect">
            <a:avLst/>
          </a:prstGeom>
          <a:noFill/>
          <a:ln/>
        </p:spPr>
        <p:txBody>
          <a:bodyPr wrap="square" rtlCol="0" anchor="ctr"/>
          <a:lstStyle/>
          <a:p>
            <a:pPr marL="0" indent="0">
              <a:buNone/>
            </a:pPr>
            <a:r>
              <a:rPr lang="en-US" sz="5200" b="1" dirty="0">
                <a:solidFill>
                  <a:srgbClr val="FFFFFF"/>
                </a:solidFill>
                <a:latin typeface="Bookman Old Style" pitchFamily="34" charset="0"/>
                <a:ea typeface="Bookman Old Style" pitchFamily="34" charset="-122"/>
                <a:cs typeface="Bookman Old Style" pitchFamily="34" charset="-120"/>
              </a:rPr>
              <a:t>Le compte Ameli</a:t>
            </a:r>
            <a:endParaRPr lang="en-US" sz="5200" dirty="0"/>
          </a:p>
        </p:txBody>
      </p:sp>
      <p:sp>
        <p:nvSpPr>
          <p:cNvPr id="52" name="Text 48"/>
          <p:cNvSpPr/>
          <p:nvPr/>
        </p:nvSpPr>
        <p:spPr>
          <a:xfrm>
            <a:off x="841248" y="4279392"/>
            <a:ext cx="6949440" cy="868680"/>
          </a:xfrm>
          <a:prstGeom prst="rect">
            <a:avLst/>
          </a:prstGeom>
          <a:noFill/>
          <a:ln/>
        </p:spPr>
        <p:txBody>
          <a:bodyPr wrap="square" rtlCol="0" anchor="ctr"/>
          <a:lstStyle/>
          <a:p>
            <a:pPr marL="0" indent="0">
              <a:lnSpc>
                <a:spcPct val="110000"/>
              </a:lnSpc>
              <a:buNone/>
            </a:pPr>
            <a:r>
              <a:rPr lang="en-US" sz="1900" dirty="0">
                <a:solidFill>
                  <a:srgbClr val="C8D6E8"/>
                </a:solidFill>
                <a:latin typeface="Calibri" pitchFamily="34" charset="0"/>
                <a:ea typeface="Calibri" pitchFamily="34" charset="-122"/>
                <a:cs typeface="Calibri" pitchFamily="34" charset="-120"/>
              </a:rPr>
              <a:t>Votre santé et vos remboursements en ligne — le guide pas à pas</a:t>
            </a:r>
            <a:endParaRPr lang="en-US" sz="1900" dirty="0"/>
          </a:p>
        </p:txBody>
      </p:sp>
      <p:sp>
        <p:nvSpPr>
          <p:cNvPr id="53" name="Text 49"/>
          <p:cNvSpPr/>
          <p:nvPr/>
        </p:nvSpPr>
        <p:spPr>
          <a:xfrm>
            <a:off x="841248" y="5138928"/>
            <a:ext cx="7315200" cy="365760"/>
          </a:xfrm>
          <a:prstGeom prst="rect">
            <a:avLst/>
          </a:prstGeom>
          <a:noFill/>
          <a:ln/>
        </p:spPr>
        <p:txBody>
          <a:bodyPr wrap="square" rtlCol="0" anchor="ctr"/>
          <a:lstStyle/>
          <a:p>
            <a:pPr marL="0" indent="0">
              <a:buNone/>
            </a:pPr>
            <a:r>
              <a:rPr lang="en-US" sz="1300" dirty="0">
                <a:solidFill>
                  <a:srgbClr val="8FA8C4"/>
                </a:solidFill>
                <a:latin typeface="Calibri" pitchFamily="34" charset="0"/>
                <a:ea typeface="Calibri" pitchFamily="34" charset="-122"/>
                <a:cs typeface="Calibri" pitchFamily="34" charset="-120"/>
              </a:rPr>
              <a:t>Atelier débutants  </a:t>
            </a:r>
            <a:r>
              <a:rPr lang="en-US" sz="1300" dirty="0">
                <a:solidFill>
                  <a:srgbClr val="0F8B8D"/>
                </a:solidFill>
                <a:latin typeface="Calibri" pitchFamily="34" charset="0"/>
                <a:ea typeface="Calibri" pitchFamily="34" charset="-122"/>
                <a:cs typeface="Calibri" pitchFamily="34" charset="-120"/>
              </a:rPr>
              <a:t>•</a:t>
            </a:r>
            <a:r>
              <a:rPr lang="en-US" sz="1300" dirty="0">
                <a:solidFill>
                  <a:srgbClr val="8FA8C4"/>
                </a:solidFill>
                <a:latin typeface="Calibri" pitchFamily="34" charset="0"/>
                <a:ea typeface="Calibri" pitchFamily="34" charset="-122"/>
                <a:cs typeface="Calibri" pitchFamily="34" charset="-120"/>
              </a:rPr>
              <a:t>  Aucune connaissance préalable nécessaire</a:t>
            </a:r>
            <a:endParaRPr lang="en-US" sz="1300" dirty="0"/>
          </a:p>
        </p:txBody>
      </p:sp>
      <p:sp>
        <p:nvSpPr>
          <p:cNvPr id="54" name="ZoneTexte 53">
            <a:extLst>
              <a:ext uri="{FF2B5EF4-FFF2-40B4-BE49-F238E27FC236}">
                <a16:creationId xmlns:a16="http://schemas.microsoft.com/office/drawing/2014/main" id="{FE49427D-2C09-E5F8-7112-689DBED4864B}"/>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CE QU'ON VA VOIR ENSEMBLE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Le parcours de l'atelier</a:t>
            </a:r>
            <a:endParaRPr lang="en-US" sz="3000" dirty="0"/>
          </a:p>
        </p:txBody>
      </p:sp>
      <p:sp>
        <p:nvSpPr>
          <p:cNvPr id="4" name="Shape 2"/>
          <p:cNvSpPr/>
          <p:nvPr/>
        </p:nvSpPr>
        <p:spPr>
          <a:xfrm>
            <a:off x="640080" y="169164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5" name="Shape 3"/>
          <p:cNvSpPr/>
          <p:nvPr/>
        </p:nvSpPr>
        <p:spPr>
          <a:xfrm>
            <a:off x="914400" y="2103120"/>
            <a:ext cx="548640" cy="548640"/>
          </a:xfrm>
          <a:prstGeom prst="ellipse">
            <a:avLst/>
          </a:prstGeom>
          <a:solidFill>
            <a:srgbClr val="0F8B8D"/>
          </a:solidFill>
          <a:ln/>
        </p:spPr>
        <p:txBody>
          <a:bodyPr/>
          <a:lstStyle/>
          <a:p>
            <a:endParaRPr lang="fr-FR"/>
          </a:p>
        </p:txBody>
      </p:sp>
      <p:sp>
        <p:nvSpPr>
          <p:cNvPr id="6" name="Text 4"/>
          <p:cNvSpPr/>
          <p:nvPr/>
        </p:nvSpPr>
        <p:spPr>
          <a:xfrm>
            <a:off x="914400" y="210312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a:t>
            </a:r>
            <a:endParaRPr lang="en-US" sz="2200" dirty="0"/>
          </a:p>
        </p:txBody>
      </p:sp>
      <p:sp>
        <p:nvSpPr>
          <p:cNvPr id="7" name="Text 5"/>
          <p:cNvSpPr/>
          <p:nvPr/>
        </p:nvSpPr>
        <p:spPr>
          <a:xfrm>
            <a:off x="1600200" y="1691640"/>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À quoi sert le compte Ameli</a:t>
            </a:r>
            <a:endParaRPr lang="en-US" sz="1500" dirty="0"/>
          </a:p>
        </p:txBody>
      </p:sp>
      <p:sp>
        <p:nvSpPr>
          <p:cNvPr id="8" name="Shape 6"/>
          <p:cNvSpPr/>
          <p:nvPr/>
        </p:nvSpPr>
        <p:spPr>
          <a:xfrm>
            <a:off x="4407408" y="169164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9" name="Shape 7"/>
          <p:cNvSpPr/>
          <p:nvPr/>
        </p:nvSpPr>
        <p:spPr>
          <a:xfrm>
            <a:off x="4681728" y="2103120"/>
            <a:ext cx="548640" cy="548640"/>
          </a:xfrm>
          <a:prstGeom prst="ellipse">
            <a:avLst/>
          </a:prstGeom>
          <a:solidFill>
            <a:srgbClr val="3AA055"/>
          </a:solidFill>
          <a:ln/>
        </p:spPr>
        <p:txBody>
          <a:bodyPr/>
          <a:lstStyle/>
          <a:p>
            <a:endParaRPr lang="fr-FR"/>
          </a:p>
        </p:txBody>
      </p:sp>
      <p:sp>
        <p:nvSpPr>
          <p:cNvPr id="10" name="Text 8"/>
          <p:cNvSpPr/>
          <p:nvPr/>
        </p:nvSpPr>
        <p:spPr>
          <a:xfrm>
            <a:off x="4681728" y="210312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2</a:t>
            </a:r>
            <a:endParaRPr lang="en-US" sz="2200" dirty="0"/>
          </a:p>
        </p:txBody>
      </p:sp>
      <p:sp>
        <p:nvSpPr>
          <p:cNvPr id="11" name="Text 9"/>
          <p:cNvSpPr/>
          <p:nvPr/>
        </p:nvSpPr>
        <p:spPr>
          <a:xfrm>
            <a:off x="5367528" y="1691640"/>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Ce qu'il faut préparer</a:t>
            </a:r>
            <a:endParaRPr lang="en-US" sz="1500" dirty="0"/>
          </a:p>
        </p:txBody>
      </p:sp>
      <p:sp>
        <p:nvSpPr>
          <p:cNvPr id="12" name="Shape 10"/>
          <p:cNvSpPr/>
          <p:nvPr/>
        </p:nvSpPr>
        <p:spPr>
          <a:xfrm>
            <a:off x="8174736" y="169164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3" name="Shape 11"/>
          <p:cNvSpPr/>
          <p:nvPr/>
        </p:nvSpPr>
        <p:spPr>
          <a:xfrm>
            <a:off x="8449056" y="2103120"/>
            <a:ext cx="548640" cy="548640"/>
          </a:xfrm>
          <a:prstGeom prst="ellipse">
            <a:avLst/>
          </a:prstGeom>
          <a:solidFill>
            <a:srgbClr val="0F8B8D"/>
          </a:solidFill>
          <a:ln/>
        </p:spPr>
        <p:txBody>
          <a:bodyPr/>
          <a:lstStyle/>
          <a:p>
            <a:endParaRPr lang="fr-FR"/>
          </a:p>
        </p:txBody>
      </p:sp>
      <p:sp>
        <p:nvSpPr>
          <p:cNvPr id="14" name="Text 12"/>
          <p:cNvSpPr/>
          <p:nvPr/>
        </p:nvSpPr>
        <p:spPr>
          <a:xfrm>
            <a:off x="8449056" y="210312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3</a:t>
            </a:r>
            <a:endParaRPr lang="en-US" sz="2200" dirty="0"/>
          </a:p>
        </p:txBody>
      </p:sp>
      <p:sp>
        <p:nvSpPr>
          <p:cNvPr id="15" name="Text 13"/>
          <p:cNvSpPr/>
          <p:nvPr/>
        </p:nvSpPr>
        <p:spPr>
          <a:xfrm>
            <a:off x="9134856" y="1691640"/>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Créer et activer son compte</a:t>
            </a:r>
            <a:endParaRPr lang="en-US" sz="1500" dirty="0"/>
          </a:p>
        </p:txBody>
      </p:sp>
      <p:sp>
        <p:nvSpPr>
          <p:cNvPr id="16" name="Shape 14"/>
          <p:cNvSpPr/>
          <p:nvPr/>
        </p:nvSpPr>
        <p:spPr>
          <a:xfrm>
            <a:off x="640080" y="3374136"/>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7" name="Shape 15"/>
          <p:cNvSpPr/>
          <p:nvPr/>
        </p:nvSpPr>
        <p:spPr>
          <a:xfrm>
            <a:off x="914400" y="3785616"/>
            <a:ext cx="548640" cy="548640"/>
          </a:xfrm>
          <a:prstGeom prst="ellipse">
            <a:avLst/>
          </a:prstGeom>
          <a:solidFill>
            <a:srgbClr val="3AA055"/>
          </a:solidFill>
          <a:ln/>
        </p:spPr>
        <p:txBody>
          <a:bodyPr/>
          <a:lstStyle/>
          <a:p>
            <a:endParaRPr lang="fr-FR"/>
          </a:p>
        </p:txBody>
      </p:sp>
      <p:sp>
        <p:nvSpPr>
          <p:cNvPr id="18" name="Text 16"/>
          <p:cNvSpPr/>
          <p:nvPr/>
        </p:nvSpPr>
        <p:spPr>
          <a:xfrm>
            <a:off x="914400" y="3785616"/>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4</a:t>
            </a:r>
            <a:endParaRPr lang="en-US" sz="2200" dirty="0"/>
          </a:p>
        </p:txBody>
      </p:sp>
      <p:sp>
        <p:nvSpPr>
          <p:cNvPr id="19" name="Text 17"/>
          <p:cNvSpPr/>
          <p:nvPr/>
        </p:nvSpPr>
        <p:spPr>
          <a:xfrm>
            <a:off x="1600200" y="3374136"/>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Les 3 façons de se connecter</a:t>
            </a:r>
            <a:endParaRPr lang="en-US" sz="1500" dirty="0"/>
          </a:p>
        </p:txBody>
      </p:sp>
      <p:sp>
        <p:nvSpPr>
          <p:cNvPr id="20" name="Shape 18"/>
          <p:cNvSpPr/>
          <p:nvPr/>
        </p:nvSpPr>
        <p:spPr>
          <a:xfrm>
            <a:off x="4407408" y="3374136"/>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1" name="Shape 19"/>
          <p:cNvSpPr/>
          <p:nvPr/>
        </p:nvSpPr>
        <p:spPr>
          <a:xfrm>
            <a:off x="4681728" y="3785616"/>
            <a:ext cx="548640" cy="548640"/>
          </a:xfrm>
          <a:prstGeom prst="ellipse">
            <a:avLst/>
          </a:prstGeom>
          <a:solidFill>
            <a:srgbClr val="0F8B8D"/>
          </a:solidFill>
          <a:ln/>
        </p:spPr>
        <p:txBody>
          <a:bodyPr/>
          <a:lstStyle/>
          <a:p>
            <a:endParaRPr lang="fr-FR"/>
          </a:p>
        </p:txBody>
      </p:sp>
      <p:sp>
        <p:nvSpPr>
          <p:cNvPr id="22" name="Text 20"/>
          <p:cNvSpPr/>
          <p:nvPr/>
        </p:nvSpPr>
        <p:spPr>
          <a:xfrm>
            <a:off x="4681728" y="3785616"/>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5</a:t>
            </a:r>
            <a:endParaRPr lang="en-US" sz="2200" dirty="0"/>
          </a:p>
        </p:txBody>
      </p:sp>
      <p:sp>
        <p:nvSpPr>
          <p:cNvPr id="23" name="Text 21"/>
          <p:cNvSpPr/>
          <p:nvPr/>
        </p:nvSpPr>
        <p:spPr>
          <a:xfrm>
            <a:off x="5367528" y="3374136"/>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Ce qu'on trouve une fois connecté</a:t>
            </a:r>
            <a:endParaRPr lang="en-US" sz="1500" dirty="0"/>
          </a:p>
        </p:txBody>
      </p:sp>
      <p:sp>
        <p:nvSpPr>
          <p:cNvPr id="24" name="Shape 22"/>
          <p:cNvSpPr/>
          <p:nvPr/>
        </p:nvSpPr>
        <p:spPr>
          <a:xfrm>
            <a:off x="8174736" y="3374136"/>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5" name="Shape 23"/>
          <p:cNvSpPr/>
          <p:nvPr/>
        </p:nvSpPr>
        <p:spPr>
          <a:xfrm>
            <a:off x="8449056" y="3785616"/>
            <a:ext cx="548640" cy="548640"/>
          </a:xfrm>
          <a:prstGeom prst="ellipse">
            <a:avLst/>
          </a:prstGeom>
          <a:solidFill>
            <a:srgbClr val="D9534F"/>
          </a:solidFill>
          <a:ln/>
        </p:spPr>
        <p:txBody>
          <a:bodyPr/>
          <a:lstStyle/>
          <a:p>
            <a:endParaRPr lang="fr-FR"/>
          </a:p>
        </p:txBody>
      </p:sp>
      <p:sp>
        <p:nvSpPr>
          <p:cNvPr id="26" name="Text 24"/>
          <p:cNvSpPr/>
          <p:nvPr/>
        </p:nvSpPr>
        <p:spPr>
          <a:xfrm>
            <a:off x="8449056" y="3785616"/>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6</a:t>
            </a:r>
            <a:endParaRPr lang="en-US" sz="2200" dirty="0"/>
          </a:p>
        </p:txBody>
      </p:sp>
      <p:sp>
        <p:nvSpPr>
          <p:cNvPr id="27" name="Text 25"/>
          <p:cNvSpPr/>
          <p:nvPr/>
        </p:nvSpPr>
        <p:spPr>
          <a:xfrm>
            <a:off x="9134856" y="3374136"/>
            <a:ext cx="2313432" cy="13716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Se protéger des arnaques</a:t>
            </a:r>
            <a:endParaRPr lang="en-US" sz="1500" dirty="0"/>
          </a:p>
        </p:txBody>
      </p:sp>
      <p:sp>
        <p:nvSpPr>
          <p:cNvPr id="28" name="Text 26"/>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9" name="Text 27"/>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2 / 18</a:t>
            </a:r>
            <a:endParaRPr lang="en-US" sz="900" dirty="0"/>
          </a:p>
        </p:txBody>
      </p:sp>
      <p:sp>
        <p:nvSpPr>
          <p:cNvPr id="30" name="ZoneTexte 29">
            <a:extLst>
              <a:ext uri="{FF2B5EF4-FFF2-40B4-BE49-F238E27FC236}">
                <a16:creationId xmlns:a16="http://schemas.microsoft.com/office/drawing/2014/main" id="{41B16876-267F-11E7-64ED-0CDE745399CD}"/>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POURQUOI UN COMPTE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À quoi sert le compte Ameli ?</a:t>
            </a:r>
            <a:endParaRPr lang="en-US" sz="3000" dirty="0"/>
          </a:p>
        </p:txBody>
      </p:sp>
      <p:sp>
        <p:nvSpPr>
          <p:cNvPr id="4" name="Text 2"/>
          <p:cNvSpPr/>
          <p:nvPr/>
        </p:nvSpPr>
        <p:spPr>
          <a:xfrm>
            <a:off x="640080" y="1417320"/>
            <a:ext cx="10881360" cy="548640"/>
          </a:xfrm>
          <a:prstGeom prst="rect">
            <a:avLst/>
          </a:prstGeom>
          <a:noFill/>
          <a:ln/>
        </p:spPr>
        <p:txBody>
          <a:bodyPr wrap="square" rtlCol="0" anchor="ctr"/>
          <a:lstStyle/>
          <a:p>
            <a:pPr marL="0" indent="0">
              <a:buNone/>
            </a:pPr>
            <a:r>
              <a:rPr lang="en-US" sz="1450" dirty="0">
                <a:solidFill>
                  <a:srgbClr val="C8D6E8"/>
                </a:solidFill>
                <a:latin typeface="Calibri" pitchFamily="34" charset="0"/>
                <a:ea typeface="Calibri" pitchFamily="34" charset="-122"/>
                <a:cs typeface="Calibri" pitchFamily="34" charset="-120"/>
              </a:rPr>
              <a:t>Le compte Ameli, c'est votre espace personnel de l'Assurance Maladie. Tout est au même endroit, accessible 24h/24, sans vous déplacer :</a:t>
            </a:r>
            <a:endParaRPr lang="en-US" sz="1450" dirty="0"/>
          </a:p>
        </p:txBody>
      </p:sp>
      <p:sp>
        <p:nvSpPr>
          <p:cNvPr id="5" name="Shape 3"/>
          <p:cNvSpPr/>
          <p:nvPr/>
        </p:nvSpPr>
        <p:spPr>
          <a:xfrm>
            <a:off x="640080" y="2194560"/>
            <a:ext cx="2606040" cy="2743200"/>
          </a:xfrm>
          <a:prstGeom prst="roundRect">
            <a:avLst>
              <a:gd name="adj" fmla="val 3509"/>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6" name="Shape 4"/>
          <p:cNvSpPr/>
          <p:nvPr/>
        </p:nvSpPr>
        <p:spPr>
          <a:xfrm>
            <a:off x="1531620" y="2560320"/>
            <a:ext cx="822960" cy="82296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7" name="Image 0" descr="preencoded.png"/>
          <p:cNvPicPr>
            <a:picLocks noChangeAspect="1"/>
          </p:cNvPicPr>
          <p:nvPr/>
        </p:nvPicPr>
        <p:blipFill>
          <a:blip r:embed="rId3"/>
          <a:stretch>
            <a:fillRect/>
          </a:stretch>
        </p:blipFill>
        <p:spPr>
          <a:xfrm>
            <a:off x="1745590" y="2774290"/>
            <a:ext cx="395021" cy="395021"/>
          </a:xfrm>
          <a:prstGeom prst="rect">
            <a:avLst/>
          </a:prstGeom>
        </p:spPr>
      </p:pic>
      <p:sp>
        <p:nvSpPr>
          <p:cNvPr id="8" name="Text 5"/>
          <p:cNvSpPr/>
          <p:nvPr/>
        </p:nvSpPr>
        <p:spPr>
          <a:xfrm>
            <a:off x="822960" y="3520440"/>
            <a:ext cx="2240280" cy="50292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Vos remboursements</a:t>
            </a:r>
            <a:endParaRPr lang="en-US" sz="1500" dirty="0"/>
          </a:p>
        </p:txBody>
      </p:sp>
      <p:sp>
        <p:nvSpPr>
          <p:cNvPr id="9" name="Text 6"/>
          <p:cNvSpPr/>
          <p:nvPr/>
        </p:nvSpPr>
        <p:spPr>
          <a:xfrm>
            <a:off x="868680" y="4023360"/>
            <a:ext cx="2148840" cy="822960"/>
          </a:xfrm>
          <a:prstGeom prst="rect">
            <a:avLst/>
          </a:prstGeom>
          <a:noFill/>
          <a:ln/>
        </p:spPr>
        <p:txBody>
          <a:bodyPr wrap="square" lIns="0" tIns="0" rIns="0" bIns="0" rtlCol="0" anchor="t"/>
          <a:lstStyle/>
          <a:p>
            <a:pPr marL="0" indent="0" algn="ctr">
              <a:buNone/>
            </a:pPr>
            <a:r>
              <a:rPr lang="en-US" sz="1200" dirty="0">
                <a:solidFill>
                  <a:srgbClr val="5B7088"/>
                </a:solidFill>
                <a:latin typeface="Calibri" pitchFamily="34" charset="0"/>
                <a:ea typeface="Calibri" pitchFamily="34" charset="-122"/>
                <a:cs typeface="Calibri" pitchFamily="34" charset="-120"/>
              </a:rPr>
              <a:t>Voir ce que la Sécu vous a remboursé et quand.</a:t>
            </a:r>
            <a:endParaRPr lang="en-US" sz="1200" dirty="0"/>
          </a:p>
        </p:txBody>
      </p:sp>
      <p:sp>
        <p:nvSpPr>
          <p:cNvPr id="10" name="Shape 7"/>
          <p:cNvSpPr/>
          <p:nvPr/>
        </p:nvSpPr>
        <p:spPr>
          <a:xfrm>
            <a:off x="3493008" y="2194560"/>
            <a:ext cx="2606040" cy="2743200"/>
          </a:xfrm>
          <a:prstGeom prst="roundRect">
            <a:avLst>
              <a:gd name="adj" fmla="val 3509"/>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1" name="Shape 8"/>
          <p:cNvSpPr/>
          <p:nvPr/>
        </p:nvSpPr>
        <p:spPr>
          <a:xfrm>
            <a:off x="4384548" y="2560320"/>
            <a:ext cx="822960" cy="82296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2" name="Image 1" descr="preencoded.png"/>
          <p:cNvPicPr>
            <a:picLocks noChangeAspect="1"/>
          </p:cNvPicPr>
          <p:nvPr/>
        </p:nvPicPr>
        <p:blipFill>
          <a:blip r:embed="rId4"/>
          <a:stretch>
            <a:fillRect/>
          </a:stretch>
        </p:blipFill>
        <p:spPr>
          <a:xfrm>
            <a:off x="4598518" y="2774290"/>
            <a:ext cx="395021" cy="395021"/>
          </a:xfrm>
          <a:prstGeom prst="rect">
            <a:avLst/>
          </a:prstGeom>
        </p:spPr>
      </p:pic>
      <p:sp>
        <p:nvSpPr>
          <p:cNvPr id="13" name="Text 9"/>
          <p:cNvSpPr/>
          <p:nvPr/>
        </p:nvSpPr>
        <p:spPr>
          <a:xfrm>
            <a:off x="3675888" y="3520440"/>
            <a:ext cx="2240280" cy="50292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Vos attestations</a:t>
            </a:r>
            <a:endParaRPr lang="en-US" sz="1500" dirty="0"/>
          </a:p>
        </p:txBody>
      </p:sp>
      <p:sp>
        <p:nvSpPr>
          <p:cNvPr id="14" name="Text 10"/>
          <p:cNvSpPr/>
          <p:nvPr/>
        </p:nvSpPr>
        <p:spPr>
          <a:xfrm>
            <a:off x="3721608" y="4023360"/>
            <a:ext cx="2148840" cy="822960"/>
          </a:xfrm>
          <a:prstGeom prst="rect">
            <a:avLst/>
          </a:prstGeom>
          <a:noFill/>
          <a:ln/>
        </p:spPr>
        <p:txBody>
          <a:bodyPr wrap="square" lIns="0" tIns="0" rIns="0" bIns="0" rtlCol="0" anchor="t"/>
          <a:lstStyle/>
          <a:p>
            <a:pPr marL="0" indent="0" algn="ctr">
              <a:buNone/>
            </a:pPr>
            <a:r>
              <a:rPr lang="en-US" sz="1200" dirty="0">
                <a:solidFill>
                  <a:srgbClr val="5B7088"/>
                </a:solidFill>
                <a:latin typeface="Calibri" pitchFamily="34" charset="0"/>
                <a:ea typeface="Calibri" pitchFamily="34" charset="-122"/>
                <a:cs typeface="Calibri" pitchFamily="34" charset="-120"/>
              </a:rPr>
              <a:t>Télécharger votre attestation de droits en 2 clics.</a:t>
            </a:r>
            <a:endParaRPr lang="en-US" sz="1200" dirty="0"/>
          </a:p>
        </p:txBody>
      </p:sp>
      <p:sp>
        <p:nvSpPr>
          <p:cNvPr id="15" name="Shape 11"/>
          <p:cNvSpPr/>
          <p:nvPr/>
        </p:nvSpPr>
        <p:spPr>
          <a:xfrm>
            <a:off x="6345936" y="2194560"/>
            <a:ext cx="2606040" cy="2743200"/>
          </a:xfrm>
          <a:prstGeom prst="roundRect">
            <a:avLst>
              <a:gd name="adj" fmla="val 3509"/>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6" name="Shape 12"/>
          <p:cNvSpPr/>
          <p:nvPr/>
        </p:nvSpPr>
        <p:spPr>
          <a:xfrm>
            <a:off x="7237476" y="2560320"/>
            <a:ext cx="822960" cy="82296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7" name="Image 2" descr="preencoded.png"/>
          <p:cNvPicPr>
            <a:picLocks noChangeAspect="1"/>
          </p:cNvPicPr>
          <p:nvPr/>
        </p:nvPicPr>
        <p:blipFill>
          <a:blip r:embed="rId5"/>
          <a:stretch>
            <a:fillRect/>
          </a:stretch>
        </p:blipFill>
        <p:spPr>
          <a:xfrm>
            <a:off x="7451446" y="2774290"/>
            <a:ext cx="395021" cy="395021"/>
          </a:xfrm>
          <a:prstGeom prst="rect">
            <a:avLst/>
          </a:prstGeom>
        </p:spPr>
      </p:pic>
      <p:sp>
        <p:nvSpPr>
          <p:cNvPr id="18" name="Text 13"/>
          <p:cNvSpPr/>
          <p:nvPr/>
        </p:nvSpPr>
        <p:spPr>
          <a:xfrm>
            <a:off x="6528816" y="3520440"/>
            <a:ext cx="2240280" cy="50292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Votre carte Vitale</a:t>
            </a:r>
            <a:endParaRPr lang="en-US" sz="1500" dirty="0"/>
          </a:p>
        </p:txBody>
      </p:sp>
      <p:sp>
        <p:nvSpPr>
          <p:cNvPr id="19" name="Text 14"/>
          <p:cNvSpPr/>
          <p:nvPr/>
        </p:nvSpPr>
        <p:spPr>
          <a:xfrm>
            <a:off x="6574536" y="4023360"/>
            <a:ext cx="2148840" cy="822960"/>
          </a:xfrm>
          <a:prstGeom prst="rect">
            <a:avLst/>
          </a:prstGeom>
          <a:noFill/>
          <a:ln/>
        </p:spPr>
        <p:txBody>
          <a:bodyPr wrap="square" lIns="0" tIns="0" rIns="0" bIns="0" rtlCol="0" anchor="t"/>
          <a:lstStyle/>
          <a:p>
            <a:pPr marL="0" indent="0" algn="ctr">
              <a:buNone/>
            </a:pPr>
            <a:r>
              <a:rPr lang="en-US" sz="1200" dirty="0">
                <a:solidFill>
                  <a:srgbClr val="5B7088"/>
                </a:solidFill>
                <a:latin typeface="Calibri" pitchFamily="34" charset="0"/>
                <a:ea typeface="Calibri" pitchFamily="34" charset="-122"/>
                <a:cs typeface="Calibri" pitchFamily="34" charset="-120"/>
              </a:rPr>
              <a:t>Commander une nouvelle carte, mettre à jour vos infos.</a:t>
            </a:r>
            <a:endParaRPr lang="en-US" sz="1200" dirty="0"/>
          </a:p>
        </p:txBody>
      </p:sp>
      <p:sp>
        <p:nvSpPr>
          <p:cNvPr id="20" name="Shape 15"/>
          <p:cNvSpPr/>
          <p:nvPr/>
        </p:nvSpPr>
        <p:spPr>
          <a:xfrm>
            <a:off x="9198864" y="2194560"/>
            <a:ext cx="2606040" cy="2743200"/>
          </a:xfrm>
          <a:prstGeom prst="roundRect">
            <a:avLst>
              <a:gd name="adj" fmla="val 3509"/>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21" name="Shape 16"/>
          <p:cNvSpPr/>
          <p:nvPr/>
        </p:nvSpPr>
        <p:spPr>
          <a:xfrm>
            <a:off x="10090404" y="2560320"/>
            <a:ext cx="822960" cy="82296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22" name="Image 3" descr="preencoded.png"/>
          <p:cNvPicPr>
            <a:picLocks noChangeAspect="1"/>
          </p:cNvPicPr>
          <p:nvPr/>
        </p:nvPicPr>
        <p:blipFill>
          <a:blip r:embed="rId6"/>
          <a:stretch>
            <a:fillRect/>
          </a:stretch>
        </p:blipFill>
        <p:spPr>
          <a:xfrm>
            <a:off x="10304374" y="2774290"/>
            <a:ext cx="395021" cy="395021"/>
          </a:xfrm>
          <a:prstGeom prst="rect">
            <a:avLst/>
          </a:prstGeom>
        </p:spPr>
      </p:pic>
      <p:sp>
        <p:nvSpPr>
          <p:cNvPr id="23" name="Text 17"/>
          <p:cNvSpPr/>
          <p:nvPr/>
        </p:nvSpPr>
        <p:spPr>
          <a:xfrm>
            <a:off x="9381744" y="3520440"/>
            <a:ext cx="2240280" cy="50292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Vos démarches santé</a:t>
            </a:r>
            <a:endParaRPr lang="en-US" sz="1500" dirty="0"/>
          </a:p>
        </p:txBody>
      </p:sp>
      <p:sp>
        <p:nvSpPr>
          <p:cNvPr id="24" name="Text 18"/>
          <p:cNvSpPr/>
          <p:nvPr/>
        </p:nvSpPr>
        <p:spPr>
          <a:xfrm>
            <a:off x="9427464" y="4023360"/>
            <a:ext cx="2148840" cy="822960"/>
          </a:xfrm>
          <a:prstGeom prst="rect">
            <a:avLst/>
          </a:prstGeom>
          <a:noFill/>
          <a:ln/>
        </p:spPr>
        <p:txBody>
          <a:bodyPr wrap="square" lIns="0" tIns="0" rIns="0" bIns="0" rtlCol="0" anchor="t"/>
          <a:lstStyle/>
          <a:p>
            <a:pPr marL="0" indent="0" algn="ctr">
              <a:buNone/>
            </a:pPr>
            <a:r>
              <a:rPr lang="en-US" sz="1200" dirty="0">
                <a:solidFill>
                  <a:srgbClr val="5B7088"/>
                </a:solidFill>
                <a:latin typeface="Calibri" pitchFamily="34" charset="0"/>
                <a:ea typeface="Calibri" pitchFamily="34" charset="-122"/>
                <a:cs typeface="Calibri" pitchFamily="34" charset="-120"/>
              </a:rPr>
              <a:t>Déclarer un médecin traitant, suivre vos arrêts, etc.</a:t>
            </a:r>
            <a:endParaRPr lang="en-US" sz="1200" dirty="0"/>
          </a:p>
        </p:txBody>
      </p:sp>
      <p:sp>
        <p:nvSpPr>
          <p:cNvPr id="25" name="Text 19"/>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6" name="Text 20"/>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3 / 18</a:t>
            </a:r>
            <a:endParaRPr lang="en-US" sz="900" dirty="0"/>
          </a:p>
        </p:txBody>
      </p:sp>
      <p:sp>
        <p:nvSpPr>
          <p:cNvPr id="27" name="ZoneTexte 26">
            <a:extLst>
              <a:ext uri="{FF2B5EF4-FFF2-40B4-BE49-F238E27FC236}">
                <a16:creationId xmlns:a16="http://schemas.microsoft.com/office/drawing/2014/main" id="{A07E820D-DACA-891D-724F-CD15F5192FC4}"/>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NE PAS CONFONDRE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Ameli n'est pas « Mon espace santé »</a:t>
            </a:r>
            <a:endParaRPr lang="en-US" sz="3000" dirty="0"/>
          </a:p>
        </p:txBody>
      </p:sp>
      <p:sp>
        <p:nvSpPr>
          <p:cNvPr id="4" name="Text 2"/>
          <p:cNvSpPr/>
          <p:nvPr/>
        </p:nvSpPr>
        <p:spPr>
          <a:xfrm>
            <a:off x="640080" y="1417320"/>
            <a:ext cx="10881360" cy="457200"/>
          </a:xfrm>
          <a:prstGeom prst="rect">
            <a:avLst/>
          </a:prstGeom>
          <a:noFill/>
          <a:ln/>
        </p:spPr>
        <p:txBody>
          <a:bodyPr wrap="square" rtlCol="0" anchor="ctr"/>
          <a:lstStyle/>
          <a:p>
            <a:pPr marL="0" indent="0">
              <a:buNone/>
            </a:pPr>
            <a:r>
              <a:rPr lang="en-US" sz="1450" dirty="0">
                <a:solidFill>
                  <a:srgbClr val="C8D6E8"/>
                </a:solidFill>
                <a:latin typeface="Calibri" pitchFamily="34" charset="0"/>
                <a:ea typeface="Calibri" pitchFamily="34" charset="-122"/>
                <a:cs typeface="Calibri" pitchFamily="34" charset="-120"/>
              </a:rPr>
              <a:t>Ce sont deux sites différents, souvent confondus. Voici comment les distinguer :</a:t>
            </a:r>
            <a:endParaRPr lang="en-US" sz="1450" dirty="0"/>
          </a:p>
        </p:txBody>
      </p:sp>
      <p:sp>
        <p:nvSpPr>
          <p:cNvPr id="5" name="Shape 3"/>
          <p:cNvSpPr/>
          <p:nvPr/>
        </p:nvSpPr>
        <p:spPr>
          <a:xfrm>
            <a:off x="640080" y="2057400"/>
            <a:ext cx="5349240" cy="3383280"/>
          </a:xfrm>
          <a:prstGeom prst="roundRect">
            <a:avLst>
              <a:gd name="adj" fmla="val 2703"/>
            </a:avLst>
          </a:prstGeom>
          <a:solidFill>
            <a:srgbClr val="EAF4F4"/>
          </a:solidFill>
          <a:ln w="19050">
            <a:solidFill>
              <a:srgbClr val="0F8B8D"/>
            </a:solidFill>
            <a:prstDash val="solid"/>
          </a:ln>
        </p:spPr>
        <p:txBody>
          <a:bodyPr/>
          <a:lstStyle/>
          <a:p>
            <a:endParaRPr lang="fr-FR"/>
          </a:p>
        </p:txBody>
      </p:sp>
      <p:sp>
        <p:nvSpPr>
          <p:cNvPr id="6" name="Shape 4"/>
          <p:cNvSpPr/>
          <p:nvPr/>
        </p:nvSpPr>
        <p:spPr>
          <a:xfrm>
            <a:off x="960120" y="2377440"/>
            <a:ext cx="731520" cy="73152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7" name="Image 0" descr="preencoded.png"/>
          <p:cNvPicPr>
            <a:picLocks noChangeAspect="1"/>
          </p:cNvPicPr>
          <p:nvPr/>
        </p:nvPicPr>
        <p:blipFill>
          <a:blip r:embed="rId3"/>
          <a:stretch>
            <a:fillRect/>
          </a:stretch>
        </p:blipFill>
        <p:spPr>
          <a:xfrm>
            <a:off x="1150315" y="2567635"/>
            <a:ext cx="351130" cy="351130"/>
          </a:xfrm>
          <a:prstGeom prst="rect">
            <a:avLst/>
          </a:prstGeom>
        </p:spPr>
      </p:pic>
      <p:sp>
        <p:nvSpPr>
          <p:cNvPr id="8" name="Text 5"/>
          <p:cNvSpPr/>
          <p:nvPr/>
        </p:nvSpPr>
        <p:spPr>
          <a:xfrm>
            <a:off x="1828800" y="2441448"/>
            <a:ext cx="3291840" cy="548640"/>
          </a:xfrm>
          <a:prstGeom prst="rect">
            <a:avLst/>
          </a:prstGeom>
          <a:noFill/>
          <a:ln/>
        </p:spPr>
        <p:txBody>
          <a:bodyPr wrap="square" lIns="0" tIns="0" rIns="0" bIns="0" rtlCol="0" anchor="ctr"/>
          <a:lstStyle/>
          <a:p>
            <a:pPr marL="0" indent="0">
              <a:buNone/>
            </a:pPr>
            <a:r>
              <a:rPr lang="en-US" sz="2000" b="1" dirty="0">
                <a:solidFill>
                  <a:srgbClr val="13294B"/>
                </a:solidFill>
                <a:latin typeface="Bookman Old Style" pitchFamily="34" charset="0"/>
                <a:ea typeface="Bookman Old Style" pitchFamily="34" charset="-122"/>
                <a:cs typeface="Bookman Old Style" pitchFamily="34" charset="-120"/>
              </a:rPr>
              <a:t>Compte Ameli</a:t>
            </a:r>
            <a:endParaRPr lang="en-US" sz="2000" dirty="0"/>
          </a:p>
        </p:txBody>
      </p:sp>
      <p:sp>
        <p:nvSpPr>
          <p:cNvPr id="9" name="Text 6"/>
          <p:cNvSpPr/>
          <p:nvPr/>
        </p:nvSpPr>
        <p:spPr>
          <a:xfrm>
            <a:off x="1828800" y="2926080"/>
            <a:ext cx="3291840" cy="274320"/>
          </a:xfrm>
          <a:prstGeom prst="rect">
            <a:avLst/>
          </a:prstGeom>
          <a:noFill/>
          <a:ln/>
        </p:spPr>
        <p:txBody>
          <a:bodyPr wrap="square" lIns="0" tIns="0" rIns="0" bIns="0" rtlCol="0" anchor="ctr"/>
          <a:lstStyle/>
          <a:p>
            <a:pPr marL="0" indent="0">
              <a:buNone/>
            </a:pPr>
            <a:r>
              <a:rPr lang="en-US" sz="1100" i="1" dirty="0">
                <a:solidFill>
                  <a:srgbClr val="0F8B8D"/>
                </a:solidFill>
                <a:latin typeface="Calibri" pitchFamily="34" charset="0"/>
                <a:ea typeface="Calibri" pitchFamily="34" charset="-122"/>
                <a:cs typeface="Calibri" pitchFamily="34" charset="-120"/>
              </a:rPr>
              <a:t>assure.ameli.fr</a:t>
            </a:r>
            <a:endParaRPr lang="en-US" sz="1100" dirty="0"/>
          </a:p>
        </p:txBody>
      </p:sp>
      <p:sp>
        <p:nvSpPr>
          <p:cNvPr id="10" name="Text 7"/>
          <p:cNvSpPr/>
          <p:nvPr/>
        </p:nvSpPr>
        <p:spPr>
          <a:xfrm>
            <a:off x="1005840" y="3383280"/>
            <a:ext cx="4709160" cy="1828800"/>
          </a:xfrm>
          <a:prstGeom prst="rect">
            <a:avLst/>
          </a:prstGeom>
          <a:noFill/>
          <a:ln/>
        </p:spPr>
        <p:txBody>
          <a:bodyPr wrap="square" rtlCol="0" anchor="ctr"/>
          <a:lstStyle/>
          <a:p>
            <a:pPr marL="177800" indent="-177800">
              <a:spcAft>
                <a:spcPts val="800"/>
              </a:spcAft>
              <a:buSzPct val="100000"/>
              <a:buChar char="•"/>
            </a:pPr>
            <a:r>
              <a:rPr lang="en-US" sz="1300" b="1" dirty="0">
                <a:solidFill>
                  <a:srgbClr val="13294B"/>
                </a:solidFill>
                <a:latin typeface="Calibri" pitchFamily="34" charset="0"/>
                <a:ea typeface="Calibri" pitchFamily="34" charset="-122"/>
                <a:cs typeface="Calibri" pitchFamily="34" charset="-120"/>
              </a:rPr>
              <a:t>Le côté administratif et argent</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Remboursements et paiements</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Attestation de droits</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Carte Vitale, médecin traitant</a:t>
            </a:r>
            <a:endParaRPr lang="en-US" sz="1300" dirty="0"/>
          </a:p>
        </p:txBody>
      </p:sp>
      <p:sp>
        <p:nvSpPr>
          <p:cNvPr id="11" name="Shape 8"/>
          <p:cNvSpPr/>
          <p:nvPr/>
        </p:nvSpPr>
        <p:spPr>
          <a:xfrm>
            <a:off x="6355080" y="2057400"/>
            <a:ext cx="5349240" cy="3383280"/>
          </a:xfrm>
          <a:prstGeom prst="roundRect">
            <a:avLst>
              <a:gd name="adj" fmla="val 2703"/>
            </a:avLst>
          </a:prstGeom>
          <a:solidFill>
            <a:srgbClr val="EAF1EC"/>
          </a:solidFill>
          <a:ln w="19050">
            <a:solidFill>
              <a:srgbClr val="3AA055"/>
            </a:solidFill>
            <a:prstDash val="solid"/>
          </a:ln>
        </p:spPr>
        <p:txBody>
          <a:bodyPr/>
          <a:lstStyle/>
          <a:p>
            <a:endParaRPr lang="fr-FR"/>
          </a:p>
        </p:txBody>
      </p:sp>
      <p:sp>
        <p:nvSpPr>
          <p:cNvPr id="12" name="Shape 9"/>
          <p:cNvSpPr/>
          <p:nvPr/>
        </p:nvSpPr>
        <p:spPr>
          <a:xfrm>
            <a:off x="6675120" y="2377440"/>
            <a:ext cx="731520" cy="73152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3" name="Image 1" descr="preencoded.png"/>
          <p:cNvPicPr>
            <a:picLocks noChangeAspect="1"/>
          </p:cNvPicPr>
          <p:nvPr/>
        </p:nvPicPr>
        <p:blipFill>
          <a:blip r:embed="rId4"/>
          <a:stretch>
            <a:fillRect/>
          </a:stretch>
        </p:blipFill>
        <p:spPr>
          <a:xfrm>
            <a:off x="6865315" y="2567635"/>
            <a:ext cx="351130" cy="351130"/>
          </a:xfrm>
          <a:prstGeom prst="rect">
            <a:avLst/>
          </a:prstGeom>
        </p:spPr>
      </p:pic>
      <p:sp>
        <p:nvSpPr>
          <p:cNvPr id="14" name="Text 10"/>
          <p:cNvSpPr/>
          <p:nvPr/>
        </p:nvSpPr>
        <p:spPr>
          <a:xfrm>
            <a:off x="7543800" y="2441448"/>
            <a:ext cx="3840480" cy="548640"/>
          </a:xfrm>
          <a:prstGeom prst="rect">
            <a:avLst/>
          </a:prstGeom>
          <a:noFill/>
          <a:ln/>
        </p:spPr>
        <p:txBody>
          <a:bodyPr wrap="square" lIns="0" tIns="0" rIns="0" bIns="0" rtlCol="0" anchor="ctr"/>
          <a:lstStyle/>
          <a:p>
            <a:pPr marL="0" indent="0">
              <a:buNone/>
            </a:pPr>
            <a:r>
              <a:rPr lang="en-US" sz="2000" b="1" dirty="0">
                <a:solidFill>
                  <a:srgbClr val="13294B"/>
                </a:solidFill>
                <a:latin typeface="Bookman Old Style" pitchFamily="34" charset="0"/>
                <a:ea typeface="Bookman Old Style" pitchFamily="34" charset="-122"/>
                <a:cs typeface="Bookman Old Style" pitchFamily="34" charset="-120"/>
              </a:rPr>
              <a:t>Mon espace santé</a:t>
            </a:r>
            <a:endParaRPr lang="en-US" sz="2000" dirty="0"/>
          </a:p>
        </p:txBody>
      </p:sp>
      <p:sp>
        <p:nvSpPr>
          <p:cNvPr id="15" name="Text 11"/>
          <p:cNvSpPr/>
          <p:nvPr/>
        </p:nvSpPr>
        <p:spPr>
          <a:xfrm>
            <a:off x="7543800" y="2926080"/>
            <a:ext cx="3840480" cy="274320"/>
          </a:xfrm>
          <a:prstGeom prst="rect">
            <a:avLst/>
          </a:prstGeom>
          <a:noFill/>
          <a:ln/>
        </p:spPr>
        <p:txBody>
          <a:bodyPr wrap="square" lIns="0" tIns="0" rIns="0" bIns="0" rtlCol="0" anchor="ctr"/>
          <a:lstStyle/>
          <a:p>
            <a:pPr marL="0" indent="0">
              <a:buNone/>
            </a:pPr>
            <a:r>
              <a:rPr lang="en-US" sz="1100" i="1" dirty="0">
                <a:solidFill>
                  <a:srgbClr val="3AA055"/>
                </a:solidFill>
                <a:latin typeface="Calibri" pitchFamily="34" charset="0"/>
                <a:ea typeface="Calibri" pitchFamily="34" charset="-122"/>
                <a:cs typeface="Calibri" pitchFamily="34" charset="-120"/>
              </a:rPr>
              <a:t>monespacesante.fr</a:t>
            </a:r>
            <a:endParaRPr lang="en-US" sz="1100" dirty="0"/>
          </a:p>
        </p:txBody>
      </p:sp>
      <p:sp>
        <p:nvSpPr>
          <p:cNvPr id="16" name="Text 12"/>
          <p:cNvSpPr/>
          <p:nvPr/>
        </p:nvSpPr>
        <p:spPr>
          <a:xfrm>
            <a:off x="6720840" y="3383280"/>
            <a:ext cx="4709160" cy="1828800"/>
          </a:xfrm>
          <a:prstGeom prst="rect">
            <a:avLst/>
          </a:prstGeom>
          <a:noFill/>
          <a:ln/>
        </p:spPr>
        <p:txBody>
          <a:bodyPr wrap="square" rtlCol="0" anchor="ctr"/>
          <a:lstStyle/>
          <a:p>
            <a:pPr marL="177800" indent="-177800">
              <a:spcAft>
                <a:spcPts val="800"/>
              </a:spcAft>
              <a:buSzPct val="100000"/>
              <a:buChar char="•"/>
            </a:pPr>
            <a:r>
              <a:rPr lang="en-US" sz="1300" b="1" dirty="0">
                <a:solidFill>
                  <a:srgbClr val="13294B"/>
                </a:solidFill>
                <a:latin typeface="Calibri" pitchFamily="34" charset="0"/>
                <a:ea typeface="Calibri" pitchFamily="34" charset="-122"/>
                <a:cs typeface="Calibri" pitchFamily="34" charset="-120"/>
              </a:rPr>
              <a:t>Le côté médical et dossier de santé</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Ordonnances et résultats d'analyses</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Carnet de vaccination</a:t>
            </a:r>
            <a:endParaRPr lang="en-US" sz="1300" dirty="0"/>
          </a:p>
          <a:p>
            <a:pPr marL="177800" indent="-177800">
              <a:spcAft>
                <a:spcPts val="800"/>
              </a:spcAft>
              <a:buSzPct val="100000"/>
              <a:buChar char="•"/>
            </a:pPr>
            <a:r>
              <a:rPr lang="en-US" sz="1300" dirty="0">
                <a:solidFill>
                  <a:srgbClr val="5B7088"/>
                </a:solidFill>
                <a:latin typeface="Calibri" pitchFamily="34" charset="0"/>
                <a:ea typeface="Calibri" pitchFamily="34" charset="-122"/>
                <a:cs typeface="Calibri" pitchFamily="34" charset="-120"/>
              </a:rPr>
              <a:t>Messagerie avec vos soignants</a:t>
            </a:r>
            <a:endParaRPr lang="en-US" sz="1300" dirty="0"/>
          </a:p>
        </p:txBody>
      </p:sp>
      <p:sp>
        <p:nvSpPr>
          <p:cNvPr id="17" name="Text 13"/>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18" name="Text 14"/>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4 / 18</a:t>
            </a:r>
            <a:endParaRPr lang="en-US" sz="900" dirty="0"/>
          </a:p>
        </p:txBody>
      </p:sp>
      <p:sp>
        <p:nvSpPr>
          <p:cNvPr id="19" name="ZoneTexte 18">
            <a:extLst>
              <a:ext uri="{FF2B5EF4-FFF2-40B4-BE49-F238E27FC236}">
                <a16:creationId xmlns:a16="http://schemas.microsoft.com/office/drawing/2014/main" id="{BAC992D4-F692-5763-1057-103FCCB49944}"/>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AVANT DE COMMENCER</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Ce qu'il faut avoir sous la main</a:t>
            </a:r>
            <a:endParaRPr lang="en-US" sz="3000" dirty="0"/>
          </a:p>
        </p:txBody>
      </p:sp>
      <p:sp>
        <p:nvSpPr>
          <p:cNvPr id="4" name="Shape 2"/>
          <p:cNvSpPr/>
          <p:nvPr/>
        </p:nvSpPr>
        <p:spPr>
          <a:xfrm>
            <a:off x="640080" y="1600200"/>
            <a:ext cx="5349240" cy="1417320"/>
          </a:xfrm>
          <a:prstGeom prst="roundRect">
            <a:avLst>
              <a:gd name="adj" fmla="val 5806"/>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5" name="Shape 3"/>
          <p:cNvSpPr/>
          <p:nvPr/>
        </p:nvSpPr>
        <p:spPr>
          <a:xfrm>
            <a:off x="932688" y="1924812"/>
            <a:ext cx="768096" cy="768096"/>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132393" y="2124517"/>
            <a:ext cx="368686" cy="368686"/>
          </a:xfrm>
          <a:prstGeom prst="rect">
            <a:avLst/>
          </a:prstGeom>
        </p:spPr>
      </p:pic>
      <p:sp>
        <p:nvSpPr>
          <p:cNvPr id="7" name="Text 4"/>
          <p:cNvSpPr/>
          <p:nvPr/>
        </p:nvSpPr>
        <p:spPr>
          <a:xfrm>
            <a:off x="1920240" y="1856232"/>
            <a:ext cx="3886200" cy="4572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Votre numéro de Sécurité sociale</a:t>
            </a:r>
            <a:endParaRPr lang="en-US" sz="1500" dirty="0"/>
          </a:p>
        </p:txBody>
      </p:sp>
      <p:sp>
        <p:nvSpPr>
          <p:cNvPr id="8" name="Text 5"/>
          <p:cNvSpPr/>
          <p:nvPr/>
        </p:nvSpPr>
        <p:spPr>
          <a:xfrm>
            <a:off x="1920240" y="2276856"/>
            <a:ext cx="3840480" cy="59436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Les 15 chiffres au dos de votre carte Vitale (commence par 1 ou 2).</a:t>
            </a:r>
            <a:endParaRPr lang="en-US" sz="1150" dirty="0"/>
          </a:p>
        </p:txBody>
      </p:sp>
      <p:sp>
        <p:nvSpPr>
          <p:cNvPr id="9" name="Shape 6"/>
          <p:cNvSpPr/>
          <p:nvPr/>
        </p:nvSpPr>
        <p:spPr>
          <a:xfrm>
            <a:off x="6355080" y="1600200"/>
            <a:ext cx="5349240" cy="1417320"/>
          </a:xfrm>
          <a:prstGeom prst="roundRect">
            <a:avLst>
              <a:gd name="adj" fmla="val 5806"/>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0" name="Shape 7"/>
          <p:cNvSpPr/>
          <p:nvPr/>
        </p:nvSpPr>
        <p:spPr>
          <a:xfrm>
            <a:off x="6647688" y="1924812"/>
            <a:ext cx="768096" cy="768096"/>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6847393" y="2124517"/>
            <a:ext cx="368686" cy="368686"/>
          </a:xfrm>
          <a:prstGeom prst="rect">
            <a:avLst/>
          </a:prstGeom>
        </p:spPr>
      </p:pic>
      <p:sp>
        <p:nvSpPr>
          <p:cNvPr id="12" name="Text 8"/>
          <p:cNvSpPr/>
          <p:nvPr/>
        </p:nvSpPr>
        <p:spPr>
          <a:xfrm>
            <a:off x="7635240" y="1856232"/>
            <a:ext cx="3886200" cy="4572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Une adresse e-mail</a:t>
            </a:r>
            <a:endParaRPr lang="en-US" sz="1500" dirty="0"/>
          </a:p>
        </p:txBody>
      </p:sp>
      <p:sp>
        <p:nvSpPr>
          <p:cNvPr id="13" name="Text 9"/>
          <p:cNvSpPr/>
          <p:nvPr/>
        </p:nvSpPr>
        <p:spPr>
          <a:xfrm>
            <a:off x="7635240" y="2276856"/>
            <a:ext cx="3840480" cy="59436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Une adresse que vous savez consulter — c'est là qu'arrivera le lien d'activation.</a:t>
            </a:r>
            <a:endParaRPr lang="en-US" sz="1150" dirty="0"/>
          </a:p>
        </p:txBody>
      </p:sp>
      <p:sp>
        <p:nvSpPr>
          <p:cNvPr id="14" name="Shape 10"/>
          <p:cNvSpPr/>
          <p:nvPr/>
        </p:nvSpPr>
        <p:spPr>
          <a:xfrm>
            <a:off x="640080" y="3310128"/>
            <a:ext cx="5349240" cy="1417320"/>
          </a:xfrm>
          <a:prstGeom prst="roundRect">
            <a:avLst>
              <a:gd name="adj" fmla="val 5806"/>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5" name="Shape 11"/>
          <p:cNvSpPr/>
          <p:nvPr/>
        </p:nvSpPr>
        <p:spPr>
          <a:xfrm>
            <a:off x="932688" y="3634740"/>
            <a:ext cx="768096" cy="768096"/>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6" name="Image 2" descr="preencoded.png"/>
          <p:cNvPicPr>
            <a:picLocks noChangeAspect="1"/>
          </p:cNvPicPr>
          <p:nvPr/>
        </p:nvPicPr>
        <p:blipFill>
          <a:blip r:embed="rId5"/>
          <a:stretch>
            <a:fillRect/>
          </a:stretch>
        </p:blipFill>
        <p:spPr>
          <a:xfrm>
            <a:off x="1132393" y="3834445"/>
            <a:ext cx="368686" cy="368686"/>
          </a:xfrm>
          <a:prstGeom prst="rect">
            <a:avLst/>
          </a:prstGeom>
        </p:spPr>
      </p:pic>
      <p:sp>
        <p:nvSpPr>
          <p:cNvPr id="17" name="Text 12"/>
          <p:cNvSpPr/>
          <p:nvPr/>
        </p:nvSpPr>
        <p:spPr>
          <a:xfrm>
            <a:off x="1920240" y="3566160"/>
            <a:ext cx="3886200" cy="4572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Un téléphone à portée</a:t>
            </a:r>
            <a:endParaRPr lang="en-US" sz="1500" dirty="0"/>
          </a:p>
        </p:txBody>
      </p:sp>
      <p:sp>
        <p:nvSpPr>
          <p:cNvPr id="18" name="Text 13"/>
          <p:cNvSpPr/>
          <p:nvPr/>
        </p:nvSpPr>
        <p:spPr>
          <a:xfrm>
            <a:off x="1920240" y="3986784"/>
            <a:ext cx="3840480" cy="59436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Pour recevoir un code de confirmation par SMS si besoin.</a:t>
            </a:r>
            <a:endParaRPr lang="en-US" sz="1150" dirty="0"/>
          </a:p>
        </p:txBody>
      </p:sp>
      <p:sp>
        <p:nvSpPr>
          <p:cNvPr id="19" name="Shape 14"/>
          <p:cNvSpPr/>
          <p:nvPr/>
        </p:nvSpPr>
        <p:spPr>
          <a:xfrm>
            <a:off x="6355080" y="3310128"/>
            <a:ext cx="5349240" cy="1417320"/>
          </a:xfrm>
          <a:prstGeom prst="roundRect">
            <a:avLst>
              <a:gd name="adj" fmla="val 5806"/>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0" name="Shape 15"/>
          <p:cNvSpPr/>
          <p:nvPr/>
        </p:nvSpPr>
        <p:spPr>
          <a:xfrm>
            <a:off x="6647688" y="3634740"/>
            <a:ext cx="768096" cy="768096"/>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21" name="Image 3" descr="preencoded.png"/>
          <p:cNvPicPr>
            <a:picLocks noChangeAspect="1"/>
          </p:cNvPicPr>
          <p:nvPr/>
        </p:nvPicPr>
        <p:blipFill>
          <a:blip r:embed="rId6"/>
          <a:stretch>
            <a:fillRect/>
          </a:stretch>
        </p:blipFill>
        <p:spPr>
          <a:xfrm>
            <a:off x="6847393" y="3834445"/>
            <a:ext cx="368686" cy="368686"/>
          </a:xfrm>
          <a:prstGeom prst="rect">
            <a:avLst/>
          </a:prstGeom>
        </p:spPr>
      </p:pic>
      <p:sp>
        <p:nvSpPr>
          <p:cNvPr id="22" name="Text 16"/>
          <p:cNvSpPr/>
          <p:nvPr/>
        </p:nvSpPr>
        <p:spPr>
          <a:xfrm>
            <a:off x="7635240" y="3566160"/>
            <a:ext cx="3886200" cy="457200"/>
          </a:xfrm>
          <a:prstGeom prst="rect">
            <a:avLst/>
          </a:prstGeom>
          <a:noFill/>
          <a:ln/>
        </p:spPr>
        <p:txBody>
          <a:bodyPr wrap="square" lIns="0" tIns="0" rIns="0" bIns="0" rtlCol="0" anchor="ctr"/>
          <a:lstStyle/>
          <a:p>
            <a:pPr marL="0" indent="0" algn="l">
              <a:buNone/>
            </a:pPr>
            <a:r>
              <a:rPr lang="en-US" sz="1500" b="1" dirty="0">
                <a:solidFill>
                  <a:srgbClr val="13294B"/>
                </a:solidFill>
                <a:latin typeface="Calibri" pitchFamily="34" charset="0"/>
                <a:ea typeface="Calibri" pitchFamily="34" charset="-122"/>
                <a:cs typeface="Calibri" pitchFamily="34" charset="-120"/>
              </a:rPr>
              <a:t>Votre RIB (parfois)</a:t>
            </a:r>
            <a:endParaRPr lang="en-US" sz="1500" dirty="0"/>
          </a:p>
        </p:txBody>
      </p:sp>
      <p:sp>
        <p:nvSpPr>
          <p:cNvPr id="23" name="Text 17"/>
          <p:cNvSpPr/>
          <p:nvPr/>
        </p:nvSpPr>
        <p:spPr>
          <a:xfrm>
            <a:off x="7635240" y="3986784"/>
            <a:ext cx="3840480" cy="59436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Souvent déjà connu de votre caisse ; utile pour vérifier votre identité.</a:t>
            </a:r>
            <a:endParaRPr lang="en-US" sz="1150" dirty="0"/>
          </a:p>
        </p:txBody>
      </p:sp>
      <p:sp>
        <p:nvSpPr>
          <p:cNvPr id="24" name="Text 18"/>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5" name="Text 19"/>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5 / 18</a:t>
            </a:r>
            <a:endParaRPr lang="en-US" sz="900" dirty="0"/>
          </a:p>
        </p:txBody>
      </p:sp>
      <p:sp>
        <p:nvSpPr>
          <p:cNvPr id="26" name="ZoneTexte 25">
            <a:extLst>
              <a:ext uri="{FF2B5EF4-FFF2-40B4-BE49-F238E27FC236}">
                <a16:creationId xmlns:a16="http://schemas.microsoft.com/office/drawing/2014/main" id="{DD10EDED-02AE-CBDF-AAB9-52C4D7DED1B7}"/>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rtlCol="0" anchor="ctr"/>
          <a:lstStyle/>
          <a:p>
            <a:pPr marL="0" indent="0">
              <a:buNone/>
            </a:pPr>
            <a:r>
              <a:rPr lang="en-US" sz="1200" b="1" kern="0" spc="300" dirty="0">
                <a:solidFill>
                  <a:srgbClr val="27D3DE"/>
                </a:solidFill>
                <a:latin typeface="Calibri" pitchFamily="34" charset="0"/>
                <a:ea typeface="Calibri" pitchFamily="34" charset="-122"/>
                <a:cs typeface="Calibri" pitchFamily="34" charset="-120"/>
              </a:rPr>
              <a:t>LA VUE D'ENSEMBLE</a:t>
            </a:r>
            <a:endParaRPr lang="en-US" sz="1200" dirty="0"/>
          </a:p>
        </p:txBody>
      </p:sp>
      <p:sp>
        <p:nvSpPr>
          <p:cNvPr id="3" name="Text 1"/>
          <p:cNvSpPr/>
          <p:nvPr/>
        </p:nvSpPr>
        <p:spPr>
          <a:xfrm>
            <a:off x="621792" y="777240"/>
            <a:ext cx="10972800" cy="777240"/>
          </a:xfrm>
          <a:prstGeom prst="rect">
            <a:avLst/>
          </a:prstGeom>
          <a:noFill/>
          <a:ln/>
        </p:spPr>
        <p:txBody>
          <a:bodyPr wrap="square"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3 façons d'accéder à votre compte</a:t>
            </a:r>
            <a:endParaRPr lang="en-US" sz="3000" dirty="0"/>
          </a:p>
        </p:txBody>
      </p:sp>
      <p:sp>
        <p:nvSpPr>
          <p:cNvPr id="4" name="Shape 2"/>
          <p:cNvSpPr/>
          <p:nvPr/>
        </p:nvSpPr>
        <p:spPr>
          <a:xfrm>
            <a:off x="640080" y="1828800"/>
            <a:ext cx="3520440" cy="3840480"/>
          </a:xfrm>
          <a:prstGeom prst="roundRect">
            <a:avLst>
              <a:gd name="adj" fmla="val 3117"/>
            </a:avLst>
          </a:prstGeom>
          <a:solidFill>
            <a:srgbClr val="16335A"/>
          </a:solidFill>
          <a:ln w="12700">
            <a:solidFill>
              <a:srgbClr val="1E4170"/>
            </a:solidFill>
            <a:prstDash val="solid"/>
          </a:ln>
          <a:effectLst>
            <a:outerShdw blurRad="88900" dist="38100" dir="2700000" algn="bl" rotWithShape="0">
              <a:srgbClr val="0A1626">
                <a:alpha val="25000"/>
              </a:srgbClr>
            </a:outerShdw>
          </a:effectLst>
        </p:spPr>
        <p:txBody>
          <a:bodyPr/>
          <a:lstStyle/>
          <a:p>
            <a:endParaRPr lang="fr-FR"/>
          </a:p>
        </p:txBody>
      </p:sp>
      <p:sp>
        <p:nvSpPr>
          <p:cNvPr id="5" name="Text 3"/>
          <p:cNvSpPr/>
          <p:nvPr/>
        </p:nvSpPr>
        <p:spPr>
          <a:xfrm>
            <a:off x="3154680" y="2057400"/>
            <a:ext cx="822960" cy="822960"/>
          </a:xfrm>
          <a:prstGeom prst="rect">
            <a:avLst/>
          </a:prstGeom>
          <a:noFill/>
          <a:ln/>
        </p:spPr>
        <p:txBody>
          <a:bodyPr wrap="square" lIns="0" tIns="0" rIns="0" bIns="0" rtlCol="0" anchor="ctr"/>
          <a:lstStyle/>
          <a:p>
            <a:pPr marL="0" indent="0" algn="r">
              <a:buNone/>
            </a:pPr>
            <a:r>
              <a:rPr lang="en-US" sz="4000" b="1" dirty="0">
                <a:solidFill>
                  <a:srgbClr val="1E4170"/>
                </a:solidFill>
                <a:latin typeface="Bookman Old Style" pitchFamily="34" charset="0"/>
                <a:ea typeface="Bookman Old Style" pitchFamily="34" charset="-122"/>
                <a:cs typeface="Bookman Old Style" pitchFamily="34" charset="-120"/>
              </a:rPr>
              <a:t>1</a:t>
            </a:r>
            <a:endParaRPr lang="en-US" sz="4000" dirty="0"/>
          </a:p>
        </p:txBody>
      </p:sp>
      <p:sp>
        <p:nvSpPr>
          <p:cNvPr id="6" name="Shape 4"/>
          <p:cNvSpPr/>
          <p:nvPr/>
        </p:nvSpPr>
        <p:spPr>
          <a:xfrm>
            <a:off x="1051560" y="2286000"/>
            <a:ext cx="914400" cy="91440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7" name="Image 0" descr="preencoded.png"/>
          <p:cNvPicPr>
            <a:picLocks noChangeAspect="1"/>
          </p:cNvPicPr>
          <p:nvPr/>
        </p:nvPicPr>
        <p:blipFill>
          <a:blip r:embed="rId3"/>
          <a:stretch>
            <a:fillRect/>
          </a:stretch>
        </p:blipFill>
        <p:spPr>
          <a:xfrm>
            <a:off x="1289304" y="2523744"/>
            <a:ext cx="438912" cy="438912"/>
          </a:xfrm>
          <a:prstGeom prst="rect">
            <a:avLst/>
          </a:prstGeom>
        </p:spPr>
      </p:pic>
      <p:sp>
        <p:nvSpPr>
          <p:cNvPr id="8" name="Text 5"/>
          <p:cNvSpPr/>
          <p:nvPr/>
        </p:nvSpPr>
        <p:spPr>
          <a:xfrm>
            <a:off x="1005840" y="3429000"/>
            <a:ext cx="2788920" cy="731520"/>
          </a:xfrm>
          <a:prstGeom prst="rect">
            <a:avLst/>
          </a:prstGeom>
          <a:noFill/>
          <a:ln/>
        </p:spPr>
        <p:txBody>
          <a:bodyPr wrap="square" lIns="0" tIns="0" rIns="0" bIns="0" rtlCol="0" anchor="t"/>
          <a:lstStyle/>
          <a:p>
            <a:pPr marL="0" indent="0" algn="l">
              <a:buNone/>
            </a:pPr>
            <a:r>
              <a:rPr lang="en-US" sz="1700" b="1" dirty="0">
                <a:solidFill>
                  <a:srgbClr val="FFFFFF"/>
                </a:solidFill>
                <a:latin typeface="Calibri" pitchFamily="34" charset="0"/>
                <a:ea typeface="Calibri" pitchFamily="34" charset="-122"/>
                <a:cs typeface="Calibri" pitchFamily="34" charset="-120"/>
              </a:rPr>
              <a:t>Vos identifiants Ameli</a:t>
            </a:r>
            <a:endParaRPr lang="en-US" sz="1700" dirty="0"/>
          </a:p>
        </p:txBody>
      </p:sp>
      <p:sp>
        <p:nvSpPr>
          <p:cNvPr id="9" name="Text 6"/>
          <p:cNvSpPr/>
          <p:nvPr/>
        </p:nvSpPr>
        <p:spPr>
          <a:xfrm>
            <a:off x="1005840" y="4160520"/>
            <a:ext cx="2788920" cy="1280160"/>
          </a:xfrm>
          <a:prstGeom prst="rect">
            <a:avLst/>
          </a:prstGeom>
          <a:noFill/>
          <a:ln/>
        </p:spPr>
        <p:txBody>
          <a:bodyPr wrap="square" lIns="0" tIns="0" rIns="0" bIns="0" rtlCol="0" anchor="t"/>
          <a:lstStyle/>
          <a:p>
            <a:pPr marL="0" indent="0" algn="l">
              <a:lnSpc>
                <a:spcPct val="110000"/>
              </a:lnSpc>
              <a:buNone/>
            </a:pPr>
            <a:r>
              <a:rPr lang="en-US" sz="1300" dirty="0">
                <a:solidFill>
                  <a:srgbClr val="B8C9DD"/>
                </a:solidFill>
                <a:latin typeface="Calibri" pitchFamily="34" charset="0"/>
                <a:ea typeface="Calibri" pitchFamily="34" charset="-122"/>
                <a:cs typeface="Calibri" pitchFamily="34" charset="-120"/>
              </a:rPr>
              <a:t>Numéro de Sécu + mot de passe. La méthode de base, une fois le compte créé.</a:t>
            </a:r>
            <a:endParaRPr lang="en-US" sz="1300" dirty="0"/>
          </a:p>
        </p:txBody>
      </p:sp>
      <p:sp>
        <p:nvSpPr>
          <p:cNvPr id="10" name="Shape 7"/>
          <p:cNvSpPr/>
          <p:nvPr/>
        </p:nvSpPr>
        <p:spPr>
          <a:xfrm>
            <a:off x="4434840" y="1828800"/>
            <a:ext cx="3520440" cy="3840480"/>
          </a:xfrm>
          <a:prstGeom prst="roundRect">
            <a:avLst>
              <a:gd name="adj" fmla="val 3117"/>
            </a:avLst>
          </a:prstGeom>
          <a:solidFill>
            <a:srgbClr val="16335A"/>
          </a:solidFill>
          <a:ln w="12700">
            <a:solidFill>
              <a:srgbClr val="1E4170"/>
            </a:solidFill>
            <a:prstDash val="solid"/>
          </a:ln>
          <a:effectLst>
            <a:outerShdw blurRad="88900" dist="38100" dir="2700000" algn="bl" rotWithShape="0">
              <a:srgbClr val="0A1626">
                <a:alpha val="25000"/>
              </a:srgbClr>
            </a:outerShdw>
          </a:effectLst>
        </p:spPr>
        <p:txBody>
          <a:bodyPr/>
          <a:lstStyle/>
          <a:p>
            <a:endParaRPr lang="fr-FR"/>
          </a:p>
        </p:txBody>
      </p:sp>
      <p:sp>
        <p:nvSpPr>
          <p:cNvPr id="11" name="Text 8"/>
          <p:cNvSpPr/>
          <p:nvPr/>
        </p:nvSpPr>
        <p:spPr>
          <a:xfrm>
            <a:off x="6949440" y="2057400"/>
            <a:ext cx="822960" cy="822960"/>
          </a:xfrm>
          <a:prstGeom prst="rect">
            <a:avLst/>
          </a:prstGeom>
          <a:noFill/>
          <a:ln/>
        </p:spPr>
        <p:txBody>
          <a:bodyPr wrap="square" lIns="0" tIns="0" rIns="0" bIns="0" rtlCol="0" anchor="ctr"/>
          <a:lstStyle/>
          <a:p>
            <a:pPr marL="0" indent="0" algn="r">
              <a:buNone/>
            </a:pPr>
            <a:r>
              <a:rPr lang="en-US" sz="4000" b="1" dirty="0">
                <a:solidFill>
                  <a:srgbClr val="1E4170"/>
                </a:solidFill>
                <a:latin typeface="Bookman Old Style" pitchFamily="34" charset="0"/>
                <a:ea typeface="Bookman Old Style" pitchFamily="34" charset="-122"/>
                <a:cs typeface="Bookman Old Style" pitchFamily="34" charset="-120"/>
              </a:rPr>
              <a:t>2</a:t>
            </a:r>
            <a:endParaRPr lang="en-US" sz="4000" dirty="0"/>
          </a:p>
        </p:txBody>
      </p:sp>
      <p:sp>
        <p:nvSpPr>
          <p:cNvPr id="12" name="Shape 9"/>
          <p:cNvSpPr/>
          <p:nvPr/>
        </p:nvSpPr>
        <p:spPr>
          <a:xfrm>
            <a:off x="4846320" y="2286000"/>
            <a:ext cx="914400" cy="91440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3" name="Image 1" descr="preencoded.png"/>
          <p:cNvPicPr>
            <a:picLocks noChangeAspect="1"/>
          </p:cNvPicPr>
          <p:nvPr/>
        </p:nvPicPr>
        <p:blipFill>
          <a:blip r:embed="rId4"/>
          <a:stretch>
            <a:fillRect/>
          </a:stretch>
        </p:blipFill>
        <p:spPr>
          <a:xfrm>
            <a:off x="5084064" y="2523744"/>
            <a:ext cx="438912" cy="438912"/>
          </a:xfrm>
          <a:prstGeom prst="rect">
            <a:avLst/>
          </a:prstGeom>
        </p:spPr>
      </p:pic>
      <p:sp>
        <p:nvSpPr>
          <p:cNvPr id="14" name="Text 10"/>
          <p:cNvSpPr/>
          <p:nvPr/>
        </p:nvSpPr>
        <p:spPr>
          <a:xfrm>
            <a:off x="4800600" y="3429000"/>
            <a:ext cx="2788920" cy="731520"/>
          </a:xfrm>
          <a:prstGeom prst="rect">
            <a:avLst/>
          </a:prstGeom>
          <a:noFill/>
          <a:ln/>
        </p:spPr>
        <p:txBody>
          <a:bodyPr wrap="square" lIns="0" tIns="0" rIns="0" bIns="0" rtlCol="0" anchor="t"/>
          <a:lstStyle/>
          <a:p>
            <a:pPr marL="0" indent="0" algn="l">
              <a:buNone/>
            </a:pPr>
            <a:r>
              <a:rPr lang="en-US" sz="1700" b="1" dirty="0">
                <a:solidFill>
                  <a:srgbClr val="FFFFFF"/>
                </a:solidFill>
                <a:latin typeface="Calibri" pitchFamily="34" charset="0"/>
                <a:ea typeface="Calibri" pitchFamily="34" charset="-122"/>
                <a:cs typeface="Calibri" pitchFamily="34" charset="-120"/>
              </a:rPr>
              <a:t>FranceConnect</a:t>
            </a:r>
            <a:endParaRPr lang="en-US" sz="1700" dirty="0"/>
          </a:p>
        </p:txBody>
      </p:sp>
      <p:sp>
        <p:nvSpPr>
          <p:cNvPr id="15" name="Text 11"/>
          <p:cNvSpPr/>
          <p:nvPr/>
        </p:nvSpPr>
        <p:spPr>
          <a:xfrm>
            <a:off x="4800600" y="4160520"/>
            <a:ext cx="2788920" cy="1280160"/>
          </a:xfrm>
          <a:prstGeom prst="rect">
            <a:avLst/>
          </a:prstGeom>
          <a:noFill/>
          <a:ln/>
        </p:spPr>
        <p:txBody>
          <a:bodyPr wrap="square" lIns="0" tIns="0" rIns="0" bIns="0" rtlCol="0" anchor="t"/>
          <a:lstStyle/>
          <a:p>
            <a:pPr marL="0" indent="0" algn="l">
              <a:lnSpc>
                <a:spcPct val="110000"/>
              </a:lnSpc>
              <a:buNone/>
            </a:pPr>
            <a:r>
              <a:rPr lang="en-US" sz="1300" dirty="0">
                <a:solidFill>
                  <a:srgbClr val="B8C9DD"/>
                </a:solidFill>
                <a:latin typeface="Calibri" pitchFamily="34" charset="0"/>
                <a:ea typeface="Calibri" pitchFamily="34" charset="-122"/>
                <a:cs typeface="Calibri" pitchFamily="34" charset="-120"/>
              </a:rPr>
              <a:t>Vous réutilisez un autre compte (Impôts, La Poste…). Pas de nouveau mot de passe.</a:t>
            </a:r>
            <a:endParaRPr lang="en-US" sz="1300" dirty="0"/>
          </a:p>
        </p:txBody>
      </p:sp>
      <p:sp>
        <p:nvSpPr>
          <p:cNvPr id="16" name="Shape 12"/>
          <p:cNvSpPr/>
          <p:nvPr/>
        </p:nvSpPr>
        <p:spPr>
          <a:xfrm>
            <a:off x="8229600" y="1828800"/>
            <a:ext cx="3520440" cy="3840480"/>
          </a:xfrm>
          <a:prstGeom prst="roundRect">
            <a:avLst>
              <a:gd name="adj" fmla="val 3117"/>
            </a:avLst>
          </a:prstGeom>
          <a:solidFill>
            <a:srgbClr val="16335A"/>
          </a:solidFill>
          <a:ln w="12700">
            <a:solidFill>
              <a:srgbClr val="1E4170"/>
            </a:solidFill>
            <a:prstDash val="solid"/>
          </a:ln>
          <a:effectLst>
            <a:outerShdw blurRad="88900" dist="38100" dir="2700000" algn="bl" rotWithShape="0">
              <a:srgbClr val="0A1626">
                <a:alpha val="25000"/>
              </a:srgbClr>
            </a:outerShdw>
          </a:effectLst>
        </p:spPr>
        <p:txBody>
          <a:bodyPr/>
          <a:lstStyle/>
          <a:p>
            <a:endParaRPr lang="fr-FR"/>
          </a:p>
        </p:txBody>
      </p:sp>
      <p:sp>
        <p:nvSpPr>
          <p:cNvPr id="17" name="Text 13"/>
          <p:cNvSpPr/>
          <p:nvPr/>
        </p:nvSpPr>
        <p:spPr>
          <a:xfrm>
            <a:off x="10744200" y="2057400"/>
            <a:ext cx="822960" cy="822960"/>
          </a:xfrm>
          <a:prstGeom prst="rect">
            <a:avLst/>
          </a:prstGeom>
          <a:noFill/>
          <a:ln/>
        </p:spPr>
        <p:txBody>
          <a:bodyPr wrap="square" lIns="0" tIns="0" rIns="0" bIns="0" rtlCol="0" anchor="ctr"/>
          <a:lstStyle/>
          <a:p>
            <a:pPr marL="0" indent="0" algn="r">
              <a:buNone/>
            </a:pPr>
            <a:r>
              <a:rPr lang="en-US" sz="4000" b="1" dirty="0">
                <a:solidFill>
                  <a:srgbClr val="1E4170"/>
                </a:solidFill>
                <a:latin typeface="Bookman Old Style" pitchFamily="34" charset="0"/>
                <a:ea typeface="Bookman Old Style" pitchFamily="34" charset="-122"/>
                <a:cs typeface="Bookman Old Style" pitchFamily="34" charset="-120"/>
              </a:rPr>
              <a:t>3</a:t>
            </a:r>
            <a:endParaRPr lang="en-US" sz="4000" dirty="0"/>
          </a:p>
        </p:txBody>
      </p:sp>
      <p:sp>
        <p:nvSpPr>
          <p:cNvPr id="18" name="Shape 14"/>
          <p:cNvSpPr/>
          <p:nvPr/>
        </p:nvSpPr>
        <p:spPr>
          <a:xfrm>
            <a:off x="8641080" y="2286000"/>
            <a:ext cx="914400" cy="914400"/>
          </a:xfrm>
          <a:prstGeom prst="ellipse">
            <a:avLst/>
          </a:prstGeom>
          <a:solidFill>
            <a:srgbClr val="27D3DE"/>
          </a:solidFill>
          <a:ln/>
          <a:effectLst>
            <a:outerShdw blurRad="88900" dist="38100" dir="2700000" algn="bl" rotWithShape="0">
              <a:srgbClr val="0A1626">
                <a:alpha val="16000"/>
              </a:srgbClr>
            </a:outerShdw>
          </a:effectLst>
        </p:spPr>
        <p:txBody>
          <a:bodyPr/>
          <a:lstStyle/>
          <a:p>
            <a:endParaRPr lang="fr-FR"/>
          </a:p>
        </p:txBody>
      </p:sp>
      <p:pic>
        <p:nvPicPr>
          <p:cNvPr id="19" name="Image 2" descr="preencoded.png"/>
          <p:cNvPicPr>
            <a:picLocks noChangeAspect="1"/>
          </p:cNvPicPr>
          <p:nvPr/>
        </p:nvPicPr>
        <p:blipFill>
          <a:blip r:embed="rId5"/>
          <a:stretch>
            <a:fillRect/>
          </a:stretch>
        </p:blipFill>
        <p:spPr>
          <a:xfrm>
            <a:off x="8878824" y="2523744"/>
            <a:ext cx="438912" cy="438912"/>
          </a:xfrm>
          <a:prstGeom prst="rect">
            <a:avLst/>
          </a:prstGeom>
        </p:spPr>
      </p:pic>
      <p:sp>
        <p:nvSpPr>
          <p:cNvPr id="20" name="Text 15"/>
          <p:cNvSpPr/>
          <p:nvPr/>
        </p:nvSpPr>
        <p:spPr>
          <a:xfrm>
            <a:off x="8595360" y="3429000"/>
            <a:ext cx="2788920" cy="731520"/>
          </a:xfrm>
          <a:prstGeom prst="rect">
            <a:avLst/>
          </a:prstGeom>
          <a:noFill/>
          <a:ln/>
        </p:spPr>
        <p:txBody>
          <a:bodyPr wrap="square" lIns="0" tIns="0" rIns="0" bIns="0" rtlCol="0" anchor="t"/>
          <a:lstStyle/>
          <a:p>
            <a:pPr marL="0" indent="0" algn="l">
              <a:buNone/>
            </a:pPr>
            <a:r>
              <a:rPr lang="en-US" sz="1700" b="1" dirty="0">
                <a:solidFill>
                  <a:srgbClr val="FFFFFF"/>
                </a:solidFill>
                <a:latin typeface="Calibri" pitchFamily="34" charset="0"/>
                <a:ea typeface="Calibri" pitchFamily="34" charset="-122"/>
                <a:cs typeface="Calibri" pitchFamily="34" charset="-120"/>
              </a:rPr>
              <a:t>L'application mobile</a:t>
            </a:r>
            <a:endParaRPr lang="en-US" sz="1700" dirty="0"/>
          </a:p>
        </p:txBody>
      </p:sp>
      <p:sp>
        <p:nvSpPr>
          <p:cNvPr id="21" name="Text 16"/>
          <p:cNvSpPr/>
          <p:nvPr/>
        </p:nvSpPr>
        <p:spPr>
          <a:xfrm>
            <a:off x="8595360" y="4160520"/>
            <a:ext cx="2788920" cy="1280160"/>
          </a:xfrm>
          <a:prstGeom prst="rect">
            <a:avLst/>
          </a:prstGeom>
          <a:noFill/>
          <a:ln/>
        </p:spPr>
        <p:txBody>
          <a:bodyPr wrap="square" lIns="0" tIns="0" rIns="0" bIns="0" rtlCol="0" anchor="t"/>
          <a:lstStyle/>
          <a:p>
            <a:pPr marL="0" indent="0" algn="l">
              <a:lnSpc>
                <a:spcPct val="110000"/>
              </a:lnSpc>
              <a:buNone/>
            </a:pPr>
            <a:r>
              <a:rPr lang="en-US" sz="1300" dirty="0">
                <a:solidFill>
                  <a:srgbClr val="B8C9DD"/>
                </a:solidFill>
                <a:latin typeface="Calibri" pitchFamily="34" charset="0"/>
                <a:ea typeface="Calibri" pitchFamily="34" charset="-122"/>
                <a:cs typeface="Calibri" pitchFamily="34" charset="-120"/>
              </a:rPr>
              <a:t>L'appli « Compte ameli » sur le téléphone, avec un code à 4 chiffres.</a:t>
            </a:r>
            <a:endParaRPr lang="en-US" sz="1300" dirty="0"/>
          </a:p>
        </p:txBody>
      </p:sp>
      <p:sp>
        <p:nvSpPr>
          <p:cNvPr id="22" name="Text 17"/>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3" name="Text 18"/>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6 / 18</a:t>
            </a:r>
            <a:endParaRPr lang="en-US" sz="900" dirty="0"/>
          </a:p>
        </p:txBody>
      </p:sp>
      <p:sp>
        <p:nvSpPr>
          <p:cNvPr id="24" name="ZoneTexte 23">
            <a:extLst>
              <a:ext uri="{FF2B5EF4-FFF2-40B4-BE49-F238E27FC236}">
                <a16:creationId xmlns:a16="http://schemas.microsoft.com/office/drawing/2014/main" id="{FE14ABBD-C99F-53BD-B883-12D705262DC0}"/>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1 · ÉTAPE A</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Créer son compte Ameli</a:t>
            </a:r>
            <a:endParaRPr lang="en-US" sz="3000" dirty="0"/>
          </a:p>
        </p:txBody>
      </p:sp>
      <p:sp>
        <p:nvSpPr>
          <p:cNvPr id="4" name="Shape 2"/>
          <p:cNvSpPr/>
          <p:nvPr/>
        </p:nvSpPr>
        <p:spPr>
          <a:xfrm>
            <a:off x="640080" y="1554480"/>
            <a:ext cx="5029200" cy="4297680"/>
          </a:xfrm>
          <a:prstGeom prst="roundRect">
            <a:avLst>
              <a:gd name="adj" fmla="val 1702"/>
            </a:avLst>
          </a:prstGeom>
          <a:solidFill>
            <a:srgbClr val="FFFFFF"/>
          </a:solidFill>
          <a:ln w="12700">
            <a:solidFill>
              <a:srgbClr val="DCE4ED"/>
            </a:solidFill>
            <a:prstDash val="solid"/>
          </a:ln>
          <a:effectLst>
            <a:outerShdw blurRad="88900" dist="38100" dir="2700000" algn="bl" rotWithShape="0">
              <a:srgbClr val="0A1626">
                <a:alpha val="18000"/>
              </a:srgbClr>
            </a:outerShdw>
          </a:effectLst>
        </p:spPr>
        <p:txBody>
          <a:bodyPr/>
          <a:lstStyle/>
          <a:p>
            <a:endParaRPr lang="fr-FR"/>
          </a:p>
        </p:txBody>
      </p:sp>
      <p:sp>
        <p:nvSpPr>
          <p:cNvPr id="5" name="Shape 3"/>
          <p:cNvSpPr/>
          <p:nvPr/>
        </p:nvSpPr>
        <p:spPr>
          <a:xfrm>
            <a:off x="640080" y="1554480"/>
            <a:ext cx="5029200" cy="384048"/>
          </a:xfrm>
          <a:prstGeom prst="rect">
            <a:avLst/>
          </a:prstGeom>
          <a:solidFill>
            <a:srgbClr val="EDF1F6"/>
          </a:solidFill>
          <a:ln/>
        </p:spPr>
        <p:txBody>
          <a:bodyPr/>
          <a:lstStyle/>
          <a:p>
            <a:endParaRPr lang="fr-FR"/>
          </a:p>
        </p:txBody>
      </p:sp>
      <p:sp>
        <p:nvSpPr>
          <p:cNvPr id="6" name="Shape 4"/>
          <p:cNvSpPr/>
          <p:nvPr/>
        </p:nvSpPr>
        <p:spPr>
          <a:xfrm>
            <a:off x="786384" y="1682496"/>
            <a:ext cx="118872" cy="118872"/>
          </a:xfrm>
          <a:prstGeom prst="ellipse">
            <a:avLst/>
          </a:prstGeom>
          <a:solidFill>
            <a:srgbClr val="E06C5E"/>
          </a:solidFill>
          <a:ln/>
        </p:spPr>
        <p:txBody>
          <a:bodyPr/>
          <a:lstStyle/>
          <a:p>
            <a:endParaRPr lang="fr-FR"/>
          </a:p>
        </p:txBody>
      </p:sp>
      <p:sp>
        <p:nvSpPr>
          <p:cNvPr id="7" name="Shape 5"/>
          <p:cNvSpPr/>
          <p:nvPr/>
        </p:nvSpPr>
        <p:spPr>
          <a:xfrm>
            <a:off x="987552" y="1682496"/>
            <a:ext cx="118872" cy="118872"/>
          </a:xfrm>
          <a:prstGeom prst="ellipse">
            <a:avLst/>
          </a:prstGeom>
          <a:solidFill>
            <a:srgbClr val="E6B23C"/>
          </a:solidFill>
          <a:ln/>
        </p:spPr>
        <p:txBody>
          <a:bodyPr/>
          <a:lstStyle/>
          <a:p>
            <a:endParaRPr lang="fr-FR"/>
          </a:p>
        </p:txBody>
      </p:sp>
      <p:sp>
        <p:nvSpPr>
          <p:cNvPr id="8" name="Shape 6"/>
          <p:cNvSpPr/>
          <p:nvPr/>
        </p:nvSpPr>
        <p:spPr>
          <a:xfrm>
            <a:off x="1188720" y="1682496"/>
            <a:ext cx="118872" cy="118872"/>
          </a:xfrm>
          <a:prstGeom prst="ellipse">
            <a:avLst/>
          </a:prstGeom>
          <a:solidFill>
            <a:srgbClr val="5BB85B"/>
          </a:solidFill>
          <a:ln/>
        </p:spPr>
        <p:txBody>
          <a:bodyPr/>
          <a:lstStyle/>
          <a:p>
            <a:endParaRPr lang="fr-FR"/>
          </a:p>
        </p:txBody>
      </p:sp>
      <p:sp>
        <p:nvSpPr>
          <p:cNvPr id="9" name="Shape 7"/>
          <p:cNvSpPr/>
          <p:nvPr/>
        </p:nvSpPr>
        <p:spPr>
          <a:xfrm>
            <a:off x="1508760" y="1636776"/>
            <a:ext cx="3977640" cy="219456"/>
          </a:xfrm>
          <a:prstGeom prst="roundRect">
            <a:avLst>
              <a:gd name="adj" fmla="val 20833"/>
            </a:avLst>
          </a:prstGeom>
          <a:solidFill>
            <a:srgbClr val="FFFFFF"/>
          </a:solidFill>
          <a:ln w="9525">
            <a:solidFill>
              <a:srgbClr val="DCE4ED"/>
            </a:solidFill>
            <a:prstDash val="solid"/>
          </a:ln>
        </p:spPr>
        <p:txBody>
          <a:bodyPr/>
          <a:lstStyle/>
          <a:p>
            <a:endParaRPr lang="fr-FR"/>
          </a:p>
        </p:txBody>
      </p:sp>
      <p:sp>
        <p:nvSpPr>
          <p:cNvPr id="10" name="Text 8"/>
          <p:cNvSpPr/>
          <p:nvPr/>
        </p:nvSpPr>
        <p:spPr>
          <a:xfrm>
            <a:off x="1600200" y="1627632"/>
            <a:ext cx="3840480" cy="219456"/>
          </a:xfrm>
          <a:prstGeom prst="rect">
            <a:avLst/>
          </a:prstGeom>
          <a:noFill/>
          <a:ln/>
        </p:spPr>
        <p:txBody>
          <a:bodyPr wrap="square" lIns="0" tIns="0" rIns="0" bIns="0" rtlCol="0" anchor="ctr"/>
          <a:lstStyle/>
          <a:p>
            <a:pPr marL="0" indent="0" algn="l">
              <a:buNone/>
            </a:pPr>
            <a:r>
              <a:rPr lang="en-US" sz="950" dirty="0">
                <a:solidFill>
                  <a:srgbClr val="3AA055"/>
                </a:solidFill>
                <a:latin typeface="Calibri" pitchFamily="34" charset="0"/>
                <a:ea typeface="Calibri" pitchFamily="34" charset="-122"/>
                <a:cs typeface="Calibri" pitchFamily="34" charset="-120"/>
              </a:rPr>
              <a:t>🔒  </a:t>
            </a:r>
            <a:r>
              <a:rPr lang="en-US" sz="950" dirty="0">
                <a:solidFill>
                  <a:srgbClr val="5B7088"/>
                </a:solidFill>
                <a:latin typeface="Calibri" pitchFamily="34" charset="0"/>
                <a:ea typeface="Calibri" pitchFamily="34" charset="-122"/>
                <a:cs typeface="Calibri" pitchFamily="34" charset="-120"/>
              </a:rPr>
              <a:t>assure.ameli.fr</a:t>
            </a:r>
            <a:endParaRPr lang="en-US" sz="950" dirty="0"/>
          </a:p>
        </p:txBody>
      </p:sp>
      <p:sp>
        <p:nvSpPr>
          <p:cNvPr id="11" name="Text 9"/>
          <p:cNvSpPr/>
          <p:nvPr/>
        </p:nvSpPr>
        <p:spPr>
          <a:xfrm>
            <a:off x="914400" y="2148840"/>
            <a:ext cx="4480560" cy="365760"/>
          </a:xfrm>
          <a:prstGeom prst="rect">
            <a:avLst/>
          </a:prstGeom>
          <a:noFill/>
          <a:ln/>
        </p:spPr>
        <p:txBody>
          <a:bodyPr wrap="square" lIns="0" tIns="0" rIns="0" bIns="0" rtlCol="0" anchor="ctr"/>
          <a:lstStyle/>
          <a:p>
            <a:pPr marL="0" indent="0">
              <a:buNone/>
            </a:pPr>
            <a:r>
              <a:rPr lang="en-US" sz="1400" b="1" dirty="0">
                <a:solidFill>
                  <a:srgbClr val="13294B"/>
                </a:solidFill>
                <a:latin typeface="Calibri" pitchFamily="34" charset="0"/>
                <a:ea typeface="Calibri" pitchFamily="34" charset="-122"/>
                <a:cs typeface="Calibri" pitchFamily="34" charset="-120"/>
              </a:rPr>
              <a:t>Création de mon compte</a:t>
            </a:r>
            <a:endParaRPr lang="en-US" sz="1400" dirty="0"/>
          </a:p>
        </p:txBody>
      </p:sp>
      <p:sp>
        <p:nvSpPr>
          <p:cNvPr id="12" name="Text 10"/>
          <p:cNvSpPr/>
          <p:nvPr/>
        </p:nvSpPr>
        <p:spPr>
          <a:xfrm>
            <a:off x="914400" y="2606040"/>
            <a:ext cx="44805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Numéro de sécurité sociale</a:t>
            </a:r>
            <a:endParaRPr lang="en-US" sz="950" dirty="0"/>
          </a:p>
        </p:txBody>
      </p:sp>
      <p:sp>
        <p:nvSpPr>
          <p:cNvPr id="13" name="Shape 11"/>
          <p:cNvSpPr/>
          <p:nvPr/>
        </p:nvSpPr>
        <p:spPr>
          <a:xfrm>
            <a:off x="914400" y="2825496"/>
            <a:ext cx="44805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14" name="Text 12"/>
          <p:cNvSpPr/>
          <p:nvPr/>
        </p:nvSpPr>
        <p:spPr>
          <a:xfrm>
            <a:off x="1024128" y="2825496"/>
            <a:ext cx="42976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2 55 08 23 ...</a:t>
            </a:r>
            <a:endParaRPr lang="en-US" sz="1050" dirty="0"/>
          </a:p>
        </p:txBody>
      </p:sp>
      <p:sp>
        <p:nvSpPr>
          <p:cNvPr id="15" name="Text 13"/>
          <p:cNvSpPr/>
          <p:nvPr/>
        </p:nvSpPr>
        <p:spPr>
          <a:xfrm>
            <a:off x="914400" y="3291840"/>
            <a:ext cx="44805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Date de naissance</a:t>
            </a:r>
            <a:endParaRPr lang="en-US" sz="950" dirty="0"/>
          </a:p>
        </p:txBody>
      </p:sp>
      <p:sp>
        <p:nvSpPr>
          <p:cNvPr id="16" name="Shape 14"/>
          <p:cNvSpPr/>
          <p:nvPr/>
        </p:nvSpPr>
        <p:spPr>
          <a:xfrm>
            <a:off x="914400" y="3511296"/>
            <a:ext cx="44805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17" name="Text 15"/>
          <p:cNvSpPr/>
          <p:nvPr/>
        </p:nvSpPr>
        <p:spPr>
          <a:xfrm>
            <a:off x="1024128" y="3511296"/>
            <a:ext cx="42976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JJ / MM / AAAA</a:t>
            </a:r>
            <a:endParaRPr lang="en-US" sz="1050" dirty="0"/>
          </a:p>
        </p:txBody>
      </p:sp>
      <p:sp>
        <p:nvSpPr>
          <p:cNvPr id="18" name="Text 16"/>
          <p:cNvSpPr/>
          <p:nvPr/>
        </p:nvSpPr>
        <p:spPr>
          <a:xfrm>
            <a:off x="914400" y="3977640"/>
            <a:ext cx="44805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Adresse e-mail</a:t>
            </a:r>
            <a:endParaRPr lang="en-US" sz="950" dirty="0"/>
          </a:p>
        </p:txBody>
      </p:sp>
      <p:sp>
        <p:nvSpPr>
          <p:cNvPr id="19" name="Shape 17"/>
          <p:cNvSpPr/>
          <p:nvPr/>
        </p:nvSpPr>
        <p:spPr>
          <a:xfrm>
            <a:off x="914400" y="4197096"/>
            <a:ext cx="44805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20" name="Text 18"/>
          <p:cNvSpPr/>
          <p:nvPr/>
        </p:nvSpPr>
        <p:spPr>
          <a:xfrm>
            <a:off x="1024128" y="4197096"/>
            <a:ext cx="42976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prenom.nom@mail.fr</a:t>
            </a:r>
            <a:endParaRPr lang="en-US" sz="1050" dirty="0"/>
          </a:p>
        </p:txBody>
      </p:sp>
      <p:sp>
        <p:nvSpPr>
          <p:cNvPr id="21" name="Shape 19"/>
          <p:cNvSpPr/>
          <p:nvPr/>
        </p:nvSpPr>
        <p:spPr>
          <a:xfrm>
            <a:off x="914400" y="4800600"/>
            <a:ext cx="4480560" cy="502920"/>
          </a:xfrm>
          <a:prstGeom prst="roundRect">
            <a:avLst>
              <a:gd name="adj" fmla="val 9091"/>
            </a:avLst>
          </a:prstGeom>
          <a:solidFill>
            <a:srgbClr val="0F8B8D"/>
          </a:solidFill>
          <a:ln/>
        </p:spPr>
        <p:txBody>
          <a:bodyPr/>
          <a:lstStyle/>
          <a:p>
            <a:endParaRPr lang="fr-FR"/>
          </a:p>
        </p:txBody>
      </p:sp>
      <p:sp>
        <p:nvSpPr>
          <p:cNvPr id="22" name="Text 20"/>
          <p:cNvSpPr/>
          <p:nvPr/>
        </p:nvSpPr>
        <p:spPr>
          <a:xfrm>
            <a:off x="914400" y="4800600"/>
            <a:ext cx="448056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Créer mon compte</a:t>
            </a:r>
            <a:endParaRPr lang="en-US" sz="1100" dirty="0"/>
          </a:p>
        </p:txBody>
      </p:sp>
      <p:sp>
        <p:nvSpPr>
          <p:cNvPr id="23" name="Shape 21"/>
          <p:cNvSpPr/>
          <p:nvPr/>
        </p:nvSpPr>
        <p:spPr>
          <a:xfrm>
            <a:off x="6080760" y="1691640"/>
            <a:ext cx="502920" cy="502920"/>
          </a:xfrm>
          <a:prstGeom prst="ellipse">
            <a:avLst/>
          </a:prstGeom>
          <a:solidFill>
            <a:srgbClr val="0F8B8D"/>
          </a:solidFill>
          <a:ln/>
        </p:spPr>
        <p:txBody>
          <a:bodyPr/>
          <a:lstStyle/>
          <a:p>
            <a:endParaRPr lang="fr-FR"/>
          </a:p>
        </p:txBody>
      </p:sp>
      <p:sp>
        <p:nvSpPr>
          <p:cNvPr id="24" name="Text 22"/>
          <p:cNvSpPr/>
          <p:nvPr/>
        </p:nvSpPr>
        <p:spPr>
          <a:xfrm>
            <a:off x="6080760" y="1691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25" name="Text 23"/>
          <p:cNvSpPr/>
          <p:nvPr/>
        </p:nvSpPr>
        <p:spPr>
          <a:xfrm>
            <a:off x="6766560" y="1655064"/>
            <a:ext cx="48463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Allez sur assure.ameli.fr</a:t>
            </a:r>
            <a:endParaRPr lang="en-US" sz="1500" dirty="0"/>
          </a:p>
        </p:txBody>
      </p:sp>
      <p:sp>
        <p:nvSpPr>
          <p:cNvPr id="26" name="Text 24"/>
          <p:cNvSpPr/>
          <p:nvPr/>
        </p:nvSpPr>
        <p:spPr>
          <a:xfrm>
            <a:off x="6766560" y="2075688"/>
            <a:ext cx="48463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Tapez l'adresse dans la barre du navigateur, puis cliquez sur « Créer un compte ».</a:t>
            </a:r>
            <a:endParaRPr lang="en-US" sz="1250" dirty="0"/>
          </a:p>
        </p:txBody>
      </p:sp>
      <p:sp>
        <p:nvSpPr>
          <p:cNvPr id="27" name="Shape 25"/>
          <p:cNvSpPr/>
          <p:nvPr/>
        </p:nvSpPr>
        <p:spPr>
          <a:xfrm>
            <a:off x="6080760" y="3063240"/>
            <a:ext cx="502920" cy="502920"/>
          </a:xfrm>
          <a:prstGeom prst="ellipse">
            <a:avLst/>
          </a:prstGeom>
          <a:solidFill>
            <a:srgbClr val="0F8B8D"/>
          </a:solidFill>
          <a:ln/>
        </p:spPr>
        <p:txBody>
          <a:bodyPr/>
          <a:lstStyle/>
          <a:p>
            <a:endParaRPr lang="fr-FR"/>
          </a:p>
        </p:txBody>
      </p:sp>
      <p:sp>
        <p:nvSpPr>
          <p:cNvPr id="28" name="Text 26"/>
          <p:cNvSpPr/>
          <p:nvPr/>
        </p:nvSpPr>
        <p:spPr>
          <a:xfrm>
            <a:off x="6080760" y="3063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29" name="Text 27"/>
          <p:cNvSpPr/>
          <p:nvPr/>
        </p:nvSpPr>
        <p:spPr>
          <a:xfrm>
            <a:off x="6766560" y="3026664"/>
            <a:ext cx="48463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Renseignez vos informations</a:t>
            </a:r>
            <a:endParaRPr lang="en-US" sz="1500" dirty="0"/>
          </a:p>
        </p:txBody>
      </p:sp>
      <p:sp>
        <p:nvSpPr>
          <p:cNvPr id="30" name="Text 28"/>
          <p:cNvSpPr/>
          <p:nvPr/>
        </p:nvSpPr>
        <p:spPr>
          <a:xfrm>
            <a:off x="6766560" y="3447288"/>
            <a:ext cx="48463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Numéro de Sécu, date de naissance et votre adresse e-mail.</a:t>
            </a:r>
            <a:endParaRPr lang="en-US" sz="1250" dirty="0"/>
          </a:p>
        </p:txBody>
      </p:sp>
      <p:sp>
        <p:nvSpPr>
          <p:cNvPr id="31" name="Shape 29"/>
          <p:cNvSpPr/>
          <p:nvPr/>
        </p:nvSpPr>
        <p:spPr>
          <a:xfrm>
            <a:off x="6080760" y="4434840"/>
            <a:ext cx="502920" cy="502920"/>
          </a:xfrm>
          <a:prstGeom prst="ellipse">
            <a:avLst/>
          </a:prstGeom>
          <a:solidFill>
            <a:srgbClr val="0F8B8D"/>
          </a:solidFill>
          <a:ln/>
        </p:spPr>
        <p:txBody>
          <a:bodyPr/>
          <a:lstStyle/>
          <a:p>
            <a:endParaRPr lang="fr-FR"/>
          </a:p>
        </p:txBody>
      </p:sp>
      <p:sp>
        <p:nvSpPr>
          <p:cNvPr id="32" name="Text 30"/>
          <p:cNvSpPr/>
          <p:nvPr/>
        </p:nvSpPr>
        <p:spPr>
          <a:xfrm>
            <a:off x="6080760" y="4434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33" name="Text 31"/>
          <p:cNvSpPr/>
          <p:nvPr/>
        </p:nvSpPr>
        <p:spPr>
          <a:xfrm>
            <a:off x="6766560" y="4398264"/>
            <a:ext cx="48463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Validez</a:t>
            </a:r>
            <a:endParaRPr lang="en-US" sz="1500" dirty="0"/>
          </a:p>
        </p:txBody>
      </p:sp>
      <p:sp>
        <p:nvSpPr>
          <p:cNvPr id="34" name="Text 32"/>
          <p:cNvSpPr/>
          <p:nvPr/>
        </p:nvSpPr>
        <p:spPr>
          <a:xfrm>
            <a:off x="6766560" y="4818888"/>
            <a:ext cx="48463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Cliquez sur « Créer mon compte ». Un e-mail va vous être envoyé.</a:t>
            </a:r>
            <a:endParaRPr lang="en-US" sz="1250" dirty="0"/>
          </a:p>
        </p:txBody>
      </p:sp>
      <p:sp>
        <p:nvSpPr>
          <p:cNvPr id="35" name="Text 33"/>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36" name="Text 34"/>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7 / 18</a:t>
            </a:r>
            <a:endParaRPr lang="en-US" sz="900" dirty="0"/>
          </a:p>
        </p:txBody>
      </p:sp>
      <p:sp>
        <p:nvSpPr>
          <p:cNvPr id="37" name="ZoneTexte 36">
            <a:extLst>
              <a:ext uri="{FF2B5EF4-FFF2-40B4-BE49-F238E27FC236}">
                <a16:creationId xmlns:a16="http://schemas.microsoft.com/office/drawing/2014/main" id="{A500EA38-9F8C-48B9-8D46-030A7420A380}"/>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1 · ÉTAPE B</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Activer son compte depuis l'e-mail</a:t>
            </a:r>
            <a:endParaRPr lang="en-US" sz="3000" dirty="0"/>
          </a:p>
        </p:txBody>
      </p:sp>
      <p:sp>
        <p:nvSpPr>
          <p:cNvPr id="4" name="Shape 2"/>
          <p:cNvSpPr/>
          <p:nvPr/>
        </p:nvSpPr>
        <p:spPr>
          <a:xfrm>
            <a:off x="6217920" y="1554480"/>
            <a:ext cx="5303520" cy="4114800"/>
          </a:xfrm>
          <a:prstGeom prst="roundRect">
            <a:avLst>
              <a:gd name="adj" fmla="val 1778"/>
            </a:avLst>
          </a:prstGeom>
          <a:solidFill>
            <a:srgbClr val="FFFFFF"/>
          </a:solidFill>
          <a:ln w="12700">
            <a:solidFill>
              <a:srgbClr val="DCE4ED"/>
            </a:solidFill>
            <a:prstDash val="solid"/>
          </a:ln>
          <a:effectLst>
            <a:outerShdw blurRad="88900" dist="38100" dir="2700000" algn="bl" rotWithShape="0">
              <a:srgbClr val="0A1626">
                <a:alpha val="18000"/>
              </a:srgbClr>
            </a:outerShdw>
          </a:effectLst>
        </p:spPr>
        <p:txBody>
          <a:bodyPr/>
          <a:lstStyle/>
          <a:p>
            <a:endParaRPr lang="fr-FR"/>
          </a:p>
        </p:txBody>
      </p:sp>
      <p:sp>
        <p:nvSpPr>
          <p:cNvPr id="5" name="Shape 3"/>
          <p:cNvSpPr/>
          <p:nvPr/>
        </p:nvSpPr>
        <p:spPr>
          <a:xfrm>
            <a:off x="6217920" y="1554480"/>
            <a:ext cx="5303520" cy="384048"/>
          </a:xfrm>
          <a:prstGeom prst="rect">
            <a:avLst/>
          </a:prstGeom>
          <a:solidFill>
            <a:srgbClr val="EDF1F6"/>
          </a:solidFill>
          <a:ln/>
        </p:spPr>
        <p:txBody>
          <a:bodyPr/>
          <a:lstStyle/>
          <a:p>
            <a:endParaRPr lang="fr-FR"/>
          </a:p>
        </p:txBody>
      </p:sp>
      <p:sp>
        <p:nvSpPr>
          <p:cNvPr id="6" name="Shape 4"/>
          <p:cNvSpPr/>
          <p:nvPr/>
        </p:nvSpPr>
        <p:spPr>
          <a:xfrm>
            <a:off x="6364224" y="1682496"/>
            <a:ext cx="118872" cy="118872"/>
          </a:xfrm>
          <a:prstGeom prst="ellipse">
            <a:avLst/>
          </a:prstGeom>
          <a:solidFill>
            <a:srgbClr val="E06C5E"/>
          </a:solidFill>
          <a:ln/>
        </p:spPr>
        <p:txBody>
          <a:bodyPr/>
          <a:lstStyle/>
          <a:p>
            <a:endParaRPr lang="fr-FR"/>
          </a:p>
        </p:txBody>
      </p:sp>
      <p:sp>
        <p:nvSpPr>
          <p:cNvPr id="7" name="Shape 5"/>
          <p:cNvSpPr/>
          <p:nvPr/>
        </p:nvSpPr>
        <p:spPr>
          <a:xfrm>
            <a:off x="6565392" y="1682496"/>
            <a:ext cx="118872" cy="118872"/>
          </a:xfrm>
          <a:prstGeom prst="ellipse">
            <a:avLst/>
          </a:prstGeom>
          <a:solidFill>
            <a:srgbClr val="E6B23C"/>
          </a:solidFill>
          <a:ln/>
        </p:spPr>
        <p:txBody>
          <a:bodyPr/>
          <a:lstStyle/>
          <a:p>
            <a:endParaRPr lang="fr-FR"/>
          </a:p>
        </p:txBody>
      </p:sp>
      <p:sp>
        <p:nvSpPr>
          <p:cNvPr id="8" name="Shape 6"/>
          <p:cNvSpPr/>
          <p:nvPr/>
        </p:nvSpPr>
        <p:spPr>
          <a:xfrm>
            <a:off x="6766560" y="1682496"/>
            <a:ext cx="118872" cy="118872"/>
          </a:xfrm>
          <a:prstGeom prst="ellipse">
            <a:avLst/>
          </a:prstGeom>
          <a:solidFill>
            <a:srgbClr val="5BB85B"/>
          </a:solidFill>
          <a:ln/>
        </p:spPr>
        <p:txBody>
          <a:bodyPr/>
          <a:lstStyle/>
          <a:p>
            <a:endParaRPr lang="fr-FR"/>
          </a:p>
        </p:txBody>
      </p:sp>
      <p:sp>
        <p:nvSpPr>
          <p:cNvPr id="9" name="Shape 7"/>
          <p:cNvSpPr/>
          <p:nvPr/>
        </p:nvSpPr>
        <p:spPr>
          <a:xfrm>
            <a:off x="7086600" y="1636776"/>
            <a:ext cx="4251960" cy="219456"/>
          </a:xfrm>
          <a:prstGeom prst="roundRect">
            <a:avLst>
              <a:gd name="adj" fmla="val 20833"/>
            </a:avLst>
          </a:prstGeom>
          <a:solidFill>
            <a:srgbClr val="FFFFFF"/>
          </a:solidFill>
          <a:ln w="9525">
            <a:solidFill>
              <a:srgbClr val="DCE4ED"/>
            </a:solidFill>
            <a:prstDash val="solid"/>
          </a:ln>
        </p:spPr>
        <p:txBody>
          <a:bodyPr/>
          <a:lstStyle/>
          <a:p>
            <a:endParaRPr lang="fr-FR"/>
          </a:p>
        </p:txBody>
      </p:sp>
      <p:sp>
        <p:nvSpPr>
          <p:cNvPr id="10" name="Text 8"/>
          <p:cNvSpPr/>
          <p:nvPr/>
        </p:nvSpPr>
        <p:spPr>
          <a:xfrm>
            <a:off x="7178040" y="1627632"/>
            <a:ext cx="4114800" cy="219456"/>
          </a:xfrm>
          <a:prstGeom prst="rect">
            <a:avLst/>
          </a:prstGeom>
          <a:noFill/>
          <a:ln/>
        </p:spPr>
        <p:txBody>
          <a:bodyPr wrap="square" lIns="0" tIns="0" rIns="0" bIns="0" rtlCol="0" anchor="ctr"/>
          <a:lstStyle/>
          <a:p>
            <a:pPr marL="0" indent="0" algn="l">
              <a:buNone/>
            </a:pPr>
            <a:r>
              <a:rPr lang="en-US" sz="950" dirty="0">
                <a:solidFill>
                  <a:srgbClr val="3AA055"/>
                </a:solidFill>
                <a:latin typeface="Calibri" pitchFamily="34" charset="0"/>
                <a:ea typeface="Calibri" pitchFamily="34" charset="-122"/>
                <a:cs typeface="Calibri" pitchFamily="34" charset="-120"/>
              </a:rPr>
              <a:t>🔒  </a:t>
            </a:r>
            <a:r>
              <a:rPr lang="en-US" sz="950" dirty="0">
                <a:solidFill>
                  <a:srgbClr val="5B7088"/>
                </a:solidFill>
                <a:latin typeface="Calibri" pitchFamily="34" charset="0"/>
                <a:ea typeface="Calibri" pitchFamily="34" charset="-122"/>
                <a:cs typeface="Calibri" pitchFamily="34" charset="-120"/>
              </a:rPr>
              <a:t>boîte mail</a:t>
            </a:r>
            <a:endParaRPr lang="en-US" sz="950" dirty="0"/>
          </a:p>
        </p:txBody>
      </p:sp>
      <p:sp>
        <p:nvSpPr>
          <p:cNvPr id="11" name="Shape 9"/>
          <p:cNvSpPr/>
          <p:nvPr/>
        </p:nvSpPr>
        <p:spPr>
          <a:xfrm>
            <a:off x="6583680" y="2057400"/>
            <a:ext cx="640080" cy="64008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2" name="Image 0" descr="preencoded.png"/>
          <p:cNvPicPr>
            <a:picLocks noChangeAspect="1"/>
          </p:cNvPicPr>
          <p:nvPr/>
        </p:nvPicPr>
        <p:blipFill>
          <a:blip r:embed="rId3"/>
          <a:stretch>
            <a:fillRect/>
          </a:stretch>
        </p:blipFill>
        <p:spPr>
          <a:xfrm>
            <a:off x="6750101" y="2223821"/>
            <a:ext cx="307238" cy="307238"/>
          </a:xfrm>
          <a:prstGeom prst="rect">
            <a:avLst/>
          </a:prstGeom>
        </p:spPr>
      </p:pic>
      <p:sp>
        <p:nvSpPr>
          <p:cNvPr id="13" name="Text 10"/>
          <p:cNvSpPr/>
          <p:nvPr/>
        </p:nvSpPr>
        <p:spPr>
          <a:xfrm>
            <a:off x="7360920" y="2103120"/>
            <a:ext cx="3840480" cy="274320"/>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Assurance Maladie</a:t>
            </a:r>
            <a:endParaRPr lang="en-US" sz="1200" dirty="0"/>
          </a:p>
        </p:txBody>
      </p:sp>
      <p:sp>
        <p:nvSpPr>
          <p:cNvPr id="14" name="Text 11"/>
          <p:cNvSpPr/>
          <p:nvPr/>
        </p:nvSpPr>
        <p:spPr>
          <a:xfrm>
            <a:off x="7360920" y="2359152"/>
            <a:ext cx="3840480" cy="274320"/>
          </a:xfrm>
          <a:prstGeom prst="rect">
            <a:avLst/>
          </a:prstGeom>
          <a:noFill/>
          <a:ln/>
        </p:spPr>
        <p:txBody>
          <a:bodyPr wrap="square" lIns="0" tIns="0" rIns="0" bIns="0" rtlCol="0" anchor="ctr"/>
          <a:lstStyle/>
          <a:p>
            <a:pPr marL="0" indent="0">
              <a:buNone/>
            </a:pPr>
            <a:r>
              <a:rPr lang="en-US" sz="1100" dirty="0">
                <a:solidFill>
                  <a:srgbClr val="5B7088"/>
                </a:solidFill>
                <a:latin typeface="Calibri" pitchFamily="34" charset="0"/>
                <a:ea typeface="Calibri" pitchFamily="34" charset="-122"/>
                <a:cs typeface="Calibri" pitchFamily="34" charset="-120"/>
              </a:rPr>
              <a:t>Activez votre compte ameli</a:t>
            </a:r>
            <a:endParaRPr lang="en-US" sz="1100" dirty="0"/>
          </a:p>
        </p:txBody>
      </p:sp>
      <p:sp>
        <p:nvSpPr>
          <p:cNvPr id="15" name="Shape 12"/>
          <p:cNvSpPr/>
          <p:nvPr/>
        </p:nvSpPr>
        <p:spPr>
          <a:xfrm>
            <a:off x="6583680" y="2880360"/>
            <a:ext cx="4663440" cy="0"/>
          </a:xfrm>
          <a:prstGeom prst="line">
            <a:avLst/>
          </a:prstGeom>
          <a:noFill/>
          <a:ln w="12700">
            <a:solidFill>
              <a:srgbClr val="DCE4ED"/>
            </a:solidFill>
            <a:prstDash val="solid"/>
          </a:ln>
        </p:spPr>
        <p:txBody>
          <a:bodyPr/>
          <a:lstStyle/>
          <a:p>
            <a:endParaRPr lang="fr-FR"/>
          </a:p>
        </p:txBody>
      </p:sp>
      <p:sp>
        <p:nvSpPr>
          <p:cNvPr id="16" name="Text 13"/>
          <p:cNvSpPr/>
          <p:nvPr/>
        </p:nvSpPr>
        <p:spPr>
          <a:xfrm>
            <a:off x="6583680" y="3017520"/>
            <a:ext cx="4663440" cy="640080"/>
          </a:xfrm>
          <a:prstGeom prst="rect">
            <a:avLst/>
          </a:prstGeom>
          <a:noFill/>
          <a:ln/>
        </p:spPr>
        <p:txBody>
          <a:bodyPr wrap="square" lIns="0" tIns="0" rIns="0" bIns="0" rtlCol="0" anchor="t"/>
          <a:lstStyle/>
          <a:p>
            <a:pPr marL="0" indent="0">
              <a:buNone/>
            </a:pPr>
            <a:r>
              <a:rPr lang="en-US" sz="1200" dirty="0">
                <a:solidFill>
                  <a:srgbClr val="13294B"/>
                </a:solidFill>
                <a:latin typeface="Calibri" pitchFamily="34" charset="0"/>
                <a:ea typeface="Calibri" pitchFamily="34" charset="-122"/>
                <a:cs typeface="Calibri" pitchFamily="34" charset="-120"/>
              </a:rPr>
              <a:t>Bonjour, pour terminer la création de votre compte, cliquez sur le bouton ci-dessous :</a:t>
            </a:r>
            <a:endParaRPr lang="en-US" sz="1200" dirty="0"/>
          </a:p>
        </p:txBody>
      </p:sp>
      <p:sp>
        <p:nvSpPr>
          <p:cNvPr id="17" name="Shape 14"/>
          <p:cNvSpPr/>
          <p:nvPr/>
        </p:nvSpPr>
        <p:spPr>
          <a:xfrm>
            <a:off x="6583680" y="3794760"/>
            <a:ext cx="2926080" cy="502920"/>
          </a:xfrm>
          <a:prstGeom prst="roundRect">
            <a:avLst>
              <a:gd name="adj" fmla="val 9091"/>
            </a:avLst>
          </a:prstGeom>
          <a:solidFill>
            <a:srgbClr val="3AA055"/>
          </a:solidFill>
          <a:ln/>
        </p:spPr>
        <p:txBody>
          <a:bodyPr/>
          <a:lstStyle/>
          <a:p>
            <a:endParaRPr lang="fr-FR"/>
          </a:p>
        </p:txBody>
      </p:sp>
      <p:sp>
        <p:nvSpPr>
          <p:cNvPr id="18" name="Text 15"/>
          <p:cNvSpPr/>
          <p:nvPr/>
        </p:nvSpPr>
        <p:spPr>
          <a:xfrm>
            <a:off x="6583680" y="3794760"/>
            <a:ext cx="29260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Activer mon compte</a:t>
            </a:r>
            <a:endParaRPr lang="en-US" sz="1100" dirty="0"/>
          </a:p>
        </p:txBody>
      </p:sp>
      <p:sp>
        <p:nvSpPr>
          <p:cNvPr id="19" name="Text 16"/>
          <p:cNvSpPr/>
          <p:nvPr/>
        </p:nvSpPr>
        <p:spPr>
          <a:xfrm>
            <a:off x="6583680" y="4434840"/>
            <a:ext cx="4572000" cy="274320"/>
          </a:xfrm>
          <a:prstGeom prst="rect">
            <a:avLst/>
          </a:prstGeom>
          <a:noFill/>
          <a:ln/>
        </p:spPr>
        <p:txBody>
          <a:bodyPr wrap="square" lIns="0" tIns="0" rIns="0" bIns="0" rtlCol="0" anchor="ctr"/>
          <a:lstStyle/>
          <a:p>
            <a:pPr marL="0" indent="0">
              <a:buNone/>
            </a:pPr>
            <a:r>
              <a:rPr lang="en-US" sz="1050" i="1" dirty="0">
                <a:solidFill>
                  <a:srgbClr val="5B7088"/>
                </a:solidFill>
                <a:latin typeface="Calibri" pitchFamily="34" charset="0"/>
                <a:ea typeface="Calibri" pitchFamily="34" charset="-122"/>
                <a:cs typeface="Calibri" pitchFamily="34" charset="-120"/>
              </a:rPr>
              <a:t>Ce lien est valable 7 jours.</a:t>
            </a:r>
            <a:endParaRPr lang="en-US" sz="1050" dirty="0"/>
          </a:p>
        </p:txBody>
      </p:sp>
      <p:sp>
        <p:nvSpPr>
          <p:cNvPr id="20" name="Shape 17"/>
          <p:cNvSpPr/>
          <p:nvPr/>
        </p:nvSpPr>
        <p:spPr>
          <a:xfrm>
            <a:off x="640080" y="1691640"/>
            <a:ext cx="502920" cy="502920"/>
          </a:xfrm>
          <a:prstGeom prst="ellipse">
            <a:avLst/>
          </a:prstGeom>
          <a:solidFill>
            <a:srgbClr val="3AA055"/>
          </a:solidFill>
          <a:ln/>
        </p:spPr>
        <p:txBody>
          <a:bodyPr/>
          <a:lstStyle/>
          <a:p>
            <a:endParaRPr lang="fr-FR"/>
          </a:p>
        </p:txBody>
      </p:sp>
      <p:sp>
        <p:nvSpPr>
          <p:cNvPr id="21" name="Text 18"/>
          <p:cNvSpPr/>
          <p:nvPr/>
        </p:nvSpPr>
        <p:spPr>
          <a:xfrm>
            <a:off x="640080" y="1691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22" name="Text 19"/>
          <p:cNvSpPr/>
          <p:nvPr/>
        </p:nvSpPr>
        <p:spPr>
          <a:xfrm>
            <a:off x="1325880" y="1655064"/>
            <a:ext cx="457200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Ouvrez votre boîte mail</a:t>
            </a:r>
            <a:endParaRPr lang="en-US" sz="1500" dirty="0"/>
          </a:p>
        </p:txBody>
      </p:sp>
      <p:sp>
        <p:nvSpPr>
          <p:cNvPr id="23" name="Text 20"/>
          <p:cNvSpPr/>
          <p:nvPr/>
        </p:nvSpPr>
        <p:spPr>
          <a:xfrm>
            <a:off x="1325880" y="2075688"/>
            <a:ext cx="4572000" cy="86868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Cherchez le message de l'Assurance Maladie (vérifiez aussi les courriers indésirables / spam).</a:t>
            </a:r>
            <a:endParaRPr lang="en-US" sz="1250" dirty="0"/>
          </a:p>
        </p:txBody>
      </p:sp>
      <p:sp>
        <p:nvSpPr>
          <p:cNvPr id="24" name="Shape 21"/>
          <p:cNvSpPr/>
          <p:nvPr/>
        </p:nvSpPr>
        <p:spPr>
          <a:xfrm>
            <a:off x="640080" y="3063240"/>
            <a:ext cx="502920" cy="502920"/>
          </a:xfrm>
          <a:prstGeom prst="ellipse">
            <a:avLst/>
          </a:prstGeom>
          <a:solidFill>
            <a:srgbClr val="3AA055"/>
          </a:solidFill>
          <a:ln/>
        </p:spPr>
        <p:txBody>
          <a:bodyPr/>
          <a:lstStyle/>
          <a:p>
            <a:endParaRPr lang="fr-FR"/>
          </a:p>
        </p:txBody>
      </p:sp>
      <p:sp>
        <p:nvSpPr>
          <p:cNvPr id="25" name="Text 22"/>
          <p:cNvSpPr/>
          <p:nvPr/>
        </p:nvSpPr>
        <p:spPr>
          <a:xfrm>
            <a:off x="640080" y="3063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26" name="Text 23"/>
          <p:cNvSpPr/>
          <p:nvPr/>
        </p:nvSpPr>
        <p:spPr>
          <a:xfrm>
            <a:off x="1325880" y="3026664"/>
            <a:ext cx="457200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Cliquez sur le lien d'activation</a:t>
            </a:r>
            <a:endParaRPr lang="en-US" sz="1500" dirty="0"/>
          </a:p>
        </p:txBody>
      </p:sp>
      <p:sp>
        <p:nvSpPr>
          <p:cNvPr id="27" name="Text 24"/>
          <p:cNvSpPr/>
          <p:nvPr/>
        </p:nvSpPr>
        <p:spPr>
          <a:xfrm>
            <a:off x="1325880" y="3447288"/>
            <a:ext cx="4572000" cy="86868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Le bouton « Activer mon compte » dans l'e-mail.</a:t>
            </a:r>
            <a:endParaRPr lang="en-US" sz="1250" dirty="0"/>
          </a:p>
        </p:txBody>
      </p:sp>
      <p:sp>
        <p:nvSpPr>
          <p:cNvPr id="28" name="Shape 25"/>
          <p:cNvSpPr/>
          <p:nvPr/>
        </p:nvSpPr>
        <p:spPr>
          <a:xfrm>
            <a:off x="640080" y="4434840"/>
            <a:ext cx="502920" cy="502920"/>
          </a:xfrm>
          <a:prstGeom prst="ellipse">
            <a:avLst/>
          </a:prstGeom>
          <a:solidFill>
            <a:srgbClr val="3AA055"/>
          </a:solidFill>
          <a:ln/>
        </p:spPr>
        <p:txBody>
          <a:bodyPr/>
          <a:lstStyle/>
          <a:p>
            <a:endParaRPr lang="fr-FR"/>
          </a:p>
        </p:txBody>
      </p:sp>
      <p:sp>
        <p:nvSpPr>
          <p:cNvPr id="29" name="Text 26"/>
          <p:cNvSpPr/>
          <p:nvPr/>
        </p:nvSpPr>
        <p:spPr>
          <a:xfrm>
            <a:off x="640080" y="4434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30" name="Text 27"/>
          <p:cNvSpPr/>
          <p:nvPr/>
        </p:nvSpPr>
        <p:spPr>
          <a:xfrm>
            <a:off x="1325880" y="4398264"/>
            <a:ext cx="457200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Choisissez votre mot de passe</a:t>
            </a:r>
            <a:endParaRPr lang="en-US" sz="1500" dirty="0"/>
          </a:p>
        </p:txBody>
      </p:sp>
      <p:sp>
        <p:nvSpPr>
          <p:cNvPr id="31" name="Text 28"/>
          <p:cNvSpPr/>
          <p:nvPr/>
        </p:nvSpPr>
        <p:spPr>
          <a:xfrm>
            <a:off x="1325880" y="4818888"/>
            <a:ext cx="4572000" cy="86868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Une combinaison que vous êtes seul à connaître. Notez-la dans un endroit sûr.</a:t>
            </a:r>
            <a:endParaRPr lang="en-US" sz="1250" dirty="0"/>
          </a:p>
        </p:txBody>
      </p:sp>
      <p:sp>
        <p:nvSpPr>
          <p:cNvPr id="32" name="Text 29"/>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33" name="Text 30"/>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8 / 18</a:t>
            </a:r>
            <a:endParaRPr lang="en-US" sz="900" dirty="0"/>
          </a:p>
        </p:txBody>
      </p:sp>
      <p:sp>
        <p:nvSpPr>
          <p:cNvPr id="34" name="ZoneTexte 33">
            <a:extLst>
              <a:ext uri="{FF2B5EF4-FFF2-40B4-BE49-F238E27FC236}">
                <a16:creationId xmlns:a16="http://schemas.microsoft.com/office/drawing/2014/main" id="{11E00ACC-8E40-49D8-AB80-CBE59E3C009B}"/>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1 · SE CONNECTER</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Avec votre numéro de Sécu et mot de passe</a:t>
            </a:r>
            <a:endParaRPr lang="en-US" sz="3000" dirty="0"/>
          </a:p>
        </p:txBody>
      </p:sp>
      <p:sp>
        <p:nvSpPr>
          <p:cNvPr id="4" name="Shape 2"/>
          <p:cNvSpPr/>
          <p:nvPr/>
        </p:nvSpPr>
        <p:spPr>
          <a:xfrm>
            <a:off x="3566160" y="1600200"/>
            <a:ext cx="5029200" cy="4114800"/>
          </a:xfrm>
          <a:prstGeom prst="roundRect">
            <a:avLst>
              <a:gd name="adj" fmla="val 1778"/>
            </a:avLst>
          </a:prstGeom>
          <a:solidFill>
            <a:srgbClr val="FFFFFF"/>
          </a:solidFill>
          <a:ln w="12700">
            <a:solidFill>
              <a:srgbClr val="DCE4ED"/>
            </a:solidFill>
            <a:prstDash val="solid"/>
          </a:ln>
          <a:effectLst>
            <a:outerShdw blurRad="88900" dist="38100" dir="2700000" algn="bl" rotWithShape="0">
              <a:srgbClr val="0A1626">
                <a:alpha val="18000"/>
              </a:srgbClr>
            </a:outerShdw>
          </a:effectLst>
        </p:spPr>
        <p:txBody>
          <a:bodyPr/>
          <a:lstStyle/>
          <a:p>
            <a:endParaRPr lang="fr-FR"/>
          </a:p>
        </p:txBody>
      </p:sp>
      <p:sp>
        <p:nvSpPr>
          <p:cNvPr id="5" name="Shape 3"/>
          <p:cNvSpPr/>
          <p:nvPr/>
        </p:nvSpPr>
        <p:spPr>
          <a:xfrm>
            <a:off x="3566160" y="1600200"/>
            <a:ext cx="5029200" cy="384048"/>
          </a:xfrm>
          <a:prstGeom prst="rect">
            <a:avLst/>
          </a:prstGeom>
          <a:solidFill>
            <a:srgbClr val="EDF1F6"/>
          </a:solidFill>
          <a:ln/>
        </p:spPr>
        <p:txBody>
          <a:bodyPr/>
          <a:lstStyle/>
          <a:p>
            <a:endParaRPr lang="fr-FR"/>
          </a:p>
        </p:txBody>
      </p:sp>
      <p:sp>
        <p:nvSpPr>
          <p:cNvPr id="6" name="Shape 4"/>
          <p:cNvSpPr/>
          <p:nvPr/>
        </p:nvSpPr>
        <p:spPr>
          <a:xfrm>
            <a:off x="3712464" y="1728216"/>
            <a:ext cx="118872" cy="118872"/>
          </a:xfrm>
          <a:prstGeom prst="ellipse">
            <a:avLst/>
          </a:prstGeom>
          <a:solidFill>
            <a:srgbClr val="E06C5E"/>
          </a:solidFill>
          <a:ln/>
        </p:spPr>
        <p:txBody>
          <a:bodyPr/>
          <a:lstStyle/>
          <a:p>
            <a:endParaRPr lang="fr-FR"/>
          </a:p>
        </p:txBody>
      </p:sp>
      <p:sp>
        <p:nvSpPr>
          <p:cNvPr id="7" name="Shape 5"/>
          <p:cNvSpPr/>
          <p:nvPr/>
        </p:nvSpPr>
        <p:spPr>
          <a:xfrm>
            <a:off x="3913632" y="1728216"/>
            <a:ext cx="118872" cy="118872"/>
          </a:xfrm>
          <a:prstGeom prst="ellipse">
            <a:avLst/>
          </a:prstGeom>
          <a:solidFill>
            <a:srgbClr val="E6B23C"/>
          </a:solidFill>
          <a:ln/>
        </p:spPr>
        <p:txBody>
          <a:bodyPr/>
          <a:lstStyle/>
          <a:p>
            <a:endParaRPr lang="fr-FR"/>
          </a:p>
        </p:txBody>
      </p:sp>
      <p:sp>
        <p:nvSpPr>
          <p:cNvPr id="8" name="Shape 6"/>
          <p:cNvSpPr/>
          <p:nvPr/>
        </p:nvSpPr>
        <p:spPr>
          <a:xfrm>
            <a:off x="4114800" y="1728216"/>
            <a:ext cx="118872" cy="118872"/>
          </a:xfrm>
          <a:prstGeom prst="ellipse">
            <a:avLst/>
          </a:prstGeom>
          <a:solidFill>
            <a:srgbClr val="5BB85B"/>
          </a:solidFill>
          <a:ln/>
        </p:spPr>
        <p:txBody>
          <a:bodyPr/>
          <a:lstStyle/>
          <a:p>
            <a:endParaRPr lang="fr-FR"/>
          </a:p>
        </p:txBody>
      </p:sp>
      <p:sp>
        <p:nvSpPr>
          <p:cNvPr id="9" name="Shape 7"/>
          <p:cNvSpPr/>
          <p:nvPr/>
        </p:nvSpPr>
        <p:spPr>
          <a:xfrm>
            <a:off x="4434840" y="1682496"/>
            <a:ext cx="3977640" cy="219456"/>
          </a:xfrm>
          <a:prstGeom prst="roundRect">
            <a:avLst>
              <a:gd name="adj" fmla="val 20833"/>
            </a:avLst>
          </a:prstGeom>
          <a:solidFill>
            <a:srgbClr val="FFFFFF"/>
          </a:solidFill>
          <a:ln w="9525">
            <a:solidFill>
              <a:srgbClr val="DCE4ED"/>
            </a:solidFill>
            <a:prstDash val="solid"/>
          </a:ln>
        </p:spPr>
        <p:txBody>
          <a:bodyPr/>
          <a:lstStyle/>
          <a:p>
            <a:endParaRPr lang="fr-FR"/>
          </a:p>
        </p:txBody>
      </p:sp>
      <p:sp>
        <p:nvSpPr>
          <p:cNvPr id="10" name="Text 8"/>
          <p:cNvSpPr/>
          <p:nvPr/>
        </p:nvSpPr>
        <p:spPr>
          <a:xfrm>
            <a:off x="4526280" y="1673352"/>
            <a:ext cx="3840480" cy="219456"/>
          </a:xfrm>
          <a:prstGeom prst="rect">
            <a:avLst/>
          </a:prstGeom>
          <a:noFill/>
          <a:ln/>
        </p:spPr>
        <p:txBody>
          <a:bodyPr wrap="square" lIns="0" tIns="0" rIns="0" bIns="0" rtlCol="0" anchor="ctr"/>
          <a:lstStyle/>
          <a:p>
            <a:pPr marL="0" indent="0" algn="l">
              <a:buNone/>
            </a:pPr>
            <a:r>
              <a:rPr lang="en-US" sz="950" dirty="0">
                <a:solidFill>
                  <a:srgbClr val="3AA055"/>
                </a:solidFill>
                <a:latin typeface="Calibri" pitchFamily="34" charset="0"/>
                <a:ea typeface="Calibri" pitchFamily="34" charset="-122"/>
                <a:cs typeface="Calibri" pitchFamily="34" charset="-120"/>
              </a:rPr>
              <a:t>🔒  </a:t>
            </a:r>
            <a:r>
              <a:rPr lang="en-US" sz="950" dirty="0">
                <a:solidFill>
                  <a:srgbClr val="5B7088"/>
                </a:solidFill>
                <a:latin typeface="Calibri" pitchFamily="34" charset="0"/>
                <a:ea typeface="Calibri" pitchFamily="34" charset="-122"/>
                <a:cs typeface="Calibri" pitchFamily="34" charset="-120"/>
              </a:rPr>
              <a:t>assure.ameli.fr</a:t>
            </a:r>
            <a:endParaRPr lang="en-US" sz="950" dirty="0"/>
          </a:p>
        </p:txBody>
      </p:sp>
      <p:sp>
        <p:nvSpPr>
          <p:cNvPr id="11" name="Shape 9"/>
          <p:cNvSpPr/>
          <p:nvPr/>
        </p:nvSpPr>
        <p:spPr>
          <a:xfrm>
            <a:off x="5394960" y="2103120"/>
            <a:ext cx="914400" cy="91440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2" name="Image 0" descr="preencoded.png"/>
          <p:cNvPicPr>
            <a:picLocks noChangeAspect="1"/>
          </p:cNvPicPr>
          <p:nvPr/>
        </p:nvPicPr>
        <p:blipFill>
          <a:blip r:embed="rId3"/>
          <a:stretch>
            <a:fillRect/>
          </a:stretch>
        </p:blipFill>
        <p:spPr>
          <a:xfrm>
            <a:off x="5632704" y="2340864"/>
            <a:ext cx="438912" cy="438912"/>
          </a:xfrm>
          <a:prstGeom prst="rect">
            <a:avLst/>
          </a:prstGeom>
        </p:spPr>
      </p:pic>
      <p:sp>
        <p:nvSpPr>
          <p:cNvPr id="13" name="Text 10"/>
          <p:cNvSpPr/>
          <p:nvPr/>
        </p:nvSpPr>
        <p:spPr>
          <a:xfrm>
            <a:off x="3840480" y="3154680"/>
            <a:ext cx="4480560" cy="365760"/>
          </a:xfrm>
          <a:prstGeom prst="rect">
            <a:avLst/>
          </a:prstGeom>
          <a:noFill/>
          <a:ln/>
        </p:spPr>
        <p:txBody>
          <a:bodyPr wrap="square" lIns="0" tIns="0" rIns="0" bIns="0" rtlCol="0" anchor="ctr"/>
          <a:lstStyle/>
          <a:p>
            <a:pPr marL="0" indent="0" algn="ctr">
              <a:buNone/>
            </a:pPr>
            <a:r>
              <a:rPr lang="en-US" sz="1400" b="1" dirty="0">
                <a:solidFill>
                  <a:srgbClr val="13294B"/>
                </a:solidFill>
                <a:latin typeface="Calibri" pitchFamily="34" charset="0"/>
                <a:ea typeface="Calibri" pitchFamily="34" charset="-122"/>
                <a:cs typeface="Calibri" pitchFamily="34" charset="-120"/>
              </a:rPr>
              <a:t>Connexion à mon compte</a:t>
            </a:r>
            <a:endParaRPr lang="en-US" sz="1400" dirty="0"/>
          </a:p>
        </p:txBody>
      </p:sp>
      <p:sp>
        <p:nvSpPr>
          <p:cNvPr id="14" name="Text 11"/>
          <p:cNvSpPr/>
          <p:nvPr/>
        </p:nvSpPr>
        <p:spPr>
          <a:xfrm>
            <a:off x="4069080" y="3657600"/>
            <a:ext cx="40233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Numéro de sécurité sociale</a:t>
            </a:r>
            <a:endParaRPr lang="en-US" sz="950" dirty="0"/>
          </a:p>
        </p:txBody>
      </p:sp>
      <p:sp>
        <p:nvSpPr>
          <p:cNvPr id="15" name="Shape 12"/>
          <p:cNvSpPr/>
          <p:nvPr/>
        </p:nvSpPr>
        <p:spPr>
          <a:xfrm>
            <a:off x="4069080" y="3877056"/>
            <a:ext cx="40233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16" name="Text 13"/>
          <p:cNvSpPr/>
          <p:nvPr/>
        </p:nvSpPr>
        <p:spPr>
          <a:xfrm>
            <a:off x="4178808" y="3877056"/>
            <a:ext cx="38404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2 55 08 23 145 678</a:t>
            </a:r>
            <a:endParaRPr lang="en-US" sz="1050" dirty="0"/>
          </a:p>
        </p:txBody>
      </p:sp>
      <p:sp>
        <p:nvSpPr>
          <p:cNvPr id="17" name="Text 14"/>
          <p:cNvSpPr/>
          <p:nvPr/>
        </p:nvSpPr>
        <p:spPr>
          <a:xfrm>
            <a:off x="4069080" y="4315968"/>
            <a:ext cx="4023360" cy="201168"/>
          </a:xfrm>
          <a:prstGeom prst="rect">
            <a:avLst/>
          </a:prstGeom>
          <a:noFill/>
          <a:ln/>
        </p:spPr>
        <p:txBody>
          <a:bodyPr wrap="square" lIns="0" tIns="0" rIns="0" bIns="0" rtlCol="0" anchor="ctr"/>
          <a:lstStyle/>
          <a:p>
            <a:pPr marL="0" indent="0" algn="l">
              <a:buNone/>
            </a:pPr>
            <a:r>
              <a:rPr lang="en-US" sz="950" dirty="0">
                <a:solidFill>
                  <a:srgbClr val="5B7088"/>
                </a:solidFill>
                <a:latin typeface="Calibri" pitchFamily="34" charset="0"/>
                <a:ea typeface="Calibri" pitchFamily="34" charset="-122"/>
                <a:cs typeface="Calibri" pitchFamily="34" charset="-120"/>
              </a:rPr>
              <a:t>Mot de passe</a:t>
            </a:r>
            <a:endParaRPr lang="en-US" sz="950" dirty="0"/>
          </a:p>
        </p:txBody>
      </p:sp>
      <p:sp>
        <p:nvSpPr>
          <p:cNvPr id="18" name="Shape 15"/>
          <p:cNvSpPr/>
          <p:nvPr/>
        </p:nvSpPr>
        <p:spPr>
          <a:xfrm>
            <a:off x="4069080" y="4535424"/>
            <a:ext cx="4023360" cy="347472"/>
          </a:xfrm>
          <a:prstGeom prst="roundRect">
            <a:avLst>
              <a:gd name="adj" fmla="val 10526"/>
            </a:avLst>
          </a:prstGeom>
          <a:solidFill>
            <a:srgbClr val="F4F8FB"/>
          </a:solidFill>
          <a:ln w="12700">
            <a:solidFill>
              <a:srgbClr val="0F8B8D"/>
            </a:solidFill>
            <a:prstDash val="solid"/>
          </a:ln>
        </p:spPr>
        <p:txBody>
          <a:bodyPr/>
          <a:lstStyle/>
          <a:p>
            <a:endParaRPr lang="fr-FR"/>
          </a:p>
        </p:txBody>
      </p:sp>
      <p:sp>
        <p:nvSpPr>
          <p:cNvPr id="19" name="Text 16"/>
          <p:cNvSpPr/>
          <p:nvPr/>
        </p:nvSpPr>
        <p:spPr>
          <a:xfrm>
            <a:off x="4178808" y="4535424"/>
            <a:ext cx="3840480" cy="347472"/>
          </a:xfrm>
          <a:prstGeom prst="rect">
            <a:avLst/>
          </a:prstGeom>
          <a:noFill/>
          <a:ln/>
        </p:spPr>
        <p:txBody>
          <a:bodyPr wrap="square" lIns="0" tIns="0" rIns="0" bIns="0" rtlCol="0" anchor="ctr"/>
          <a:lstStyle/>
          <a:p>
            <a:pPr marL="0" indent="0" algn="l">
              <a:buNone/>
            </a:pPr>
            <a:r>
              <a:rPr lang="en-US" sz="1050" dirty="0">
                <a:solidFill>
                  <a:srgbClr val="13294B"/>
                </a:solidFill>
                <a:latin typeface="Calibri" pitchFamily="34" charset="0"/>
                <a:ea typeface="Calibri" pitchFamily="34" charset="-122"/>
                <a:cs typeface="Calibri" pitchFamily="34" charset="-120"/>
              </a:rPr>
              <a:t>••••••••••</a:t>
            </a:r>
            <a:endParaRPr lang="en-US" sz="1050" dirty="0"/>
          </a:p>
        </p:txBody>
      </p:sp>
      <p:sp>
        <p:nvSpPr>
          <p:cNvPr id="20" name="Shape 17"/>
          <p:cNvSpPr/>
          <p:nvPr/>
        </p:nvSpPr>
        <p:spPr>
          <a:xfrm>
            <a:off x="4069080" y="5029200"/>
            <a:ext cx="4023360" cy="457200"/>
          </a:xfrm>
          <a:prstGeom prst="roundRect">
            <a:avLst>
              <a:gd name="adj" fmla="val 10000"/>
            </a:avLst>
          </a:prstGeom>
          <a:solidFill>
            <a:srgbClr val="0F8B8D"/>
          </a:solidFill>
          <a:ln/>
        </p:spPr>
        <p:txBody>
          <a:bodyPr/>
          <a:lstStyle/>
          <a:p>
            <a:endParaRPr lang="fr-FR"/>
          </a:p>
        </p:txBody>
      </p:sp>
      <p:sp>
        <p:nvSpPr>
          <p:cNvPr id="21" name="Text 18"/>
          <p:cNvSpPr/>
          <p:nvPr/>
        </p:nvSpPr>
        <p:spPr>
          <a:xfrm>
            <a:off x="4069080" y="5029200"/>
            <a:ext cx="40233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 connecter</a:t>
            </a:r>
            <a:endParaRPr lang="en-US" sz="1100" dirty="0"/>
          </a:p>
        </p:txBody>
      </p:sp>
      <p:sp>
        <p:nvSpPr>
          <p:cNvPr id="22" name="Text 19"/>
          <p:cNvSpPr/>
          <p:nvPr/>
        </p:nvSpPr>
        <p:spPr>
          <a:xfrm>
            <a:off x="8961120" y="1737360"/>
            <a:ext cx="2651760" cy="365760"/>
          </a:xfrm>
          <a:prstGeom prst="rect">
            <a:avLst/>
          </a:prstGeom>
          <a:noFill/>
          <a:ln/>
        </p:spPr>
        <p:txBody>
          <a:bodyPr wrap="square" lIns="0" tIns="0" rIns="0" bIns="0" rtlCol="0" anchor="ctr"/>
          <a:lstStyle/>
          <a:p>
            <a:pPr marL="0" indent="0">
              <a:buNone/>
            </a:pPr>
            <a:r>
              <a:rPr lang="en-US" sz="1400" b="1" dirty="0">
                <a:solidFill>
                  <a:srgbClr val="27D3DE"/>
                </a:solidFill>
                <a:latin typeface="Calibri" pitchFamily="34" charset="0"/>
                <a:ea typeface="Calibri" pitchFamily="34" charset="-122"/>
                <a:cs typeface="Calibri" pitchFamily="34" charset="-120"/>
              </a:rPr>
              <a:t>À savoir</a:t>
            </a:r>
            <a:endParaRPr lang="en-US" sz="1400" dirty="0"/>
          </a:p>
        </p:txBody>
      </p:sp>
      <p:sp>
        <p:nvSpPr>
          <p:cNvPr id="23" name="Text 20"/>
          <p:cNvSpPr/>
          <p:nvPr/>
        </p:nvSpPr>
        <p:spPr>
          <a:xfrm>
            <a:off x="8961120" y="2148840"/>
            <a:ext cx="2743200" cy="3200400"/>
          </a:xfrm>
          <a:prstGeom prst="rect">
            <a:avLst/>
          </a:prstGeom>
          <a:noFill/>
          <a:ln/>
        </p:spPr>
        <p:txBody>
          <a:bodyPr wrap="square" rtlCol="0" anchor="ctr"/>
          <a:lstStyle/>
          <a:p>
            <a:pPr marL="152400" indent="-152400">
              <a:lnSpc>
                <a:spcPct val="105000"/>
              </a:lnSpc>
              <a:spcAft>
                <a:spcPts val="1000"/>
              </a:spcAft>
              <a:buSzPct val="100000"/>
              <a:buChar char="•"/>
            </a:pPr>
            <a:r>
              <a:rPr lang="en-US" sz="1250" dirty="0">
                <a:solidFill>
                  <a:srgbClr val="C8D6E8"/>
                </a:solidFill>
                <a:latin typeface="Calibri" pitchFamily="34" charset="0"/>
                <a:ea typeface="Calibri" pitchFamily="34" charset="-122"/>
                <a:cs typeface="Calibri" pitchFamily="34" charset="-120"/>
              </a:rPr>
              <a:t>C'est la méthode la plus simple une fois le compte créé.</a:t>
            </a:r>
            <a:endParaRPr lang="en-US" sz="1250" dirty="0"/>
          </a:p>
          <a:p>
            <a:pPr marL="152400" indent="-152400">
              <a:lnSpc>
                <a:spcPct val="105000"/>
              </a:lnSpc>
              <a:spcAft>
                <a:spcPts val="1000"/>
              </a:spcAft>
              <a:buSzPct val="100000"/>
              <a:buChar char="•"/>
            </a:pPr>
            <a:r>
              <a:rPr lang="en-US" sz="1250" dirty="0">
                <a:solidFill>
                  <a:srgbClr val="C8D6E8"/>
                </a:solidFill>
                <a:latin typeface="Calibri" pitchFamily="34" charset="0"/>
                <a:ea typeface="Calibri" pitchFamily="34" charset="-122"/>
                <a:cs typeface="Calibri" pitchFamily="34" charset="-120"/>
              </a:rPr>
              <a:t>Le mot de passe est celui que vous avez choisi à l'activation.</a:t>
            </a:r>
            <a:endParaRPr lang="en-US" sz="1250" dirty="0"/>
          </a:p>
          <a:p>
            <a:pPr marL="152400" indent="-152400">
              <a:lnSpc>
                <a:spcPct val="105000"/>
              </a:lnSpc>
              <a:spcAft>
                <a:spcPts val="1000"/>
              </a:spcAft>
              <a:buSzPct val="100000"/>
              <a:buChar char="•"/>
            </a:pPr>
            <a:r>
              <a:rPr lang="en-US" sz="1250" dirty="0">
                <a:solidFill>
                  <a:srgbClr val="C8D6E8"/>
                </a:solidFill>
                <a:latin typeface="Calibri" pitchFamily="34" charset="0"/>
                <a:ea typeface="Calibri" pitchFamily="34" charset="-122"/>
                <a:cs typeface="Calibri" pitchFamily="34" charset="-120"/>
              </a:rPr>
              <a:t>Après plusieurs erreurs, le compte se bloque par sécurité.</a:t>
            </a:r>
            <a:endParaRPr lang="en-US" sz="1250" dirty="0"/>
          </a:p>
        </p:txBody>
      </p:sp>
      <p:sp>
        <p:nvSpPr>
          <p:cNvPr id="24" name="Text 21"/>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5" name="Text 22"/>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9 / 18</a:t>
            </a:r>
            <a:endParaRPr lang="en-US" sz="900" dirty="0"/>
          </a:p>
        </p:txBody>
      </p:sp>
      <p:sp>
        <p:nvSpPr>
          <p:cNvPr id="26" name="ZoneTexte 25">
            <a:extLst>
              <a:ext uri="{FF2B5EF4-FFF2-40B4-BE49-F238E27FC236}">
                <a16:creationId xmlns:a16="http://schemas.microsoft.com/office/drawing/2014/main" id="{836103AE-9B4F-D434-6136-0D7A25A9E747}"/>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2 · COMPRENDRE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FranceConnect : une clé pour tout</a:t>
            </a:r>
            <a:endParaRPr lang="en-US" sz="3000" dirty="0"/>
          </a:p>
        </p:txBody>
      </p:sp>
      <p:sp>
        <p:nvSpPr>
          <p:cNvPr id="4" name="Text 2"/>
          <p:cNvSpPr/>
          <p:nvPr/>
        </p:nvSpPr>
        <p:spPr>
          <a:xfrm>
            <a:off x="640080" y="1463040"/>
            <a:ext cx="6949440" cy="868680"/>
          </a:xfrm>
          <a:prstGeom prst="rect">
            <a:avLst/>
          </a:prstGeom>
          <a:noFill/>
          <a:ln/>
        </p:spPr>
        <p:txBody>
          <a:bodyPr wrap="square" rtlCol="0" anchor="ctr"/>
          <a:lstStyle/>
          <a:p>
            <a:pPr marL="0" indent="0">
              <a:lnSpc>
                <a:spcPct val="110000"/>
              </a:lnSpc>
              <a:buNone/>
            </a:pPr>
            <a:r>
              <a:rPr lang="en-US" sz="1500" dirty="0">
                <a:solidFill>
                  <a:srgbClr val="C8D6E8"/>
                </a:solidFill>
                <a:latin typeface="Calibri" pitchFamily="34" charset="0"/>
                <a:ea typeface="Calibri" pitchFamily="34" charset="-122"/>
                <a:cs typeface="Calibri" pitchFamily="34" charset="-120"/>
              </a:rPr>
              <a:t>FranceConnect vous évite de retenir un mot de passe par site. Vous réutilisez un compte que vous avez déjà (par ex. les Impôts) pour entrer dans Ameli.</a:t>
            </a:r>
            <a:endParaRPr lang="en-US" sz="1500" dirty="0"/>
          </a:p>
        </p:txBody>
      </p:sp>
      <p:sp>
        <p:nvSpPr>
          <p:cNvPr id="5" name="Shape 3"/>
          <p:cNvSpPr/>
          <p:nvPr/>
        </p:nvSpPr>
        <p:spPr>
          <a:xfrm>
            <a:off x="640080" y="2743200"/>
            <a:ext cx="2103120" cy="1188720"/>
          </a:xfrm>
          <a:prstGeom prst="roundRect">
            <a:avLst>
              <a:gd name="adj" fmla="val 7692"/>
            </a:avLst>
          </a:prstGeom>
          <a:solidFill>
            <a:srgbClr val="16335A"/>
          </a:solidFill>
          <a:ln/>
          <a:effectLst>
            <a:outerShdw blurRad="88900" dist="38100" dir="2700000" algn="bl" rotWithShape="0">
              <a:srgbClr val="0A1626">
                <a:alpha val="18000"/>
              </a:srgbClr>
            </a:outerShdw>
          </a:effectLst>
        </p:spPr>
        <p:txBody>
          <a:bodyPr/>
          <a:lstStyle/>
          <a:p>
            <a:endParaRPr lang="fr-FR"/>
          </a:p>
        </p:txBody>
      </p:sp>
      <p:sp>
        <p:nvSpPr>
          <p:cNvPr id="6" name="Text 4"/>
          <p:cNvSpPr/>
          <p:nvPr/>
        </p:nvSpPr>
        <p:spPr>
          <a:xfrm>
            <a:off x="640080" y="2743200"/>
            <a:ext cx="210312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Votre compte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(ex. Impôts)</a:t>
            </a:r>
            <a:endParaRPr lang="en-US" sz="1400" dirty="0"/>
          </a:p>
        </p:txBody>
      </p:sp>
      <p:pic>
        <p:nvPicPr>
          <p:cNvPr id="7" name="Image 0" descr="preencoded.png"/>
          <p:cNvPicPr>
            <a:picLocks noChangeAspect="1"/>
          </p:cNvPicPr>
          <p:nvPr/>
        </p:nvPicPr>
        <p:blipFill>
          <a:blip r:embed="rId3"/>
          <a:stretch>
            <a:fillRect/>
          </a:stretch>
        </p:blipFill>
        <p:spPr>
          <a:xfrm>
            <a:off x="2852928" y="3172968"/>
            <a:ext cx="329184" cy="329184"/>
          </a:xfrm>
          <a:prstGeom prst="rect">
            <a:avLst/>
          </a:prstGeom>
        </p:spPr>
      </p:pic>
      <p:sp>
        <p:nvSpPr>
          <p:cNvPr id="8" name="Shape 5"/>
          <p:cNvSpPr/>
          <p:nvPr/>
        </p:nvSpPr>
        <p:spPr>
          <a:xfrm>
            <a:off x="3200400" y="2743200"/>
            <a:ext cx="2103120" cy="1188720"/>
          </a:xfrm>
          <a:prstGeom prst="roundRect">
            <a:avLst>
              <a:gd name="adj" fmla="val 7692"/>
            </a:avLst>
          </a:prstGeom>
          <a:solidFill>
            <a:srgbClr val="0F8B8D"/>
          </a:solidFill>
          <a:ln/>
          <a:effectLst>
            <a:outerShdw blurRad="88900" dist="38100" dir="2700000" algn="bl" rotWithShape="0">
              <a:srgbClr val="0A1626">
                <a:alpha val="18000"/>
              </a:srgbClr>
            </a:outerShdw>
          </a:effectLst>
        </p:spPr>
        <p:txBody>
          <a:bodyPr/>
          <a:lstStyle/>
          <a:p>
            <a:endParaRPr lang="fr-FR"/>
          </a:p>
        </p:txBody>
      </p:sp>
      <p:sp>
        <p:nvSpPr>
          <p:cNvPr id="9" name="Text 6"/>
          <p:cNvSpPr/>
          <p:nvPr/>
        </p:nvSpPr>
        <p:spPr>
          <a:xfrm>
            <a:off x="3200400" y="2743200"/>
            <a:ext cx="210312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FranceConnect</a:t>
            </a:r>
            <a:endParaRPr lang="en-US" sz="1400" dirty="0"/>
          </a:p>
        </p:txBody>
      </p:sp>
      <p:pic>
        <p:nvPicPr>
          <p:cNvPr id="10" name="Image 1" descr="preencoded.png"/>
          <p:cNvPicPr>
            <a:picLocks noChangeAspect="1"/>
          </p:cNvPicPr>
          <p:nvPr/>
        </p:nvPicPr>
        <p:blipFill>
          <a:blip r:embed="rId3"/>
          <a:stretch>
            <a:fillRect/>
          </a:stretch>
        </p:blipFill>
        <p:spPr>
          <a:xfrm>
            <a:off x="5413248" y="3172968"/>
            <a:ext cx="329184" cy="329184"/>
          </a:xfrm>
          <a:prstGeom prst="rect">
            <a:avLst/>
          </a:prstGeom>
        </p:spPr>
      </p:pic>
      <p:sp>
        <p:nvSpPr>
          <p:cNvPr id="11" name="Shape 7"/>
          <p:cNvSpPr/>
          <p:nvPr/>
        </p:nvSpPr>
        <p:spPr>
          <a:xfrm>
            <a:off x="5760720" y="2743200"/>
            <a:ext cx="2103120" cy="1188720"/>
          </a:xfrm>
          <a:prstGeom prst="roundRect">
            <a:avLst>
              <a:gd name="adj" fmla="val 7692"/>
            </a:avLst>
          </a:prstGeom>
          <a:solidFill>
            <a:srgbClr val="3AA055"/>
          </a:solidFill>
          <a:ln/>
          <a:effectLst>
            <a:outerShdw blurRad="88900" dist="38100" dir="2700000" algn="bl" rotWithShape="0">
              <a:srgbClr val="0A1626">
                <a:alpha val="18000"/>
              </a:srgbClr>
            </a:outerShdw>
          </a:effectLst>
        </p:spPr>
        <p:txBody>
          <a:bodyPr/>
          <a:lstStyle/>
          <a:p>
            <a:endParaRPr lang="fr-FR"/>
          </a:p>
        </p:txBody>
      </p:sp>
      <p:sp>
        <p:nvSpPr>
          <p:cNvPr id="12" name="Text 8"/>
          <p:cNvSpPr/>
          <p:nvPr/>
        </p:nvSpPr>
        <p:spPr>
          <a:xfrm>
            <a:off x="5760720" y="2743200"/>
            <a:ext cx="210312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Compte Ameli</a:t>
            </a:r>
            <a:endParaRPr lang="en-US" sz="1400" dirty="0"/>
          </a:p>
        </p:txBody>
      </p:sp>
      <p:sp>
        <p:nvSpPr>
          <p:cNvPr id="13" name="Text 9"/>
          <p:cNvSpPr/>
          <p:nvPr/>
        </p:nvSpPr>
        <p:spPr>
          <a:xfrm>
            <a:off x="640080" y="4160520"/>
            <a:ext cx="7223760" cy="457200"/>
          </a:xfrm>
          <a:prstGeom prst="rect">
            <a:avLst/>
          </a:prstGeom>
          <a:noFill/>
          <a:ln/>
        </p:spPr>
        <p:txBody>
          <a:bodyPr wrap="square" rtlCol="0" anchor="ctr"/>
          <a:lstStyle/>
          <a:p>
            <a:pPr marL="0" indent="0">
              <a:buNone/>
            </a:pPr>
            <a:r>
              <a:rPr lang="en-US" sz="1250" i="1" dirty="0">
                <a:solidFill>
                  <a:srgbClr val="9DB3CD"/>
                </a:solidFill>
                <a:latin typeface="Calibri" pitchFamily="34" charset="0"/>
                <a:ea typeface="Calibri" pitchFamily="34" charset="-122"/>
                <a:cs typeface="Calibri" pitchFamily="34" charset="-120"/>
              </a:rPr>
              <a:t>Vous vous identifiez une seule fois, puis vous arrivez dans Ameli déjà connecté.</a:t>
            </a:r>
            <a:endParaRPr lang="en-US" sz="1250" dirty="0"/>
          </a:p>
        </p:txBody>
      </p:sp>
      <p:sp>
        <p:nvSpPr>
          <p:cNvPr id="14" name="Shape 10"/>
          <p:cNvSpPr/>
          <p:nvPr/>
        </p:nvSpPr>
        <p:spPr>
          <a:xfrm>
            <a:off x="8138160" y="1463040"/>
            <a:ext cx="3383280" cy="3840480"/>
          </a:xfrm>
          <a:prstGeom prst="roundRect">
            <a:avLst>
              <a:gd name="adj" fmla="val 3243"/>
            </a:avLst>
          </a:prstGeom>
          <a:solidFill>
            <a:srgbClr val="EAF1EC"/>
          </a:solidFill>
          <a:ln w="16510">
            <a:solidFill>
              <a:srgbClr val="3AA055"/>
            </a:solidFill>
            <a:prstDash val="solid"/>
          </a:ln>
        </p:spPr>
        <p:txBody>
          <a:bodyPr/>
          <a:lstStyle/>
          <a:p>
            <a:endParaRPr lang="fr-FR"/>
          </a:p>
        </p:txBody>
      </p:sp>
      <p:sp>
        <p:nvSpPr>
          <p:cNvPr id="15" name="Shape 11"/>
          <p:cNvSpPr/>
          <p:nvPr/>
        </p:nvSpPr>
        <p:spPr>
          <a:xfrm>
            <a:off x="8412480" y="1737360"/>
            <a:ext cx="685800" cy="68580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6" name="Image 2" descr="preencoded.png"/>
          <p:cNvPicPr>
            <a:picLocks noChangeAspect="1"/>
          </p:cNvPicPr>
          <p:nvPr/>
        </p:nvPicPr>
        <p:blipFill>
          <a:blip r:embed="rId4"/>
          <a:stretch>
            <a:fillRect/>
          </a:stretch>
        </p:blipFill>
        <p:spPr>
          <a:xfrm>
            <a:off x="8590788" y="1915668"/>
            <a:ext cx="329184" cy="329184"/>
          </a:xfrm>
          <a:prstGeom prst="rect">
            <a:avLst/>
          </a:prstGeom>
        </p:spPr>
      </p:pic>
      <p:sp>
        <p:nvSpPr>
          <p:cNvPr id="17" name="Text 12"/>
          <p:cNvSpPr/>
          <p:nvPr/>
        </p:nvSpPr>
        <p:spPr>
          <a:xfrm>
            <a:off x="9189720" y="1755648"/>
            <a:ext cx="2194560" cy="685800"/>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Vos données de santé restent privées</a:t>
            </a:r>
            <a:endParaRPr lang="en-US" sz="1350" dirty="0"/>
          </a:p>
        </p:txBody>
      </p:sp>
      <p:sp>
        <p:nvSpPr>
          <p:cNvPr id="18" name="Text 13"/>
          <p:cNvSpPr/>
          <p:nvPr/>
        </p:nvSpPr>
        <p:spPr>
          <a:xfrm>
            <a:off x="8412480" y="2651760"/>
            <a:ext cx="2880360" cy="2468880"/>
          </a:xfrm>
          <a:prstGeom prst="rect">
            <a:avLst/>
          </a:prstGeom>
          <a:noFill/>
          <a:ln/>
        </p:spPr>
        <p:txBody>
          <a:bodyPr wrap="square" lIns="0" tIns="0" rIns="0" bIns="0" rtlCol="0" anchor="t"/>
          <a:lstStyle/>
          <a:p>
            <a:pPr marL="0" indent="0">
              <a:lnSpc>
                <a:spcPct val="115000"/>
              </a:lnSpc>
              <a:buNone/>
            </a:pPr>
            <a:r>
              <a:rPr lang="en-US" sz="1250" dirty="0">
                <a:solidFill>
                  <a:srgbClr val="5B7088"/>
                </a:solidFill>
                <a:latin typeface="Calibri" pitchFamily="34" charset="0"/>
                <a:ea typeface="Calibri" pitchFamily="34" charset="-122"/>
                <a:cs typeface="Calibri" pitchFamily="34" charset="-120"/>
              </a:rPr>
              <a:t>FranceConnect sert uniquement à prouver que c'est bien vous. Il ne voit ni vos remboursements, ni votre dossier médical : c'est juste un portier qui vérifie votre identité.</a:t>
            </a:r>
            <a:endParaRPr lang="en-US" sz="1250" dirty="0"/>
          </a:p>
        </p:txBody>
      </p:sp>
      <p:sp>
        <p:nvSpPr>
          <p:cNvPr id="19" name="Text 14"/>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0" name="Text 15"/>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10 / 18</a:t>
            </a:r>
            <a:endParaRPr lang="en-US" sz="900" dirty="0"/>
          </a:p>
        </p:txBody>
      </p:sp>
      <p:sp>
        <p:nvSpPr>
          <p:cNvPr id="21" name="ZoneTexte 20">
            <a:extLst>
              <a:ext uri="{FF2B5EF4-FFF2-40B4-BE49-F238E27FC236}">
                <a16:creationId xmlns:a16="http://schemas.microsoft.com/office/drawing/2014/main" id="{52D71BE2-CF8F-51E2-E40A-DF0310FA7F8C}"/>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2 · PAS À PAS</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Se connecter avec FranceConnect</a:t>
            </a:r>
            <a:endParaRPr lang="en-US" sz="3000" dirty="0"/>
          </a:p>
        </p:txBody>
      </p:sp>
      <p:sp>
        <p:nvSpPr>
          <p:cNvPr id="4" name="Shape 2"/>
          <p:cNvSpPr/>
          <p:nvPr/>
        </p:nvSpPr>
        <p:spPr>
          <a:xfrm>
            <a:off x="640080" y="1600200"/>
            <a:ext cx="5349240" cy="1554480"/>
          </a:xfrm>
          <a:prstGeom prst="roundRect">
            <a:avLst>
              <a:gd name="adj" fmla="val 5294"/>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5" name="Shape 3"/>
          <p:cNvSpPr/>
          <p:nvPr/>
        </p:nvSpPr>
        <p:spPr>
          <a:xfrm>
            <a:off x="896112" y="1856232"/>
            <a:ext cx="566928" cy="566928"/>
          </a:xfrm>
          <a:prstGeom prst="ellipse">
            <a:avLst/>
          </a:prstGeom>
          <a:solidFill>
            <a:srgbClr val="0F8B8D"/>
          </a:solidFill>
          <a:ln/>
        </p:spPr>
        <p:txBody>
          <a:bodyPr/>
          <a:lstStyle/>
          <a:p>
            <a:endParaRPr lang="fr-FR"/>
          </a:p>
        </p:txBody>
      </p:sp>
      <p:sp>
        <p:nvSpPr>
          <p:cNvPr id="6" name="Text 4"/>
          <p:cNvSpPr/>
          <p:nvPr/>
        </p:nvSpPr>
        <p:spPr>
          <a:xfrm>
            <a:off x="896112" y="18562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a:t>
            </a:r>
            <a:endParaRPr lang="en-US" sz="2200" dirty="0"/>
          </a:p>
        </p:txBody>
      </p:sp>
      <p:sp>
        <p:nvSpPr>
          <p:cNvPr id="7" name="Text 5"/>
          <p:cNvSpPr/>
          <p:nvPr/>
        </p:nvSpPr>
        <p:spPr>
          <a:xfrm>
            <a:off x="1600200" y="187452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Cliquez sur le bouton bleu « FranceConnect »</a:t>
            </a:r>
            <a:endParaRPr lang="en-US" sz="1400" dirty="0"/>
          </a:p>
        </p:txBody>
      </p:sp>
      <p:sp>
        <p:nvSpPr>
          <p:cNvPr id="8" name="Text 6"/>
          <p:cNvSpPr/>
          <p:nvPr/>
        </p:nvSpPr>
        <p:spPr>
          <a:xfrm>
            <a:off x="914400" y="2514600"/>
            <a:ext cx="4800600" cy="45720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Sur la page de connexion d'Ameli, sous le formulaire habituel.</a:t>
            </a:r>
            <a:endParaRPr lang="en-US" sz="1200" dirty="0"/>
          </a:p>
        </p:txBody>
      </p:sp>
      <p:sp>
        <p:nvSpPr>
          <p:cNvPr id="9" name="Shape 7"/>
          <p:cNvSpPr/>
          <p:nvPr/>
        </p:nvSpPr>
        <p:spPr>
          <a:xfrm>
            <a:off x="6355080" y="1600200"/>
            <a:ext cx="5349240" cy="1554480"/>
          </a:xfrm>
          <a:prstGeom prst="roundRect">
            <a:avLst>
              <a:gd name="adj" fmla="val 5294"/>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0" name="Shape 8"/>
          <p:cNvSpPr/>
          <p:nvPr/>
        </p:nvSpPr>
        <p:spPr>
          <a:xfrm>
            <a:off x="6611112" y="1856232"/>
            <a:ext cx="566928" cy="566928"/>
          </a:xfrm>
          <a:prstGeom prst="ellipse">
            <a:avLst/>
          </a:prstGeom>
          <a:solidFill>
            <a:srgbClr val="3AA055"/>
          </a:solidFill>
          <a:ln/>
        </p:spPr>
        <p:txBody>
          <a:bodyPr/>
          <a:lstStyle/>
          <a:p>
            <a:endParaRPr lang="fr-FR"/>
          </a:p>
        </p:txBody>
      </p:sp>
      <p:sp>
        <p:nvSpPr>
          <p:cNvPr id="11" name="Text 9"/>
          <p:cNvSpPr/>
          <p:nvPr/>
        </p:nvSpPr>
        <p:spPr>
          <a:xfrm>
            <a:off x="6611112" y="18562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2</a:t>
            </a:r>
            <a:endParaRPr lang="en-US" sz="2200" dirty="0"/>
          </a:p>
        </p:txBody>
      </p:sp>
      <p:sp>
        <p:nvSpPr>
          <p:cNvPr id="12" name="Text 10"/>
          <p:cNvSpPr/>
          <p:nvPr/>
        </p:nvSpPr>
        <p:spPr>
          <a:xfrm>
            <a:off x="7315200" y="187452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Choisissez votre fournisseur d'identité</a:t>
            </a:r>
            <a:endParaRPr lang="en-US" sz="1400" dirty="0"/>
          </a:p>
        </p:txBody>
      </p:sp>
      <p:sp>
        <p:nvSpPr>
          <p:cNvPr id="13" name="Text 11"/>
          <p:cNvSpPr/>
          <p:nvPr/>
        </p:nvSpPr>
        <p:spPr>
          <a:xfrm>
            <a:off x="6629400" y="2514600"/>
            <a:ext cx="4800600" cy="45720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Par exemple Impôts ou Identité Numérique La Poste (voir diapo suivante).</a:t>
            </a:r>
            <a:endParaRPr lang="en-US" sz="1200" dirty="0"/>
          </a:p>
        </p:txBody>
      </p:sp>
      <p:sp>
        <p:nvSpPr>
          <p:cNvPr id="14" name="Shape 12"/>
          <p:cNvSpPr/>
          <p:nvPr/>
        </p:nvSpPr>
        <p:spPr>
          <a:xfrm>
            <a:off x="640080" y="3429000"/>
            <a:ext cx="5349240" cy="1554480"/>
          </a:xfrm>
          <a:prstGeom prst="roundRect">
            <a:avLst>
              <a:gd name="adj" fmla="val 5294"/>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5" name="Shape 13"/>
          <p:cNvSpPr/>
          <p:nvPr/>
        </p:nvSpPr>
        <p:spPr>
          <a:xfrm>
            <a:off x="896112" y="3685032"/>
            <a:ext cx="566928" cy="566928"/>
          </a:xfrm>
          <a:prstGeom prst="ellipse">
            <a:avLst/>
          </a:prstGeom>
          <a:solidFill>
            <a:srgbClr val="0F8B8D"/>
          </a:solidFill>
          <a:ln/>
        </p:spPr>
        <p:txBody>
          <a:bodyPr/>
          <a:lstStyle/>
          <a:p>
            <a:endParaRPr lang="fr-FR"/>
          </a:p>
        </p:txBody>
      </p:sp>
      <p:sp>
        <p:nvSpPr>
          <p:cNvPr id="16" name="Text 14"/>
          <p:cNvSpPr/>
          <p:nvPr/>
        </p:nvSpPr>
        <p:spPr>
          <a:xfrm>
            <a:off x="896112" y="3685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3</a:t>
            </a:r>
            <a:endParaRPr lang="en-US" sz="2200" dirty="0"/>
          </a:p>
        </p:txBody>
      </p:sp>
      <p:sp>
        <p:nvSpPr>
          <p:cNvPr id="17" name="Text 15"/>
          <p:cNvSpPr/>
          <p:nvPr/>
        </p:nvSpPr>
        <p:spPr>
          <a:xfrm>
            <a:off x="1600200" y="370332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Identifiez-vous chez ce fournisseur</a:t>
            </a:r>
            <a:endParaRPr lang="en-US" sz="1400" dirty="0"/>
          </a:p>
        </p:txBody>
      </p:sp>
      <p:sp>
        <p:nvSpPr>
          <p:cNvPr id="18" name="Text 16"/>
          <p:cNvSpPr/>
          <p:nvPr/>
        </p:nvSpPr>
        <p:spPr>
          <a:xfrm>
            <a:off x="914400" y="4343400"/>
            <a:ext cx="4800600" cy="45720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Avec les identifiants de CE compte (pas ceux d'Ameli).</a:t>
            </a:r>
            <a:endParaRPr lang="en-US" sz="1200" dirty="0"/>
          </a:p>
        </p:txBody>
      </p:sp>
      <p:sp>
        <p:nvSpPr>
          <p:cNvPr id="19" name="Shape 17"/>
          <p:cNvSpPr/>
          <p:nvPr/>
        </p:nvSpPr>
        <p:spPr>
          <a:xfrm>
            <a:off x="6355080" y="3429000"/>
            <a:ext cx="5349240" cy="1554480"/>
          </a:xfrm>
          <a:prstGeom prst="roundRect">
            <a:avLst>
              <a:gd name="adj" fmla="val 5294"/>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20" name="Shape 18"/>
          <p:cNvSpPr/>
          <p:nvPr/>
        </p:nvSpPr>
        <p:spPr>
          <a:xfrm>
            <a:off x="6611112" y="3685032"/>
            <a:ext cx="566928" cy="566928"/>
          </a:xfrm>
          <a:prstGeom prst="ellipse">
            <a:avLst/>
          </a:prstGeom>
          <a:solidFill>
            <a:srgbClr val="3AA055"/>
          </a:solidFill>
          <a:ln/>
        </p:spPr>
        <p:txBody>
          <a:bodyPr/>
          <a:lstStyle/>
          <a:p>
            <a:endParaRPr lang="fr-FR"/>
          </a:p>
        </p:txBody>
      </p:sp>
      <p:sp>
        <p:nvSpPr>
          <p:cNvPr id="21" name="Text 19"/>
          <p:cNvSpPr/>
          <p:nvPr/>
        </p:nvSpPr>
        <p:spPr>
          <a:xfrm>
            <a:off x="6611112" y="3685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4</a:t>
            </a:r>
            <a:endParaRPr lang="en-US" sz="2200" dirty="0"/>
          </a:p>
        </p:txBody>
      </p:sp>
      <p:sp>
        <p:nvSpPr>
          <p:cNvPr id="22" name="Text 20"/>
          <p:cNvSpPr/>
          <p:nvPr/>
        </p:nvSpPr>
        <p:spPr>
          <a:xfrm>
            <a:off x="7315200" y="370332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Vous arrivez dans Ameli, déjà connecté</a:t>
            </a:r>
            <a:endParaRPr lang="en-US" sz="1400" dirty="0"/>
          </a:p>
        </p:txBody>
      </p:sp>
      <p:sp>
        <p:nvSpPr>
          <p:cNvPr id="23" name="Text 21"/>
          <p:cNvSpPr/>
          <p:nvPr/>
        </p:nvSpPr>
        <p:spPr>
          <a:xfrm>
            <a:off x="6629400" y="4343400"/>
            <a:ext cx="4800600" cy="45720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C'est terminé : vous êtes sur votre compte.</a:t>
            </a:r>
            <a:endParaRPr lang="en-US" sz="1200" dirty="0"/>
          </a:p>
        </p:txBody>
      </p:sp>
      <p:sp>
        <p:nvSpPr>
          <p:cNvPr id="24" name="Text 22"/>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5" name="Text 23"/>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11 / 18</a:t>
            </a:r>
            <a:endParaRPr lang="en-US" sz="900" dirty="0"/>
          </a:p>
        </p:txBody>
      </p:sp>
      <p:sp>
        <p:nvSpPr>
          <p:cNvPr id="26" name="ZoneTexte 25">
            <a:extLst>
              <a:ext uri="{FF2B5EF4-FFF2-40B4-BE49-F238E27FC236}">
                <a16:creationId xmlns:a16="http://schemas.microsoft.com/office/drawing/2014/main" id="{3F0A5B42-1056-C0B4-3650-A09C2C435ABF}"/>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2 · LES FOURNISSEURS</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Quels comptes peut-on utiliser ?</a:t>
            </a:r>
            <a:endParaRPr lang="en-US" sz="3000" dirty="0"/>
          </a:p>
        </p:txBody>
      </p:sp>
      <p:sp>
        <p:nvSpPr>
          <p:cNvPr id="4" name="Shape 2"/>
          <p:cNvSpPr/>
          <p:nvPr/>
        </p:nvSpPr>
        <p:spPr>
          <a:xfrm>
            <a:off x="640080" y="1554480"/>
            <a:ext cx="5349240" cy="1078992"/>
          </a:xfrm>
          <a:prstGeom prst="roundRect">
            <a:avLst>
              <a:gd name="adj" fmla="val 678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5" name="Shape 3"/>
          <p:cNvSpPr/>
          <p:nvPr/>
        </p:nvSpPr>
        <p:spPr>
          <a:xfrm>
            <a:off x="896112" y="1783080"/>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57778" y="1944746"/>
            <a:ext cx="298460" cy="298460"/>
          </a:xfrm>
          <a:prstGeom prst="rect">
            <a:avLst/>
          </a:prstGeom>
        </p:spPr>
      </p:pic>
      <p:sp>
        <p:nvSpPr>
          <p:cNvPr id="7" name="Text 4"/>
          <p:cNvSpPr/>
          <p:nvPr/>
        </p:nvSpPr>
        <p:spPr>
          <a:xfrm>
            <a:off x="1691640" y="1700784"/>
            <a:ext cx="4114800" cy="41148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Impôts (impots.gouv.fr)</a:t>
            </a:r>
            <a:endParaRPr lang="en-US" sz="1400" dirty="0"/>
          </a:p>
        </p:txBody>
      </p:sp>
      <p:sp>
        <p:nvSpPr>
          <p:cNvPr id="8" name="Text 5"/>
          <p:cNvSpPr/>
          <p:nvPr/>
        </p:nvSpPr>
        <p:spPr>
          <a:xfrm>
            <a:off x="1691640" y="2084832"/>
            <a:ext cx="4114800" cy="45720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Le plus répandu si vous déclarez vos revenus en ligne.</a:t>
            </a:r>
            <a:endParaRPr lang="en-US" sz="1150" dirty="0"/>
          </a:p>
        </p:txBody>
      </p:sp>
      <p:sp>
        <p:nvSpPr>
          <p:cNvPr id="9" name="Shape 6"/>
          <p:cNvSpPr/>
          <p:nvPr/>
        </p:nvSpPr>
        <p:spPr>
          <a:xfrm>
            <a:off x="6355080" y="1554480"/>
            <a:ext cx="5349240" cy="1078992"/>
          </a:xfrm>
          <a:prstGeom prst="roundRect">
            <a:avLst>
              <a:gd name="adj" fmla="val 678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0" name="Shape 7"/>
          <p:cNvSpPr/>
          <p:nvPr/>
        </p:nvSpPr>
        <p:spPr>
          <a:xfrm>
            <a:off x="6611112" y="1783080"/>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6772778" y="1944746"/>
            <a:ext cx="298460" cy="298460"/>
          </a:xfrm>
          <a:prstGeom prst="rect">
            <a:avLst/>
          </a:prstGeom>
        </p:spPr>
      </p:pic>
      <p:sp>
        <p:nvSpPr>
          <p:cNvPr id="12" name="Text 8"/>
          <p:cNvSpPr/>
          <p:nvPr/>
        </p:nvSpPr>
        <p:spPr>
          <a:xfrm>
            <a:off x="7406640" y="1700784"/>
            <a:ext cx="4114800" cy="41148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L'Identité Numérique La Poste</a:t>
            </a:r>
            <a:endParaRPr lang="en-US" sz="1400" dirty="0"/>
          </a:p>
        </p:txBody>
      </p:sp>
      <p:sp>
        <p:nvSpPr>
          <p:cNvPr id="13" name="Text 9"/>
          <p:cNvSpPr/>
          <p:nvPr/>
        </p:nvSpPr>
        <p:spPr>
          <a:xfrm>
            <a:off x="7406640" y="2084832"/>
            <a:ext cx="4114800" cy="45720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Une appli gratuite de La Poste, validée en bureau de poste.</a:t>
            </a:r>
            <a:endParaRPr lang="en-US" sz="1150" dirty="0"/>
          </a:p>
        </p:txBody>
      </p:sp>
      <p:sp>
        <p:nvSpPr>
          <p:cNvPr id="14" name="Shape 10"/>
          <p:cNvSpPr/>
          <p:nvPr/>
        </p:nvSpPr>
        <p:spPr>
          <a:xfrm>
            <a:off x="640080" y="2834640"/>
            <a:ext cx="5349240" cy="1078992"/>
          </a:xfrm>
          <a:prstGeom prst="roundRect">
            <a:avLst>
              <a:gd name="adj" fmla="val 678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5" name="Shape 11"/>
          <p:cNvSpPr/>
          <p:nvPr/>
        </p:nvSpPr>
        <p:spPr>
          <a:xfrm>
            <a:off x="896112" y="3063240"/>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6" name="Image 2" descr="preencoded.png"/>
          <p:cNvPicPr>
            <a:picLocks noChangeAspect="1"/>
          </p:cNvPicPr>
          <p:nvPr/>
        </p:nvPicPr>
        <p:blipFill>
          <a:blip r:embed="rId5"/>
          <a:stretch>
            <a:fillRect/>
          </a:stretch>
        </p:blipFill>
        <p:spPr>
          <a:xfrm>
            <a:off x="1057778" y="3224906"/>
            <a:ext cx="298460" cy="298460"/>
          </a:xfrm>
          <a:prstGeom prst="rect">
            <a:avLst/>
          </a:prstGeom>
        </p:spPr>
      </p:pic>
      <p:sp>
        <p:nvSpPr>
          <p:cNvPr id="17" name="Text 12"/>
          <p:cNvSpPr/>
          <p:nvPr/>
        </p:nvSpPr>
        <p:spPr>
          <a:xfrm>
            <a:off x="1691640" y="2980944"/>
            <a:ext cx="4114800" cy="41148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France Identité</a:t>
            </a:r>
            <a:endParaRPr lang="en-US" sz="1400" dirty="0"/>
          </a:p>
        </p:txBody>
      </p:sp>
      <p:sp>
        <p:nvSpPr>
          <p:cNvPr id="18" name="Text 13"/>
          <p:cNvSpPr/>
          <p:nvPr/>
        </p:nvSpPr>
        <p:spPr>
          <a:xfrm>
            <a:off x="1691640" y="3364992"/>
            <a:ext cx="4114800" cy="45720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L'appli officielle de l'État, avec votre carte d'identité.</a:t>
            </a:r>
            <a:endParaRPr lang="en-US" sz="1150" dirty="0"/>
          </a:p>
        </p:txBody>
      </p:sp>
      <p:sp>
        <p:nvSpPr>
          <p:cNvPr id="19" name="Shape 14"/>
          <p:cNvSpPr/>
          <p:nvPr/>
        </p:nvSpPr>
        <p:spPr>
          <a:xfrm>
            <a:off x="6355080" y="2834640"/>
            <a:ext cx="5349240" cy="1078992"/>
          </a:xfrm>
          <a:prstGeom prst="roundRect">
            <a:avLst>
              <a:gd name="adj" fmla="val 678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0" name="Shape 15"/>
          <p:cNvSpPr/>
          <p:nvPr/>
        </p:nvSpPr>
        <p:spPr>
          <a:xfrm>
            <a:off x="6611112" y="3063240"/>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21" name="Image 3" descr="preencoded.png"/>
          <p:cNvPicPr>
            <a:picLocks noChangeAspect="1"/>
          </p:cNvPicPr>
          <p:nvPr/>
        </p:nvPicPr>
        <p:blipFill>
          <a:blip r:embed="rId6"/>
          <a:stretch>
            <a:fillRect/>
          </a:stretch>
        </p:blipFill>
        <p:spPr>
          <a:xfrm>
            <a:off x="6772778" y="3224906"/>
            <a:ext cx="298460" cy="298460"/>
          </a:xfrm>
          <a:prstGeom prst="rect">
            <a:avLst/>
          </a:prstGeom>
        </p:spPr>
      </p:pic>
      <p:sp>
        <p:nvSpPr>
          <p:cNvPr id="22" name="Text 16"/>
          <p:cNvSpPr/>
          <p:nvPr/>
        </p:nvSpPr>
        <p:spPr>
          <a:xfrm>
            <a:off x="7406640" y="2980944"/>
            <a:ext cx="4114800" cy="41148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MSA</a:t>
            </a:r>
            <a:endParaRPr lang="en-US" sz="1400" dirty="0"/>
          </a:p>
        </p:txBody>
      </p:sp>
      <p:sp>
        <p:nvSpPr>
          <p:cNvPr id="23" name="Text 17"/>
          <p:cNvSpPr/>
          <p:nvPr/>
        </p:nvSpPr>
        <p:spPr>
          <a:xfrm>
            <a:off x="7406640" y="3364992"/>
            <a:ext cx="4114800" cy="457200"/>
          </a:xfrm>
          <a:prstGeom prst="rect">
            <a:avLst/>
          </a:prstGeom>
          <a:noFill/>
          <a:ln/>
        </p:spPr>
        <p:txBody>
          <a:bodyPr wrap="square" lIns="0" tIns="0" rIns="0" bIns="0" rtlCol="0" anchor="t"/>
          <a:lstStyle/>
          <a:p>
            <a:pPr marL="0" indent="0" algn="l">
              <a:buNone/>
            </a:pPr>
            <a:r>
              <a:rPr lang="en-US" sz="1150" dirty="0">
                <a:solidFill>
                  <a:srgbClr val="5B7088"/>
                </a:solidFill>
                <a:latin typeface="Calibri" pitchFamily="34" charset="0"/>
                <a:ea typeface="Calibri" pitchFamily="34" charset="-122"/>
                <a:cs typeface="Calibri" pitchFamily="34" charset="-120"/>
              </a:rPr>
              <a:t>Pour les personnes affiliées au régime agricole.</a:t>
            </a:r>
            <a:endParaRPr lang="en-US" sz="1150" dirty="0"/>
          </a:p>
        </p:txBody>
      </p:sp>
      <p:sp>
        <p:nvSpPr>
          <p:cNvPr id="24" name="Shape 18"/>
          <p:cNvSpPr/>
          <p:nvPr/>
        </p:nvSpPr>
        <p:spPr>
          <a:xfrm>
            <a:off x="640080" y="4526280"/>
            <a:ext cx="10881360" cy="960120"/>
          </a:xfrm>
          <a:prstGeom prst="roundRect">
            <a:avLst>
              <a:gd name="adj" fmla="val 9524"/>
            </a:avLst>
          </a:prstGeom>
          <a:solidFill>
            <a:srgbClr val="FBEFD8"/>
          </a:solidFill>
          <a:ln w="15240">
            <a:solidFill>
              <a:srgbClr val="E7B53C"/>
            </a:solidFill>
            <a:prstDash val="solid"/>
          </a:ln>
        </p:spPr>
        <p:txBody>
          <a:bodyPr/>
          <a:lstStyle/>
          <a:p>
            <a:endParaRPr lang="fr-FR"/>
          </a:p>
        </p:txBody>
      </p:sp>
      <p:sp>
        <p:nvSpPr>
          <p:cNvPr id="25" name="Shape 19"/>
          <p:cNvSpPr/>
          <p:nvPr/>
        </p:nvSpPr>
        <p:spPr>
          <a:xfrm>
            <a:off x="914400" y="4754880"/>
            <a:ext cx="502920" cy="502920"/>
          </a:xfrm>
          <a:prstGeom prst="ellipse">
            <a:avLst/>
          </a:prstGeom>
          <a:solidFill>
            <a:srgbClr val="E7B53C"/>
          </a:solidFill>
          <a:ln/>
          <a:effectLst>
            <a:outerShdw blurRad="88900" dist="38100" dir="2700000" algn="bl" rotWithShape="0">
              <a:srgbClr val="0A1626">
                <a:alpha val="16000"/>
              </a:srgbClr>
            </a:outerShdw>
          </a:effectLst>
        </p:spPr>
        <p:txBody>
          <a:bodyPr/>
          <a:lstStyle/>
          <a:p>
            <a:endParaRPr lang="fr-FR"/>
          </a:p>
        </p:txBody>
      </p:sp>
      <p:pic>
        <p:nvPicPr>
          <p:cNvPr id="26" name="Image 4" descr="preencoded.png"/>
          <p:cNvPicPr>
            <a:picLocks noChangeAspect="1"/>
          </p:cNvPicPr>
          <p:nvPr/>
        </p:nvPicPr>
        <p:blipFill>
          <a:blip r:embed="rId7"/>
          <a:stretch>
            <a:fillRect/>
          </a:stretch>
        </p:blipFill>
        <p:spPr>
          <a:xfrm>
            <a:off x="1045159" y="4885639"/>
            <a:ext cx="241402" cy="241402"/>
          </a:xfrm>
          <a:prstGeom prst="rect">
            <a:avLst/>
          </a:prstGeom>
        </p:spPr>
      </p:pic>
      <p:sp>
        <p:nvSpPr>
          <p:cNvPr id="27" name="Text 20"/>
          <p:cNvSpPr/>
          <p:nvPr/>
        </p:nvSpPr>
        <p:spPr>
          <a:xfrm>
            <a:off x="1600200" y="4754880"/>
            <a:ext cx="9692640" cy="548640"/>
          </a:xfrm>
          <a:prstGeom prst="rect">
            <a:avLst/>
          </a:prstGeom>
          <a:noFill/>
          <a:ln/>
        </p:spPr>
        <p:txBody>
          <a:bodyPr wrap="square" lIns="0" tIns="0" rIns="0" bIns="0" rtlCol="0" anchor="ctr"/>
          <a:lstStyle/>
          <a:p>
            <a:pPr marL="0" indent="0">
              <a:lnSpc>
                <a:spcPct val="105000"/>
              </a:lnSpc>
              <a:buNone/>
            </a:pPr>
            <a:r>
              <a:rPr lang="en-US" sz="1250" b="1" dirty="0">
                <a:solidFill>
                  <a:srgbClr val="8A6411"/>
                </a:solidFill>
                <a:latin typeface="Calibri" pitchFamily="34" charset="0"/>
                <a:ea typeface="Calibri" pitchFamily="34" charset="-122"/>
                <a:cs typeface="Calibri" pitchFamily="34" charset="-120"/>
              </a:rPr>
              <a:t>Bon à savoir : </a:t>
            </a:r>
            <a:r>
              <a:rPr lang="en-US" sz="1250" dirty="0">
                <a:solidFill>
                  <a:srgbClr val="6E5210"/>
                </a:solidFill>
                <a:latin typeface="Calibri" pitchFamily="34" charset="0"/>
                <a:ea typeface="Calibri" pitchFamily="34" charset="-122"/>
                <a:cs typeface="Calibri" pitchFamily="34" charset="-120"/>
              </a:rPr>
              <a:t>le fournisseur « YRIS » s'arrête le 1er juillet 2026. Si vous l'utilisiez, basculez dès maintenant vers un autre compte (Impôts, La Poste…).</a:t>
            </a:r>
            <a:endParaRPr lang="en-US" sz="1250" dirty="0"/>
          </a:p>
        </p:txBody>
      </p:sp>
      <p:sp>
        <p:nvSpPr>
          <p:cNvPr id="28" name="Text 21"/>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9" name="Text 22"/>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12 / 18</a:t>
            </a:r>
            <a:endParaRPr lang="en-US" sz="900" dirty="0"/>
          </a:p>
        </p:txBody>
      </p:sp>
      <p:sp>
        <p:nvSpPr>
          <p:cNvPr id="30" name="ZoneTexte 29">
            <a:extLst>
              <a:ext uri="{FF2B5EF4-FFF2-40B4-BE49-F238E27FC236}">
                <a16:creationId xmlns:a16="http://schemas.microsoft.com/office/drawing/2014/main" id="{F5A5ED43-13A5-8E96-684C-1A6FF9CA482B}"/>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MÉTHODE 3 · SUR LE TÉLÉPHONE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L'application « Compte ameli »</a:t>
            </a:r>
            <a:endParaRPr lang="en-US" sz="3000" dirty="0"/>
          </a:p>
        </p:txBody>
      </p:sp>
      <p:sp>
        <p:nvSpPr>
          <p:cNvPr id="4" name="Shape 2"/>
          <p:cNvSpPr/>
          <p:nvPr/>
        </p:nvSpPr>
        <p:spPr>
          <a:xfrm>
            <a:off x="1280160" y="1600200"/>
            <a:ext cx="2286000" cy="4206240"/>
          </a:xfrm>
          <a:prstGeom prst="roundRect">
            <a:avLst>
              <a:gd name="adj" fmla="val 12000"/>
            </a:avLst>
          </a:prstGeom>
          <a:solidFill>
            <a:srgbClr val="0B1B33"/>
          </a:solidFill>
          <a:ln/>
          <a:effectLst>
            <a:outerShdw blurRad="88900" dist="38100" dir="2700000" algn="bl" rotWithShape="0">
              <a:srgbClr val="0A1626">
                <a:alpha val="25000"/>
              </a:srgbClr>
            </a:outerShdw>
          </a:effectLst>
        </p:spPr>
        <p:txBody>
          <a:bodyPr/>
          <a:lstStyle/>
          <a:p>
            <a:endParaRPr lang="fr-FR"/>
          </a:p>
        </p:txBody>
      </p:sp>
      <p:sp>
        <p:nvSpPr>
          <p:cNvPr id="5" name="Shape 3"/>
          <p:cNvSpPr/>
          <p:nvPr/>
        </p:nvSpPr>
        <p:spPr>
          <a:xfrm>
            <a:off x="1389888" y="1709928"/>
            <a:ext cx="2066544" cy="3986784"/>
          </a:xfrm>
          <a:prstGeom prst="roundRect">
            <a:avLst>
              <a:gd name="adj" fmla="val 9735"/>
            </a:avLst>
          </a:prstGeom>
          <a:solidFill>
            <a:srgbClr val="EAF4F4"/>
          </a:solidFill>
          <a:ln/>
        </p:spPr>
        <p:txBody>
          <a:bodyPr/>
          <a:lstStyle/>
          <a:p>
            <a:endParaRPr lang="fr-FR"/>
          </a:p>
        </p:txBody>
      </p:sp>
      <p:sp>
        <p:nvSpPr>
          <p:cNvPr id="6" name="Shape 4"/>
          <p:cNvSpPr/>
          <p:nvPr/>
        </p:nvSpPr>
        <p:spPr>
          <a:xfrm>
            <a:off x="2011680" y="2240280"/>
            <a:ext cx="822960" cy="822960"/>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7" name="Image 0" descr="preencoded.png"/>
          <p:cNvPicPr>
            <a:picLocks noChangeAspect="1"/>
          </p:cNvPicPr>
          <p:nvPr/>
        </p:nvPicPr>
        <p:blipFill>
          <a:blip r:embed="rId3"/>
          <a:stretch>
            <a:fillRect/>
          </a:stretch>
        </p:blipFill>
        <p:spPr>
          <a:xfrm>
            <a:off x="2225650" y="2454250"/>
            <a:ext cx="395021" cy="395021"/>
          </a:xfrm>
          <a:prstGeom prst="rect">
            <a:avLst/>
          </a:prstGeom>
        </p:spPr>
      </p:pic>
      <p:sp>
        <p:nvSpPr>
          <p:cNvPr id="8" name="Text 5"/>
          <p:cNvSpPr/>
          <p:nvPr/>
        </p:nvSpPr>
        <p:spPr>
          <a:xfrm>
            <a:off x="1280160" y="3154680"/>
            <a:ext cx="2286000" cy="365760"/>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Compte ameli</a:t>
            </a:r>
            <a:endParaRPr lang="en-US" sz="1500" dirty="0"/>
          </a:p>
        </p:txBody>
      </p:sp>
      <p:sp>
        <p:nvSpPr>
          <p:cNvPr id="9" name="Shape 6"/>
          <p:cNvSpPr/>
          <p:nvPr/>
        </p:nvSpPr>
        <p:spPr>
          <a:xfrm>
            <a:off x="1691640" y="3703320"/>
            <a:ext cx="237744" cy="237744"/>
          </a:xfrm>
          <a:prstGeom prst="ellipse">
            <a:avLst/>
          </a:prstGeom>
          <a:solidFill>
            <a:srgbClr val="0F8B8D"/>
          </a:solidFill>
          <a:ln w="12700">
            <a:solidFill>
              <a:srgbClr val="0F8B8D"/>
            </a:solidFill>
            <a:prstDash val="solid"/>
          </a:ln>
        </p:spPr>
        <p:txBody>
          <a:bodyPr/>
          <a:lstStyle/>
          <a:p>
            <a:endParaRPr lang="fr-FR"/>
          </a:p>
        </p:txBody>
      </p:sp>
      <p:sp>
        <p:nvSpPr>
          <p:cNvPr id="10" name="Shape 7"/>
          <p:cNvSpPr/>
          <p:nvPr/>
        </p:nvSpPr>
        <p:spPr>
          <a:xfrm>
            <a:off x="2075688" y="3703320"/>
            <a:ext cx="237744" cy="237744"/>
          </a:xfrm>
          <a:prstGeom prst="ellipse">
            <a:avLst/>
          </a:prstGeom>
          <a:solidFill>
            <a:srgbClr val="0F8B8D"/>
          </a:solidFill>
          <a:ln w="12700">
            <a:solidFill>
              <a:srgbClr val="0F8B8D"/>
            </a:solidFill>
            <a:prstDash val="solid"/>
          </a:ln>
        </p:spPr>
        <p:txBody>
          <a:bodyPr/>
          <a:lstStyle/>
          <a:p>
            <a:endParaRPr lang="fr-FR"/>
          </a:p>
        </p:txBody>
      </p:sp>
      <p:sp>
        <p:nvSpPr>
          <p:cNvPr id="11" name="Shape 8"/>
          <p:cNvSpPr/>
          <p:nvPr/>
        </p:nvSpPr>
        <p:spPr>
          <a:xfrm>
            <a:off x="2459736" y="3703320"/>
            <a:ext cx="237744" cy="237744"/>
          </a:xfrm>
          <a:prstGeom prst="ellipse">
            <a:avLst/>
          </a:prstGeom>
          <a:solidFill>
            <a:srgbClr val="FFFFFF"/>
          </a:solidFill>
          <a:ln w="12700">
            <a:solidFill>
              <a:srgbClr val="0F8B8D"/>
            </a:solidFill>
            <a:prstDash val="solid"/>
          </a:ln>
        </p:spPr>
        <p:txBody>
          <a:bodyPr/>
          <a:lstStyle/>
          <a:p>
            <a:endParaRPr lang="fr-FR"/>
          </a:p>
        </p:txBody>
      </p:sp>
      <p:sp>
        <p:nvSpPr>
          <p:cNvPr id="12" name="Shape 9"/>
          <p:cNvSpPr/>
          <p:nvPr/>
        </p:nvSpPr>
        <p:spPr>
          <a:xfrm>
            <a:off x="2843784" y="3703320"/>
            <a:ext cx="237744" cy="237744"/>
          </a:xfrm>
          <a:prstGeom prst="ellipse">
            <a:avLst/>
          </a:prstGeom>
          <a:solidFill>
            <a:srgbClr val="FFFFFF"/>
          </a:solidFill>
          <a:ln w="12700">
            <a:solidFill>
              <a:srgbClr val="0F8B8D"/>
            </a:solidFill>
            <a:prstDash val="solid"/>
          </a:ln>
        </p:spPr>
        <p:txBody>
          <a:bodyPr/>
          <a:lstStyle/>
          <a:p>
            <a:endParaRPr lang="fr-FR"/>
          </a:p>
        </p:txBody>
      </p:sp>
      <p:sp>
        <p:nvSpPr>
          <p:cNvPr id="13" name="Text 10"/>
          <p:cNvSpPr/>
          <p:nvPr/>
        </p:nvSpPr>
        <p:spPr>
          <a:xfrm>
            <a:off x="1280160" y="4114800"/>
            <a:ext cx="2286000" cy="274320"/>
          </a:xfrm>
          <a:prstGeom prst="rect">
            <a:avLst/>
          </a:prstGeom>
          <a:noFill/>
          <a:ln/>
        </p:spPr>
        <p:txBody>
          <a:bodyPr wrap="square" lIns="0" tIns="0" rIns="0" bIns="0" rtlCol="0" anchor="ctr"/>
          <a:lstStyle/>
          <a:p>
            <a:pPr marL="0" indent="0" algn="ctr">
              <a:buNone/>
            </a:pPr>
            <a:r>
              <a:rPr lang="en-US" sz="1050" dirty="0">
                <a:solidFill>
                  <a:srgbClr val="5B7088"/>
                </a:solidFill>
                <a:latin typeface="Calibri" pitchFamily="34" charset="0"/>
                <a:ea typeface="Calibri" pitchFamily="34" charset="-122"/>
                <a:cs typeface="Calibri" pitchFamily="34" charset="-120"/>
              </a:rPr>
              <a:t>Code à 4 chiffres</a:t>
            </a:r>
            <a:endParaRPr lang="en-US" sz="1050" dirty="0"/>
          </a:p>
        </p:txBody>
      </p:sp>
      <p:sp>
        <p:nvSpPr>
          <p:cNvPr id="14" name="Shape 11"/>
          <p:cNvSpPr/>
          <p:nvPr/>
        </p:nvSpPr>
        <p:spPr>
          <a:xfrm>
            <a:off x="1600200" y="4846320"/>
            <a:ext cx="1645920" cy="411480"/>
          </a:xfrm>
          <a:prstGeom prst="roundRect">
            <a:avLst>
              <a:gd name="adj" fmla="val 11111"/>
            </a:avLst>
          </a:prstGeom>
          <a:solidFill>
            <a:srgbClr val="0F8B8D"/>
          </a:solidFill>
          <a:ln/>
        </p:spPr>
        <p:txBody>
          <a:bodyPr/>
          <a:lstStyle/>
          <a:p>
            <a:endParaRPr lang="fr-FR"/>
          </a:p>
        </p:txBody>
      </p:sp>
      <p:sp>
        <p:nvSpPr>
          <p:cNvPr id="15" name="Text 12"/>
          <p:cNvSpPr/>
          <p:nvPr/>
        </p:nvSpPr>
        <p:spPr>
          <a:xfrm>
            <a:off x="1600200" y="4846320"/>
            <a:ext cx="16459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 connecter</a:t>
            </a:r>
            <a:endParaRPr lang="en-US" sz="1100" dirty="0"/>
          </a:p>
        </p:txBody>
      </p:sp>
      <p:sp>
        <p:nvSpPr>
          <p:cNvPr id="16" name="Shape 13"/>
          <p:cNvSpPr/>
          <p:nvPr/>
        </p:nvSpPr>
        <p:spPr>
          <a:xfrm>
            <a:off x="4114800" y="1783080"/>
            <a:ext cx="502920" cy="502920"/>
          </a:xfrm>
          <a:prstGeom prst="ellipse">
            <a:avLst/>
          </a:prstGeom>
          <a:solidFill>
            <a:srgbClr val="3AA055"/>
          </a:solidFill>
          <a:ln/>
        </p:spPr>
        <p:txBody>
          <a:bodyPr/>
          <a:lstStyle/>
          <a:p>
            <a:endParaRPr lang="fr-FR"/>
          </a:p>
        </p:txBody>
      </p:sp>
      <p:sp>
        <p:nvSpPr>
          <p:cNvPr id="17" name="Text 14"/>
          <p:cNvSpPr/>
          <p:nvPr/>
        </p:nvSpPr>
        <p:spPr>
          <a:xfrm>
            <a:off x="4114800" y="17830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18" name="Text 15"/>
          <p:cNvSpPr/>
          <p:nvPr/>
        </p:nvSpPr>
        <p:spPr>
          <a:xfrm>
            <a:off x="4800600" y="1746504"/>
            <a:ext cx="66751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Téléchargez l'application</a:t>
            </a:r>
            <a:endParaRPr lang="en-US" sz="1500" dirty="0"/>
          </a:p>
        </p:txBody>
      </p:sp>
      <p:sp>
        <p:nvSpPr>
          <p:cNvPr id="19" name="Text 16"/>
          <p:cNvSpPr/>
          <p:nvPr/>
        </p:nvSpPr>
        <p:spPr>
          <a:xfrm>
            <a:off x="4800600" y="2167128"/>
            <a:ext cx="66751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 Compte ameli », gratuite, sur l'App Store (iPhone) ou Google Play (Android).</a:t>
            </a:r>
            <a:endParaRPr lang="en-US" sz="1250" dirty="0"/>
          </a:p>
        </p:txBody>
      </p:sp>
      <p:sp>
        <p:nvSpPr>
          <p:cNvPr id="20" name="Shape 17"/>
          <p:cNvSpPr/>
          <p:nvPr/>
        </p:nvSpPr>
        <p:spPr>
          <a:xfrm>
            <a:off x="4114800" y="3108960"/>
            <a:ext cx="502920" cy="502920"/>
          </a:xfrm>
          <a:prstGeom prst="ellipse">
            <a:avLst/>
          </a:prstGeom>
          <a:solidFill>
            <a:srgbClr val="3AA055"/>
          </a:solidFill>
          <a:ln/>
        </p:spPr>
        <p:txBody>
          <a:bodyPr/>
          <a:lstStyle/>
          <a:p>
            <a:endParaRPr lang="fr-FR"/>
          </a:p>
        </p:txBody>
      </p:sp>
      <p:sp>
        <p:nvSpPr>
          <p:cNvPr id="21" name="Text 18"/>
          <p:cNvSpPr/>
          <p:nvPr/>
        </p:nvSpPr>
        <p:spPr>
          <a:xfrm>
            <a:off x="4114800" y="3108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22" name="Text 19"/>
          <p:cNvSpPr/>
          <p:nvPr/>
        </p:nvSpPr>
        <p:spPr>
          <a:xfrm>
            <a:off x="4800600" y="3072384"/>
            <a:ext cx="66751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Connectez-vous une première fois</a:t>
            </a:r>
            <a:endParaRPr lang="en-US" sz="1500" dirty="0"/>
          </a:p>
        </p:txBody>
      </p:sp>
      <p:sp>
        <p:nvSpPr>
          <p:cNvPr id="23" name="Text 20"/>
          <p:cNvSpPr/>
          <p:nvPr/>
        </p:nvSpPr>
        <p:spPr>
          <a:xfrm>
            <a:off x="4800600" y="3493008"/>
            <a:ext cx="66751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Avec vos identifiants Ameli ou FranceConnect.</a:t>
            </a:r>
            <a:endParaRPr lang="en-US" sz="1250" dirty="0"/>
          </a:p>
        </p:txBody>
      </p:sp>
      <p:sp>
        <p:nvSpPr>
          <p:cNvPr id="24" name="Shape 21"/>
          <p:cNvSpPr/>
          <p:nvPr/>
        </p:nvSpPr>
        <p:spPr>
          <a:xfrm>
            <a:off x="4114800" y="4434840"/>
            <a:ext cx="502920" cy="502920"/>
          </a:xfrm>
          <a:prstGeom prst="ellipse">
            <a:avLst/>
          </a:prstGeom>
          <a:solidFill>
            <a:srgbClr val="3AA055"/>
          </a:solidFill>
          <a:ln/>
        </p:spPr>
        <p:txBody>
          <a:bodyPr/>
          <a:lstStyle/>
          <a:p>
            <a:endParaRPr lang="fr-FR"/>
          </a:p>
        </p:txBody>
      </p:sp>
      <p:sp>
        <p:nvSpPr>
          <p:cNvPr id="25" name="Text 22"/>
          <p:cNvSpPr/>
          <p:nvPr/>
        </p:nvSpPr>
        <p:spPr>
          <a:xfrm>
            <a:off x="4114800" y="4434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26" name="Text 23"/>
          <p:cNvSpPr/>
          <p:nvPr/>
        </p:nvSpPr>
        <p:spPr>
          <a:xfrm>
            <a:off x="4800600" y="4398264"/>
            <a:ext cx="667512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Créez un code à 4 chiffres</a:t>
            </a:r>
            <a:endParaRPr lang="en-US" sz="1500" dirty="0"/>
          </a:p>
        </p:txBody>
      </p:sp>
      <p:sp>
        <p:nvSpPr>
          <p:cNvPr id="27" name="Text 24"/>
          <p:cNvSpPr/>
          <p:nvPr/>
        </p:nvSpPr>
        <p:spPr>
          <a:xfrm>
            <a:off x="4800600" y="4818888"/>
            <a:ext cx="6675120" cy="822960"/>
          </a:xfrm>
          <a:prstGeom prst="rect">
            <a:avLst/>
          </a:prstGeom>
          <a:noFill/>
          <a:ln/>
        </p:spPr>
        <p:txBody>
          <a:bodyPr wrap="square" lIns="0" tIns="0" rIns="0" bIns="0" rtlCol="0" anchor="t"/>
          <a:lstStyle/>
          <a:p>
            <a:pPr marL="0" indent="0" algn="l">
              <a:lnSpc>
                <a:spcPct val="105000"/>
              </a:lnSpc>
              <a:buNone/>
            </a:pPr>
            <a:r>
              <a:rPr lang="en-US" sz="1250" dirty="0">
                <a:solidFill>
                  <a:srgbClr val="B9C9DD"/>
                </a:solidFill>
                <a:latin typeface="Calibri" pitchFamily="34" charset="0"/>
                <a:ea typeface="Calibri" pitchFamily="34" charset="-122"/>
                <a:cs typeface="Calibri" pitchFamily="34" charset="-120"/>
              </a:rPr>
              <a:t>Pour les fois suivantes : juste le code (ou l'empreinte / le visage).</a:t>
            </a:r>
            <a:endParaRPr lang="en-US" sz="1250" dirty="0"/>
          </a:p>
        </p:txBody>
      </p:sp>
      <p:sp>
        <p:nvSpPr>
          <p:cNvPr id="28" name="Text 25"/>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9" name="Text 26"/>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13 / 18</a:t>
            </a:r>
            <a:endParaRPr lang="en-US" sz="900" dirty="0"/>
          </a:p>
        </p:txBody>
      </p:sp>
      <p:sp>
        <p:nvSpPr>
          <p:cNvPr id="30" name="ZoneTexte 29">
            <a:extLst>
              <a:ext uri="{FF2B5EF4-FFF2-40B4-BE49-F238E27FC236}">
                <a16:creationId xmlns:a16="http://schemas.microsoft.com/office/drawing/2014/main" id="{D8F9C3AC-14E3-96E5-F2CC-A046A88220DF}"/>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EN CAS DE BLOCAGE</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Mot de passe oublié ? On débloque</a:t>
            </a:r>
            <a:endParaRPr lang="en-US" sz="3000" dirty="0"/>
          </a:p>
        </p:txBody>
      </p:sp>
      <p:sp>
        <p:nvSpPr>
          <p:cNvPr id="4" name="Shape 2"/>
          <p:cNvSpPr/>
          <p:nvPr/>
        </p:nvSpPr>
        <p:spPr>
          <a:xfrm>
            <a:off x="640080" y="1554480"/>
            <a:ext cx="5349240" cy="1508760"/>
          </a:xfrm>
          <a:prstGeom prst="roundRect">
            <a:avLst>
              <a:gd name="adj" fmla="val 5455"/>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5" name="Shape 3"/>
          <p:cNvSpPr/>
          <p:nvPr/>
        </p:nvSpPr>
        <p:spPr>
          <a:xfrm>
            <a:off x="896112" y="1810512"/>
            <a:ext cx="566928" cy="566928"/>
          </a:xfrm>
          <a:prstGeom prst="ellipse">
            <a:avLst/>
          </a:prstGeom>
          <a:solidFill>
            <a:srgbClr val="0F8B8D"/>
          </a:solidFill>
          <a:ln/>
        </p:spPr>
        <p:txBody>
          <a:bodyPr/>
          <a:lstStyle/>
          <a:p>
            <a:endParaRPr lang="fr-FR"/>
          </a:p>
        </p:txBody>
      </p:sp>
      <p:sp>
        <p:nvSpPr>
          <p:cNvPr id="6" name="Text 4"/>
          <p:cNvSpPr/>
          <p:nvPr/>
        </p:nvSpPr>
        <p:spPr>
          <a:xfrm>
            <a:off x="896112" y="18105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a:t>
            </a:r>
            <a:endParaRPr lang="en-US" sz="2200" dirty="0"/>
          </a:p>
        </p:txBody>
      </p:sp>
      <p:sp>
        <p:nvSpPr>
          <p:cNvPr id="7" name="Text 5"/>
          <p:cNvSpPr/>
          <p:nvPr/>
        </p:nvSpPr>
        <p:spPr>
          <a:xfrm>
            <a:off x="1600200" y="182880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Cliquez sur « Mot de passe oublié »</a:t>
            </a:r>
            <a:endParaRPr lang="en-US" sz="1400" dirty="0"/>
          </a:p>
        </p:txBody>
      </p:sp>
      <p:sp>
        <p:nvSpPr>
          <p:cNvPr id="8" name="Text 6"/>
          <p:cNvSpPr/>
          <p:nvPr/>
        </p:nvSpPr>
        <p:spPr>
          <a:xfrm>
            <a:off x="914400" y="2468880"/>
            <a:ext cx="4800600" cy="41148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Le petit lien sous le formulaire de connexion.</a:t>
            </a:r>
            <a:endParaRPr lang="en-US" sz="1200" dirty="0"/>
          </a:p>
        </p:txBody>
      </p:sp>
      <p:sp>
        <p:nvSpPr>
          <p:cNvPr id="9" name="Shape 7"/>
          <p:cNvSpPr/>
          <p:nvPr/>
        </p:nvSpPr>
        <p:spPr>
          <a:xfrm>
            <a:off x="6355080" y="1554480"/>
            <a:ext cx="5349240" cy="1508760"/>
          </a:xfrm>
          <a:prstGeom prst="roundRect">
            <a:avLst>
              <a:gd name="adj" fmla="val 5455"/>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0" name="Shape 8"/>
          <p:cNvSpPr/>
          <p:nvPr/>
        </p:nvSpPr>
        <p:spPr>
          <a:xfrm>
            <a:off x="6611112" y="1810512"/>
            <a:ext cx="566928" cy="566928"/>
          </a:xfrm>
          <a:prstGeom prst="ellipse">
            <a:avLst/>
          </a:prstGeom>
          <a:solidFill>
            <a:srgbClr val="3AA055"/>
          </a:solidFill>
          <a:ln/>
        </p:spPr>
        <p:txBody>
          <a:bodyPr/>
          <a:lstStyle/>
          <a:p>
            <a:endParaRPr lang="fr-FR"/>
          </a:p>
        </p:txBody>
      </p:sp>
      <p:sp>
        <p:nvSpPr>
          <p:cNvPr id="11" name="Text 9"/>
          <p:cNvSpPr/>
          <p:nvPr/>
        </p:nvSpPr>
        <p:spPr>
          <a:xfrm>
            <a:off x="6611112" y="18105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2</a:t>
            </a:r>
            <a:endParaRPr lang="en-US" sz="2200" dirty="0"/>
          </a:p>
        </p:txBody>
      </p:sp>
      <p:sp>
        <p:nvSpPr>
          <p:cNvPr id="12" name="Text 10"/>
          <p:cNvSpPr/>
          <p:nvPr/>
        </p:nvSpPr>
        <p:spPr>
          <a:xfrm>
            <a:off x="7315200" y="1828800"/>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Renseignez votre numéro de Sécu</a:t>
            </a:r>
            <a:endParaRPr lang="en-US" sz="1400" dirty="0"/>
          </a:p>
        </p:txBody>
      </p:sp>
      <p:sp>
        <p:nvSpPr>
          <p:cNvPr id="13" name="Text 11"/>
          <p:cNvSpPr/>
          <p:nvPr/>
        </p:nvSpPr>
        <p:spPr>
          <a:xfrm>
            <a:off x="6629400" y="2468880"/>
            <a:ext cx="4800600" cy="41148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Le site vérifie que le compte existe bien.</a:t>
            </a:r>
            <a:endParaRPr lang="en-US" sz="1200" dirty="0"/>
          </a:p>
        </p:txBody>
      </p:sp>
      <p:sp>
        <p:nvSpPr>
          <p:cNvPr id="14" name="Shape 12"/>
          <p:cNvSpPr/>
          <p:nvPr/>
        </p:nvSpPr>
        <p:spPr>
          <a:xfrm>
            <a:off x="640080" y="3319272"/>
            <a:ext cx="5349240" cy="1508760"/>
          </a:xfrm>
          <a:prstGeom prst="roundRect">
            <a:avLst>
              <a:gd name="adj" fmla="val 5455"/>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15" name="Shape 13"/>
          <p:cNvSpPr/>
          <p:nvPr/>
        </p:nvSpPr>
        <p:spPr>
          <a:xfrm>
            <a:off x="896112" y="3575304"/>
            <a:ext cx="566928" cy="566928"/>
          </a:xfrm>
          <a:prstGeom prst="ellipse">
            <a:avLst/>
          </a:prstGeom>
          <a:solidFill>
            <a:srgbClr val="0F8B8D"/>
          </a:solidFill>
          <a:ln/>
        </p:spPr>
        <p:txBody>
          <a:bodyPr/>
          <a:lstStyle/>
          <a:p>
            <a:endParaRPr lang="fr-FR"/>
          </a:p>
        </p:txBody>
      </p:sp>
      <p:sp>
        <p:nvSpPr>
          <p:cNvPr id="16" name="Text 14"/>
          <p:cNvSpPr/>
          <p:nvPr/>
        </p:nvSpPr>
        <p:spPr>
          <a:xfrm>
            <a:off x="896112" y="357530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3</a:t>
            </a:r>
            <a:endParaRPr lang="en-US" sz="2200" dirty="0"/>
          </a:p>
        </p:txBody>
      </p:sp>
      <p:sp>
        <p:nvSpPr>
          <p:cNvPr id="17" name="Text 15"/>
          <p:cNvSpPr/>
          <p:nvPr/>
        </p:nvSpPr>
        <p:spPr>
          <a:xfrm>
            <a:off x="1600200" y="3593592"/>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Recevez un lien par e-mail</a:t>
            </a:r>
            <a:endParaRPr lang="en-US" sz="1400" dirty="0"/>
          </a:p>
        </p:txBody>
      </p:sp>
      <p:sp>
        <p:nvSpPr>
          <p:cNvPr id="18" name="Text 16"/>
          <p:cNvSpPr/>
          <p:nvPr/>
        </p:nvSpPr>
        <p:spPr>
          <a:xfrm>
            <a:off x="914400" y="4233672"/>
            <a:ext cx="4800600" cy="41148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À l'adresse enregistrée sur votre compte.</a:t>
            </a:r>
            <a:endParaRPr lang="en-US" sz="1200" dirty="0"/>
          </a:p>
        </p:txBody>
      </p:sp>
      <p:sp>
        <p:nvSpPr>
          <p:cNvPr id="19" name="Shape 17"/>
          <p:cNvSpPr/>
          <p:nvPr/>
        </p:nvSpPr>
        <p:spPr>
          <a:xfrm>
            <a:off x="6355080" y="3319272"/>
            <a:ext cx="5349240" cy="1508760"/>
          </a:xfrm>
          <a:prstGeom prst="roundRect">
            <a:avLst>
              <a:gd name="adj" fmla="val 5455"/>
            </a:avLst>
          </a:prstGeom>
          <a:solidFill>
            <a:srgbClr val="FFFFFF"/>
          </a:solidFill>
          <a:ln w="12700">
            <a:solidFill>
              <a:srgbClr val="DCE4ED"/>
            </a:solidFill>
            <a:prstDash val="solid"/>
          </a:ln>
          <a:effectLst>
            <a:outerShdw blurRad="88900" dist="38100" dir="2700000" algn="bl" rotWithShape="0">
              <a:srgbClr val="0A1626">
                <a:alpha val="12000"/>
              </a:srgbClr>
            </a:outerShdw>
          </a:effectLst>
        </p:spPr>
        <p:txBody>
          <a:bodyPr/>
          <a:lstStyle/>
          <a:p>
            <a:endParaRPr lang="fr-FR"/>
          </a:p>
        </p:txBody>
      </p:sp>
      <p:sp>
        <p:nvSpPr>
          <p:cNvPr id="20" name="Shape 18"/>
          <p:cNvSpPr/>
          <p:nvPr/>
        </p:nvSpPr>
        <p:spPr>
          <a:xfrm>
            <a:off x="6611112" y="3575304"/>
            <a:ext cx="566928" cy="566928"/>
          </a:xfrm>
          <a:prstGeom prst="ellipse">
            <a:avLst/>
          </a:prstGeom>
          <a:solidFill>
            <a:srgbClr val="3AA055"/>
          </a:solidFill>
          <a:ln/>
        </p:spPr>
        <p:txBody>
          <a:bodyPr/>
          <a:lstStyle/>
          <a:p>
            <a:endParaRPr lang="fr-FR"/>
          </a:p>
        </p:txBody>
      </p:sp>
      <p:sp>
        <p:nvSpPr>
          <p:cNvPr id="21" name="Text 19"/>
          <p:cNvSpPr/>
          <p:nvPr/>
        </p:nvSpPr>
        <p:spPr>
          <a:xfrm>
            <a:off x="6611112" y="357530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4</a:t>
            </a:r>
            <a:endParaRPr lang="en-US" sz="2200" dirty="0"/>
          </a:p>
        </p:txBody>
      </p:sp>
      <p:sp>
        <p:nvSpPr>
          <p:cNvPr id="22" name="Text 20"/>
          <p:cNvSpPr/>
          <p:nvPr/>
        </p:nvSpPr>
        <p:spPr>
          <a:xfrm>
            <a:off x="7315200" y="3593592"/>
            <a:ext cx="4160520" cy="502920"/>
          </a:xfrm>
          <a:prstGeom prst="rect">
            <a:avLst/>
          </a:prstGeom>
          <a:noFill/>
          <a:ln/>
        </p:spPr>
        <p:txBody>
          <a:bodyPr wrap="square" lIns="0" tIns="0" rIns="0" bIns="0" rtlCol="0" anchor="ctr"/>
          <a:lstStyle/>
          <a:p>
            <a:pPr marL="0" indent="0" algn="l">
              <a:buNone/>
            </a:pPr>
            <a:r>
              <a:rPr lang="en-US" sz="1400" b="1" dirty="0">
                <a:solidFill>
                  <a:srgbClr val="13294B"/>
                </a:solidFill>
                <a:latin typeface="Calibri" pitchFamily="34" charset="0"/>
                <a:ea typeface="Calibri" pitchFamily="34" charset="-122"/>
                <a:cs typeface="Calibri" pitchFamily="34" charset="-120"/>
              </a:rPr>
              <a:t>Choisissez un nouveau mot de passe</a:t>
            </a:r>
            <a:endParaRPr lang="en-US" sz="1400" dirty="0"/>
          </a:p>
        </p:txBody>
      </p:sp>
      <p:sp>
        <p:nvSpPr>
          <p:cNvPr id="23" name="Text 21"/>
          <p:cNvSpPr/>
          <p:nvPr/>
        </p:nvSpPr>
        <p:spPr>
          <a:xfrm>
            <a:off x="6629400" y="4233672"/>
            <a:ext cx="4800600" cy="411480"/>
          </a:xfrm>
          <a:prstGeom prst="rect">
            <a:avLst/>
          </a:prstGeom>
          <a:noFill/>
          <a:ln/>
        </p:spPr>
        <p:txBody>
          <a:bodyPr wrap="square" lIns="0" tIns="0" rIns="0" bIns="0" rtlCol="0" anchor="t"/>
          <a:lstStyle/>
          <a:p>
            <a:pPr marL="0" indent="0" algn="l">
              <a:lnSpc>
                <a:spcPct val="105000"/>
              </a:lnSpc>
              <a:buNone/>
            </a:pPr>
            <a:r>
              <a:rPr lang="en-US" sz="1200" dirty="0">
                <a:solidFill>
                  <a:srgbClr val="5B7088"/>
                </a:solidFill>
                <a:latin typeface="Calibri" pitchFamily="34" charset="0"/>
                <a:ea typeface="Calibri" pitchFamily="34" charset="-122"/>
                <a:cs typeface="Calibri" pitchFamily="34" charset="-120"/>
              </a:rPr>
              <a:t>Et notez-le aussitôt dans un endroit sûr.</a:t>
            </a:r>
            <a:endParaRPr lang="en-US" sz="1200" dirty="0"/>
          </a:p>
        </p:txBody>
      </p:sp>
      <p:sp>
        <p:nvSpPr>
          <p:cNvPr id="24" name="Text 22"/>
          <p:cNvSpPr/>
          <p:nvPr/>
        </p:nvSpPr>
        <p:spPr>
          <a:xfrm>
            <a:off x="640080" y="5440680"/>
            <a:ext cx="10881360" cy="365760"/>
          </a:xfrm>
          <a:prstGeom prst="rect">
            <a:avLst/>
          </a:prstGeom>
          <a:noFill/>
          <a:ln/>
        </p:spPr>
        <p:txBody>
          <a:bodyPr wrap="square" rtlCol="0" anchor="ctr"/>
          <a:lstStyle/>
          <a:p>
            <a:pPr marL="0" indent="0" algn="ctr">
              <a:buNone/>
            </a:pPr>
            <a:r>
              <a:rPr lang="en-US" sz="1250" i="1" dirty="0">
                <a:solidFill>
                  <a:srgbClr val="9DB3CD"/>
                </a:solidFill>
                <a:latin typeface="Calibri" pitchFamily="34" charset="0"/>
                <a:ea typeface="Calibri" pitchFamily="34" charset="-122"/>
                <a:cs typeface="Calibri" pitchFamily="34" charset="-120"/>
              </a:rPr>
              <a:t>Toujours bloqué ? Le 3646 (Assurance Maladie) peut vous aider — appel non surtaxé.</a:t>
            </a:r>
            <a:endParaRPr lang="en-US" sz="1250" dirty="0"/>
          </a:p>
        </p:txBody>
      </p:sp>
      <p:sp>
        <p:nvSpPr>
          <p:cNvPr id="25" name="Text 23"/>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6" name="Text 24"/>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14 / 18</a:t>
            </a:r>
            <a:endParaRPr lang="en-US" sz="900" dirty="0"/>
          </a:p>
        </p:txBody>
      </p:sp>
      <p:sp>
        <p:nvSpPr>
          <p:cNvPr id="27" name="ZoneTexte 26">
            <a:extLst>
              <a:ext uri="{FF2B5EF4-FFF2-40B4-BE49-F238E27FC236}">
                <a16:creationId xmlns:a16="http://schemas.microsoft.com/office/drawing/2014/main" id="{A706D510-4543-ABED-D692-5D8D4C03EC94}"/>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VOUS ÊTES CONNECTÉ</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Que trouve-t-on sur votre compte ?</a:t>
            </a:r>
            <a:endParaRPr lang="en-US" sz="3000" dirty="0"/>
          </a:p>
        </p:txBody>
      </p:sp>
      <p:sp>
        <p:nvSpPr>
          <p:cNvPr id="4" name="Shape 2"/>
          <p:cNvSpPr/>
          <p:nvPr/>
        </p:nvSpPr>
        <p:spPr>
          <a:xfrm>
            <a:off x="640080" y="155448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5" name="Shape 3"/>
          <p:cNvSpPr/>
          <p:nvPr/>
        </p:nvSpPr>
        <p:spPr>
          <a:xfrm>
            <a:off x="896112" y="1929384"/>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57778" y="2091050"/>
            <a:ext cx="298460" cy="298460"/>
          </a:xfrm>
          <a:prstGeom prst="rect">
            <a:avLst/>
          </a:prstGeom>
        </p:spPr>
      </p:pic>
      <p:sp>
        <p:nvSpPr>
          <p:cNvPr id="7" name="Text 4"/>
          <p:cNvSpPr/>
          <p:nvPr/>
        </p:nvSpPr>
        <p:spPr>
          <a:xfrm>
            <a:off x="1645920" y="175564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paiements</a:t>
            </a:r>
            <a:endParaRPr lang="en-US" sz="1450" dirty="0"/>
          </a:p>
        </p:txBody>
      </p:sp>
      <p:sp>
        <p:nvSpPr>
          <p:cNvPr id="8" name="Text 5"/>
          <p:cNvSpPr/>
          <p:nvPr/>
        </p:nvSpPr>
        <p:spPr>
          <a:xfrm>
            <a:off x="1645920" y="215798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Le détail des remboursements reçus.</a:t>
            </a:r>
            <a:endParaRPr lang="en-US" sz="1100" dirty="0"/>
          </a:p>
        </p:txBody>
      </p:sp>
      <p:sp>
        <p:nvSpPr>
          <p:cNvPr id="9" name="Shape 6"/>
          <p:cNvSpPr/>
          <p:nvPr/>
        </p:nvSpPr>
        <p:spPr>
          <a:xfrm>
            <a:off x="4407408" y="155448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0" name="Shape 7"/>
          <p:cNvSpPr/>
          <p:nvPr/>
        </p:nvSpPr>
        <p:spPr>
          <a:xfrm>
            <a:off x="4663440" y="1929384"/>
            <a:ext cx="621792" cy="621792"/>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4825106" y="2091050"/>
            <a:ext cx="298460" cy="298460"/>
          </a:xfrm>
          <a:prstGeom prst="rect">
            <a:avLst/>
          </a:prstGeom>
        </p:spPr>
      </p:pic>
      <p:sp>
        <p:nvSpPr>
          <p:cNvPr id="12" name="Text 8"/>
          <p:cNvSpPr/>
          <p:nvPr/>
        </p:nvSpPr>
        <p:spPr>
          <a:xfrm>
            <a:off x="5413248" y="175564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attestations</a:t>
            </a:r>
            <a:endParaRPr lang="en-US" sz="1450" dirty="0"/>
          </a:p>
        </p:txBody>
      </p:sp>
      <p:sp>
        <p:nvSpPr>
          <p:cNvPr id="13" name="Text 9"/>
          <p:cNvSpPr/>
          <p:nvPr/>
        </p:nvSpPr>
        <p:spPr>
          <a:xfrm>
            <a:off x="5413248" y="215798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Droits, indemnités journalières…</a:t>
            </a:r>
            <a:endParaRPr lang="en-US" sz="1100" dirty="0"/>
          </a:p>
        </p:txBody>
      </p:sp>
      <p:sp>
        <p:nvSpPr>
          <p:cNvPr id="14" name="Shape 10"/>
          <p:cNvSpPr/>
          <p:nvPr/>
        </p:nvSpPr>
        <p:spPr>
          <a:xfrm>
            <a:off x="8174736" y="155448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15" name="Shape 11"/>
          <p:cNvSpPr/>
          <p:nvPr/>
        </p:nvSpPr>
        <p:spPr>
          <a:xfrm>
            <a:off x="8430768" y="1929384"/>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6" name="Image 2" descr="preencoded.png"/>
          <p:cNvPicPr>
            <a:picLocks noChangeAspect="1"/>
          </p:cNvPicPr>
          <p:nvPr/>
        </p:nvPicPr>
        <p:blipFill>
          <a:blip r:embed="rId5"/>
          <a:stretch>
            <a:fillRect/>
          </a:stretch>
        </p:blipFill>
        <p:spPr>
          <a:xfrm>
            <a:off x="8592434" y="2091050"/>
            <a:ext cx="298460" cy="298460"/>
          </a:xfrm>
          <a:prstGeom prst="rect">
            <a:avLst/>
          </a:prstGeom>
        </p:spPr>
      </p:pic>
      <p:sp>
        <p:nvSpPr>
          <p:cNvPr id="17" name="Text 12"/>
          <p:cNvSpPr/>
          <p:nvPr/>
        </p:nvSpPr>
        <p:spPr>
          <a:xfrm>
            <a:off x="9180576" y="175564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Ma messagerie</a:t>
            </a:r>
            <a:endParaRPr lang="en-US" sz="1450" dirty="0"/>
          </a:p>
        </p:txBody>
      </p:sp>
      <p:sp>
        <p:nvSpPr>
          <p:cNvPr id="18" name="Text 13"/>
          <p:cNvSpPr/>
          <p:nvPr/>
        </p:nvSpPr>
        <p:spPr>
          <a:xfrm>
            <a:off x="9180576" y="215798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Échanger avec votre caisse.</a:t>
            </a:r>
            <a:endParaRPr lang="en-US" sz="1100" dirty="0"/>
          </a:p>
        </p:txBody>
      </p:sp>
      <p:sp>
        <p:nvSpPr>
          <p:cNvPr id="19" name="Shape 14"/>
          <p:cNvSpPr/>
          <p:nvPr/>
        </p:nvSpPr>
        <p:spPr>
          <a:xfrm>
            <a:off x="640080" y="320040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0" name="Shape 15"/>
          <p:cNvSpPr/>
          <p:nvPr/>
        </p:nvSpPr>
        <p:spPr>
          <a:xfrm>
            <a:off x="896112" y="3575304"/>
            <a:ext cx="621792" cy="621792"/>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21" name="Image 3" descr="preencoded.png"/>
          <p:cNvPicPr>
            <a:picLocks noChangeAspect="1"/>
          </p:cNvPicPr>
          <p:nvPr/>
        </p:nvPicPr>
        <p:blipFill>
          <a:blip r:embed="rId6"/>
          <a:stretch>
            <a:fillRect/>
          </a:stretch>
        </p:blipFill>
        <p:spPr>
          <a:xfrm>
            <a:off x="1057778" y="3736970"/>
            <a:ext cx="298460" cy="298460"/>
          </a:xfrm>
          <a:prstGeom prst="rect">
            <a:avLst/>
          </a:prstGeom>
        </p:spPr>
      </p:pic>
      <p:sp>
        <p:nvSpPr>
          <p:cNvPr id="22" name="Text 16"/>
          <p:cNvSpPr/>
          <p:nvPr/>
        </p:nvSpPr>
        <p:spPr>
          <a:xfrm>
            <a:off x="1645920" y="340156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démarches</a:t>
            </a:r>
            <a:endParaRPr lang="en-US" sz="1450" dirty="0"/>
          </a:p>
        </p:txBody>
      </p:sp>
      <p:sp>
        <p:nvSpPr>
          <p:cNvPr id="23" name="Text 17"/>
          <p:cNvSpPr/>
          <p:nvPr/>
        </p:nvSpPr>
        <p:spPr>
          <a:xfrm>
            <a:off x="1645920" y="380390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Médecin traitant, changement d'adresse…</a:t>
            </a:r>
            <a:endParaRPr lang="en-US" sz="1100" dirty="0"/>
          </a:p>
        </p:txBody>
      </p:sp>
      <p:sp>
        <p:nvSpPr>
          <p:cNvPr id="24" name="Shape 18"/>
          <p:cNvSpPr/>
          <p:nvPr/>
        </p:nvSpPr>
        <p:spPr>
          <a:xfrm>
            <a:off x="4407408" y="320040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25" name="Shape 19"/>
          <p:cNvSpPr/>
          <p:nvPr/>
        </p:nvSpPr>
        <p:spPr>
          <a:xfrm>
            <a:off x="4663440" y="3575304"/>
            <a:ext cx="621792" cy="621792"/>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26" name="Image 4" descr="preencoded.png"/>
          <p:cNvPicPr>
            <a:picLocks noChangeAspect="1"/>
          </p:cNvPicPr>
          <p:nvPr/>
        </p:nvPicPr>
        <p:blipFill>
          <a:blip r:embed="rId7"/>
          <a:stretch>
            <a:fillRect/>
          </a:stretch>
        </p:blipFill>
        <p:spPr>
          <a:xfrm>
            <a:off x="4825106" y="3736970"/>
            <a:ext cx="298460" cy="298460"/>
          </a:xfrm>
          <a:prstGeom prst="rect">
            <a:avLst/>
          </a:prstGeom>
        </p:spPr>
      </p:pic>
      <p:sp>
        <p:nvSpPr>
          <p:cNvPr id="27" name="Text 20"/>
          <p:cNvSpPr/>
          <p:nvPr/>
        </p:nvSpPr>
        <p:spPr>
          <a:xfrm>
            <a:off x="5413248" y="340156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documents</a:t>
            </a:r>
            <a:endParaRPr lang="en-US" sz="1450" dirty="0"/>
          </a:p>
        </p:txBody>
      </p:sp>
      <p:sp>
        <p:nvSpPr>
          <p:cNvPr id="28" name="Text 21"/>
          <p:cNvSpPr/>
          <p:nvPr/>
        </p:nvSpPr>
        <p:spPr>
          <a:xfrm>
            <a:off x="5413248" y="380390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Décomptes et courriers à télécharger.</a:t>
            </a:r>
            <a:endParaRPr lang="en-US" sz="1100" dirty="0"/>
          </a:p>
        </p:txBody>
      </p:sp>
      <p:sp>
        <p:nvSpPr>
          <p:cNvPr id="29" name="Shape 22"/>
          <p:cNvSpPr/>
          <p:nvPr/>
        </p:nvSpPr>
        <p:spPr>
          <a:xfrm>
            <a:off x="8174736" y="3200400"/>
            <a:ext cx="3456432" cy="1371600"/>
          </a:xfrm>
          <a:prstGeom prst="roundRect">
            <a:avLst>
              <a:gd name="adj" fmla="val 6000"/>
            </a:avLst>
          </a:prstGeom>
          <a:solidFill>
            <a:srgbClr val="FFFFFF"/>
          </a:solidFill>
          <a:ln w="12700">
            <a:solidFill>
              <a:srgbClr val="DCE4ED"/>
            </a:solidFill>
            <a:prstDash val="solid"/>
          </a:ln>
          <a:effectLst>
            <a:outerShdw blurRad="88900" dist="38100" dir="2700000" algn="bl" rotWithShape="0">
              <a:srgbClr val="0A1626">
                <a:alpha val="10000"/>
              </a:srgbClr>
            </a:outerShdw>
          </a:effectLst>
        </p:spPr>
        <p:txBody>
          <a:bodyPr/>
          <a:lstStyle/>
          <a:p>
            <a:endParaRPr lang="fr-FR"/>
          </a:p>
        </p:txBody>
      </p:sp>
      <p:sp>
        <p:nvSpPr>
          <p:cNvPr id="30" name="Shape 23"/>
          <p:cNvSpPr/>
          <p:nvPr/>
        </p:nvSpPr>
        <p:spPr>
          <a:xfrm>
            <a:off x="8430768" y="3575304"/>
            <a:ext cx="621792" cy="621792"/>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31" name="Image 5" descr="preencoded.png"/>
          <p:cNvPicPr>
            <a:picLocks noChangeAspect="1"/>
          </p:cNvPicPr>
          <p:nvPr/>
        </p:nvPicPr>
        <p:blipFill>
          <a:blip r:embed="rId8"/>
          <a:stretch>
            <a:fillRect/>
          </a:stretch>
        </p:blipFill>
        <p:spPr>
          <a:xfrm>
            <a:off x="8592434" y="3736970"/>
            <a:ext cx="298460" cy="298460"/>
          </a:xfrm>
          <a:prstGeom prst="rect">
            <a:avLst/>
          </a:prstGeom>
        </p:spPr>
      </p:pic>
      <p:sp>
        <p:nvSpPr>
          <p:cNvPr id="32" name="Text 24"/>
          <p:cNvSpPr/>
          <p:nvPr/>
        </p:nvSpPr>
        <p:spPr>
          <a:xfrm>
            <a:off x="9180576" y="3401568"/>
            <a:ext cx="2267712" cy="365760"/>
          </a:xfrm>
          <a:prstGeom prst="rect">
            <a:avLst/>
          </a:prstGeom>
          <a:noFill/>
          <a:ln/>
        </p:spPr>
        <p:txBody>
          <a:bodyPr wrap="square" lIns="0" tIns="0" rIns="0" bIns="0" rtlCol="0" anchor="ctr"/>
          <a:lstStyle/>
          <a:p>
            <a:pPr marL="0" indent="0" algn="l">
              <a:buNone/>
            </a:pPr>
            <a:r>
              <a:rPr lang="en-US" sz="1450" b="1" dirty="0">
                <a:solidFill>
                  <a:srgbClr val="13294B"/>
                </a:solidFill>
                <a:latin typeface="Calibri" pitchFamily="34" charset="0"/>
                <a:ea typeface="Calibri" pitchFamily="34" charset="-122"/>
                <a:cs typeface="Calibri" pitchFamily="34" charset="-120"/>
              </a:rPr>
              <a:t>Mes notifications</a:t>
            </a:r>
            <a:endParaRPr lang="en-US" sz="1450" dirty="0"/>
          </a:p>
        </p:txBody>
      </p:sp>
      <p:sp>
        <p:nvSpPr>
          <p:cNvPr id="33" name="Text 25"/>
          <p:cNvSpPr/>
          <p:nvPr/>
        </p:nvSpPr>
        <p:spPr>
          <a:xfrm>
            <a:off x="9180576" y="3803904"/>
            <a:ext cx="2267712" cy="594360"/>
          </a:xfrm>
          <a:prstGeom prst="rect">
            <a:avLst/>
          </a:prstGeom>
          <a:noFill/>
          <a:ln/>
        </p:spPr>
        <p:txBody>
          <a:bodyPr wrap="square" lIns="0" tIns="0" rIns="0" bIns="0" rtlCol="0" anchor="t"/>
          <a:lstStyle/>
          <a:p>
            <a:pPr marL="0" indent="0" algn="l">
              <a:buNone/>
            </a:pPr>
            <a:r>
              <a:rPr lang="en-US" sz="1100" dirty="0">
                <a:solidFill>
                  <a:srgbClr val="5B7088"/>
                </a:solidFill>
                <a:latin typeface="Calibri" pitchFamily="34" charset="0"/>
                <a:ea typeface="Calibri" pitchFamily="34" charset="-122"/>
                <a:cs typeface="Calibri" pitchFamily="34" charset="-120"/>
              </a:rPr>
              <a:t>Les nouveautés sur votre dossier.</a:t>
            </a:r>
            <a:endParaRPr lang="en-US" sz="1100" dirty="0"/>
          </a:p>
        </p:txBody>
      </p:sp>
      <p:sp>
        <p:nvSpPr>
          <p:cNvPr id="34" name="Text 26"/>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35" name="Text 27"/>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15 / 18</a:t>
            </a:r>
            <a:endParaRPr lang="en-US" sz="900" dirty="0"/>
          </a:p>
        </p:txBody>
      </p:sp>
      <p:sp>
        <p:nvSpPr>
          <p:cNvPr id="36" name="ZoneTexte 35">
            <a:extLst>
              <a:ext uri="{FF2B5EF4-FFF2-40B4-BE49-F238E27FC236}">
                <a16:creationId xmlns:a16="http://schemas.microsoft.com/office/drawing/2014/main" id="{718F99F4-37C3-D04F-9F83-254E5A52EC70}"/>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marL="0" indent="0" algn="l">
              <a:buNone/>
            </a:pPr>
            <a:r>
              <a:rPr lang="en-US" sz="1200" b="1" kern="0" spc="300" dirty="0">
                <a:solidFill>
                  <a:srgbClr val="27D3DE"/>
                </a:solidFill>
                <a:latin typeface="Calibri" pitchFamily="34" charset="0"/>
                <a:ea typeface="Calibri" pitchFamily="34" charset="-122"/>
                <a:cs typeface="Calibri" pitchFamily="34" charset="-120"/>
              </a:rPr>
              <a:t>SE PROTÉGER</a:t>
            </a:r>
            <a:endParaRPr lang="en-US" sz="1200" dirty="0"/>
          </a:p>
        </p:txBody>
      </p:sp>
      <p:sp>
        <p:nvSpPr>
          <p:cNvPr id="3" name="Text 1"/>
          <p:cNvSpPr/>
          <p:nvPr/>
        </p:nvSpPr>
        <p:spPr>
          <a:xfrm>
            <a:off x="621792" y="640080"/>
            <a:ext cx="10972800" cy="777240"/>
          </a:xfrm>
          <a:prstGeom prst="rect">
            <a:avLst/>
          </a:prstGeom>
          <a:noFill/>
          <a:ln/>
        </p:spPr>
        <p:txBody>
          <a:bodyPr wrap="square" rtlCol="0" anchor="ctr"/>
          <a:lstStyle/>
          <a:p>
            <a:pPr marL="0" indent="0" algn="l">
              <a:buNone/>
            </a:pPr>
            <a:r>
              <a:rPr lang="en-US" sz="3000" b="1" dirty="0">
                <a:solidFill>
                  <a:srgbClr val="FFFFFF"/>
                </a:solidFill>
                <a:latin typeface="Bookman Old Style" pitchFamily="34" charset="0"/>
                <a:ea typeface="Bookman Old Style" pitchFamily="34" charset="-122"/>
                <a:cs typeface="Bookman Old Style" pitchFamily="34" charset="-120"/>
              </a:rPr>
              <a:t>Reconnaître les arnaques « Ameli »</a:t>
            </a:r>
            <a:endParaRPr lang="en-US" sz="3000" dirty="0"/>
          </a:p>
        </p:txBody>
      </p:sp>
      <p:sp>
        <p:nvSpPr>
          <p:cNvPr id="4" name="Shape 2"/>
          <p:cNvSpPr/>
          <p:nvPr/>
        </p:nvSpPr>
        <p:spPr>
          <a:xfrm>
            <a:off x="640080" y="1554480"/>
            <a:ext cx="5349240" cy="3703320"/>
          </a:xfrm>
          <a:prstGeom prst="roundRect">
            <a:avLst>
              <a:gd name="adj" fmla="val 2469"/>
            </a:avLst>
          </a:prstGeom>
          <a:solidFill>
            <a:srgbClr val="FBECEC"/>
          </a:solidFill>
          <a:ln w="16510">
            <a:solidFill>
              <a:srgbClr val="D9534F"/>
            </a:solidFill>
            <a:prstDash val="solid"/>
          </a:ln>
        </p:spPr>
        <p:txBody>
          <a:bodyPr/>
          <a:lstStyle/>
          <a:p>
            <a:endParaRPr lang="fr-FR"/>
          </a:p>
        </p:txBody>
      </p:sp>
      <p:sp>
        <p:nvSpPr>
          <p:cNvPr id="5" name="Shape 3"/>
          <p:cNvSpPr/>
          <p:nvPr/>
        </p:nvSpPr>
        <p:spPr>
          <a:xfrm>
            <a:off x="914400" y="1783080"/>
            <a:ext cx="594360" cy="594360"/>
          </a:xfrm>
          <a:prstGeom prst="ellipse">
            <a:avLst/>
          </a:prstGeom>
          <a:solidFill>
            <a:srgbClr val="D9534F"/>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68934" y="1937614"/>
            <a:ext cx="285293" cy="285293"/>
          </a:xfrm>
          <a:prstGeom prst="rect">
            <a:avLst/>
          </a:prstGeom>
        </p:spPr>
      </p:pic>
      <p:sp>
        <p:nvSpPr>
          <p:cNvPr id="7" name="Text 4"/>
          <p:cNvSpPr/>
          <p:nvPr/>
        </p:nvSpPr>
        <p:spPr>
          <a:xfrm>
            <a:off x="1645920" y="1810512"/>
            <a:ext cx="4114800" cy="548640"/>
          </a:xfrm>
          <a:prstGeom prst="rect">
            <a:avLst/>
          </a:prstGeom>
          <a:noFill/>
          <a:ln/>
        </p:spPr>
        <p:txBody>
          <a:bodyPr wrap="square" lIns="0" tIns="0" rIns="0" bIns="0" rtlCol="0" anchor="ctr"/>
          <a:lstStyle/>
          <a:p>
            <a:pPr marL="0" indent="0">
              <a:buNone/>
            </a:pPr>
            <a:r>
              <a:rPr lang="en-US" sz="1600" b="1" dirty="0">
                <a:solidFill>
                  <a:srgbClr val="D9534F"/>
                </a:solidFill>
                <a:latin typeface="Calibri" pitchFamily="34" charset="0"/>
                <a:ea typeface="Calibri" pitchFamily="34" charset="-122"/>
                <a:cs typeface="Calibri" pitchFamily="34" charset="-120"/>
              </a:rPr>
              <a:t>Ameli ne fera JAMAIS</a:t>
            </a:r>
            <a:endParaRPr lang="en-US" sz="1600" dirty="0"/>
          </a:p>
        </p:txBody>
      </p:sp>
      <p:sp>
        <p:nvSpPr>
          <p:cNvPr id="8" name="Text 5"/>
          <p:cNvSpPr/>
          <p:nvPr/>
        </p:nvSpPr>
        <p:spPr>
          <a:xfrm>
            <a:off x="1005840" y="2514600"/>
            <a:ext cx="4663440" cy="2606040"/>
          </a:xfrm>
          <a:prstGeom prst="rect">
            <a:avLst/>
          </a:prstGeom>
          <a:noFill/>
          <a:ln/>
        </p:spPr>
        <p:txBody>
          <a:bodyPr wrap="square" rtlCol="0" anchor="ctr"/>
          <a:lstStyle/>
          <a:p>
            <a:pPr marL="177800" indent="-177800">
              <a:lnSpc>
                <a:spcPct val="110000"/>
              </a:lnSpc>
              <a:spcAft>
                <a:spcPts val="1200"/>
              </a:spcAft>
              <a:buSzPct val="100000"/>
              <a:buChar char="•"/>
            </a:pPr>
            <a:r>
              <a:rPr lang="en-US" sz="1300" dirty="0">
                <a:solidFill>
                  <a:srgbClr val="7A2B2B"/>
                </a:solidFill>
                <a:latin typeface="Calibri" pitchFamily="34" charset="0"/>
                <a:ea typeface="Calibri" pitchFamily="34" charset="-122"/>
                <a:cs typeface="Calibri" pitchFamily="34" charset="-120"/>
              </a:rPr>
              <a:t>Vous demander votre mot de passe par mail ou téléphone.</a:t>
            </a:r>
            <a:endParaRPr lang="en-US" sz="1300" dirty="0"/>
          </a:p>
          <a:p>
            <a:pPr marL="177800" indent="-177800">
              <a:lnSpc>
                <a:spcPct val="110000"/>
              </a:lnSpc>
              <a:spcAft>
                <a:spcPts val="1200"/>
              </a:spcAft>
              <a:buSzPct val="100000"/>
              <a:buChar char="•"/>
            </a:pPr>
            <a:r>
              <a:rPr lang="en-US" sz="1300" dirty="0">
                <a:solidFill>
                  <a:srgbClr val="7A2B2B"/>
                </a:solidFill>
                <a:latin typeface="Calibri" pitchFamily="34" charset="0"/>
                <a:ea typeface="Calibri" pitchFamily="34" charset="-122"/>
                <a:cs typeface="Calibri" pitchFamily="34" charset="-120"/>
              </a:rPr>
              <a:t>Réclamer un « remboursement » contre vos coordonnées bancaires.</a:t>
            </a:r>
            <a:endParaRPr lang="en-US" sz="1300" dirty="0"/>
          </a:p>
          <a:p>
            <a:pPr marL="177800" indent="-177800">
              <a:lnSpc>
                <a:spcPct val="110000"/>
              </a:lnSpc>
              <a:spcAft>
                <a:spcPts val="1200"/>
              </a:spcAft>
              <a:buSzPct val="100000"/>
              <a:buChar char="•"/>
            </a:pPr>
            <a:r>
              <a:rPr lang="en-US" sz="1300" dirty="0">
                <a:solidFill>
                  <a:srgbClr val="7A2B2B"/>
                </a:solidFill>
                <a:latin typeface="Calibri" pitchFamily="34" charset="0"/>
                <a:ea typeface="Calibri" pitchFamily="34" charset="-122"/>
                <a:cs typeface="Calibri" pitchFamily="34" charset="-120"/>
              </a:rPr>
              <a:t>Vous presser avec un lien « urgent » à cliquer tout de suite.</a:t>
            </a:r>
            <a:endParaRPr lang="en-US" sz="1300" dirty="0"/>
          </a:p>
          <a:p>
            <a:pPr marL="177800" indent="-177800">
              <a:lnSpc>
                <a:spcPct val="110000"/>
              </a:lnSpc>
              <a:spcAft>
                <a:spcPts val="1200"/>
              </a:spcAft>
              <a:buSzPct val="100000"/>
              <a:buChar char="•"/>
            </a:pPr>
            <a:r>
              <a:rPr lang="en-US" sz="1300" dirty="0">
                <a:solidFill>
                  <a:srgbClr val="7A2B2B"/>
                </a:solidFill>
                <a:latin typeface="Calibri" pitchFamily="34" charset="0"/>
                <a:ea typeface="Calibri" pitchFamily="34" charset="-122"/>
                <a:cs typeface="Calibri" pitchFamily="34" charset="-120"/>
              </a:rPr>
              <a:t>Vous écrire depuis une adresse bizarre (vérifiez après le @).</a:t>
            </a:r>
            <a:endParaRPr lang="en-US" sz="1300" dirty="0"/>
          </a:p>
        </p:txBody>
      </p:sp>
      <p:sp>
        <p:nvSpPr>
          <p:cNvPr id="9" name="Shape 6"/>
          <p:cNvSpPr/>
          <p:nvPr/>
        </p:nvSpPr>
        <p:spPr>
          <a:xfrm>
            <a:off x="6355080" y="1554480"/>
            <a:ext cx="5166360" cy="3703320"/>
          </a:xfrm>
          <a:prstGeom prst="roundRect">
            <a:avLst>
              <a:gd name="adj" fmla="val 2469"/>
            </a:avLst>
          </a:prstGeom>
          <a:solidFill>
            <a:srgbClr val="EAF1EC"/>
          </a:solidFill>
          <a:ln w="16510">
            <a:solidFill>
              <a:srgbClr val="3AA055"/>
            </a:solidFill>
            <a:prstDash val="solid"/>
          </a:ln>
        </p:spPr>
        <p:txBody>
          <a:bodyPr/>
          <a:lstStyle/>
          <a:p>
            <a:endParaRPr lang="fr-FR"/>
          </a:p>
        </p:txBody>
      </p:sp>
      <p:sp>
        <p:nvSpPr>
          <p:cNvPr id="10" name="Shape 7"/>
          <p:cNvSpPr/>
          <p:nvPr/>
        </p:nvSpPr>
        <p:spPr>
          <a:xfrm>
            <a:off x="6629400" y="1783080"/>
            <a:ext cx="594360" cy="594360"/>
          </a:xfrm>
          <a:prstGeom prst="ellipse">
            <a:avLst/>
          </a:prstGeom>
          <a:solidFill>
            <a:srgbClr val="3AA055"/>
          </a:solidFill>
          <a:ln/>
          <a:effectLst>
            <a:outerShdw blurRad="88900" dist="38100" dir="2700000" algn="bl" rotWithShape="0">
              <a:srgbClr val="0A1626">
                <a:alpha val="16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6783934" y="1937614"/>
            <a:ext cx="285293" cy="285293"/>
          </a:xfrm>
          <a:prstGeom prst="rect">
            <a:avLst/>
          </a:prstGeom>
        </p:spPr>
      </p:pic>
      <p:sp>
        <p:nvSpPr>
          <p:cNvPr id="12" name="Text 8"/>
          <p:cNvSpPr/>
          <p:nvPr/>
        </p:nvSpPr>
        <p:spPr>
          <a:xfrm>
            <a:off x="7360920" y="1810512"/>
            <a:ext cx="3931920" cy="548640"/>
          </a:xfrm>
          <a:prstGeom prst="rect">
            <a:avLst/>
          </a:prstGeom>
          <a:noFill/>
          <a:ln/>
        </p:spPr>
        <p:txBody>
          <a:bodyPr wrap="square" lIns="0" tIns="0" rIns="0" bIns="0" rtlCol="0" anchor="ctr"/>
          <a:lstStyle/>
          <a:p>
            <a:pPr marL="0" indent="0">
              <a:buNone/>
            </a:pPr>
            <a:r>
              <a:rPr lang="en-US" sz="1600" b="1" dirty="0">
                <a:solidFill>
                  <a:srgbClr val="3AA055"/>
                </a:solidFill>
                <a:latin typeface="Calibri" pitchFamily="34" charset="0"/>
                <a:ea typeface="Calibri" pitchFamily="34" charset="-122"/>
                <a:cs typeface="Calibri" pitchFamily="34" charset="-120"/>
              </a:rPr>
              <a:t>Les bons réflexes</a:t>
            </a:r>
            <a:endParaRPr lang="en-US" sz="1600" dirty="0"/>
          </a:p>
        </p:txBody>
      </p:sp>
      <p:sp>
        <p:nvSpPr>
          <p:cNvPr id="13" name="Text 9"/>
          <p:cNvSpPr/>
          <p:nvPr/>
        </p:nvSpPr>
        <p:spPr>
          <a:xfrm>
            <a:off x="6720840" y="2514600"/>
            <a:ext cx="4526280" cy="2606040"/>
          </a:xfrm>
          <a:prstGeom prst="rect">
            <a:avLst/>
          </a:prstGeom>
          <a:noFill/>
          <a:ln/>
        </p:spPr>
        <p:txBody>
          <a:bodyPr wrap="square" rtlCol="0" anchor="ctr"/>
          <a:lstStyle/>
          <a:p>
            <a:pPr marL="177800" indent="-177800">
              <a:lnSpc>
                <a:spcPct val="110000"/>
              </a:lnSpc>
              <a:spcAft>
                <a:spcPts val="1200"/>
              </a:spcAft>
              <a:buSzPct val="100000"/>
              <a:buChar char="•"/>
            </a:pPr>
            <a:r>
              <a:rPr lang="en-US" sz="1300" dirty="0">
                <a:solidFill>
                  <a:srgbClr val="2C5234"/>
                </a:solidFill>
                <a:latin typeface="Calibri" pitchFamily="34" charset="0"/>
                <a:ea typeface="Calibri" pitchFamily="34" charset="-122"/>
                <a:cs typeface="Calibri" pitchFamily="34" charset="-120"/>
              </a:rPr>
              <a:t>Tapez vous-même assure.ameli.fr — ne cliquez pas sur un lien reçu.</a:t>
            </a:r>
            <a:endParaRPr lang="en-US" sz="1300" dirty="0"/>
          </a:p>
          <a:p>
            <a:pPr marL="177800" indent="-177800">
              <a:lnSpc>
                <a:spcPct val="110000"/>
              </a:lnSpc>
              <a:spcAft>
                <a:spcPts val="1200"/>
              </a:spcAft>
              <a:buSzPct val="100000"/>
              <a:buChar char="•"/>
            </a:pPr>
            <a:r>
              <a:rPr lang="en-US" sz="1300" dirty="0">
                <a:solidFill>
                  <a:srgbClr val="2C5234"/>
                </a:solidFill>
                <a:latin typeface="Calibri" pitchFamily="34" charset="0"/>
                <a:ea typeface="Calibri" pitchFamily="34" charset="-122"/>
                <a:cs typeface="Calibri" pitchFamily="34" charset="-120"/>
              </a:rPr>
              <a:t>Dans le doute, fermez le message et connectez-vous normalement.</a:t>
            </a:r>
            <a:endParaRPr lang="en-US" sz="1300" dirty="0"/>
          </a:p>
          <a:p>
            <a:pPr marL="177800" indent="-177800">
              <a:lnSpc>
                <a:spcPct val="110000"/>
              </a:lnSpc>
              <a:spcAft>
                <a:spcPts val="1200"/>
              </a:spcAft>
              <a:buSzPct val="100000"/>
              <a:buChar char="•"/>
            </a:pPr>
            <a:r>
              <a:rPr lang="en-US" sz="1300" dirty="0">
                <a:solidFill>
                  <a:srgbClr val="2C5234"/>
                </a:solidFill>
                <a:latin typeface="Calibri" pitchFamily="34" charset="0"/>
                <a:ea typeface="Calibri" pitchFamily="34" charset="-122"/>
                <a:cs typeface="Calibri" pitchFamily="34" charset="-120"/>
              </a:rPr>
              <a:t>Signalez les SMS suspects au 33 700.</a:t>
            </a:r>
            <a:endParaRPr lang="en-US" sz="1300" dirty="0"/>
          </a:p>
          <a:p>
            <a:pPr marL="177800" indent="-177800">
              <a:lnSpc>
                <a:spcPct val="110000"/>
              </a:lnSpc>
              <a:spcAft>
                <a:spcPts val="1200"/>
              </a:spcAft>
              <a:buSzPct val="100000"/>
              <a:buChar char="•"/>
            </a:pPr>
            <a:r>
              <a:rPr lang="en-US" sz="1300" dirty="0">
                <a:solidFill>
                  <a:srgbClr val="2C5234"/>
                </a:solidFill>
                <a:latin typeface="Calibri" pitchFamily="34" charset="0"/>
                <a:ea typeface="Calibri" pitchFamily="34" charset="-122"/>
                <a:cs typeface="Calibri" pitchFamily="34" charset="-120"/>
              </a:rPr>
              <a:t>Demandez de l'aide : mieux vaut une question de trop.</a:t>
            </a:r>
            <a:endParaRPr lang="en-US" sz="1300" dirty="0"/>
          </a:p>
        </p:txBody>
      </p:sp>
      <p:sp>
        <p:nvSpPr>
          <p:cNvPr id="14" name="Text 10"/>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15" name="Text 11"/>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16 / 18</a:t>
            </a:r>
            <a:endParaRPr lang="en-US" sz="900" dirty="0"/>
          </a:p>
        </p:txBody>
      </p:sp>
      <p:sp>
        <p:nvSpPr>
          <p:cNvPr id="16" name="ZoneTexte 15">
            <a:extLst>
              <a:ext uri="{FF2B5EF4-FFF2-40B4-BE49-F238E27FC236}">
                <a16:creationId xmlns:a16="http://schemas.microsoft.com/office/drawing/2014/main" id="{9B46A9F6-9CA4-4107-F0AD-40B4F536157C}"/>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640080" y="548640"/>
            <a:ext cx="10058400" cy="274320"/>
          </a:xfrm>
          <a:prstGeom prst="rect">
            <a:avLst/>
          </a:prstGeom>
          <a:noFill/>
          <a:ln/>
        </p:spPr>
        <p:txBody>
          <a:bodyPr wrap="square" rtlCol="0" anchor="ctr"/>
          <a:lstStyle/>
          <a:p>
            <a:pPr marL="0" indent="0">
              <a:buNone/>
            </a:pPr>
            <a:r>
              <a:rPr lang="en-US" sz="1200" b="1" kern="0" spc="300" dirty="0">
                <a:solidFill>
                  <a:srgbClr val="27D3DE"/>
                </a:solidFill>
                <a:latin typeface="Calibri" pitchFamily="34" charset="0"/>
                <a:ea typeface="Calibri" pitchFamily="34" charset="-122"/>
                <a:cs typeface="Calibri" pitchFamily="34" charset="-120"/>
              </a:rPr>
              <a:t>L'ESSENTIEL</a:t>
            </a:r>
            <a:endParaRPr lang="en-US" sz="1200" dirty="0"/>
          </a:p>
        </p:txBody>
      </p:sp>
      <p:sp>
        <p:nvSpPr>
          <p:cNvPr id="3" name="Text 1"/>
          <p:cNvSpPr/>
          <p:nvPr/>
        </p:nvSpPr>
        <p:spPr>
          <a:xfrm>
            <a:off x="621792" y="822960"/>
            <a:ext cx="10972800" cy="777240"/>
          </a:xfrm>
          <a:prstGeom prst="rect">
            <a:avLst/>
          </a:prstGeom>
          <a:noFill/>
          <a:ln/>
        </p:spPr>
        <p:txBody>
          <a:bodyPr wrap="square" rtlCol="0" anchor="ctr"/>
          <a:lstStyle/>
          <a:p>
            <a:pPr marL="0" indent="0">
              <a:buNone/>
            </a:pPr>
            <a:r>
              <a:rPr lang="en-US" sz="3200" b="1" dirty="0">
                <a:solidFill>
                  <a:srgbClr val="FFFFFF"/>
                </a:solidFill>
                <a:latin typeface="Bookman Old Style" pitchFamily="34" charset="0"/>
                <a:ea typeface="Bookman Old Style" pitchFamily="34" charset="-122"/>
                <a:cs typeface="Bookman Old Style" pitchFamily="34" charset="-120"/>
              </a:rPr>
              <a:t>À retenir</a:t>
            </a:r>
            <a:endParaRPr lang="en-US" sz="3200" dirty="0"/>
          </a:p>
        </p:txBody>
      </p:sp>
      <p:sp>
        <p:nvSpPr>
          <p:cNvPr id="4" name="Shape 2"/>
          <p:cNvSpPr/>
          <p:nvPr/>
        </p:nvSpPr>
        <p:spPr>
          <a:xfrm>
            <a:off x="640080" y="1874520"/>
            <a:ext cx="10881360" cy="868680"/>
          </a:xfrm>
          <a:prstGeom prst="roundRect">
            <a:avLst>
              <a:gd name="adj" fmla="val 10526"/>
            </a:avLst>
          </a:prstGeom>
          <a:solidFill>
            <a:srgbClr val="16335A"/>
          </a:solidFill>
          <a:ln/>
        </p:spPr>
        <p:txBody>
          <a:bodyPr/>
          <a:lstStyle/>
          <a:p>
            <a:endParaRPr lang="fr-FR"/>
          </a:p>
        </p:txBody>
      </p:sp>
      <p:sp>
        <p:nvSpPr>
          <p:cNvPr id="5" name="Shape 3"/>
          <p:cNvSpPr/>
          <p:nvPr/>
        </p:nvSpPr>
        <p:spPr>
          <a:xfrm>
            <a:off x="868680" y="2020824"/>
            <a:ext cx="566928" cy="566928"/>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16081" y="2168225"/>
            <a:ext cx="272125" cy="272125"/>
          </a:xfrm>
          <a:prstGeom prst="rect">
            <a:avLst/>
          </a:prstGeom>
        </p:spPr>
      </p:pic>
      <p:sp>
        <p:nvSpPr>
          <p:cNvPr id="7" name="Text 4"/>
          <p:cNvSpPr/>
          <p:nvPr/>
        </p:nvSpPr>
        <p:spPr>
          <a:xfrm>
            <a:off x="1645920" y="1874520"/>
            <a:ext cx="9601200" cy="868680"/>
          </a:xfrm>
          <a:prstGeom prst="rect">
            <a:avLst/>
          </a:prstGeom>
          <a:noFill/>
          <a:ln/>
        </p:spPr>
        <p:txBody>
          <a:bodyPr wrap="square" lIns="0" tIns="0" rIns="0" bIns="0" rtlCol="0" anchor="ctr"/>
          <a:lstStyle/>
          <a:p>
            <a:pPr marL="0" indent="0" algn="l">
              <a:lnSpc>
                <a:spcPct val="105000"/>
              </a:lnSpc>
              <a:buNone/>
            </a:pPr>
            <a:r>
              <a:rPr lang="en-US" sz="1450" dirty="0">
                <a:solidFill>
                  <a:srgbClr val="DCE7F2"/>
                </a:solidFill>
                <a:latin typeface="Calibri" pitchFamily="34" charset="0"/>
                <a:ea typeface="Calibri" pitchFamily="34" charset="-122"/>
                <a:cs typeface="Calibri" pitchFamily="34" charset="-120"/>
              </a:rPr>
              <a:t>Ameli = papiers et remboursements ; Mon espace santé = dossier médical. Deux sites différents.</a:t>
            </a:r>
            <a:endParaRPr lang="en-US" sz="1450" dirty="0"/>
          </a:p>
        </p:txBody>
      </p:sp>
      <p:sp>
        <p:nvSpPr>
          <p:cNvPr id="8" name="Shape 5"/>
          <p:cNvSpPr/>
          <p:nvPr/>
        </p:nvSpPr>
        <p:spPr>
          <a:xfrm>
            <a:off x="640080" y="2898648"/>
            <a:ext cx="10881360" cy="868680"/>
          </a:xfrm>
          <a:prstGeom prst="roundRect">
            <a:avLst>
              <a:gd name="adj" fmla="val 10526"/>
            </a:avLst>
          </a:prstGeom>
          <a:solidFill>
            <a:srgbClr val="16335A"/>
          </a:solidFill>
          <a:ln/>
        </p:spPr>
        <p:txBody>
          <a:bodyPr/>
          <a:lstStyle/>
          <a:p>
            <a:endParaRPr lang="fr-FR"/>
          </a:p>
        </p:txBody>
      </p:sp>
      <p:sp>
        <p:nvSpPr>
          <p:cNvPr id="9" name="Shape 6"/>
          <p:cNvSpPr/>
          <p:nvPr/>
        </p:nvSpPr>
        <p:spPr>
          <a:xfrm>
            <a:off x="868680" y="3044952"/>
            <a:ext cx="566928" cy="566928"/>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0" name="Image 1" descr="preencoded.png"/>
          <p:cNvPicPr>
            <a:picLocks noChangeAspect="1"/>
          </p:cNvPicPr>
          <p:nvPr/>
        </p:nvPicPr>
        <p:blipFill>
          <a:blip r:embed="rId4"/>
          <a:stretch>
            <a:fillRect/>
          </a:stretch>
        </p:blipFill>
        <p:spPr>
          <a:xfrm>
            <a:off x="1016081" y="3192353"/>
            <a:ext cx="272125" cy="272125"/>
          </a:xfrm>
          <a:prstGeom prst="rect">
            <a:avLst/>
          </a:prstGeom>
        </p:spPr>
      </p:pic>
      <p:sp>
        <p:nvSpPr>
          <p:cNvPr id="11" name="Text 7"/>
          <p:cNvSpPr/>
          <p:nvPr/>
        </p:nvSpPr>
        <p:spPr>
          <a:xfrm>
            <a:off x="1645920" y="2898648"/>
            <a:ext cx="9601200" cy="868680"/>
          </a:xfrm>
          <a:prstGeom prst="rect">
            <a:avLst/>
          </a:prstGeom>
          <a:noFill/>
          <a:ln/>
        </p:spPr>
        <p:txBody>
          <a:bodyPr wrap="square" lIns="0" tIns="0" rIns="0" bIns="0" rtlCol="0" anchor="ctr"/>
          <a:lstStyle/>
          <a:p>
            <a:pPr marL="0" indent="0" algn="l">
              <a:lnSpc>
                <a:spcPct val="105000"/>
              </a:lnSpc>
              <a:buNone/>
            </a:pPr>
            <a:r>
              <a:rPr lang="en-US" sz="1450" dirty="0">
                <a:solidFill>
                  <a:srgbClr val="DCE7F2"/>
                </a:solidFill>
                <a:latin typeface="Calibri" pitchFamily="34" charset="0"/>
                <a:ea typeface="Calibri" pitchFamily="34" charset="-122"/>
                <a:cs typeface="Calibri" pitchFamily="34" charset="-120"/>
              </a:rPr>
              <a:t>Une seule méthode de connexion suffit : identifiants, FranceConnect, ou l'appli mobile.</a:t>
            </a:r>
            <a:endParaRPr lang="en-US" sz="1450" dirty="0"/>
          </a:p>
        </p:txBody>
      </p:sp>
      <p:sp>
        <p:nvSpPr>
          <p:cNvPr id="12" name="Shape 8"/>
          <p:cNvSpPr/>
          <p:nvPr/>
        </p:nvSpPr>
        <p:spPr>
          <a:xfrm>
            <a:off x="640080" y="3922776"/>
            <a:ext cx="10881360" cy="868680"/>
          </a:xfrm>
          <a:prstGeom prst="roundRect">
            <a:avLst>
              <a:gd name="adj" fmla="val 10526"/>
            </a:avLst>
          </a:prstGeom>
          <a:solidFill>
            <a:srgbClr val="16335A"/>
          </a:solidFill>
          <a:ln/>
        </p:spPr>
        <p:txBody>
          <a:bodyPr/>
          <a:lstStyle/>
          <a:p>
            <a:endParaRPr lang="fr-FR"/>
          </a:p>
        </p:txBody>
      </p:sp>
      <p:sp>
        <p:nvSpPr>
          <p:cNvPr id="13" name="Shape 9"/>
          <p:cNvSpPr/>
          <p:nvPr/>
        </p:nvSpPr>
        <p:spPr>
          <a:xfrm>
            <a:off x="868680" y="4069080"/>
            <a:ext cx="566928" cy="566928"/>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4" name="Image 2" descr="preencoded.png"/>
          <p:cNvPicPr>
            <a:picLocks noChangeAspect="1"/>
          </p:cNvPicPr>
          <p:nvPr/>
        </p:nvPicPr>
        <p:blipFill>
          <a:blip r:embed="rId5"/>
          <a:stretch>
            <a:fillRect/>
          </a:stretch>
        </p:blipFill>
        <p:spPr>
          <a:xfrm>
            <a:off x="1016081" y="4216481"/>
            <a:ext cx="272125" cy="272125"/>
          </a:xfrm>
          <a:prstGeom prst="rect">
            <a:avLst/>
          </a:prstGeom>
        </p:spPr>
      </p:pic>
      <p:sp>
        <p:nvSpPr>
          <p:cNvPr id="15" name="Text 10"/>
          <p:cNvSpPr/>
          <p:nvPr/>
        </p:nvSpPr>
        <p:spPr>
          <a:xfrm>
            <a:off x="1645920" y="3922776"/>
            <a:ext cx="9601200" cy="868680"/>
          </a:xfrm>
          <a:prstGeom prst="rect">
            <a:avLst/>
          </a:prstGeom>
          <a:noFill/>
          <a:ln/>
        </p:spPr>
        <p:txBody>
          <a:bodyPr wrap="square" lIns="0" tIns="0" rIns="0" bIns="0" rtlCol="0" anchor="ctr"/>
          <a:lstStyle/>
          <a:p>
            <a:pPr marL="0" indent="0" algn="l">
              <a:lnSpc>
                <a:spcPct val="105000"/>
              </a:lnSpc>
              <a:buNone/>
            </a:pPr>
            <a:r>
              <a:rPr lang="en-US" sz="1450" dirty="0">
                <a:solidFill>
                  <a:srgbClr val="DCE7F2"/>
                </a:solidFill>
                <a:latin typeface="Calibri" pitchFamily="34" charset="0"/>
                <a:ea typeface="Calibri" pitchFamily="34" charset="-122"/>
                <a:cs typeface="Calibri" pitchFamily="34" charset="-120"/>
              </a:rPr>
              <a:t>Le mot de passe ne se donne jamais. On le note dans un endroit sûr.</a:t>
            </a:r>
            <a:endParaRPr lang="en-US" sz="1450" dirty="0"/>
          </a:p>
        </p:txBody>
      </p:sp>
      <p:sp>
        <p:nvSpPr>
          <p:cNvPr id="16" name="Shape 11"/>
          <p:cNvSpPr/>
          <p:nvPr/>
        </p:nvSpPr>
        <p:spPr>
          <a:xfrm>
            <a:off x="640080" y="4946904"/>
            <a:ext cx="10881360" cy="868680"/>
          </a:xfrm>
          <a:prstGeom prst="roundRect">
            <a:avLst>
              <a:gd name="adj" fmla="val 10526"/>
            </a:avLst>
          </a:prstGeom>
          <a:solidFill>
            <a:srgbClr val="16335A"/>
          </a:solidFill>
          <a:ln/>
        </p:spPr>
        <p:txBody>
          <a:bodyPr/>
          <a:lstStyle/>
          <a:p>
            <a:endParaRPr lang="fr-FR"/>
          </a:p>
        </p:txBody>
      </p:sp>
      <p:sp>
        <p:nvSpPr>
          <p:cNvPr id="17" name="Shape 12"/>
          <p:cNvSpPr/>
          <p:nvPr/>
        </p:nvSpPr>
        <p:spPr>
          <a:xfrm>
            <a:off x="868680" y="5093208"/>
            <a:ext cx="566928" cy="566928"/>
          </a:xfrm>
          <a:prstGeom prst="ellipse">
            <a:avLst/>
          </a:prstGeom>
          <a:solidFill>
            <a:srgbClr val="0F8B8D"/>
          </a:solidFill>
          <a:ln/>
          <a:effectLst>
            <a:outerShdw blurRad="88900" dist="38100" dir="2700000" algn="bl" rotWithShape="0">
              <a:srgbClr val="0A1626">
                <a:alpha val="16000"/>
              </a:srgbClr>
            </a:outerShdw>
          </a:effectLst>
        </p:spPr>
        <p:txBody>
          <a:bodyPr/>
          <a:lstStyle/>
          <a:p>
            <a:endParaRPr lang="fr-FR"/>
          </a:p>
        </p:txBody>
      </p:sp>
      <p:pic>
        <p:nvPicPr>
          <p:cNvPr id="18" name="Image 3" descr="preencoded.png"/>
          <p:cNvPicPr>
            <a:picLocks noChangeAspect="1"/>
          </p:cNvPicPr>
          <p:nvPr/>
        </p:nvPicPr>
        <p:blipFill>
          <a:blip r:embed="rId6"/>
          <a:stretch>
            <a:fillRect/>
          </a:stretch>
        </p:blipFill>
        <p:spPr>
          <a:xfrm>
            <a:off x="1016081" y="5240609"/>
            <a:ext cx="272125" cy="272125"/>
          </a:xfrm>
          <a:prstGeom prst="rect">
            <a:avLst/>
          </a:prstGeom>
        </p:spPr>
      </p:pic>
      <p:sp>
        <p:nvSpPr>
          <p:cNvPr id="19" name="Text 13"/>
          <p:cNvSpPr/>
          <p:nvPr/>
        </p:nvSpPr>
        <p:spPr>
          <a:xfrm>
            <a:off x="1645920" y="4946904"/>
            <a:ext cx="9601200" cy="868680"/>
          </a:xfrm>
          <a:prstGeom prst="rect">
            <a:avLst/>
          </a:prstGeom>
          <a:noFill/>
          <a:ln/>
        </p:spPr>
        <p:txBody>
          <a:bodyPr wrap="square" lIns="0" tIns="0" rIns="0" bIns="0" rtlCol="0" anchor="ctr"/>
          <a:lstStyle/>
          <a:p>
            <a:pPr marL="0" indent="0" algn="l">
              <a:lnSpc>
                <a:spcPct val="105000"/>
              </a:lnSpc>
              <a:buNone/>
            </a:pPr>
            <a:r>
              <a:rPr lang="en-US" sz="1450" dirty="0">
                <a:solidFill>
                  <a:srgbClr val="DCE7F2"/>
                </a:solidFill>
                <a:latin typeface="Calibri" pitchFamily="34" charset="0"/>
                <a:ea typeface="Calibri" pitchFamily="34" charset="-122"/>
                <a:cs typeface="Calibri" pitchFamily="34" charset="-120"/>
              </a:rPr>
              <a:t>Pour aller sur Ameli, on tape l'adresse soi-même — jamais via un lien reçu.</a:t>
            </a:r>
            <a:endParaRPr lang="en-US" sz="1450" dirty="0"/>
          </a:p>
        </p:txBody>
      </p:sp>
      <p:sp>
        <p:nvSpPr>
          <p:cNvPr id="20" name="Text 14"/>
          <p:cNvSpPr/>
          <p:nvPr/>
        </p:nvSpPr>
        <p:spPr>
          <a:xfrm>
            <a:off x="640080" y="6473952"/>
            <a:ext cx="5486400" cy="274320"/>
          </a:xfrm>
          <a:prstGeom prst="rect">
            <a:avLst/>
          </a:prstGeom>
          <a:noFill/>
          <a:ln/>
        </p:spPr>
        <p:txBody>
          <a:bodyPr wrap="square" rtlCol="0" anchor="ctr"/>
          <a:lstStyle/>
          <a:p>
            <a:pPr marL="0" indent="0" algn="l">
              <a:buNone/>
            </a:pPr>
            <a:r>
              <a:rPr lang="en-US" sz="900" dirty="0">
                <a:solidFill>
                  <a:srgbClr val="8FA8C4"/>
                </a:solidFill>
                <a:latin typeface="Calibri" pitchFamily="34" charset="0"/>
                <a:ea typeface="Calibri" pitchFamily="34" charset="-122"/>
                <a:cs typeface="Calibri" pitchFamily="34" charset="-120"/>
              </a:rPr>
              <a:t>Yggdrasil · Médiation numérique</a:t>
            </a:r>
            <a:endParaRPr lang="en-US" sz="900" dirty="0"/>
          </a:p>
        </p:txBody>
      </p:sp>
      <p:sp>
        <p:nvSpPr>
          <p:cNvPr id="21" name="Text 15"/>
          <p:cNvSpPr/>
          <p:nvPr/>
        </p:nvSpPr>
        <p:spPr>
          <a:xfrm>
            <a:off x="10698480" y="6473952"/>
            <a:ext cx="822960" cy="274320"/>
          </a:xfrm>
          <a:prstGeom prst="rect">
            <a:avLst/>
          </a:prstGeom>
          <a:noFill/>
          <a:ln/>
        </p:spPr>
        <p:txBody>
          <a:bodyPr wrap="square" rtlCol="0" anchor="ctr"/>
          <a:lstStyle/>
          <a:p>
            <a:pPr marL="0" indent="0" algn="r">
              <a:buNone/>
            </a:pPr>
            <a:r>
              <a:rPr lang="en-US" sz="900" dirty="0">
                <a:solidFill>
                  <a:srgbClr val="8FA8C4"/>
                </a:solidFill>
                <a:latin typeface="Calibri" pitchFamily="34" charset="0"/>
                <a:ea typeface="Calibri" pitchFamily="34" charset="-122"/>
                <a:cs typeface="Calibri" pitchFamily="34" charset="-120"/>
              </a:rPr>
              <a:t>17 / 18</a:t>
            </a:r>
            <a:endParaRPr lang="en-US" sz="900" dirty="0"/>
          </a:p>
        </p:txBody>
      </p:sp>
      <p:sp>
        <p:nvSpPr>
          <p:cNvPr id="22" name="ZoneTexte 21">
            <a:extLst>
              <a:ext uri="{FF2B5EF4-FFF2-40B4-BE49-F238E27FC236}">
                <a16:creationId xmlns:a16="http://schemas.microsoft.com/office/drawing/2014/main" id="{B9115A6D-82D5-0D64-5E5C-E2E632F765DB}"/>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95250" y="371475"/>
            <a:ext cx="6400800" cy="6400800"/>
          </a:xfrm>
          <a:prstGeom prst="ellipse">
            <a:avLst/>
          </a:prstGeom>
          <a:solidFill>
            <a:srgbClr val="16335A">
              <a:alpha val="55000"/>
            </a:srgbClr>
          </a:solidFill>
          <a:ln/>
        </p:spPr>
        <p:txBody>
          <a:bodyPr/>
          <a:lstStyle/>
          <a:p>
            <a:endParaRPr lang="fr-FR"/>
          </a:p>
        </p:txBody>
      </p:sp>
      <p:sp>
        <p:nvSpPr>
          <p:cNvPr id="3" name="Shape 1"/>
          <p:cNvSpPr/>
          <p:nvPr/>
        </p:nvSpPr>
        <p:spPr>
          <a:xfrm>
            <a:off x="6096000" y="85725"/>
            <a:ext cx="5943600" cy="5943600"/>
          </a:xfrm>
          <a:prstGeom prst="ellipse">
            <a:avLst/>
          </a:prstGeom>
          <a:solidFill>
            <a:srgbClr val="0F8B8D">
              <a:alpha val="20000"/>
            </a:srgbClr>
          </a:solidFill>
          <a:ln/>
        </p:spPr>
        <p:txBody>
          <a:bodyPr/>
          <a:lstStyle/>
          <a:p>
            <a:endParaRPr lang="fr-FR"/>
          </a:p>
        </p:txBody>
      </p:sp>
      <p:pic>
        <p:nvPicPr>
          <p:cNvPr id="4" name="Image 0" descr="/home/claude/logo.png"/>
          <p:cNvPicPr>
            <a:picLocks noChangeAspect="1"/>
          </p:cNvPicPr>
          <p:nvPr/>
        </p:nvPicPr>
        <p:blipFill>
          <a:blip r:embed="rId3"/>
          <a:stretch>
            <a:fillRect/>
          </a:stretch>
        </p:blipFill>
        <p:spPr>
          <a:xfrm>
            <a:off x="9326880" y="731520"/>
            <a:ext cx="1463040" cy="1463040"/>
          </a:xfrm>
          <a:prstGeom prst="rect">
            <a:avLst/>
          </a:prstGeom>
        </p:spPr>
      </p:pic>
      <p:sp>
        <p:nvSpPr>
          <p:cNvPr id="5" name="Text 2"/>
          <p:cNvSpPr/>
          <p:nvPr/>
        </p:nvSpPr>
        <p:spPr>
          <a:xfrm>
            <a:off x="822960" y="2286000"/>
            <a:ext cx="9144000" cy="914400"/>
          </a:xfrm>
          <a:prstGeom prst="rect">
            <a:avLst/>
          </a:prstGeom>
          <a:noFill/>
          <a:ln/>
        </p:spPr>
        <p:txBody>
          <a:bodyPr wrap="square"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Des questions ?</a:t>
            </a:r>
            <a:endParaRPr lang="en-US" sz="4600" dirty="0"/>
          </a:p>
        </p:txBody>
      </p:sp>
      <p:sp>
        <p:nvSpPr>
          <p:cNvPr id="6" name="Text 3"/>
          <p:cNvSpPr/>
          <p:nvPr/>
        </p:nvSpPr>
        <p:spPr>
          <a:xfrm>
            <a:off x="868680" y="3383280"/>
            <a:ext cx="8686800" cy="548640"/>
          </a:xfrm>
          <a:prstGeom prst="rect">
            <a:avLst/>
          </a:prstGeom>
          <a:noFill/>
          <a:ln/>
        </p:spPr>
        <p:txBody>
          <a:bodyPr wrap="square" rtlCol="0" anchor="ctr"/>
          <a:lstStyle/>
          <a:p>
            <a:pPr marL="0" indent="0">
              <a:buNone/>
            </a:pPr>
            <a:r>
              <a:rPr lang="en-US" sz="1800" dirty="0">
                <a:solidFill>
                  <a:srgbClr val="C8D6E8"/>
                </a:solidFill>
                <a:latin typeface="Calibri" pitchFamily="34" charset="0"/>
                <a:ea typeface="Calibri" pitchFamily="34" charset="-122"/>
                <a:cs typeface="Calibri" pitchFamily="34" charset="-120"/>
              </a:rPr>
              <a:t>On prend le temps d'essayer ensemble — il n'y a pas de question bête.</a:t>
            </a:r>
            <a:endParaRPr lang="en-US" sz="1800" dirty="0"/>
          </a:p>
        </p:txBody>
      </p:sp>
      <p:sp>
        <p:nvSpPr>
          <p:cNvPr id="7" name="Shape 4"/>
          <p:cNvSpPr/>
          <p:nvPr/>
        </p:nvSpPr>
        <p:spPr>
          <a:xfrm>
            <a:off x="868680" y="4297680"/>
            <a:ext cx="3657600" cy="0"/>
          </a:xfrm>
          <a:prstGeom prst="line">
            <a:avLst/>
          </a:prstGeom>
          <a:noFill/>
          <a:ln w="19050">
            <a:solidFill>
              <a:srgbClr val="0F8B8D"/>
            </a:solidFill>
            <a:prstDash val="solid"/>
          </a:ln>
        </p:spPr>
        <p:txBody>
          <a:bodyPr/>
          <a:lstStyle/>
          <a:p>
            <a:endParaRPr lang="fr-FR"/>
          </a:p>
        </p:txBody>
      </p:sp>
      <p:sp>
        <p:nvSpPr>
          <p:cNvPr id="8" name="Text 5"/>
          <p:cNvSpPr/>
          <p:nvPr/>
        </p:nvSpPr>
        <p:spPr>
          <a:xfrm>
            <a:off x="868680" y="4480560"/>
            <a:ext cx="8229600" cy="365760"/>
          </a:xfrm>
          <a:prstGeom prst="rect">
            <a:avLst/>
          </a:prstGeom>
          <a:noFill/>
          <a:ln/>
        </p:spPr>
        <p:txBody>
          <a:bodyPr wrap="square" rtlCol="0" anchor="ctr"/>
          <a:lstStyle/>
          <a:p>
            <a:pPr marL="0" indent="0">
              <a:buNone/>
            </a:pPr>
            <a:r>
              <a:rPr lang="en-US" sz="1600" b="1" dirty="0">
                <a:solidFill>
                  <a:srgbClr val="27D3DE"/>
                </a:solidFill>
                <a:latin typeface="Calibri" pitchFamily="34" charset="0"/>
                <a:ea typeface="Calibri" pitchFamily="34" charset="-122"/>
                <a:cs typeface="Calibri" pitchFamily="34" charset="-120"/>
              </a:rPr>
              <a:t>Yggdrasil · Médiation numérique</a:t>
            </a:r>
            <a:endParaRPr lang="en-US" sz="1600" dirty="0"/>
          </a:p>
        </p:txBody>
      </p:sp>
      <p:sp>
        <p:nvSpPr>
          <p:cNvPr id="9" name="Text 6"/>
          <p:cNvSpPr/>
          <p:nvPr/>
        </p:nvSpPr>
        <p:spPr>
          <a:xfrm>
            <a:off x="868680" y="4892040"/>
            <a:ext cx="9144000" cy="365760"/>
          </a:xfrm>
          <a:prstGeom prst="rect">
            <a:avLst/>
          </a:prstGeom>
          <a:noFill/>
          <a:ln/>
        </p:spPr>
        <p:txBody>
          <a:bodyPr wrap="square" rtlCol="0" anchor="ctr"/>
          <a:lstStyle/>
          <a:p>
            <a:pPr marL="0" indent="0">
              <a:buNone/>
            </a:pPr>
            <a:r>
              <a:rPr lang="en-US" sz="1300" dirty="0">
                <a:solidFill>
                  <a:srgbClr val="8FA8C4"/>
                </a:solidFill>
                <a:latin typeface="Calibri" pitchFamily="34" charset="0"/>
                <a:ea typeface="Calibri" pitchFamily="34" charset="-122"/>
                <a:cs typeface="Calibri" pitchFamily="34" charset="-120"/>
              </a:rPr>
              <a:t>Atelier littératie numérique · CCAS de La Souterraine</a:t>
            </a:r>
            <a:endParaRPr lang="en-US" sz="1300" dirty="0"/>
          </a:p>
        </p:txBody>
      </p:sp>
      <p:sp>
        <p:nvSpPr>
          <p:cNvPr id="10" name="ZoneTexte 9">
            <a:extLst>
              <a:ext uri="{FF2B5EF4-FFF2-40B4-BE49-F238E27FC236}">
                <a16:creationId xmlns:a16="http://schemas.microsoft.com/office/drawing/2014/main" id="{A8B68DEC-117E-9F1B-C897-F7AAE34EBC81}"/>
              </a:ext>
            </a:extLst>
          </p:cNvPr>
          <p:cNvSpPr txBox="1"/>
          <p:nvPr/>
        </p:nvSpPr>
        <p:spPr>
          <a:xfrm>
            <a:off x="0" y="6578600"/>
            <a:ext cx="12192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2712</Words>
  <Application>Microsoft Office PowerPoint</Application>
  <PresentationFormat>Grand écran</PresentationFormat>
  <Paragraphs>302</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Bookman Old Style</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titi 23</cp:lastModifiedBy>
  <cp:revision>3</cp:revision>
  <dcterms:created xsi:type="dcterms:W3CDTF">2026-06-17T12:23:29Z</dcterms:created>
  <dcterms:modified xsi:type="dcterms:W3CDTF">2026-09-08T11:33:03Z</dcterms:modified>
</cp:coreProperties>
</file>