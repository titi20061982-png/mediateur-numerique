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1" r:id="rId1"/>
  </p:sldMasterIdLst>
  <p:notesMasterIdLst>
    <p:notesMasterId r:id="rId36"/>
  </p:notesMasterIdLst>
  <p:sldIdLst>
    <p:sldId id="256" r:id="rId2"/>
    <p:sldId id="257" r:id="rId3"/>
    <p:sldId id="259" r:id="rId4"/>
    <p:sldId id="260" r:id="rId5"/>
    <p:sldId id="262" r:id="rId6"/>
    <p:sldId id="263" r:id="rId7"/>
    <p:sldId id="265" r:id="rId8"/>
    <p:sldId id="267" r:id="rId9"/>
    <p:sldId id="268" r:id="rId10"/>
    <p:sldId id="269" r:id="rId11"/>
    <p:sldId id="299" r:id="rId12"/>
    <p:sldId id="271" r:id="rId13"/>
    <p:sldId id="274" r:id="rId14"/>
    <p:sldId id="306" r:id="rId15"/>
    <p:sldId id="277" r:id="rId16"/>
    <p:sldId id="307" r:id="rId17"/>
    <p:sldId id="280" r:id="rId18"/>
    <p:sldId id="308" r:id="rId19"/>
    <p:sldId id="283" r:id="rId20"/>
    <p:sldId id="309" r:id="rId21"/>
    <p:sldId id="286" r:id="rId22"/>
    <p:sldId id="310" r:id="rId23"/>
    <p:sldId id="294" r:id="rId24"/>
    <p:sldId id="295" r:id="rId25"/>
    <p:sldId id="296" r:id="rId26"/>
    <p:sldId id="300" r:id="rId27"/>
    <p:sldId id="311" r:id="rId28"/>
    <p:sldId id="302" r:id="rId29"/>
    <p:sldId id="303" r:id="rId30"/>
    <p:sldId id="304" r:id="rId31"/>
    <p:sldId id="312" r:id="rId32"/>
    <p:sldId id="313" r:id="rId33"/>
    <p:sldId id="298" r:id="rId34"/>
    <p:sldId id="305" r:id="rId35"/>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46" d="100"/>
          <a:sy n="146" d="100"/>
        </p:scale>
        <p:origin x="63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1814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OUVERTURE</a:t>
            </a:r>
          </a:p>
          <a:p>
            <a:r>
              <a:rPr lang="fr-FR" sz="1200" dirty="0"/>
              <a:t> </a:t>
            </a:r>
          </a:p>
          <a:p>
            <a:r>
              <a:rPr lang="fr-FR" sz="1200" dirty="0"/>
              <a:t>Accueillez le groupe chaleureusement. Présentez-vous brièvement.</a:t>
            </a:r>
          </a:p>
          <a:p>
            <a:r>
              <a:rPr lang="fr-FR" sz="1200" dirty="0"/>
              <a:t>"Bonjour à tous, je suis Cédric WALTENER, médiateur numérique à l'AFPA Guéret. Aujourd'hui on va parler de phishing — ou hameçonnage en français."</a:t>
            </a:r>
          </a:p>
          <a:p>
            <a:r>
              <a:rPr lang="fr-FR" sz="1200" dirty="0"/>
              <a:t> </a:t>
            </a:r>
          </a:p>
          <a:p>
            <a:r>
              <a:rPr lang="fr-FR" sz="1200" dirty="0"/>
              <a:t>➡ Précisez : "Aujourd'hui on a 1h30 ensemble. On va alterner explications, exemples réels et un quiz. N'hésitez pas à poser des questions à tout moment ou à partager vos expériences — c'est souvent ce qui apprend le plus."</a:t>
            </a:r>
          </a:p>
          <a:p>
            <a:r>
              <a:rPr lang="fr-FR" sz="1200" dirty="0"/>
              <a:t> </a:t>
            </a:r>
          </a:p>
          <a:p>
            <a:r>
              <a:rPr lang="fr-FR" sz="1200" dirty="0"/>
              <a:t>❓ Question brise-glace : "Est-ce que certains d'entre vous ont déjà reçu un message qui semblait bizarre ou suspect ?"</a:t>
            </a:r>
          </a:p>
          <a:p>
            <a:r>
              <a:rPr lang="fr-FR" sz="1200" dirty="0"/>
              <a:t>→ Laissez 2-3 personnes répondre brièvement.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MISE EN CONFIANCE</a:t>
            </a:r>
          </a:p>
          <a:p>
            <a:r>
              <a:rPr lang="fr-FR" sz="1200" dirty="0"/>
              <a:t> </a:t>
            </a:r>
          </a:p>
          <a:p>
            <a:r>
              <a:rPr lang="fr-FR" sz="1200" dirty="0"/>
              <a:t>Insistez sur le fait que personne ne doit avoir honte.</a:t>
            </a:r>
          </a:p>
          <a:p>
            <a:r>
              <a:rPr lang="fr-FR" sz="1200" dirty="0"/>
              <a:t>"Se faire piéger, ça arrive aux meilleurs. Des responsables d'entreprise, des ingénieurs informatiques, des médecins ont été victimes."</a:t>
            </a:r>
          </a:p>
          <a:p>
            <a:r>
              <a:rPr lang="fr-FR" sz="1200" dirty="0"/>
              <a:t> </a:t>
            </a:r>
          </a:p>
          <a:p>
            <a:r>
              <a:rPr lang="fr-FR" sz="1200" dirty="0"/>
              <a:t>➡ Le chiffre en bas de slide : "En ce moment même, pendant qu'on se parle, 3 tentatives de phishing sont envoyées chaque seconde dans le monde. Ce n'est pas une question d'intelligence, c'est une question d'information."</a:t>
            </a:r>
          </a:p>
          <a:p>
            <a:r>
              <a:rPr lang="fr-FR" sz="1200" dirty="0"/>
              <a:t> </a:t>
            </a:r>
          </a:p>
          <a:p>
            <a:r>
              <a:rPr lang="fr-FR" sz="1200" dirty="0"/>
              <a:t>🎯 Objectif de cette slide : mettre le groupe à l'aise pour qu'il participe sans crainte de jugement.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MENU</a:t>
            </a:r>
          </a:p>
          <a:p>
            <a:r>
              <a:rPr lang="fr-FR" sz="1200" dirty="0"/>
              <a:t> </a:t>
            </a:r>
          </a:p>
          <a:p>
            <a:r>
              <a:rPr lang="fr-FR" sz="1200" dirty="0"/>
              <a:t>Cette slide sert de plan de séance. Vous pouvez y revenir à tout moment via le bouton Menu.</a:t>
            </a:r>
          </a:p>
          <a:p>
            <a:r>
              <a:rPr lang="fr-FR" sz="1200" dirty="0"/>
              <a:t>"Voilà ce qu'on va voir ensemble aujourd'hui. On peut naviguer librement si une question vous amène sur un autre sujet."</a:t>
            </a:r>
          </a:p>
          <a:p>
            <a:r>
              <a:rPr lang="fr-FR" sz="1200" dirty="0"/>
              <a:t> </a:t>
            </a:r>
          </a:p>
          <a:p>
            <a:r>
              <a:rPr lang="fr-FR" sz="1200" dirty="0"/>
              <a:t>➡ Pas besoin de tout lire — montrez juste les grandes sections :</a:t>
            </a:r>
          </a:p>
          <a:p>
            <a:r>
              <a:rPr lang="fr-FR" sz="1200" dirty="0"/>
              <a:t>- Les exemples concrets (SMS, mails, téléphone)</a:t>
            </a:r>
          </a:p>
          <a:p>
            <a:r>
              <a:rPr lang="fr-FR" sz="1200" dirty="0"/>
              <a:t>- Le quiz</a:t>
            </a:r>
          </a:p>
          <a:p>
            <a:r>
              <a:rPr lang="fr-FR" sz="1200" dirty="0"/>
              <a:t>- Quoi faire si on clique</a:t>
            </a:r>
          </a:p>
          <a:p>
            <a:r>
              <a:rPr lang="fr-FR" sz="1200" dirty="0"/>
              <a:t>- Les bonus à la fin si le temps le permet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CHIFFRES CLÉS</a:t>
            </a:r>
          </a:p>
          <a:p>
            <a:r>
              <a:rPr lang="fr-FR" sz="1200" dirty="0"/>
              <a:t> </a:t>
            </a:r>
          </a:p>
          <a:p>
            <a:r>
              <a:rPr lang="fr-FR" sz="1200" dirty="0"/>
              <a:t>Lisez les 4 chiffres en laissant chacun faire son effet.</a:t>
            </a:r>
          </a:p>
          <a:p>
            <a:r>
              <a:rPr lang="fr-FR" sz="1200" dirty="0"/>
              <a:t>"83% des Français ont déjà reçu un message suspect — donc statistiquement, la quasi-totalité d'entre vous."</a:t>
            </a:r>
          </a:p>
          <a:p>
            <a:r>
              <a:rPr lang="fr-FR" sz="1200" dirty="0"/>
              <a:t>"90% des incidents cyber impliquent une erreur humaine — pas une faille technique. C'est pour ça qu'on est là aujourd'hui."</a:t>
            </a:r>
          </a:p>
          <a:p>
            <a:r>
              <a:rPr lang="fr-FR" sz="1200" dirty="0"/>
              <a:t> </a:t>
            </a:r>
          </a:p>
          <a:p>
            <a:r>
              <a:rPr lang="fr-FR" sz="1200" dirty="0"/>
              <a:t>❓ Question au groupe : "Est-ce que ces chiffres vous surprennent ?"</a:t>
            </a:r>
          </a:p>
          <a:p>
            <a:r>
              <a:rPr lang="fr-FR" sz="1200" dirty="0"/>
              <a:t> </a:t>
            </a:r>
          </a:p>
          <a:p>
            <a:r>
              <a:rPr lang="fr-FR" sz="1200" dirty="0"/>
              <a:t>➡ Sources : ANSSI, Cybermalveillance.gouv.fr, IBM Security 2024.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QUI SONT LES CIBLES</a:t>
            </a:r>
          </a:p>
          <a:p>
            <a:r>
              <a:rPr lang="fr-FR" sz="1200" dirty="0"/>
              <a:t> </a:t>
            </a:r>
          </a:p>
          <a:p>
            <a:r>
              <a:rPr lang="fr-FR" sz="1200" dirty="0"/>
              <a:t>Message clé : les escrocs ne visent pas "les gens qui ne savent pas". Ils envoient des millions de messages au hasard comme une pêche au filet.</a:t>
            </a:r>
          </a:p>
          <a:p>
            <a:r>
              <a:rPr lang="fr-FR" sz="1200" dirty="0"/>
              <a:t> </a:t>
            </a:r>
          </a:p>
          <a:p>
            <a:r>
              <a:rPr lang="fr-FR" sz="1200" dirty="0"/>
              <a:t>➡ Parcourez les profils rapidement. Insistez sur :</a:t>
            </a:r>
          </a:p>
          <a:p>
            <a:r>
              <a:rPr lang="fr-FR" sz="1200" dirty="0"/>
              <a:t>- Les seniors (carte Vitale, impôts)</a:t>
            </a:r>
          </a:p>
          <a:p>
            <a:r>
              <a:rPr lang="fr-FR" sz="1200" dirty="0"/>
              <a:t>- Les chefs d'entreprise (fraude au président — montants énormes)</a:t>
            </a:r>
          </a:p>
          <a:p>
            <a:r>
              <a:rPr lang="fr-FR" sz="1200" dirty="0"/>
              <a:t>- Les utilisateurs mobiles (smishing en forte hausse)</a:t>
            </a:r>
          </a:p>
          <a:p>
            <a:r>
              <a:rPr lang="fr-FR" sz="1200" dirty="0"/>
              <a:t> </a:t>
            </a:r>
          </a:p>
          <a:p>
            <a:r>
              <a:rPr lang="fr-FR" sz="1200" dirty="0"/>
              <a:t>❓ Question : "Dans votre entourage, est-ce que quelqu'un a déjà été touché par ce genre d'arnaque ?"</a:t>
            </a:r>
          </a:p>
          <a:p>
            <a:r>
              <a:rPr lang="fr-FR" sz="1200" dirty="0"/>
              <a:t>→ Si oui, écoutez brièvement — cela personnalise l'atelier.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4 min | DÉFINITION</a:t>
            </a:r>
          </a:p>
          <a:p>
            <a:r>
              <a:rPr lang="fr-FR" sz="1200" dirty="0"/>
              <a:t> </a:t>
            </a:r>
          </a:p>
          <a:p>
            <a:r>
              <a:rPr lang="fr-FR" sz="1200" dirty="0"/>
              <a:t>Expliquez les 4 types simplement :</a:t>
            </a:r>
          </a:p>
          <a:p>
            <a:r>
              <a:rPr lang="fr-FR" sz="1200" dirty="0"/>
              <a:t>- Phishing classique (mail) : le plus répandu</a:t>
            </a:r>
          </a:p>
          <a:p>
            <a:r>
              <a:rPr lang="fr-FR" sz="1200" dirty="0"/>
              <a:t>- Smishing (SMS) : en forte augmentation depuis 2022</a:t>
            </a:r>
          </a:p>
          <a:p>
            <a:r>
              <a:rPr lang="fr-FR" sz="1200" dirty="0"/>
              <a:t>- Vishing (téléphone) : le plus stressant car il y a une voix humaine</a:t>
            </a:r>
          </a:p>
          <a:p>
            <a:r>
              <a:rPr lang="fr-FR" sz="1200" dirty="0"/>
              <a:t>- Quishing (QR code) : le plus récent, peu connu du public</a:t>
            </a:r>
          </a:p>
          <a:p>
            <a:r>
              <a:rPr lang="fr-FR" sz="1200" dirty="0"/>
              <a:t> </a:t>
            </a:r>
          </a:p>
          <a:p>
            <a:r>
              <a:rPr lang="fr-FR" sz="1200" dirty="0"/>
              <a:t>➡ Insistez sur le Top 5 des organismes imités en bas de slide.</a:t>
            </a:r>
          </a:p>
          <a:p>
            <a:r>
              <a:rPr lang="fr-FR" sz="1200" dirty="0"/>
              <a:t>"Ces organismes ne vous enverront JAMAIS de message vous demandant vos coordonnées bancaires ou un mot de passe."</a:t>
            </a:r>
          </a:p>
          <a:p>
            <a:r>
              <a:rPr lang="fr-FR" sz="1200" dirty="0"/>
              <a:t> </a:t>
            </a:r>
          </a:p>
          <a:p>
            <a:r>
              <a:rPr lang="fr-FR" sz="1200" dirty="0"/>
              <a:t>❓ Question : "Est-ce que vous avez déjà reçu un SMS prétendant venir de La Poste ou de la CPAM ?"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5 min | SMS VRAIS VS FAUX</a:t>
            </a:r>
          </a:p>
          <a:p>
            <a:r>
              <a:rPr lang="fr-FR" sz="1200" dirty="0"/>
              <a:t> </a:t>
            </a:r>
          </a:p>
          <a:p>
            <a:r>
              <a:rPr lang="fr-FR" sz="1200" dirty="0"/>
              <a:t>C'est une slide clé — prenez le temps de bien faire la comparaison.</a:t>
            </a:r>
          </a:p>
          <a:p>
            <a:r>
              <a:rPr lang="fr-FR" sz="1200" dirty="0"/>
              <a:t> </a:t>
            </a:r>
          </a:p>
          <a:p>
            <a:r>
              <a:rPr lang="fr-FR" sz="1200" dirty="0"/>
              <a:t>➡ Pointez le VRAI SMS Ameli en premier :</a:t>
            </a:r>
          </a:p>
          <a:p>
            <a:r>
              <a:rPr lang="fr-FR" sz="1200" dirty="0"/>
              <a:t>"Regardez : aucun lien, aucune demande, juste une information. C'est ça un vrai SMS officiel."</a:t>
            </a:r>
          </a:p>
          <a:p>
            <a:r>
              <a:rPr lang="fr-FR" sz="1200" dirty="0"/>
              <a:t> </a:t>
            </a:r>
          </a:p>
          <a:p>
            <a:r>
              <a:rPr lang="fr-FR" sz="1200" dirty="0"/>
              <a:t>➡ Montrez ensuite les FAUX :</a:t>
            </a:r>
          </a:p>
          <a:p>
            <a:r>
              <a:rPr lang="fr-FR" sz="1200" dirty="0"/>
              <a:t>- La Poste : "laposte-paiement-fr.net — ce domaine n'existe pas chez La Poste"</a:t>
            </a:r>
          </a:p>
          <a:p>
            <a:r>
              <a:rPr lang="fr-FR" sz="1200" dirty="0"/>
              <a:t>- Banque : "CREDIT-AGRI avec un tiret — votre banque n'a jamais ce genre d'orthographe"</a:t>
            </a:r>
          </a:p>
          <a:p>
            <a:r>
              <a:rPr lang="fr-FR" sz="1200" dirty="0"/>
              <a:t> </a:t>
            </a:r>
          </a:p>
          <a:p>
            <a:r>
              <a:rPr lang="fr-FR" sz="1200" dirty="0"/>
              <a:t>Règle d'or à répéter : "Un vrai SMS officiel informe. Il ne demande jamais de cliquer ni de payer."</a:t>
            </a:r>
          </a:p>
          <a:p>
            <a:r>
              <a:rPr lang="fr-FR" sz="1200" dirty="0"/>
              <a:t> </a:t>
            </a:r>
          </a:p>
          <a:p>
            <a:r>
              <a:rPr lang="fr-FR" sz="1200" dirty="0"/>
              <a:t>➡ La ligne verte en bas résume la même règle pour les e-mails : domaine officiel (.gouv.fr, .fr connu), jamais de RIB ni de mot de passe.</a:t>
            </a:r>
          </a:p>
          <a:p>
            <a:r>
              <a:rPr lang="fr-FR" sz="1200" dirty="0"/>
              <a:t> </a:t>
            </a:r>
          </a:p>
          <a:p>
            <a:r>
              <a:rPr lang="fr-FR" sz="1200" dirty="0"/>
              <a:t>❓ "Est-ce que certains d'entre vous ont déjà reçu un SMS La Poste comme celui-là ?"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PHISHING IMPÔTS</a:t>
            </a:r>
          </a:p>
          <a:p>
            <a:r>
              <a:rPr lang="fr-FR" sz="1200" dirty="0"/>
              <a:t> </a:t>
            </a:r>
          </a:p>
          <a:p>
            <a:r>
              <a:rPr lang="fr-FR" sz="1200" dirty="0"/>
              <a:t>Montrez l'e-mail faux et demandez au groupe de trouver les indices AVANT de les révéler.</a:t>
            </a:r>
          </a:p>
          <a:p>
            <a:r>
              <a:rPr lang="fr-FR" sz="1200" dirty="0"/>
              <a:t> </a:t>
            </a:r>
          </a:p>
          <a:p>
            <a:r>
              <a:rPr lang="fr-FR" sz="1200" dirty="0"/>
              <a:t>❓ "Qu'est-ce qui vous semble bizarre dans ce message ? Prenez 30 secondes."</a:t>
            </a:r>
          </a:p>
          <a:p>
            <a:r>
              <a:rPr lang="fr-FR" sz="1200" dirty="0"/>
              <a:t>→ Attendez les réponses, puis confirmez avec les 4 indices à droite.</a:t>
            </a:r>
          </a:p>
          <a:p>
            <a:r>
              <a:rPr lang="fr-FR" sz="1200" dirty="0"/>
              <a:t> </a:t>
            </a:r>
          </a:p>
          <a:p>
            <a:r>
              <a:rPr lang="fr-FR" sz="1200" dirty="0"/>
              <a:t>Points à souligner :</a:t>
            </a:r>
          </a:p>
          <a:p>
            <a:r>
              <a:rPr lang="fr-FR" sz="1200" dirty="0"/>
              <a:t>- Le domaine @dgfip-notification.com : les vrais impôts écrivent depuis @impots.gouv.fr</a:t>
            </a:r>
          </a:p>
          <a:p>
            <a:r>
              <a:rPr lang="fr-FR" sz="1200" dirty="0"/>
              <a:t>- Les impôts ont DÉJÀ votre RIB — ils ne vous le redemandent jamais</a:t>
            </a:r>
          </a:p>
          <a:p>
            <a:r>
              <a:rPr lang="fr-FR" sz="1200" dirty="0"/>
              <a:t>- Le montant précis (347€) : calculé pour paraître crédible, ni rond ni trop gros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PHISHING CAF</a:t>
            </a:r>
          </a:p>
          <a:p>
            <a:r>
              <a:rPr lang="fr-FR" sz="1200" dirty="0"/>
              <a:t> </a:t>
            </a:r>
          </a:p>
          <a:p>
            <a:r>
              <a:rPr lang="fr-FR" sz="1200" dirty="0"/>
              <a:t>Même exercice : demandez d'abord au groupe de trouver les indices.</a:t>
            </a:r>
          </a:p>
          <a:p>
            <a:r>
              <a:rPr lang="fr-FR" sz="1200" dirty="0"/>
              <a:t> </a:t>
            </a:r>
          </a:p>
          <a:p>
            <a:r>
              <a:rPr lang="fr-FR" sz="1200" dirty="0"/>
              <a:t>❓ "Qu'est-ce qui vous alerte ici ?"</a:t>
            </a:r>
          </a:p>
          <a:p>
            <a:r>
              <a:rPr lang="fr-FR" sz="1200" dirty="0"/>
              <a:t> </a:t>
            </a:r>
          </a:p>
          <a:p>
            <a:r>
              <a:rPr lang="fr-FR" sz="1200" dirty="0"/>
              <a:t>Points clés :</a:t>
            </a:r>
          </a:p>
          <a:p>
            <a:r>
              <a:rPr lang="fr-FR" sz="1200" dirty="0"/>
              <a:t>- @mise-a-jour-dossier.net : jamais un .net pour la CAF</a:t>
            </a:r>
          </a:p>
          <a:p>
            <a:r>
              <a:rPr lang="fr-FR" sz="1200" dirty="0"/>
              <a:t>- La CAF ne demande JAMAIS de RIB par mail</a:t>
            </a:r>
          </a:p>
          <a:p>
            <a:r>
              <a:rPr lang="fr-FR" sz="1200" dirty="0"/>
              <a:t>- "Blocage inventé" : technique classique pour créer la panique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PHISHING AMELI</a:t>
            </a:r>
          </a:p>
          <a:p>
            <a:r>
              <a:rPr lang="fr-FR" sz="1200" dirty="0"/>
              <a:t> </a:t>
            </a:r>
          </a:p>
          <a:p>
            <a:r>
              <a:rPr lang="fr-FR" sz="1200" dirty="0"/>
              <a:t>Point fort de cette slide — parfait pour les seniors dans le groupe.</a:t>
            </a:r>
          </a:p>
          <a:p>
            <a:r>
              <a:rPr lang="fr-FR" sz="1200" dirty="0"/>
              <a:t> </a:t>
            </a:r>
          </a:p>
          <a:p>
            <a:r>
              <a:rPr lang="fr-FR" sz="1200" dirty="0"/>
              <a:t>❓ "Est-ce que vous savez que la carte Vitale n'expire pas ?"</a:t>
            </a:r>
          </a:p>
          <a:p>
            <a:r>
              <a:rPr lang="fr-FR" sz="1200" dirty="0"/>
              <a:t>→ Beaucoup l'ignorent. C'est l'arnaque numéro 1 chez les seniors.</a:t>
            </a:r>
          </a:p>
          <a:p>
            <a:r>
              <a:rPr lang="fr-FR" sz="1200" dirty="0"/>
              <a:t> </a:t>
            </a:r>
          </a:p>
          <a:p>
            <a:r>
              <a:rPr lang="fr-FR" sz="1200" dirty="0"/>
              <a:t>"La carte Vitale ne se renouvelle PAS par internet, jamais. Si vous recevez ce message, c'est systématiquement une arnaque."</a:t>
            </a:r>
          </a:p>
          <a:p>
            <a:r>
              <a:rPr lang="fr-FR" sz="1200" dirty="0"/>
              <a:t> </a:t>
            </a:r>
          </a:p>
          <a:p>
            <a:r>
              <a:rPr lang="fr-FR" sz="1200" dirty="0"/>
              <a:t>➡ Indices : domaine .org, fausse date d'expiration, demande de données médicales.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4 min | VISHING (APPEL TÉLÉPHONIQUE)</a:t>
            </a:r>
          </a:p>
          <a:p>
            <a:r>
              <a:rPr lang="fr-FR" sz="1200" dirty="0"/>
              <a:t> </a:t>
            </a:r>
          </a:p>
          <a:p>
            <a:r>
              <a:rPr lang="fr-FR" sz="1200" dirty="0"/>
              <a:t>C'est la forme d'arnaque la plus difficile à détecter car il y a une voix humaine.</a:t>
            </a:r>
          </a:p>
          <a:p>
            <a:r>
              <a:rPr lang="fr-FR" sz="1200" dirty="0"/>
              <a:t> </a:t>
            </a:r>
          </a:p>
          <a:p>
            <a:r>
              <a:rPr lang="fr-FR" sz="1200" dirty="0"/>
              <a:t>➡ Lisez le script de l'escroc à voix haute pour simuler l'appel :</a:t>
            </a:r>
          </a:p>
          <a:p>
            <a:r>
              <a:rPr lang="fr-FR" sz="1200" dirty="0"/>
              <a:t>"Bonjour, je suis Marc Dupont, conseiller sécurité du Crédit Agricole..."</a:t>
            </a:r>
          </a:p>
          <a:p>
            <a:r>
              <a:rPr lang="fr-FR" sz="1200" dirty="0"/>
              <a:t> </a:t>
            </a:r>
          </a:p>
          <a:p>
            <a:r>
              <a:rPr lang="fr-FR" sz="1200" dirty="0"/>
              <a:t>❓ "Si vous receviez cet appel en ce moment, quelle serait votre réaction ?"</a:t>
            </a:r>
          </a:p>
          <a:p>
            <a:r>
              <a:rPr lang="fr-FR" sz="1200" dirty="0"/>
              <a:t> </a:t>
            </a:r>
          </a:p>
          <a:p>
            <a:r>
              <a:rPr lang="fr-FR" sz="1200" dirty="0"/>
              <a:t>Points à marteler :</a:t>
            </a:r>
          </a:p>
          <a:p>
            <a:r>
              <a:rPr lang="fr-FR" sz="1200" dirty="0"/>
              <a:t>- Votre banque ne demande JAMAIS votre code SMS par téléphone</a:t>
            </a:r>
          </a:p>
          <a:p>
            <a:r>
              <a:rPr lang="fr-FR" sz="1200" dirty="0"/>
              <a:t>- Les escrocs peuvent afficher n'importe quel numéro sur votre écran (spoofing)</a:t>
            </a:r>
          </a:p>
          <a:p>
            <a:r>
              <a:rPr lang="fr-FR" sz="1200" dirty="0"/>
              <a:t>- Réflexe : raccrochez, et rappelez vous-même le numéro au dos de votre carte</a:t>
            </a:r>
          </a:p>
          <a:p>
            <a:r>
              <a:rPr lang="fr-FR" sz="1200" dirty="0"/>
              <a:t> </a:t>
            </a:r>
          </a:p>
          <a:p>
            <a:r>
              <a:rPr lang="fr-FR" sz="1200" dirty="0"/>
              <a:t>⚠️ Laissez place au débat ici — les gens ont souvent des anecdotes sur ce sujet.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5 min | LES 5 SIGNES D'ALERTE</a:t>
            </a:r>
          </a:p>
          <a:p>
            <a:r>
              <a:rPr lang="fr-FR" sz="1200" dirty="0"/>
              <a:t> </a:t>
            </a:r>
          </a:p>
          <a:p>
            <a:r>
              <a:rPr lang="fr-FR" sz="1200" dirty="0"/>
              <a:t>C'est le cœur pédagogique de l'atelier. Prenez le temps pour chaque signe.</a:t>
            </a:r>
          </a:p>
          <a:p>
            <a:r>
              <a:rPr lang="fr-FR" sz="1200" dirty="0"/>
              <a:t> </a:t>
            </a:r>
          </a:p>
          <a:p>
            <a:r>
              <a:rPr lang="fr-FR" sz="1200" dirty="0"/>
              <a:t>1. Adresse suspecte → "Lisez TOUT ce qui est après le @"</a:t>
            </a:r>
          </a:p>
          <a:p>
            <a:r>
              <a:rPr lang="fr-FR" sz="1200" dirty="0"/>
              <a:t>2. Lien piégé → "Survolez sans cliquer — l'URL réelle apparaît en bas de l'écran"</a:t>
            </a:r>
          </a:p>
          <a:p>
            <a:r>
              <a:rPr lang="fr-FR" sz="1200" dirty="0"/>
              <a:t>3. Urgence → "Aucun organisme ne bloque un compte en 24h par mail. L'urgence, c'est une technique de manipulation."</a:t>
            </a:r>
          </a:p>
          <a:p>
            <a:r>
              <a:rPr lang="fr-FR" sz="1200" dirty="0"/>
              <a:t>4. Demande de RIB/MDP → "Si on vous demande ça par message, c'est une arnaque à 100%"</a:t>
            </a:r>
          </a:p>
          <a:p>
            <a:r>
              <a:rPr lang="fr-FR" sz="1200" dirty="0"/>
              <a:t>5. Mauvaise qualité → "Un organisme officiel relit toujours ses communications"</a:t>
            </a:r>
          </a:p>
          <a:p>
            <a:r>
              <a:rPr lang="fr-FR" sz="1200" dirty="0"/>
              <a:t> </a:t>
            </a:r>
          </a:p>
          <a:p>
            <a:r>
              <a:rPr lang="fr-FR" sz="1200" dirty="0"/>
              <a:t>❓ "Est-ce que vous pouvez me citer un signe d'alerte ?" — exercice de mémorisation rapide avant le quiz.</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Q1 — IMPÔTS</a:t>
            </a:r>
          </a:p>
          <a:p>
            <a:r>
              <a:rPr lang="fr-FR" sz="1200" dirty="0"/>
              <a:t> </a:t>
            </a:r>
          </a:p>
          <a:p>
            <a:r>
              <a:rPr lang="fr-FR" sz="1200" dirty="0"/>
              <a:t>Laissez le groupe discuter AVANT de révéler la réponse.</a:t>
            </a:r>
          </a:p>
          <a:p>
            <a:r>
              <a:rPr lang="fr-FR" sz="1200" dirty="0"/>
              <a:t>"Regardez ce message ensemble. Phishing ou légitime ? Prenez 1 minute pour en discuter entre vous."</a:t>
            </a:r>
          </a:p>
          <a:p>
            <a:r>
              <a:rPr lang="fr-FR" sz="1200" dirty="0"/>
              <a:t> </a:t>
            </a:r>
          </a:p>
          <a:p>
            <a:r>
              <a:rPr lang="fr-FR" sz="1200" dirty="0"/>
              <a:t>→ Après vote/discussion, révélez la réponse intégrée en bas.</a:t>
            </a:r>
          </a:p>
          <a:p>
            <a:r>
              <a:rPr lang="fr-FR" sz="1200" dirty="0"/>
              <a:t> </a:t>
            </a:r>
          </a:p>
          <a:p>
            <a:r>
              <a:rPr lang="fr-FR" sz="1200" dirty="0"/>
              <a:t>RÉPONSE : ARNAQUE</a:t>
            </a:r>
          </a:p>
          <a:p>
            <a:r>
              <a:rPr lang="fr-FR" sz="1200" dirty="0"/>
              <a:t>- Domaine inventé : dgfip-service-client.com</a:t>
            </a:r>
          </a:p>
          <a:p>
            <a:r>
              <a:rPr lang="fr-FR" sz="1200" dirty="0"/>
              <a:t>- Les impôts ont déjà votre RIB</a:t>
            </a:r>
          </a:p>
          <a:p>
            <a:r>
              <a:rPr lang="fr-FR" sz="1200" dirty="0"/>
              <a:t>- Urgence artificielle (48h)</a:t>
            </a:r>
          </a:p>
          <a:p>
            <a:r>
              <a:rPr lang="fr-FR" sz="1200" dirty="0"/>
              <a:t>- Montant précis conçu pour paraître crédible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Q1 — IMPÔTS</a:t>
            </a:r>
          </a:p>
          <a:p>
            <a:endParaRPr lang="fr-FR"/>
          </a:p>
          <a:p>
            <a:r>
              <a:rPr lang="fr-FR" dirty="0"/>
              <a:t>Révélez la réponse et félicitez ceux qui ont trouvé.</a:t>
            </a:r>
          </a:p>
          <a:p>
            <a:r>
              <a:rPr lang="fr-FR" dirty="0"/>
              <a:t>"Alors, qui avait dit arnaque ? Bravo ! Regardons pourquoi."</a:t>
            </a:r>
          </a:p>
          <a:p>
            <a:endParaRPr lang="fr-FR"/>
          </a:p>
          <a:p>
            <a:r>
              <a:rPr lang="fr-FR" b="1" dirty="0"/>
              <a:t>POINTS CLÉS :</a:t>
            </a:r>
          </a:p>
          <a:p>
            <a:r>
              <a:rPr lang="fr-FR" dirty="0"/>
              <a:t>- Domaine inventé : dgfip-service-client.com (le vrai = impots.gouv.fr)</a:t>
            </a:r>
          </a:p>
          <a:p>
            <a:r>
              <a:rPr lang="fr-FR" dirty="0"/>
              <a:t>- Les impôts ont DÉJÀ votre RIB, ils ne le redemandent jamais</a:t>
            </a:r>
          </a:p>
          <a:p>
            <a:r>
              <a:rPr lang="fr-FR" dirty="0"/>
              <a:t>- Urgence (48h) = signal d'alerte</a:t>
            </a:r>
          </a:p>
          <a:p>
            <a:endParaRPr lang="fr-FR"/>
          </a:p>
          <a:p>
            <a:r>
              <a:rPr lang="fr-FR" b="1" dirty="0"/>
              <a:t>❓ À POSER AU GROUPE : "Qu'est-ce qui vous a mis la puce à l'oreille en premier ?"</a:t>
            </a: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Q2 — CAF</a:t>
            </a:r>
          </a:p>
          <a:p>
            <a:r>
              <a:rPr lang="fr-FR" sz="1200" dirty="0"/>
              <a:t> </a:t>
            </a:r>
          </a:p>
          <a:p>
            <a:r>
              <a:rPr lang="fr-FR" sz="1200" dirty="0"/>
              <a:t>Même procédure : discussion de groupe avant révélation.</a:t>
            </a:r>
          </a:p>
          <a:p>
            <a:r>
              <a:rPr lang="fr-FR" sz="1200" dirty="0"/>
              <a:t> </a:t>
            </a:r>
          </a:p>
          <a:p>
            <a:r>
              <a:rPr lang="fr-FR" sz="1200" dirty="0"/>
              <a:t>RÉPONSE : LÉGITIME</a:t>
            </a:r>
          </a:p>
          <a:p>
            <a:r>
              <a:rPr lang="fr-FR" sz="1200" dirty="0"/>
              <a:t>- caf.fr = domaine officiel</a:t>
            </a:r>
          </a:p>
          <a:p>
            <a:r>
              <a:rPr lang="fr-FR" sz="1200" dirty="0"/>
              <a:t>- Aucune demande, juste une information de paiement</a:t>
            </a:r>
          </a:p>
          <a:p>
            <a:r>
              <a:rPr lang="fr-FR" sz="1200" dirty="0"/>
              <a:t>- Renvoie vers caf.fr</a:t>
            </a:r>
          </a:p>
          <a:p>
            <a:r>
              <a:rPr lang="fr-FR" sz="1200" dirty="0"/>
              <a:t> </a:t>
            </a:r>
          </a:p>
          <a:p>
            <a:r>
              <a:rPr lang="fr-FR" sz="1200" dirty="0"/>
              <a:t>➡ Point pédagogique : "Attention — ne pas tomber dans l'excès de méfiance ! Tous les mails ne sont pas des arnaques. L'objectif c'est d'apprendre à faire la différence."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Q2 — CAF</a:t>
            </a:r>
          </a:p>
          <a:p>
            <a:endParaRPr lang="fr-FR"/>
          </a:p>
          <a:p>
            <a:r>
              <a:rPr lang="fr-FR" dirty="0"/>
              <a:t>Celle-ci était LÉGITIME : important de montrer qu'un vrai message existe aussi.</a:t>
            </a:r>
          </a:p>
          <a:p>
            <a:r>
              <a:rPr lang="fr-FR" dirty="0"/>
              <a:t>"Attention, tout n'est pas une arnaque ! Voici à quoi ressemble un VRAI message."</a:t>
            </a:r>
          </a:p>
          <a:p>
            <a:endParaRPr lang="fr-FR"/>
          </a:p>
          <a:p>
            <a:r>
              <a:rPr lang="fr-FR" b="1" dirty="0"/>
              <a:t>POINTS CLÉS :</a:t>
            </a:r>
          </a:p>
          <a:p>
            <a:r>
              <a:rPr lang="fr-FR" dirty="0"/>
              <a:t>- Domaine officiel caf.fr</a:t>
            </a:r>
          </a:p>
          <a:p>
            <a:r>
              <a:rPr lang="fr-FR" dirty="0"/>
              <a:t>- Informe seulement, ne demande RIEN</a:t>
            </a:r>
          </a:p>
          <a:p>
            <a:r>
              <a:rPr lang="fr-FR" dirty="0"/>
              <a:t>- Aucun lien à cliquer</a:t>
            </a:r>
          </a:p>
          <a:p>
            <a:endParaRPr lang="fr-FR"/>
          </a:p>
          <a:p>
            <a:r>
              <a:rPr lang="fr-FR" b="1" dirty="0"/>
              <a:t>❓ À POSER AU GROUPE : "Comment reconnaît-on qu'il est vrai, celui-là ?"</a:t>
            </a: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Q3 — CHRONOPOST</a:t>
            </a:r>
          </a:p>
          <a:p>
            <a:r>
              <a:rPr lang="fr-FR" sz="1200" dirty="0"/>
              <a:t> </a:t>
            </a:r>
          </a:p>
          <a:p>
            <a:r>
              <a:rPr lang="fr-FR" sz="1200" dirty="0"/>
              <a:t>RÉPONSE : ARNAQUE</a:t>
            </a:r>
          </a:p>
          <a:p>
            <a:r>
              <a:rPr lang="fr-FR" sz="1200" dirty="0"/>
              <a:t>- chronopost-livraison-colis.com = inventé</a:t>
            </a:r>
          </a:p>
          <a:p>
            <a:r>
              <a:rPr lang="fr-FR" sz="1200" dirty="0"/>
              <a:t>- Jamais de paiement par mail chez les transporteurs</a:t>
            </a:r>
          </a:p>
          <a:p>
            <a:r>
              <a:rPr lang="fr-FR" sz="1200" dirty="0"/>
              <a:t>- Urgence 24h</a:t>
            </a:r>
          </a:p>
          <a:p>
            <a:r>
              <a:rPr lang="fr-FR" sz="1200" dirty="0"/>
              <a:t>- Le petit montant (1,99€) est calculé pour paraître anodin</a:t>
            </a:r>
          </a:p>
          <a:p>
            <a:r>
              <a:rPr lang="fr-FR" sz="1200" dirty="0"/>
              <a:t> </a:t>
            </a:r>
          </a:p>
          <a:p>
            <a:r>
              <a:rPr lang="fr-FR" sz="1200" dirty="0"/>
              <a:t>❓ "Pourquoi pensez-vous qu'ils choisissent un petit montant comme 1,99€ ?"</a:t>
            </a:r>
          </a:p>
          <a:p>
            <a:r>
              <a:rPr lang="fr-FR" sz="1200" dirty="0"/>
              <a:t>→ Car ça semble sans risque et les gens ne vérifient pas.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Q3 — COLIS / CHRONOPOST</a:t>
            </a:r>
          </a:p>
          <a:p>
            <a:endParaRPr lang="fr-FR"/>
          </a:p>
          <a:p>
            <a:r>
              <a:rPr lang="fr-FR" dirty="0"/>
              <a:t>Arnaque très courante, surtout en période de fêtes ou de soldes.</a:t>
            </a:r>
          </a:p>
          <a:p>
            <a:r>
              <a:rPr lang="fr-FR" dirty="0"/>
              <a:t>"Qui a déjà reçu un SMS de colis comme celui-ci ?"</a:t>
            </a:r>
          </a:p>
          <a:p>
            <a:endParaRPr lang="fr-FR"/>
          </a:p>
          <a:p>
            <a:r>
              <a:rPr lang="fr-FR" b="1" dirty="0"/>
              <a:t>POINTS CLÉS :</a:t>
            </a:r>
          </a:p>
          <a:p>
            <a:r>
              <a:rPr lang="fr-FR" dirty="0"/>
              <a:t>- Domaine inventé, le vrai = chronopost.fr</a:t>
            </a:r>
          </a:p>
          <a:p>
            <a:r>
              <a:rPr lang="fr-FR" dirty="0"/>
              <a:t>- Un transporteur ne demande jamais de paiement par SMS/mail</a:t>
            </a:r>
          </a:p>
          <a:p>
            <a:r>
              <a:rPr lang="fr-FR" dirty="0"/>
              <a:t>- Le petit montant (1,99€) est fait pour ne pas méfier</a:t>
            </a:r>
          </a:p>
          <a:p>
            <a:endParaRPr lang="fr-FR"/>
          </a:p>
          <a:p>
            <a:r>
              <a:rPr lang="fr-FR" b="1" dirty="0"/>
              <a:t>❓ À POSER AU GROUPE : "Pourquoi l'escroc demande-t-il une si petite somme, à votre avis ?"</a:t>
            </a: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Q4 — CARTE VITALE</a:t>
            </a:r>
          </a:p>
          <a:p>
            <a:r>
              <a:rPr lang="fr-FR" sz="1200" dirty="0"/>
              <a:t> </a:t>
            </a:r>
          </a:p>
          <a:p>
            <a:r>
              <a:rPr lang="fr-FR" sz="1200" dirty="0"/>
              <a:t>RÉPONSE : ARNAQUE</a:t>
            </a:r>
          </a:p>
          <a:p>
            <a:r>
              <a:rPr lang="fr-FR" sz="1200" dirty="0"/>
              <a:t>- ameli-renouvellement.org = inventé</a:t>
            </a:r>
          </a:p>
          <a:p>
            <a:r>
              <a:rPr lang="fr-FR" sz="1200" dirty="0"/>
              <a:t>- LA CARTE VITALE N'EXPIRE PAS — à répéter clairement</a:t>
            </a:r>
          </a:p>
          <a:p>
            <a:r>
              <a:rPr lang="fr-FR" sz="1200" dirty="0"/>
              <a:t>- Double arnaque : données médicales ET bancaires</a:t>
            </a:r>
          </a:p>
          <a:p>
            <a:r>
              <a:rPr lang="fr-FR" sz="1200" dirty="0"/>
              <a:t> </a:t>
            </a:r>
          </a:p>
          <a:p>
            <a:r>
              <a:rPr lang="fr-FR" sz="1200" dirty="0"/>
              <a:t>➡ Moment fort pour les seniors dans le groupe. Insistez bien sur ce point.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Q4 — CARTE VITALE</a:t>
            </a:r>
          </a:p>
          <a:p>
            <a:endParaRPr lang="fr-FR"/>
          </a:p>
          <a:p>
            <a:r>
              <a:rPr lang="fr-FR" dirty="0"/>
              <a:t>L'arnaque la plus répandue en France. Insistez bien.</a:t>
            </a:r>
          </a:p>
          <a:p>
            <a:r>
              <a:rPr lang="fr-FR" dirty="0"/>
              <a:t>"Retenez UNE chose : la carte Vitale n'expire JAMAIS."</a:t>
            </a:r>
          </a:p>
          <a:p>
            <a:endParaRPr lang="fr-FR"/>
          </a:p>
          <a:p>
            <a:r>
              <a:rPr lang="fr-FR" b="1" dirty="0"/>
              <a:t>POINTS CLÉS :</a:t>
            </a:r>
          </a:p>
          <a:p>
            <a:r>
              <a:rPr lang="fr-FR" dirty="0"/>
              <a:t>- Domaine inventé, le vrai = ameli.fr</a:t>
            </a:r>
          </a:p>
          <a:p>
            <a:r>
              <a:rPr lang="fr-FR" dirty="0"/>
              <a:t>- La carte Vitale n'a pas de date d'expiration</a:t>
            </a:r>
          </a:p>
          <a:p>
            <a:r>
              <a:rPr lang="fr-FR" dirty="0"/>
              <a:t>- Demande données médicales ET bancaires = double piège</a:t>
            </a:r>
          </a:p>
          <a:p>
            <a:endParaRPr lang="fr-FR"/>
          </a:p>
          <a:p>
            <a:r>
              <a:rPr lang="fr-FR" b="1" dirty="0"/>
              <a:t>❓ À POSER AU GROUPE : "Quelqu'un a-t-il déjà reçu ce message sur sa carte Vitale ?"</a:t>
            </a: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Q5 — FRANCE TRAVAIL</a:t>
            </a:r>
          </a:p>
          <a:p>
            <a:r>
              <a:rPr lang="fr-FR" sz="1200" dirty="0"/>
              <a:t> </a:t>
            </a:r>
          </a:p>
          <a:p>
            <a:r>
              <a:rPr lang="fr-FR" sz="1200" dirty="0"/>
              <a:t>RÉPONSE : LÉGITIME</a:t>
            </a:r>
          </a:p>
          <a:p>
            <a:r>
              <a:rPr lang="fr-FR" sz="1200" dirty="0"/>
              <a:t>- francetravail.fr = domaine officiel</a:t>
            </a:r>
          </a:p>
          <a:p>
            <a:r>
              <a:rPr lang="fr-FR" sz="1200" dirty="0"/>
              <a:t>- Ton neutre, aucune urgence, aucune demande</a:t>
            </a:r>
          </a:p>
          <a:p>
            <a:r>
              <a:rPr lang="fr-FR" sz="1200" dirty="0"/>
              <a:t>- Redirige vers le site sans rien demander</a:t>
            </a:r>
          </a:p>
          <a:p>
            <a:r>
              <a:rPr lang="fr-FR" sz="1200" dirty="0"/>
              <a:t> </a:t>
            </a:r>
          </a:p>
          <a:p>
            <a:r>
              <a:rPr lang="fr-FR" sz="1200" dirty="0"/>
              <a:t>➡ Après cette dernière question, demandez les scores à main levée et faites un bref retour.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Q5 — FRANCE TRAVAIL</a:t>
            </a:r>
          </a:p>
          <a:p>
            <a:endParaRPr lang="fr-FR"/>
          </a:p>
          <a:p>
            <a:r>
              <a:rPr lang="fr-FR" dirty="0"/>
              <a:t>À nouveau LÉGITIME : on termine le quiz sur une note positive.</a:t>
            </a:r>
          </a:p>
          <a:p>
            <a:r>
              <a:rPr lang="fr-FR" dirty="0"/>
              <a:t>"Dernier message... et celui-ci est vrai ! Vous progressez."</a:t>
            </a:r>
          </a:p>
          <a:p>
            <a:endParaRPr lang="fr-FR"/>
          </a:p>
          <a:p>
            <a:r>
              <a:rPr lang="fr-FR" b="1" dirty="0"/>
              <a:t>POINTS CLÉS :</a:t>
            </a:r>
          </a:p>
          <a:p>
            <a:r>
              <a:rPr lang="fr-FR" dirty="0"/>
              <a:t>- Domaine officiel francetravail.fr (ex-Pôle Emploi)</a:t>
            </a:r>
          </a:p>
          <a:p>
            <a:r>
              <a:rPr lang="fr-FR" dirty="0"/>
              <a:t>- Ton neutre, aucune urgence</a:t>
            </a:r>
          </a:p>
          <a:p>
            <a:r>
              <a:rPr lang="fr-FR" dirty="0"/>
              <a:t>- Ne demande aucune donnée</a:t>
            </a:r>
          </a:p>
          <a:p>
            <a:endParaRPr lang="fr-FR"/>
          </a:p>
          <a:p>
            <a:r>
              <a:rPr lang="fr-FR" b="1" dirty="0"/>
              <a:t>❓ À POSER AU GROUPE : "Sur 5 questions, combien avez-vous trouvé ? Levez la main !"</a:t>
            </a: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5 min | SIGNALER + QUE FAIRE + PORTER PLAINTE</a:t>
            </a:r>
          </a:p>
          <a:p>
            <a:r>
              <a:rPr lang="fr-FR" sz="1200" dirty="0"/>
              <a:t> </a:t>
            </a:r>
          </a:p>
          <a:p>
            <a:r>
              <a:rPr lang="fr-FR" sz="1200" dirty="0"/>
              <a:t>Trois sujets regroupés — allez à l'essentiel.</a:t>
            </a:r>
          </a:p>
          <a:p>
            <a:r>
              <a:rPr lang="fr-FR" sz="1200" dirty="0"/>
              <a:t> </a:t>
            </a:r>
          </a:p>
          <a:p>
            <a:r>
              <a:rPr lang="fr-FR" sz="1200" dirty="0"/>
              <a:t>SI J'AI CLIQUÉ :</a:t>
            </a:r>
          </a:p>
          <a:p>
            <a:r>
              <a:rPr lang="fr-FR" sz="1200" dirty="0"/>
              <a:t>1. Fermer immédiatement sans rien saisir</a:t>
            </a:r>
          </a:p>
          <a:p>
            <a:r>
              <a:rPr lang="fr-FR" sz="1200" dirty="0"/>
              <a:t>2. Changer les mots de passe (compte concerné + messagerie)</a:t>
            </a:r>
          </a:p>
          <a:p>
            <a:r>
              <a:rPr lang="fr-FR" sz="1200" dirty="0"/>
              <a:t>3. Appeler l'organisme (vrai numéro)</a:t>
            </a:r>
          </a:p>
          <a:p>
            <a:r>
              <a:rPr lang="fr-FR" sz="1200" dirty="0"/>
              <a:t>4. Alerter la banque si coordonnées saisies</a:t>
            </a:r>
          </a:p>
          <a:p>
            <a:r>
              <a:rPr lang="fr-FR" sz="1200" dirty="0"/>
              <a:t> </a:t>
            </a:r>
          </a:p>
          <a:p>
            <a:r>
              <a:rPr lang="fr-FR" sz="1200" dirty="0"/>
              <a:t>SIGNALER :</a:t>
            </a:r>
          </a:p>
          <a:p>
            <a:r>
              <a:rPr lang="fr-FR" sz="1200" dirty="0"/>
              <a:t>- cybermalveillance.gouv.fr : aide + signalement</a:t>
            </a:r>
          </a:p>
          <a:p>
            <a:r>
              <a:rPr lang="fr-FR" sz="1200" dirty="0"/>
              <a:t>- 33700 : SMS frauduleux (gratuit, immédiat)</a:t>
            </a:r>
          </a:p>
          <a:p>
            <a:r>
              <a:rPr lang="fr-FR" sz="1200" dirty="0"/>
              <a:t>- signal-spam.fr : mails frauduleux</a:t>
            </a:r>
          </a:p>
          <a:p>
            <a:r>
              <a:rPr lang="fr-FR" sz="1200" dirty="0"/>
              <a:t> </a:t>
            </a:r>
          </a:p>
          <a:p>
            <a:r>
              <a:rPr lang="fr-FR" sz="1200" dirty="0"/>
              <a:t>PORTER PLAINTE :</a:t>
            </a:r>
          </a:p>
          <a:p>
            <a:r>
              <a:rPr lang="fr-FR" sz="1200" dirty="0"/>
              <a:t>- En ligne : masecurite.interieur.gouv.fr (THESEE)</a:t>
            </a:r>
          </a:p>
          <a:p>
            <a:r>
              <a:rPr lang="fr-FR" sz="1200" dirty="0"/>
              <a:t>- En gendarmerie/commissariat avec captures d'écran</a:t>
            </a:r>
          </a:p>
          <a:p>
            <a:r>
              <a:rPr lang="fr-FR" sz="1200" dirty="0"/>
              <a:t>- NE PAS supprimer les messages = ce sont des preuves</a:t>
            </a:r>
          </a:p>
          <a:p>
            <a:r>
              <a:rPr lang="fr-FR" sz="1200" dirty="0"/>
              <a:t>- Délai d'opposition bancaire : 13 mois maximum</a:t>
            </a:r>
          </a:p>
          <a:p>
            <a:r>
              <a:rPr lang="fr-FR" sz="1200" dirty="0"/>
              <a:t> </a:t>
            </a:r>
          </a:p>
          <a:p>
            <a:r>
              <a:rPr lang="fr-FR" sz="1200" dirty="0"/>
              <a:t>❓ "Est-ce que vous saviez qu'on pouvait porter plainte en ligne ?"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4 min | PROTÉGER SES PROCHES</a:t>
            </a:r>
          </a:p>
          <a:p>
            <a:r>
              <a:rPr lang="fr-FR" sz="1200" dirty="0"/>
              <a:t> </a:t>
            </a:r>
          </a:p>
          <a:p>
            <a:r>
              <a:rPr lang="fr-FR" sz="1200" dirty="0"/>
              <a:t>➡ Invitez le groupe à réfléchir à leurs proches vulnérables.</a:t>
            </a:r>
          </a:p>
          <a:p>
            <a:r>
              <a:rPr lang="fr-FR" sz="1200" dirty="0"/>
              <a:t>"Maintenant que vous savez reconnaître une arnaque, vous pouvez devenir un relais de protection pour votre famille."</a:t>
            </a:r>
          </a:p>
          <a:p>
            <a:r>
              <a:rPr lang="fr-FR" sz="1200" dirty="0"/>
              <a:t> </a:t>
            </a:r>
          </a:p>
          <a:p>
            <a:r>
              <a:rPr lang="fr-FR" sz="1200" dirty="0"/>
              <a:t>Points à développer selon le groupe :</a:t>
            </a:r>
          </a:p>
          <a:p>
            <a:r>
              <a:rPr lang="fr-FR" sz="1200" dirty="0"/>
              <a:t>- Le mot de code familial : inventez un mot secret entre proches pour confirmer qu'un appel est authentique</a:t>
            </a:r>
          </a:p>
          <a:p>
            <a:r>
              <a:rPr lang="fr-FR" sz="1200" dirty="0"/>
              <a:t>- La liste des vrais numéros : banque, CAF, impôts — à afficher quelque part chez soi</a:t>
            </a:r>
          </a:p>
          <a:p>
            <a:r>
              <a:rPr lang="fr-FR" sz="1200" dirty="0"/>
              <a:t>- Filtres anti-spam à activer dans Gmail, Orange, La Poste</a:t>
            </a:r>
          </a:p>
          <a:p>
            <a:r>
              <a:rPr lang="fr-FR" sz="1200" dirty="0"/>
              <a:t> </a:t>
            </a:r>
          </a:p>
          <a:p>
            <a:r>
              <a:rPr lang="fr-FR" sz="1200" dirty="0"/>
              <a:t>❓ "Avez-vous des parents ou grands-parents qui pourraient être ciblés ?"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RÉCAP</a:t>
            </a:r>
          </a:p>
          <a:p>
            <a:r>
              <a:rPr lang="fr-FR" sz="1200" dirty="0"/>
              <a:t> </a:t>
            </a:r>
          </a:p>
          <a:p>
            <a:r>
              <a:rPr lang="fr-FR" sz="1200" dirty="0"/>
              <a:t>Slide mémo — à laisser visible quelques instants.</a:t>
            </a:r>
          </a:p>
          <a:p>
            <a:r>
              <a:rPr lang="fr-FR" sz="1200" dirty="0"/>
              <a:t>"Voici un résumé de tout ce qu'on a vu. Prenez une photo si vous voulez le garder."</a:t>
            </a:r>
          </a:p>
          <a:p>
            <a:r>
              <a:rPr lang="fr-FR" sz="1200" dirty="0"/>
              <a:t> </a:t>
            </a:r>
          </a:p>
          <a:p>
            <a:r>
              <a:rPr lang="fr-FR" sz="1200" dirty="0"/>
              <a:t>Parcourez rapidement les 3 colonnes :</a:t>
            </a:r>
          </a:p>
          <a:p>
            <a:r>
              <a:rPr lang="fr-FR" sz="1200" dirty="0"/>
              <a:t>- 5 signes d'alerte</a:t>
            </a:r>
          </a:p>
          <a:p>
            <a:r>
              <a:rPr lang="fr-FR" sz="1200" dirty="0"/>
              <a:t>- 5 bons réflexes</a:t>
            </a:r>
          </a:p>
          <a:p>
            <a:r>
              <a:rPr lang="fr-FR" sz="1200" dirty="0"/>
              <a:t>- Quoi faire en cas de doute</a:t>
            </a:r>
          </a:p>
          <a:p>
            <a:r>
              <a:rPr lang="fr-FR" sz="1200" dirty="0"/>
              <a:t> </a:t>
            </a:r>
          </a:p>
          <a:p>
            <a:r>
              <a:rPr lang="fr-FR" sz="1200" dirty="0"/>
              <a:t>➡ Vous pouvez proposer de l'imprimer ou de l'envoyer par mail après la séance.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LE CADENAS ≠ SÛR</a:t>
            </a:r>
          </a:p>
          <a:p>
            <a:r>
              <a:rPr lang="fr-FR" sz="1200" dirty="0"/>
              <a:t> </a:t>
            </a:r>
          </a:p>
          <a:p>
            <a:r>
              <a:rPr lang="fr-FR" sz="1200" dirty="0"/>
              <a:t>📌 SLIDE BONUS — à utiliser si le groupe pose la question ou si le temps le permet.</a:t>
            </a:r>
          </a:p>
          <a:p>
            <a:r>
              <a:rPr lang="fr-FR" sz="1200" dirty="0"/>
              <a:t> </a:t>
            </a:r>
          </a:p>
          <a:p>
            <a:r>
              <a:rPr lang="fr-FR" sz="1200" dirty="0"/>
              <a:t>Idée reçue très répandue : "le cadenas vert = site sécurisé".</a:t>
            </a:r>
          </a:p>
          <a:p>
            <a:r>
              <a:rPr lang="fr-FR" sz="1200" dirty="0"/>
              <a:t>"FAUX. Le cadenas indique seulement que la connexion est chiffrée — pas que le site est légitime."</a:t>
            </a:r>
          </a:p>
          <a:p>
            <a:r>
              <a:rPr lang="fr-FR" sz="1200" dirty="0"/>
              <a:t> </a:t>
            </a:r>
          </a:p>
          <a:p>
            <a:r>
              <a:rPr lang="fr-FR" sz="1200" dirty="0"/>
              <a:t>➡ Un site de phishing peut très bien avoir un cadenas vert.</a:t>
            </a:r>
          </a:p>
          <a:p>
            <a:r>
              <a:rPr lang="fr-FR" sz="1200" dirty="0"/>
              <a:t>La seule chose à vérifier : le NOM de domaine.</a:t>
            </a:r>
          </a:p>
          <a:p>
            <a:r>
              <a:rPr lang="fr-FR" sz="1200" dirty="0"/>
              <a:t>impots.gouv.fr ≠ impots-gouv-remboursement.com</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3 min | RECONNAÎTRE UN SITE SÛR</a:t>
            </a:r>
          </a:p>
          <a:p>
            <a:endParaRPr lang="fr-FR"/>
          </a:p>
          <a:p>
            <a:r>
              <a:rPr lang="fr-FR" dirty="0"/>
              <a:t>Le geste le plus important de tout l'atelier : lire le nom de domaine.</a:t>
            </a:r>
          </a:p>
          <a:p>
            <a:r>
              <a:rPr lang="fr-FR" dirty="0"/>
              <a:t>"On lit l'adresse de DROITE à GAUCHE, juste avant le premier slash."</a:t>
            </a:r>
          </a:p>
          <a:p>
            <a:endParaRPr lang="fr-FR"/>
          </a:p>
          <a:p>
            <a:r>
              <a:rPr lang="fr-FR" b="1" dirty="0"/>
              <a:t>POINTS CLÉS :</a:t>
            </a:r>
          </a:p>
          <a:p>
            <a:r>
              <a:rPr lang="fr-FR" dirty="0"/>
              <a:t>- Le cadenas ne prouve RIEN (les faux sites en ont aussi)</a:t>
            </a:r>
          </a:p>
          <a:p>
            <a:r>
              <a:rPr lang="fr-FR" dirty="0"/>
              <a:t>- Seul le nom de domaine compte</a:t>
            </a:r>
          </a:p>
          <a:p>
            <a:r>
              <a:rPr lang="fr-FR" dirty="0"/>
              <a:t>- Tout ce qui est avant le vrai domaine n'est qu'un décor</a:t>
            </a:r>
          </a:p>
          <a:p>
            <a:endParaRPr lang="fr-FR"/>
          </a:p>
          <a:p>
            <a:r>
              <a:rPr lang="fr-FR" b="1" dirty="0"/>
              <a:t>❓ À POSER AU GROUPE : "Dans impots.gouv.fr.connexion-securite.com, quel est le VRAI site ?"</a:t>
            </a: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ARNAQUE WHATSAPP "MAMAN"</a:t>
            </a:r>
          </a:p>
          <a:p>
            <a:r>
              <a:rPr lang="fr-FR" sz="1200" dirty="0"/>
              <a:t> </a:t>
            </a:r>
          </a:p>
          <a:p>
            <a:r>
              <a:rPr lang="fr-FR" sz="1200" dirty="0"/>
              <a:t>📌 SLIDE BONUS — très efficace avec un public senior ou des parents.</a:t>
            </a:r>
          </a:p>
          <a:p>
            <a:r>
              <a:rPr lang="fr-FR" sz="1200" dirty="0"/>
              <a:t> </a:t>
            </a:r>
          </a:p>
          <a:p>
            <a:r>
              <a:rPr lang="fr-FR" sz="1200" dirty="0"/>
              <a:t>Lisez la conversation à voix haute, en jouant les deux rôles.</a:t>
            </a:r>
          </a:p>
          <a:p>
            <a:r>
              <a:rPr lang="fr-FR" sz="1200" dirty="0"/>
              <a:t>"Bonjour maman, c'est moi Thomas..."</a:t>
            </a:r>
          </a:p>
          <a:p>
            <a:r>
              <a:rPr lang="fr-FR" sz="1200" dirty="0"/>
              <a:t> </a:t>
            </a:r>
          </a:p>
          <a:p>
            <a:r>
              <a:rPr lang="fr-FR" sz="1200" dirty="0"/>
              <a:t>➡ Réflexes à donner :</a:t>
            </a:r>
          </a:p>
          <a:p>
            <a:r>
              <a:rPr lang="fr-FR" sz="1200" dirty="0"/>
              <a:t>- Appelez le VRAI numéro de votre enfant pour vérifier</a:t>
            </a:r>
          </a:p>
          <a:p>
            <a:r>
              <a:rPr lang="fr-FR" sz="1200" dirty="0"/>
              <a:t>- Posez une question que seul lui connaît</a:t>
            </a:r>
          </a:p>
          <a:p>
            <a:r>
              <a:rPr lang="fr-FR" sz="1200" dirty="0"/>
              <a:t>- Ne virez jamais d'argent sans vérification vocale</a:t>
            </a:r>
          </a:p>
          <a:p>
            <a:r>
              <a:rPr lang="fr-FR" sz="1200" dirty="0"/>
              <a:t> </a:t>
            </a:r>
          </a:p>
          <a:p>
            <a:r>
              <a:rPr lang="fr-FR" sz="1200" dirty="0"/>
              <a:t>❓ "Est-ce que vous avez déjà reçu ce genre de message ?" — souvent des témoignages dans le groupe.</a:t>
            </a:r>
          </a:p>
          <a:p>
            <a:endParaRPr lang="fr-FR"/>
          </a:p>
          <a:p>
            <a:r>
              <a:rPr lang="fr-FR" b="1" dirty="0"/>
              <a:t>💔 EN PROFITER POUR PARLER DES BROUTEURS :</a:t>
            </a:r>
          </a:p>
          <a:p>
            <a:r>
              <a:rPr lang="fr-FR" dirty="0"/>
              <a:t>Même ressort affectif que l'arnaque "Maman". L'escroc (le "brouteur") crée un faux amour en ligne sur un site de rencontre ou les réseaux, gagne la confiance, puis réclame de l'argent par urgences successives.</a:t>
            </a:r>
          </a:p>
          <a:p>
            <a:r>
              <a:rPr lang="fr-FR" dirty="0"/>
              <a:t>- Près de 80 % des victimes sont des femmes de + de 50 ans</a:t>
            </a:r>
          </a:p>
          <a:p>
            <a:r>
              <a:rPr lang="fr-FR" dirty="0"/>
              <a:t>- Ça peut durer des mois, voire des années</a:t>
            </a:r>
          </a:p>
          <a:p>
            <a:r>
              <a:rPr lang="fr-FR" dirty="0"/>
              <a:t>- IMPORTANT : ce n'est pas de la naïveté, c'est de la manipulation pro. La honte aide l'escroc.</a:t>
            </a:r>
          </a:p>
          <a:p>
            <a:r>
              <a:rPr lang="fr-FR" dirty="0"/>
              <a:t>- Règle d'or : jamais d'argent à quelqu'un jamais rencontré en vrai.</a:t>
            </a:r>
          </a:p>
          <a:p>
            <a:r>
              <a:rPr lang="fr-FR" dirty="0"/>
              <a:t>- Aide : Info Escroqueries 0 805 805 817 / plainte en ligne THESEE</a:t>
            </a:r>
          </a:p>
          <a:p>
            <a:endParaRPr lang="fr-FR"/>
          </a:p>
          <a:p>
            <a:r>
              <a:rPr lang="fr-FR" b="1" dirty="0"/>
              <a:t>❓ "Connaissez-vous quelqu'un qui a déjà discuté avec un inconnu très charmant en ligne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QR CODES PIÉGÉS (QUISHING)</a:t>
            </a:r>
          </a:p>
          <a:p>
            <a:r>
              <a:rPr lang="fr-FR" sz="1200" dirty="0"/>
              <a:t> </a:t>
            </a:r>
          </a:p>
          <a:p>
            <a:r>
              <a:rPr lang="fr-FR" sz="1200" dirty="0"/>
              <a:t>📌 SLIDE BONUS — sujet d'actualité très concret.</a:t>
            </a:r>
          </a:p>
          <a:p>
            <a:r>
              <a:rPr lang="fr-FR" sz="1200" dirty="0"/>
              <a:t> </a:t>
            </a:r>
          </a:p>
          <a:p>
            <a:r>
              <a:rPr lang="fr-FR" sz="1200" dirty="0"/>
              <a:t>"Depuis 2023, les arnaques par QR code explosent — notamment sur les parcmètres."</a:t>
            </a:r>
          </a:p>
          <a:p>
            <a:r>
              <a:rPr lang="fr-FR" sz="1200" dirty="0"/>
              <a:t> </a:t>
            </a:r>
          </a:p>
          <a:p>
            <a:r>
              <a:rPr lang="fr-FR" sz="1200" dirty="0"/>
              <a:t>➡ Conseil pratique avant de scanner :</a:t>
            </a:r>
          </a:p>
          <a:p>
            <a:r>
              <a:rPr lang="fr-FR" sz="1200" dirty="0"/>
              <a:t>"Regardez si une étiquette a été collée par-dessus le QR code original."</a:t>
            </a:r>
          </a:p>
          <a:p>
            <a:r>
              <a:rPr lang="fr-FR" sz="1200" dirty="0"/>
              <a:t> </a:t>
            </a:r>
          </a:p>
          <a:p>
            <a:r>
              <a:rPr lang="fr-FR" sz="1200" dirty="0"/>
              <a:t>Après scan : vérifiez toujours l'URL avant de saisir quoi que ce soit.</a:t>
            </a:r>
          </a:p>
          <a:p>
            <a:r>
              <a:rPr lang="fr-FR" sz="1200" dirty="0"/>
              <a:t> </a:t>
            </a:r>
          </a:p>
          <a:p>
            <a:r>
              <a:rPr lang="fr-FR" sz="1200" dirty="0"/>
              <a:t>❓ "Vous scannez souvent des QR codes ? Dans quelles situations ?"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MOTS DE PASSE</a:t>
            </a:r>
          </a:p>
          <a:p>
            <a:r>
              <a:rPr lang="fr-FR" sz="1200" dirty="0"/>
              <a:t> </a:t>
            </a:r>
          </a:p>
          <a:p>
            <a:r>
              <a:rPr lang="fr-FR" sz="1200" dirty="0"/>
              <a:t>📌 SLIDE BONUS — à utiliser si le temps le permet ou si le groupe pose la question.</a:t>
            </a:r>
          </a:p>
          <a:p>
            <a:r>
              <a:rPr lang="fr-FR" sz="1200" dirty="0"/>
              <a:t> </a:t>
            </a:r>
          </a:p>
          <a:p>
            <a:r>
              <a:rPr lang="fr-FR" sz="1200" dirty="0"/>
              <a:t>Montrez les mots de passe faibles à gauche — demandez au groupe de deviner pourquoi ils sont mauvais.</a:t>
            </a:r>
          </a:p>
          <a:p>
            <a:r>
              <a:rPr lang="fr-FR" sz="1200" dirty="0"/>
              <a:t> </a:t>
            </a:r>
          </a:p>
          <a:p>
            <a:r>
              <a:rPr lang="fr-FR" sz="1200" dirty="0"/>
              <a:t>4 règles simples :</a:t>
            </a:r>
          </a:p>
          <a:p>
            <a:r>
              <a:rPr lang="fr-FR" sz="1200" dirty="0"/>
              <a:t>1. Au moins 12 caractères avec majuscules, chiffres et symboles</a:t>
            </a:r>
          </a:p>
          <a:p>
            <a:r>
              <a:rPr lang="fr-FR" sz="1200" dirty="0"/>
              <a:t>2. Un mot de passe DIFFÉRENT par site important</a:t>
            </a:r>
          </a:p>
          <a:p>
            <a:r>
              <a:rPr lang="fr-FR" sz="1200" dirty="0"/>
              <a:t>3. Ne jamais le communiquer — même à quelqu'un qui prétend être un conseiller</a:t>
            </a:r>
          </a:p>
          <a:p>
            <a:r>
              <a:rPr lang="fr-FR" sz="1200" dirty="0"/>
              <a:t>4. Le changer dès qu'on suspecte un problème</a:t>
            </a:r>
          </a:p>
          <a:p>
            <a:r>
              <a:rPr lang="fr-FR" sz="1200" dirty="0"/>
              <a:t> </a:t>
            </a:r>
          </a:p>
          <a:p>
            <a:r>
              <a:rPr lang="fr-FR" sz="1200" dirty="0"/>
              <a:t>➡ Astuce mémo : utilisez une phrase + chiffres. Ex : "Café!Matin#2026" est facile à retenir et très solide.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3 min | ET SI JE ME FAIS PIRATER ?</a:t>
            </a:r>
          </a:p>
          <a:p>
            <a:endParaRPr lang="fr-FR"/>
          </a:p>
          <a:p>
            <a:r>
              <a:rPr lang="fr-FR" dirty="0"/>
              <a:t>Rassurez : se faire pirater n'est pas une honte, l'important est de réagir.</a:t>
            </a:r>
          </a:p>
          <a:p>
            <a:r>
              <a:rPr lang="fr-FR" dirty="0"/>
              <a:t>"Si ça vous arrive un jour, pas de panique. Trois gestes simples, dans l'ordre."</a:t>
            </a:r>
          </a:p>
          <a:p>
            <a:endParaRPr lang="fr-FR"/>
          </a:p>
          <a:p>
            <a:r>
              <a:rPr lang="fr-FR" b="1" dirty="0"/>
              <a:t>POINTS CLÉS :</a:t>
            </a:r>
          </a:p>
          <a:p>
            <a:r>
              <a:rPr lang="fr-FR" dirty="0"/>
              <a:t>- 1. Débrancher Internet (couper le pirate)</a:t>
            </a:r>
          </a:p>
          <a:p>
            <a:r>
              <a:rPr lang="fr-FR" dirty="0"/>
              <a:t>- 2. Changer ses mots de passe depuis un AUTRE appareil</a:t>
            </a:r>
          </a:p>
          <a:p>
            <a:r>
              <a:rPr lang="fr-FR" dirty="0"/>
              <a:t>- 3. Demander de l'aide : un proche + 17Cyber (gratuit)</a:t>
            </a:r>
          </a:p>
          <a:p>
            <a:r>
              <a:rPr lang="fr-FR" dirty="0"/>
              <a:t>- Bonus : SensCyber, exercices gratuits pour s'entraîner à la maison</a:t>
            </a:r>
          </a:p>
          <a:p>
            <a:r>
              <a:rPr lang="fr-FR" dirty="0"/>
              <a:t>- Le vrai réflexe est AVANT : sauvegarder ses données</a:t>
            </a:r>
          </a:p>
          <a:p>
            <a:endParaRPr lang="fr-FR"/>
          </a:p>
          <a:p>
            <a:r>
              <a:rPr lang="fr-FR" b="1" dirty="0"/>
              <a:t>❓ À POSER AU GROUPE : "Qui sauvegarde déjà ses photos quelque part ?"</a:t>
            </a: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CONCLUSION</a:t>
            </a:r>
          </a:p>
          <a:p>
            <a:r>
              <a:rPr lang="fr-FR" sz="1200" dirty="0"/>
              <a:t> </a:t>
            </a:r>
          </a:p>
          <a:p>
            <a:r>
              <a:rPr lang="fr-FR" sz="1200" dirty="0"/>
              <a:t>Moment de valorisation du groupe.</a:t>
            </a:r>
          </a:p>
          <a:p>
            <a:r>
              <a:rPr lang="fr-FR" sz="1200" dirty="0"/>
              <a:t>"Vous repartez aujourd'hui avec des réflexes que beaucoup de gens n'ont pas. Vous êtes maintenant des vigies numériques."</a:t>
            </a:r>
          </a:p>
          <a:p>
            <a:r>
              <a:rPr lang="fr-FR" sz="1200" dirty="0"/>
              <a:t> </a:t>
            </a:r>
          </a:p>
          <a:p>
            <a:r>
              <a:rPr lang="fr-FR" sz="1200" dirty="0"/>
              <a:t>➡ Rappel des 5 engagements à l'écran — demandez au groupe de les lire à voix haute ensemble.</a:t>
            </a:r>
          </a:p>
          <a:p>
            <a:r>
              <a:rPr lang="fr-FR" sz="1200" dirty="0"/>
              <a:t> </a:t>
            </a:r>
          </a:p>
          <a:p>
            <a:r>
              <a:rPr lang="fr-FR" sz="1200" dirty="0"/>
              <a:t>🏆 Résultats du quiz (en bas de slide, visible pour vous) :</a:t>
            </a:r>
          </a:p>
          <a:p>
            <a:r>
              <a:rPr lang="fr-FR" sz="1200" dirty="0"/>
              <a:t>- 5/5 : Expert — référence pour l'entourage</a:t>
            </a:r>
          </a:p>
          <a:p>
            <a:r>
              <a:rPr lang="fr-FR" sz="1200" dirty="0"/>
              <a:t>- 3-4/5 : Confirmé — très bien, quelques hésitations normales</a:t>
            </a:r>
          </a:p>
          <a:p>
            <a:r>
              <a:rPr lang="fr-FR" sz="1200" dirty="0"/>
              <a:t>- 0-2/5 : En apprentissage — les 5 signes suffisent pour être protégé</a:t>
            </a:r>
          </a:p>
          <a:p>
            <a:r>
              <a:rPr lang="fr-FR" sz="1200" dirty="0"/>
              <a:t> </a:t>
            </a:r>
          </a:p>
          <a:p>
            <a:r>
              <a:rPr lang="fr-FR" sz="1200" dirty="0"/>
              <a:t>➡ Ressources à retenir : cybermalveillance.gouv.fr · 33700 · signal-spam.fr</a:t>
            </a:r>
          </a:p>
          <a:p>
            <a:r>
              <a:rPr lang="fr-FR" sz="1200" dirty="0"/>
              <a:t> </a:t>
            </a:r>
          </a:p>
          <a:p>
            <a:r>
              <a:rPr lang="fr-FR" sz="1200" dirty="0"/>
              <a:t>❓ Question de clôture : "Qu'est-ce que vous retenez de cet atelier ? Qu'est-ce que vous allez faire différemment ?"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2 min | CLÔTURE — MERCI</a:t>
            </a:r>
          </a:p>
          <a:p>
            <a:endParaRPr lang="fr-FR"/>
          </a:p>
          <a:p>
            <a:r>
              <a:rPr lang="fr-FR" dirty="0"/>
              <a:t>Remerciez chaleureusement et rappelez le message essentiel.</a:t>
            </a:r>
          </a:p>
          <a:p>
            <a:r>
              <a:rPr lang="fr-FR" dirty="0"/>
              <a:t>"Dans le doute : on ne clique pas, on vérifie. C'est tout ce qu'il faut retenir."</a:t>
            </a:r>
          </a:p>
          <a:p>
            <a:endParaRPr lang="fr-FR"/>
          </a:p>
          <a:p>
            <a:r>
              <a:rPr lang="fr-FR" b="1" dirty="0"/>
              <a:t>À RAPPELER :</a:t>
            </a:r>
          </a:p>
          <a:p>
            <a:r>
              <a:rPr lang="fr-FR" dirty="0"/>
              <a:t>- Les 3 contacts utiles (cybermalveillance.gouv.fr, 33700, signal-spam.fr)</a:t>
            </a:r>
          </a:p>
          <a:p>
            <a:r>
              <a:rPr lang="fr-FR" dirty="0"/>
              <a:t>- Ils peuvent rejouer le quiz SensCyber chez eux</a:t>
            </a:r>
          </a:p>
          <a:p>
            <a:r>
              <a:rPr lang="fr-FR" dirty="0"/>
              <a:t>- Les inviter à transmettre à leurs proches</a:t>
            </a:r>
          </a:p>
          <a:p>
            <a:endParaRPr lang="fr-FR"/>
          </a:p>
          <a:p>
            <a:r>
              <a:rPr lang="fr-FR" b="1" dirty="0"/>
              <a:t>❓ À POSER AU GROUPE : "Quelle est la chose que vous retenez le plus de cet atelier ?"</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ctrTitle"/>
          </p:nvPr>
        </p:nvSpPr>
        <p:spPr>
          <a:xfrm>
            <a:off x="1028700" y="1352554"/>
            <a:ext cx="7086600" cy="1368822"/>
          </a:xfrm>
        </p:spPr>
        <p:txBody>
          <a:bodyPr anchor="b">
            <a:normAutofit/>
          </a:bodyPr>
          <a:lstStyle>
            <a:lvl1pPr algn="l">
              <a:defRPr sz="4500"/>
            </a:lvl1pPr>
          </a:lstStyle>
          <a:p>
            <a:r>
              <a:rPr lang="fr-FR"/>
              <a:t>Modifiez le style du titre</a:t>
            </a:r>
            <a:endParaRPr lang="en-US" dirty="0"/>
          </a:p>
        </p:txBody>
      </p:sp>
      <p:sp>
        <p:nvSpPr>
          <p:cNvPr id="3" name="Subtitle 2"/>
          <p:cNvSpPr>
            <a:spLocks noGrp="1"/>
          </p:cNvSpPr>
          <p:nvPr>
            <p:ph type="subTitle" idx="1"/>
          </p:nvPr>
        </p:nvSpPr>
        <p:spPr>
          <a:xfrm>
            <a:off x="1028700" y="2724151"/>
            <a:ext cx="7086600" cy="514350"/>
          </a:xfrm>
        </p:spPr>
        <p:txBody>
          <a:bodyPr>
            <a:normAutofit/>
          </a:bodyPr>
          <a:lstStyle>
            <a:lvl1pPr marL="0" indent="0" algn="l">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a:xfrm>
            <a:off x="5932171" y="3235746"/>
            <a:ext cx="2183130" cy="280982"/>
          </a:xfrm>
        </p:spPr>
        <p:txBody>
          <a:bodyPr/>
          <a:lstStyle/>
          <a:p>
            <a:fld id="{48A87A34-81AB-432B-8DAE-1953F412C126}" type="datetimeFigureOut">
              <a:rPr lang="en-US" smtClean="0"/>
              <a:t>9/8/2026</a:t>
            </a:fld>
            <a:endParaRPr lang="en-US" dirty="0"/>
          </a:p>
        </p:txBody>
      </p:sp>
      <p:sp>
        <p:nvSpPr>
          <p:cNvPr id="5" name="Footer Placeholder 4"/>
          <p:cNvSpPr>
            <a:spLocks noGrp="1"/>
          </p:cNvSpPr>
          <p:nvPr>
            <p:ph type="ftr" sz="quarter" idx="11"/>
          </p:nvPr>
        </p:nvSpPr>
        <p:spPr>
          <a:xfrm>
            <a:off x="1028700" y="3242884"/>
            <a:ext cx="4800600" cy="273844"/>
          </a:xfrm>
        </p:spPr>
        <p:txBody>
          <a:bodyPr/>
          <a:lstStyle/>
          <a:p>
            <a:endParaRPr lang="en-US" dirty="0"/>
          </a:p>
        </p:txBody>
      </p:sp>
      <p:sp>
        <p:nvSpPr>
          <p:cNvPr id="6" name="Slide Number Placeholder 5"/>
          <p:cNvSpPr>
            <a:spLocks noGrp="1"/>
          </p:cNvSpPr>
          <p:nvPr>
            <p:ph type="sldNum" sz="quarter" idx="12"/>
          </p:nvPr>
        </p:nvSpPr>
        <p:spPr>
          <a:xfrm>
            <a:off x="6057900" y="1073150"/>
            <a:ext cx="2057400"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776356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18736344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1" y="565150"/>
            <a:ext cx="8115299" cy="2101451"/>
          </a:xfrm>
        </p:spPr>
        <p:txBody>
          <a:bodyPr anchor="b">
            <a:normAutofit/>
          </a:bodyPr>
          <a:lstStyle>
            <a:lvl1pPr algn="r">
              <a:defRPr sz="3000"/>
            </a:lvl1pPr>
          </a:lstStyle>
          <a:p>
            <a:r>
              <a:rPr lang="fr-FR"/>
              <a:t>Modifiez le style du titre</a:t>
            </a:r>
            <a:endParaRPr lang="en-US" dirty="0"/>
          </a:p>
        </p:txBody>
      </p:sp>
      <p:sp>
        <p:nvSpPr>
          <p:cNvPr id="3" name="Text Placeholder 2"/>
          <p:cNvSpPr>
            <a:spLocks noGrp="1"/>
          </p:cNvSpPr>
          <p:nvPr>
            <p:ph type="body" idx="1"/>
          </p:nvPr>
        </p:nvSpPr>
        <p:spPr>
          <a:xfrm>
            <a:off x="768350" y="2731294"/>
            <a:ext cx="7867650" cy="716756"/>
          </a:xfrm>
        </p:spPr>
        <p:txBody>
          <a:bodyPr>
            <a:normAutofit/>
          </a:bodyPr>
          <a:lstStyle>
            <a:lvl1pPr marL="0" indent="0" algn="r">
              <a:buNone/>
              <a:defRPr sz="16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5860839" y="285750"/>
            <a:ext cx="2183130" cy="273844"/>
          </a:xfrm>
        </p:spPr>
        <p:txBody>
          <a:bodyPr/>
          <a:lstStyle>
            <a:lvl1pPr algn="r">
              <a:defRPr/>
            </a:lvl1pPr>
          </a:lstStyle>
          <a:p>
            <a:fld id="{48A87A34-81AB-432B-8DAE-1953F412C126}" type="datetimeFigureOut">
              <a:rPr lang="en-US" smtClean="0"/>
              <a:t>9/8/2026</a:t>
            </a:fld>
            <a:endParaRPr lang="en-US" dirty="0"/>
          </a:p>
        </p:txBody>
      </p:sp>
      <p:sp>
        <p:nvSpPr>
          <p:cNvPr id="5" name="Footer Placeholder 4"/>
          <p:cNvSpPr>
            <a:spLocks noGrp="1"/>
          </p:cNvSpPr>
          <p:nvPr>
            <p:ph type="ftr" sz="quarter" idx="11"/>
          </p:nvPr>
        </p:nvSpPr>
        <p:spPr>
          <a:xfrm>
            <a:off x="514350" y="285751"/>
            <a:ext cx="5243619" cy="273049"/>
          </a:xfrm>
        </p:spPr>
        <p:txBody>
          <a:bodyPr/>
          <a:lstStyle/>
          <a:p>
            <a:endParaRPr lang="en-US" dirty="0"/>
          </a:p>
        </p:txBody>
      </p:sp>
      <p:sp>
        <p:nvSpPr>
          <p:cNvPr id="6" name="Slide Number Placeholder 5"/>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0191233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14350" y="1645920"/>
            <a:ext cx="4000500" cy="301809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645920"/>
            <a:ext cx="4000500" cy="301809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31402139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571500"/>
            <a:ext cx="6457950" cy="971550"/>
          </a:xfrm>
        </p:spPr>
        <p:txBody>
          <a:bodyPr/>
          <a:lstStyle/>
          <a:p>
            <a:r>
              <a:rPr lang="fr-FR"/>
              <a:t>Modifiez le style du titre</a:t>
            </a:r>
            <a:endParaRPr lang="en-US" dirty="0"/>
          </a:p>
        </p:txBody>
      </p:sp>
      <p:sp>
        <p:nvSpPr>
          <p:cNvPr id="3" name="Text Placeholder 2"/>
          <p:cNvSpPr>
            <a:spLocks noGrp="1"/>
          </p:cNvSpPr>
          <p:nvPr>
            <p:ph type="body" idx="1"/>
          </p:nvPr>
        </p:nvSpPr>
        <p:spPr>
          <a:xfrm>
            <a:off x="685807" y="1637852"/>
            <a:ext cx="3809993"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514351" y="2349500"/>
            <a:ext cx="3983831" cy="23145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800600" y="1637852"/>
            <a:ext cx="3829050"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2349500"/>
            <a:ext cx="4000500" cy="23145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402120755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5750591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96955246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3086100" cy="1200150"/>
          </a:xfrm>
        </p:spPr>
        <p:txBody>
          <a:bodyPr anchor="b"/>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3746686" y="560070"/>
            <a:ext cx="4882964" cy="410394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14350" y="2343150"/>
            <a:ext cx="308610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pPr/>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45877250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5154930" cy="1200150"/>
          </a:xfrm>
        </p:spPr>
        <p:txBody>
          <a:bodyPr anchor="b"/>
          <a:lstStyle>
            <a:lvl1pPr algn="l">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5895928" y="563431"/>
            <a:ext cx="2733722" cy="410058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514350" y="2343150"/>
            <a:ext cx="515493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0592119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14333" y="3523021"/>
            <a:ext cx="8116526" cy="614516"/>
          </a:xfrm>
        </p:spPr>
        <p:txBody>
          <a:bodyPr anchor="b"/>
          <a:lstStyle>
            <a:lvl1pPr algn="l">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511295" y="706080"/>
            <a:ext cx="8116380" cy="260862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514350" y="4137537"/>
            <a:ext cx="8115300" cy="526477"/>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6720968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0" y="565150"/>
            <a:ext cx="8115300" cy="2101850"/>
          </a:xfrm>
        </p:spPr>
        <p:txBody>
          <a:bodyPr anchor="ctr"/>
          <a:lstStyle>
            <a:lvl1pPr algn="l">
              <a:defRPr sz="2400"/>
            </a:lvl1pPr>
          </a:lstStyle>
          <a:p>
            <a:r>
              <a:rPr lang="fr-FR"/>
              <a:t>Modifiez le style du titre</a:t>
            </a:r>
            <a:endParaRPr lang="en-US" dirty="0"/>
          </a:p>
        </p:txBody>
      </p:sp>
      <p:sp>
        <p:nvSpPr>
          <p:cNvPr id="4" name="Text Placeholder 3"/>
          <p:cNvSpPr>
            <a:spLocks noGrp="1"/>
          </p:cNvSpPr>
          <p:nvPr>
            <p:ph type="body" sz="half" idx="2"/>
          </p:nvPr>
        </p:nvSpPr>
        <p:spPr>
          <a:xfrm>
            <a:off x="768350" y="2736850"/>
            <a:ext cx="7597887" cy="749300"/>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48A87A34-81AB-432B-8DAE-1953F412C126}" type="datetimeFigureOut">
              <a:rPr lang="en-US" smtClean="0"/>
              <a:t>9/8/2026</a:t>
            </a:fld>
            <a:endParaRPr lang="en-US" dirty="0"/>
          </a:p>
        </p:txBody>
      </p:sp>
      <p:sp>
        <p:nvSpPr>
          <p:cNvPr id="6" name="Footer Placeholder 5"/>
          <p:cNvSpPr>
            <a:spLocks noGrp="1"/>
          </p:cNvSpPr>
          <p:nvPr>
            <p:ph type="ftr" sz="quarter" idx="11"/>
          </p:nvPr>
        </p:nvSpPr>
        <p:spPr>
          <a:xfrm>
            <a:off x="514350" y="284956"/>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5590751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51" y="565150"/>
            <a:ext cx="7613650" cy="1953371"/>
          </a:xfrm>
        </p:spPr>
        <p:txBody>
          <a:bodyPr anchor="ctr"/>
          <a:lstStyle>
            <a:lvl1pPr algn="l">
              <a:defRPr sz="2400"/>
            </a:lvl1pPr>
          </a:lstStyle>
          <a:p>
            <a:r>
              <a:rPr lang="fr-FR"/>
              <a:t>Modifiez le style du titre</a:t>
            </a:r>
            <a:endParaRPr lang="en-US" dirty="0"/>
          </a:p>
        </p:txBody>
      </p:sp>
      <p:sp>
        <p:nvSpPr>
          <p:cNvPr id="12" name="Text Placeholder 3"/>
          <p:cNvSpPr>
            <a:spLocks noGrp="1"/>
          </p:cNvSpPr>
          <p:nvPr>
            <p:ph type="body" sz="half" idx="13"/>
          </p:nvPr>
        </p:nvSpPr>
        <p:spPr>
          <a:xfrm>
            <a:off x="977899" y="2524168"/>
            <a:ext cx="7194552" cy="333332"/>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4" name="Text Placeholder 3"/>
          <p:cNvSpPr>
            <a:spLocks noGrp="1"/>
          </p:cNvSpPr>
          <p:nvPr>
            <p:ph type="body" sz="half" idx="2"/>
          </p:nvPr>
        </p:nvSpPr>
        <p:spPr>
          <a:xfrm>
            <a:off x="768351" y="2969897"/>
            <a:ext cx="7613650" cy="509903"/>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48A87A34-81AB-432B-8DAE-1953F412C126}" type="datetimeFigureOut">
              <a:rPr lang="en-US" smtClean="0"/>
              <a:t>9/8/2026</a:t>
            </a:fld>
            <a:endParaRPr lang="en-US" dirty="0"/>
          </a:p>
        </p:txBody>
      </p:sp>
      <p:sp>
        <p:nvSpPr>
          <p:cNvPr id="6" name="Footer Placeholder 5"/>
          <p:cNvSpPr>
            <a:spLocks noGrp="1"/>
          </p:cNvSpPr>
          <p:nvPr>
            <p:ph type="ftr" sz="quarter" idx="11"/>
          </p:nvPr>
        </p:nvSpPr>
        <p:spPr>
          <a:xfrm>
            <a:off x="514350" y="284956"/>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
        <p:nvSpPr>
          <p:cNvPr id="9" name="TextBox 8"/>
          <p:cNvSpPr txBox="1"/>
          <p:nvPr/>
        </p:nvSpPr>
        <p:spPr>
          <a:xfrm>
            <a:off x="357188" y="70008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8238173" y="202596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64342789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71" y="843526"/>
            <a:ext cx="7609640" cy="1883876"/>
          </a:xfrm>
        </p:spPr>
        <p:txBody>
          <a:bodyPr anchor="b"/>
          <a:lstStyle>
            <a:lvl1pPr algn="l">
              <a:defRPr sz="2400"/>
            </a:lvl1pPr>
          </a:lstStyle>
          <a:p>
            <a:r>
              <a:rPr lang="fr-FR"/>
              <a:t>Modifiez le style du titre</a:t>
            </a:r>
            <a:endParaRPr lang="en-US" dirty="0"/>
          </a:p>
        </p:txBody>
      </p:sp>
      <p:sp>
        <p:nvSpPr>
          <p:cNvPr id="4" name="Text Placeholder 3"/>
          <p:cNvSpPr>
            <a:spLocks noGrp="1"/>
          </p:cNvSpPr>
          <p:nvPr>
            <p:ph type="body" sz="half" idx="2"/>
          </p:nvPr>
        </p:nvSpPr>
        <p:spPr>
          <a:xfrm>
            <a:off x="768350" y="2736237"/>
            <a:ext cx="7608491" cy="74991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860839" y="284163"/>
            <a:ext cx="2183130" cy="273844"/>
          </a:xfrm>
        </p:spPr>
        <p:txBody>
          <a:bodyPr/>
          <a:lstStyle>
            <a:lvl1pPr algn="r">
              <a:defRPr/>
            </a:lvl1pPr>
          </a:lstStyle>
          <a:p>
            <a:fld id="{48A87A34-81AB-432B-8DAE-1953F412C126}" type="datetimeFigureOut">
              <a:rPr lang="en-US" smtClean="0"/>
              <a:t>9/8/2026</a:t>
            </a:fld>
            <a:endParaRPr lang="en-US" dirty="0"/>
          </a:p>
        </p:txBody>
      </p:sp>
      <p:sp>
        <p:nvSpPr>
          <p:cNvPr id="6" name="Footer Placeholder 5"/>
          <p:cNvSpPr>
            <a:spLocks noGrp="1"/>
          </p:cNvSpPr>
          <p:nvPr>
            <p:ph type="ftr" sz="quarter" idx="11"/>
          </p:nvPr>
        </p:nvSpPr>
        <p:spPr>
          <a:xfrm>
            <a:off x="514350" y="284163"/>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0547749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171701" y="571500"/>
            <a:ext cx="6457949" cy="977900"/>
          </a:xfrm>
        </p:spPr>
        <p:txBody>
          <a:bodyPr/>
          <a:lstStyle/>
          <a:p>
            <a:r>
              <a:rPr lang="fr-FR"/>
              <a:t>Modifiez le style du titre</a:t>
            </a:r>
            <a:endParaRPr lang="en-US" dirty="0"/>
          </a:p>
        </p:txBody>
      </p:sp>
      <p:sp>
        <p:nvSpPr>
          <p:cNvPr id="7" name="Text Placeholder 2"/>
          <p:cNvSpPr>
            <a:spLocks noGrp="1"/>
          </p:cNvSpPr>
          <p:nvPr>
            <p:ph type="body" idx="1"/>
          </p:nvPr>
        </p:nvSpPr>
        <p:spPr>
          <a:xfrm>
            <a:off x="514350" y="1651560"/>
            <a:ext cx="2592324" cy="462990"/>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8" name="Text Placeholder 3"/>
          <p:cNvSpPr>
            <a:spLocks noGrp="1"/>
          </p:cNvSpPr>
          <p:nvPr>
            <p:ph type="body" sz="half" idx="15"/>
          </p:nvPr>
        </p:nvSpPr>
        <p:spPr>
          <a:xfrm>
            <a:off x="514349"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9" name="Text Placeholder 4"/>
          <p:cNvSpPr>
            <a:spLocks noGrp="1"/>
          </p:cNvSpPr>
          <p:nvPr>
            <p:ph type="body" sz="quarter" idx="3"/>
          </p:nvPr>
        </p:nvSpPr>
        <p:spPr>
          <a:xfrm>
            <a:off x="3276600" y="165099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0" name="Text Placeholder 3"/>
          <p:cNvSpPr>
            <a:spLocks noGrp="1"/>
          </p:cNvSpPr>
          <p:nvPr>
            <p:ph type="body" sz="half" idx="16"/>
          </p:nvPr>
        </p:nvSpPr>
        <p:spPr>
          <a:xfrm>
            <a:off x="3275144" y="2178050"/>
            <a:ext cx="2592324" cy="24859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11" name="Text Placeholder 4"/>
          <p:cNvSpPr>
            <a:spLocks noGrp="1"/>
          </p:cNvSpPr>
          <p:nvPr>
            <p:ph type="body" sz="quarter" idx="13"/>
          </p:nvPr>
        </p:nvSpPr>
        <p:spPr>
          <a:xfrm>
            <a:off x="6038850" y="164464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2" name="Text Placeholder 3"/>
          <p:cNvSpPr>
            <a:spLocks noGrp="1"/>
          </p:cNvSpPr>
          <p:nvPr>
            <p:ph type="body" sz="half" idx="17"/>
          </p:nvPr>
        </p:nvSpPr>
        <p:spPr>
          <a:xfrm>
            <a:off x="6038851"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91472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171701" y="571500"/>
            <a:ext cx="6457949" cy="971550"/>
          </a:xfrm>
        </p:spPr>
        <p:txBody>
          <a:bodyPr/>
          <a:lstStyle/>
          <a:p>
            <a:r>
              <a:rPr lang="fr-FR"/>
              <a:t>Modifiez le style du titre</a:t>
            </a:r>
            <a:endParaRPr lang="en-US" dirty="0"/>
          </a:p>
        </p:txBody>
      </p:sp>
      <p:sp>
        <p:nvSpPr>
          <p:cNvPr id="19" name="Text Placeholder 2"/>
          <p:cNvSpPr>
            <a:spLocks noGrp="1"/>
          </p:cNvSpPr>
          <p:nvPr>
            <p:ph type="body" idx="1"/>
          </p:nvPr>
        </p:nvSpPr>
        <p:spPr>
          <a:xfrm>
            <a:off x="516463" y="3143250"/>
            <a:ext cx="2588687"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516463" y="1771650"/>
            <a:ext cx="2588687"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516463" y="3655323"/>
            <a:ext cx="2588687"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2" name="Text Placeholder 4"/>
          <p:cNvSpPr>
            <a:spLocks noGrp="1"/>
          </p:cNvSpPr>
          <p:nvPr>
            <p:ph type="body" sz="quarter" idx="3"/>
          </p:nvPr>
        </p:nvSpPr>
        <p:spPr>
          <a:xfrm>
            <a:off x="3280698" y="3143250"/>
            <a:ext cx="2586701"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3280697" y="1771650"/>
            <a:ext cx="2586702"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3280699" y="3655323"/>
            <a:ext cx="2586701"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5" name="Text Placeholder 4"/>
          <p:cNvSpPr>
            <a:spLocks noGrp="1"/>
          </p:cNvSpPr>
          <p:nvPr>
            <p:ph type="body" sz="quarter" idx="13"/>
          </p:nvPr>
        </p:nvSpPr>
        <p:spPr>
          <a:xfrm>
            <a:off x="6037299" y="3143250"/>
            <a:ext cx="2592352"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6037391" y="1771650"/>
            <a:ext cx="2585909"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6037299" y="3655321"/>
            <a:ext cx="2589334"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53751720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514350" y="1645920"/>
            <a:ext cx="8115300" cy="301809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168033207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Vertical Title 1"/>
          <p:cNvSpPr>
            <a:spLocks noGrp="1"/>
          </p:cNvSpPr>
          <p:nvPr>
            <p:ph type="title" orient="vert"/>
          </p:nvPr>
        </p:nvSpPr>
        <p:spPr>
          <a:xfrm>
            <a:off x="7086600" y="558800"/>
            <a:ext cx="1543050" cy="2927350"/>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768350" y="558800"/>
            <a:ext cx="6153151" cy="29273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5860839" y="284956"/>
            <a:ext cx="2183130" cy="273844"/>
          </a:xfrm>
        </p:spPr>
        <p:txBody>
          <a:bodyPr/>
          <a:lstStyle>
            <a:lvl1pPr algn="r">
              <a:defRPr/>
            </a:lvl1pPr>
          </a:lstStyle>
          <a:p>
            <a:fld id="{48A87A34-81AB-432B-8DAE-1953F412C126}" type="datetimeFigureOut">
              <a:rPr lang="en-US" smtClean="0"/>
              <a:pPr/>
              <a:t>9/8/2026</a:t>
            </a:fld>
            <a:endParaRPr lang="en-US" dirty="0"/>
          </a:p>
        </p:txBody>
      </p:sp>
      <p:sp>
        <p:nvSpPr>
          <p:cNvPr id="5" name="Footer Placeholder 4"/>
          <p:cNvSpPr>
            <a:spLocks noGrp="1"/>
          </p:cNvSpPr>
          <p:nvPr>
            <p:ph type="ftr" sz="quarter" idx="11"/>
          </p:nvPr>
        </p:nvSpPr>
        <p:spPr>
          <a:xfrm>
            <a:off x="514350" y="285750"/>
            <a:ext cx="5243619" cy="273844"/>
          </a:xfrm>
        </p:spPr>
        <p:txBody>
          <a:bodyPr/>
          <a:lstStyle/>
          <a:p>
            <a:endParaRPr lang="en-US" dirty="0"/>
          </a:p>
        </p:txBody>
      </p:sp>
      <p:sp>
        <p:nvSpPr>
          <p:cNvPr id="6" name="Slide Number Placeholder 5"/>
          <p:cNvSpPr>
            <a:spLocks noGrp="1"/>
          </p:cNvSpPr>
          <p:nvPr>
            <p:ph type="sldNum" sz="quarter" idx="12"/>
          </p:nvPr>
        </p:nvSpPr>
        <p:spPr>
          <a:xfrm>
            <a:off x="8146839" y="285750"/>
            <a:ext cx="482811" cy="273844"/>
          </a:xfrm>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4682959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534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73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573280"/>
            <a:ext cx="6457950" cy="969771"/>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14350" y="1645920"/>
            <a:ext cx="8115300" cy="301809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446520" y="4767263"/>
            <a:ext cx="218313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48A87A34-81AB-432B-8DAE-1953F412C126}" type="datetimeFigureOut">
              <a:rPr lang="en-US" smtClean="0"/>
              <a:pPr/>
              <a:t>9/8/2026</a:t>
            </a:fld>
            <a:endParaRPr lang="en-US" dirty="0"/>
          </a:p>
        </p:txBody>
      </p:sp>
      <p:sp>
        <p:nvSpPr>
          <p:cNvPr id="5" name="Footer Placeholder 4"/>
          <p:cNvSpPr>
            <a:spLocks noGrp="1"/>
          </p:cNvSpPr>
          <p:nvPr>
            <p:ph type="ftr" sz="quarter" idx="3"/>
          </p:nvPr>
        </p:nvSpPr>
        <p:spPr>
          <a:xfrm>
            <a:off x="514350" y="4766884"/>
            <a:ext cx="5829300" cy="273844"/>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72250" y="285750"/>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822060167"/>
      </p:ext>
    </p:extLst>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Lst>
  <p:hf sldNum="0" hdr="0" ftr="0" dt="0"/>
  <p:txStyles>
    <p:titleStyle>
      <a:lvl1pPr algn="r" defTabSz="685800" rtl="0" eaLnBrk="1" latinLnBrk="0" hangingPunct="1">
        <a:lnSpc>
          <a:spcPct val="90000"/>
        </a:lnSpc>
        <a:spcBef>
          <a:spcPct val="0"/>
        </a:spcBef>
        <a:buNone/>
        <a:defRPr sz="3000" kern="1200" cap="all" baseline="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hyperlink" Target="https://www.youtube.com/watch?v=meFcz_DZKdE" TargetMode="External"/></Relationships>
</file>

<file path=ppt/slides/_rels/slide3.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23.xml"/><Relationship Id="rId18" Type="http://schemas.openxmlformats.org/officeDocument/2006/relationships/slide" Target="slide28.xml"/><Relationship Id="rId3" Type="http://schemas.openxmlformats.org/officeDocument/2006/relationships/slide" Target="slide2.xml"/><Relationship Id="rId21" Type="http://schemas.openxmlformats.org/officeDocument/2006/relationships/image" Target="../media/image3.png"/><Relationship Id="rId7" Type="http://schemas.openxmlformats.org/officeDocument/2006/relationships/slide" Target="slide7.xml"/><Relationship Id="rId12" Type="http://schemas.openxmlformats.org/officeDocument/2006/relationships/slide" Target="slide13.xml"/><Relationship Id="rId17" Type="http://schemas.openxmlformats.org/officeDocument/2006/relationships/slide" Target="slide26.xml"/><Relationship Id="rId2" Type="http://schemas.openxmlformats.org/officeDocument/2006/relationships/notesSlide" Target="../notesSlides/notesSlide3.xml"/><Relationship Id="rId16" Type="http://schemas.openxmlformats.org/officeDocument/2006/relationships/slide" Target="slide33.xml"/><Relationship Id="rId20" Type="http://schemas.openxmlformats.org/officeDocument/2006/relationships/slide" Target="slide30.xml"/><Relationship Id="rId1" Type="http://schemas.openxmlformats.org/officeDocument/2006/relationships/slideLayout" Target="../slideLayouts/slideLayout18.xml"/><Relationship Id="rId6" Type="http://schemas.openxmlformats.org/officeDocument/2006/relationships/slide" Target="slide6.xml"/><Relationship Id="rId11" Type="http://schemas.openxmlformats.org/officeDocument/2006/relationships/slide" Target="slide12.xml"/><Relationship Id="rId5" Type="http://schemas.openxmlformats.org/officeDocument/2006/relationships/slide" Target="slide5.xml"/><Relationship Id="rId15" Type="http://schemas.openxmlformats.org/officeDocument/2006/relationships/slide" Target="slide25.xml"/><Relationship Id="rId23" Type="http://schemas.openxmlformats.org/officeDocument/2006/relationships/slide" Target="slide31.xml"/><Relationship Id="rId10" Type="http://schemas.openxmlformats.org/officeDocument/2006/relationships/slide" Target="slide11.xml"/><Relationship Id="rId19" Type="http://schemas.openxmlformats.org/officeDocument/2006/relationships/slide" Target="slide29.xml"/><Relationship Id="rId4" Type="http://schemas.openxmlformats.org/officeDocument/2006/relationships/slide" Target="slide4.xml"/><Relationship Id="rId9" Type="http://schemas.openxmlformats.org/officeDocument/2006/relationships/slide" Target="slide10.xml"/><Relationship Id="rId14" Type="http://schemas.openxmlformats.org/officeDocument/2006/relationships/slide" Target="slide24.xml"/><Relationship Id="rId22" Type="http://schemas.openxmlformats.org/officeDocument/2006/relationships/slide" Target="slide27.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hyperlink" Target="https://www.youtube.com/watch?v=kREWBrQWQZo" TargetMode="Externa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3.png"/><Relationship Id="rId4" Type="http://schemas.openxmlformats.org/officeDocument/2006/relationships/hyperlink" Target="https://www.youtube.com/watch?v=KUUP9UVLq_w" TargetMode="External"/></Relationships>
</file>

<file path=ppt/slides/_rels/slide1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5.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9.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1.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hyperlink" Target="https://www.youtube.com/watch?v=VT-7aAid1iA" TargetMode="External"/><Relationship Id="rId2" Type="http://schemas.openxmlformats.org/officeDocument/2006/relationships/notesSlide" Target="../notesSlides/notesSlide23.xml"/><Relationship Id="rId1" Type="http://schemas.openxmlformats.org/officeDocument/2006/relationships/slideLayout" Target="../slideLayouts/slideLayout18.xml"/><Relationship Id="rId6" Type="http://schemas.openxmlformats.org/officeDocument/2006/relationships/slide" Target="slide3.xml"/><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8.xml"/><Relationship Id="rId5" Type="http://schemas.openxmlformats.org/officeDocument/2006/relationships/hyperlink" Target="https://www.dailymotion.com/video/x7mzzn4" TargetMode="External"/><Relationship Id="rId4" Type="http://schemas.openxmlformats.org/officeDocument/2006/relationships/slide" Target="slide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2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2217420"/>
            <a:ext cx="9144000" cy="3200400"/>
          </a:xfrm>
          <a:prstGeom prst="ellipse">
            <a:avLst/>
          </a:prstGeom>
          <a:solidFill>
            <a:srgbClr val="F7E1E1"/>
          </a:solidFill>
          <a:ln w="12700">
            <a:solidFill>
              <a:srgbClr val="C7D0DC"/>
            </a:solidFill>
            <a:prstDash val="solid"/>
          </a:ln>
        </p:spPr>
        <p:txBody>
          <a:bodyPr/>
          <a:lstStyle/>
          <a:p>
            <a:endParaRPr lang="fr-FR"/>
          </a:p>
        </p:txBody>
      </p:sp>
      <p:sp>
        <p:nvSpPr>
          <p:cNvPr id="3" name="Shape 1"/>
          <p:cNvSpPr/>
          <p:nvPr/>
        </p:nvSpPr>
        <p:spPr>
          <a:xfrm>
            <a:off x="548640" y="2446020"/>
            <a:ext cx="8046720" cy="2834640"/>
          </a:xfrm>
          <a:prstGeom prst="ellipse">
            <a:avLst/>
          </a:prstGeom>
          <a:solidFill>
            <a:srgbClr val="F7E1E1"/>
          </a:solidFill>
          <a:ln w="12700">
            <a:solidFill>
              <a:srgbClr val="C7D0DC"/>
            </a:solidFill>
            <a:prstDash val="solid"/>
          </a:ln>
        </p:spPr>
        <p:txBody>
          <a:bodyPr/>
          <a:lstStyle/>
          <a:p>
            <a:endParaRPr lang="fr-FR"/>
          </a:p>
        </p:txBody>
      </p:sp>
      <p:sp>
        <p:nvSpPr>
          <p:cNvPr id="4" name="Shape 2"/>
          <p:cNvSpPr/>
          <p:nvPr/>
        </p:nvSpPr>
        <p:spPr>
          <a:xfrm>
            <a:off x="1097280" y="2674620"/>
            <a:ext cx="6949440" cy="2468880"/>
          </a:xfrm>
          <a:prstGeom prst="ellipse">
            <a:avLst/>
          </a:prstGeom>
          <a:solidFill>
            <a:srgbClr val="F7E1E1"/>
          </a:solidFill>
          <a:ln w="12700">
            <a:solidFill>
              <a:srgbClr val="C7D0DC"/>
            </a:solidFill>
            <a:prstDash val="solid"/>
          </a:ln>
        </p:spPr>
        <p:txBody>
          <a:bodyPr/>
          <a:lstStyle/>
          <a:p>
            <a:endParaRPr lang="fr-FR"/>
          </a:p>
        </p:txBody>
      </p:sp>
      <p:sp>
        <p:nvSpPr>
          <p:cNvPr id="5" name="Shape 3"/>
          <p:cNvSpPr/>
          <p:nvPr/>
        </p:nvSpPr>
        <p:spPr>
          <a:xfrm>
            <a:off x="1645920" y="2903220"/>
            <a:ext cx="5852160" cy="2103120"/>
          </a:xfrm>
          <a:prstGeom prst="ellipse">
            <a:avLst/>
          </a:prstGeom>
          <a:solidFill>
            <a:srgbClr val="F7E1E1"/>
          </a:solidFill>
          <a:ln w="12700">
            <a:solidFill>
              <a:srgbClr val="C7D0DC"/>
            </a:solidFill>
            <a:prstDash val="solid"/>
          </a:ln>
        </p:spPr>
        <p:txBody>
          <a:bodyPr/>
          <a:lstStyle/>
          <a:p>
            <a:endParaRPr lang="fr-FR"/>
          </a:p>
        </p:txBody>
      </p:sp>
      <p:sp>
        <p:nvSpPr>
          <p:cNvPr id="6" name="Shape 4"/>
          <p:cNvSpPr/>
          <p:nvPr/>
        </p:nvSpPr>
        <p:spPr>
          <a:xfrm>
            <a:off x="2194560" y="3131820"/>
            <a:ext cx="4754880" cy="1737360"/>
          </a:xfrm>
          <a:prstGeom prst="ellipse">
            <a:avLst/>
          </a:prstGeom>
          <a:solidFill>
            <a:srgbClr val="F7E1E1"/>
          </a:solidFill>
          <a:ln w="12700">
            <a:solidFill>
              <a:srgbClr val="C7D0DC"/>
            </a:solidFill>
            <a:prstDash val="solid"/>
          </a:ln>
        </p:spPr>
        <p:txBody>
          <a:bodyPr/>
          <a:lstStyle/>
          <a:p>
            <a:endParaRPr lang="fr-FR"/>
          </a:p>
        </p:txBody>
      </p:sp>
      <p:sp>
        <p:nvSpPr>
          <p:cNvPr id="7" name="Shape 5"/>
          <p:cNvSpPr/>
          <p:nvPr/>
        </p:nvSpPr>
        <p:spPr>
          <a:xfrm>
            <a:off x="0" y="0"/>
            <a:ext cx="9144000" cy="54864"/>
          </a:xfrm>
          <a:prstGeom prst="rect">
            <a:avLst/>
          </a:prstGeom>
          <a:solidFill>
            <a:srgbClr val="C2544A"/>
          </a:solidFill>
          <a:ln w="12700">
            <a:solidFill>
              <a:srgbClr val="C2544A"/>
            </a:solidFill>
            <a:prstDash val="solid"/>
          </a:ln>
        </p:spPr>
        <p:txBody>
          <a:bodyPr/>
          <a:lstStyle/>
          <a:p>
            <a:endParaRPr lang="fr-FR"/>
          </a:p>
        </p:txBody>
      </p:sp>
      <p:sp>
        <p:nvSpPr>
          <p:cNvPr id="8" name="Text 6"/>
          <p:cNvSpPr/>
          <p:nvPr/>
        </p:nvSpPr>
        <p:spPr>
          <a:xfrm>
            <a:off x="0" y="365760"/>
            <a:ext cx="9144000" cy="1691640"/>
          </a:xfrm>
          <a:prstGeom prst="rect">
            <a:avLst/>
          </a:prstGeom>
          <a:noFill/>
          <a:ln>
            <a:noFill/>
          </a:ln>
          <a:effectLst>
            <a:outerShdw blurRad="120000" dist="200000" dir="5400000" algn="ctr" rotWithShape="0">
              <a:srgbClr val="C0392B">
                <a:alpha val="60000"/>
              </a:srgbClr>
            </a:outerShdw>
          </a:effectLst>
          <a:scene3d>
            <a:camera prst="perspectiveFront">
              <a:rot lat="0" lon="0" rev="0"/>
            </a:camera>
            <a:lightRig rig="threePt" dir="t">
              <a:rot lat="0" lon="0" rev="1200000"/>
            </a:lightRig>
          </a:scene3d>
          <a:sp3d extrusionH="100000" contourW="25400">
            <a:extrusionClr>
              <a:srgbClr val="8B0000"/>
            </a:extrusionClr>
            <a:contourClr>
              <a:srgbClr val="FF3300"/>
            </a:contourClr>
          </a:sp3d>
        </p:spPr>
        <p:txBody>
          <a:bodyPr wrap="square" lIns="0" tIns="0" rIns="0" bIns="0" rtlCol="0" anchor="ctr"/>
          <a:lstStyle/>
          <a:p>
            <a:pPr marL="0" indent="0" algn="ctr">
              <a:buNone/>
            </a:pPr>
            <a:r>
              <a:rPr lang="en-US" sz="10000" b="1" kern="0" spc="600" dirty="0">
                <a:solidFill>
                  <a:srgbClr val="1E293B"/>
                </a:solidFill>
                <a:latin typeface="Arial Black" pitchFamily="34" charset="0"/>
                <a:ea typeface="Arial Black" pitchFamily="34" charset="-122"/>
                <a:cs typeface="Arial Black" pitchFamily="34" charset="-120"/>
              </a:rPr>
              <a:t>PHISHING</a:t>
            </a:r>
            <a:endParaRPr lang="en-US" sz="10000" dirty="0"/>
          </a:p>
        </p:txBody>
      </p:sp>
      <p:sp>
        <p:nvSpPr>
          <p:cNvPr id="9" name="Shape 7"/>
          <p:cNvSpPr/>
          <p:nvPr/>
        </p:nvSpPr>
        <p:spPr>
          <a:xfrm>
            <a:off x="1371600" y="2487168"/>
            <a:ext cx="6400800" cy="64008"/>
          </a:xfrm>
          <a:prstGeom prst="rect">
            <a:avLst/>
          </a:prstGeom>
          <a:solidFill>
            <a:srgbClr val="C2544A"/>
          </a:solidFill>
          <a:ln w="12700">
            <a:solidFill>
              <a:srgbClr val="C2544A"/>
            </a:solidFill>
            <a:prstDash val="solid"/>
          </a:ln>
        </p:spPr>
        <p:txBody>
          <a:bodyPr/>
          <a:lstStyle/>
          <a:p>
            <a:endParaRPr lang="fr-FR"/>
          </a:p>
        </p:txBody>
      </p:sp>
      <p:sp>
        <p:nvSpPr>
          <p:cNvPr id="10" name="Text 8"/>
          <p:cNvSpPr/>
          <p:nvPr/>
        </p:nvSpPr>
        <p:spPr>
          <a:xfrm>
            <a:off x="0" y="2633472"/>
            <a:ext cx="9144000" cy="548640"/>
          </a:xfrm>
          <a:prstGeom prst="rect">
            <a:avLst/>
          </a:prstGeom>
          <a:noFill/>
          <a:ln/>
        </p:spPr>
        <p:txBody>
          <a:bodyPr wrap="square" lIns="0" tIns="0" rIns="0" bIns="0" rtlCol="0" anchor="ctr"/>
          <a:lstStyle/>
          <a:p>
            <a:pPr marL="0" indent="0" algn="ctr">
              <a:buNone/>
            </a:pPr>
            <a:r>
              <a:rPr lang="en-US" sz="2200" b="1" kern="0" spc="400" dirty="0">
                <a:solidFill>
                  <a:srgbClr val="382F2F"/>
                </a:solidFill>
                <a:latin typeface="Arial Black" pitchFamily="34" charset="0"/>
                <a:ea typeface="Arial Black" pitchFamily="34" charset="-122"/>
                <a:cs typeface="Arial Black" pitchFamily="34" charset="-120"/>
              </a:rPr>
              <a:t>RECONNAÎTRE  &amp;  SE PROTÉGER</a:t>
            </a:r>
            <a:endParaRPr lang="en-US" sz="2200" dirty="0"/>
          </a:p>
        </p:txBody>
      </p:sp>
      <p:sp>
        <p:nvSpPr>
          <p:cNvPr id="11" name="Shape 9"/>
          <p:cNvSpPr/>
          <p:nvPr/>
        </p:nvSpPr>
        <p:spPr>
          <a:xfrm>
            <a:off x="0" y="4160520"/>
            <a:ext cx="9144000" cy="982980"/>
          </a:xfrm>
          <a:prstGeom prst="rect">
            <a:avLst/>
          </a:prstGeom>
          <a:solidFill>
            <a:srgbClr val="F7F7F7"/>
          </a:solidFill>
          <a:ln w="12700">
            <a:solidFill>
              <a:srgbClr val="C7D0DC"/>
            </a:solidFill>
            <a:prstDash val="solid"/>
          </a:ln>
        </p:spPr>
        <p:txBody>
          <a:bodyPr/>
          <a:lstStyle/>
          <a:p>
            <a:endParaRPr lang="fr-FR"/>
          </a:p>
        </p:txBody>
      </p:sp>
      <p:sp>
        <p:nvSpPr>
          <p:cNvPr id="12" name="Shape 10"/>
          <p:cNvSpPr/>
          <p:nvPr/>
        </p:nvSpPr>
        <p:spPr>
          <a:xfrm>
            <a:off x="0" y="4160520"/>
            <a:ext cx="9144000" cy="36576"/>
          </a:xfrm>
          <a:prstGeom prst="rect">
            <a:avLst/>
          </a:prstGeom>
          <a:solidFill>
            <a:srgbClr val="F7F7F7"/>
          </a:solidFill>
          <a:ln w="12700">
            <a:solidFill>
              <a:srgbClr val="333333"/>
            </a:solidFill>
            <a:prstDash val="solid"/>
          </a:ln>
        </p:spPr>
        <p:txBody>
          <a:bodyPr/>
          <a:lstStyle/>
          <a:p>
            <a:endParaRPr lang="fr-FR"/>
          </a:p>
        </p:txBody>
      </p:sp>
      <p:sp>
        <p:nvSpPr>
          <p:cNvPr id="13" name="Text 11"/>
          <p:cNvSpPr/>
          <p:nvPr/>
        </p:nvSpPr>
        <p:spPr>
          <a:xfrm>
            <a:off x="914400" y="4279392"/>
            <a:ext cx="137160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2285400" y="4279392"/>
            <a:ext cx="2286000" cy="384048"/>
          </a:xfrm>
          <a:prstGeom prst="rect">
            <a:avLst/>
          </a:prstGeom>
          <a:noFill/>
          <a:ln/>
        </p:spPr>
        <p:txBody>
          <a:bodyPr wrap="square" lIns="0" tIns="0" rIns="0" bIns="0" rtlCol="0" anchor="ctr"/>
          <a:lstStyle/>
          <a:p>
            <a:pPr marL="0" indent="0">
              <a:buNone/>
            </a:pPr>
            <a:r>
              <a:rPr lang="en-US" sz="1400" b="1" dirty="0">
                <a:solidFill>
                  <a:srgbClr val="1E293B"/>
                </a:solidFill>
                <a:latin typeface="Arial Black" pitchFamily="34" charset="0"/>
                <a:ea typeface="Arial Black" pitchFamily="34" charset="-122"/>
                <a:cs typeface="Arial Black" pitchFamily="34" charset="-120"/>
              </a:rPr>
              <a:t>Tout public</a:t>
            </a:r>
            <a:endParaRPr lang="en-US" sz="1400" dirty="0"/>
          </a:p>
        </p:txBody>
      </p:sp>
      <p:sp>
        <p:nvSpPr>
          <p:cNvPr id="15" name="Text 13"/>
          <p:cNvSpPr/>
          <p:nvPr/>
        </p:nvSpPr>
        <p:spPr>
          <a:xfrm>
            <a:off x="2285400" y="4645152"/>
            <a:ext cx="2286000" cy="274320"/>
          </a:xfrm>
          <a:prstGeom prst="rect">
            <a:avLst/>
          </a:prstGeom>
          <a:noFill/>
          <a:ln/>
        </p:spPr>
        <p:txBody>
          <a:bodyPr wrap="square" lIns="0" tIns="0" rIns="0" bIns="0" rtlCol="0" anchor="ctr"/>
          <a:lstStyle/>
          <a:p>
            <a:pPr marL="0" indent="0">
              <a:buNone/>
            </a:pPr>
            <a:r>
              <a:rPr lang="en-US" sz="1000" dirty="0">
                <a:solidFill>
                  <a:srgbClr val="777777"/>
                </a:solidFill>
                <a:latin typeface="Calibri" pitchFamily="34" charset="0"/>
                <a:ea typeface="Calibri" pitchFamily="34" charset="-122"/>
                <a:cs typeface="Calibri" pitchFamily="34" charset="-120"/>
              </a:rPr>
              <a:t>6 à 8 participants</a:t>
            </a:r>
            <a:endParaRPr lang="en-US" sz="1000" dirty="0"/>
          </a:p>
        </p:txBody>
      </p:sp>
      <p:sp>
        <p:nvSpPr>
          <p:cNvPr id="16" name="Text 14"/>
          <p:cNvSpPr/>
          <p:nvPr/>
        </p:nvSpPr>
        <p:spPr>
          <a:xfrm>
            <a:off x="3566160" y="4279392"/>
            <a:ext cx="137160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5028600" y="4279392"/>
            <a:ext cx="2286000" cy="384048"/>
          </a:xfrm>
          <a:prstGeom prst="rect">
            <a:avLst/>
          </a:prstGeom>
          <a:noFill/>
          <a:ln/>
        </p:spPr>
        <p:txBody>
          <a:bodyPr wrap="square" lIns="0" tIns="0" rIns="0" bIns="0" rtlCol="0" anchor="ctr"/>
          <a:lstStyle/>
          <a:p>
            <a:pPr marL="0" indent="0">
              <a:buNone/>
            </a:pPr>
            <a:r>
              <a:rPr lang="en-US" sz="1400" b="1" dirty="0">
                <a:solidFill>
                  <a:srgbClr val="1E293B"/>
                </a:solidFill>
                <a:latin typeface="Arial Black" pitchFamily="34" charset="0"/>
                <a:ea typeface="Arial Black" pitchFamily="34" charset="-122"/>
                <a:cs typeface="Arial Black" pitchFamily="34" charset="-120"/>
              </a:rPr>
              <a:t>1h30</a:t>
            </a:r>
            <a:endParaRPr lang="en-US" sz="1400" dirty="0"/>
          </a:p>
        </p:txBody>
      </p:sp>
      <p:sp>
        <p:nvSpPr>
          <p:cNvPr id="18" name="Text 16"/>
          <p:cNvSpPr/>
          <p:nvPr/>
        </p:nvSpPr>
        <p:spPr>
          <a:xfrm>
            <a:off x="5028600" y="4645152"/>
            <a:ext cx="2286000" cy="274320"/>
          </a:xfrm>
          <a:prstGeom prst="rect">
            <a:avLst/>
          </a:prstGeom>
          <a:noFill/>
          <a:ln/>
        </p:spPr>
        <p:txBody>
          <a:bodyPr wrap="square" lIns="0" tIns="0" rIns="0" bIns="0" rtlCol="0" anchor="ctr"/>
          <a:lstStyle/>
          <a:p>
            <a:pPr marL="0" indent="0">
              <a:buNone/>
            </a:pPr>
            <a:r>
              <a:rPr lang="en-US" sz="1000" dirty="0">
                <a:solidFill>
                  <a:srgbClr val="777777"/>
                </a:solidFill>
                <a:latin typeface="Calibri" pitchFamily="34" charset="0"/>
                <a:ea typeface="Calibri" pitchFamily="34" charset="-122"/>
                <a:cs typeface="Calibri" pitchFamily="34" charset="-120"/>
              </a:rPr>
              <a:t>Atelier médiation numérique</a:t>
            </a:r>
            <a:endParaRPr lang="en-US" sz="1000" dirty="0"/>
          </a:p>
        </p:txBody>
      </p:sp>
      <p:sp>
        <p:nvSpPr>
          <p:cNvPr id="19" name="Text 17"/>
          <p:cNvSpPr/>
          <p:nvPr/>
        </p:nvSpPr>
        <p:spPr>
          <a:xfrm>
            <a:off x="6217920" y="4279392"/>
            <a:ext cx="137160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0" name="Text 18"/>
          <p:cNvSpPr/>
          <p:nvPr/>
        </p:nvSpPr>
        <p:spPr>
          <a:xfrm>
            <a:off x="7680360" y="4279392"/>
            <a:ext cx="2286000" cy="384048"/>
          </a:xfrm>
          <a:prstGeom prst="rect">
            <a:avLst/>
          </a:prstGeom>
          <a:noFill/>
          <a:ln/>
        </p:spPr>
        <p:txBody>
          <a:bodyPr wrap="square" lIns="0" tIns="0" rIns="0" bIns="0" rtlCol="0" anchor="ctr"/>
          <a:lstStyle/>
          <a:p>
            <a:pPr marL="0" indent="0">
              <a:buNone/>
            </a:pPr>
            <a:r>
              <a:rPr lang="en-US" sz="1400" b="1" dirty="0">
                <a:solidFill>
                  <a:srgbClr val="1E293B"/>
                </a:solidFill>
                <a:latin typeface="Arial Black" pitchFamily="34" charset="0"/>
                <a:ea typeface="Arial Black" pitchFamily="34" charset="-122"/>
                <a:cs typeface="Arial Black" pitchFamily="34" charset="-120"/>
              </a:rPr>
              <a:t>Guéret</a:t>
            </a:r>
            <a:endParaRPr lang="en-US" sz="1400" dirty="0"/>
          </a:p>
        </p:txBody>
      </p:sp>
      <p:sp>
        <p:nvSpPr>
          <p:cNvPr id="21" name="Text 19"/>
          <p:cNvSpPr/>
          <p:nvPr/>
        </p:nvSpPr>
        <p:spPr>
          <a:xfrm>
            <a:off x="7680360" y="4645152"/>
            <a:ext cx="2286000" cy="274320"/>
          </a:xfrm>
          <a:prstGeom prst="rect">
            <a:avLst/>
          </a:prstGeom>
          <a:noFill/>
          <a:ln/>
        </p:spPr>
        <p:txBody>
          <a:bodyPr wrap="square" lIns="0" tIns="0" rIns="0" bIns="0" rtlCol="0" anchor="ctr"/>
          <a:lstStyle/>
          <a:p>
            <a:pPr marL="0" indent="0">
              <a:buNone/>
            </a:pPr>
            <a:r>
              <a:rPr lang="en-US" sz="1000" dirty="0">
                <a:solidFill>
                  <a:srgbClr val="777777"/>
                </a:solidFill>
                <a:latin typeface="Calibri" pitchFamily="34" charset="0"/>
                <a:ea typeface="Calibri" pitchFamily="34" charset="-122"/>
                <a:cs typeface="Calibri" pitchFamily="34" charset="-120"/>
              </a:rPr>
              <a:t>Formation MN — 2026</a:t>
            </a:r>
            <a:endParaRPr lang="en-US" sz="1000" dirty="0"/>
          </a:p>
        </p:txBody>
      </p:sp>
      <p:sp>
        <p:nvSpPr>
          <p:cNvPr id="22" name="Shape 20"/>
          <p:cNvSpPr/>
          <p:nvPr/>
        </p:nvSpPr>
        <p:spPr>
          <a:xfrm>
            <a:off x="3383280" y="3337560"/>
            <a:ext cx="2377440" cy="566928"/>
          </a:xfrm>
          <a:prstGeom prst="rect">
            <a:avLst/>
          </a:prstGeom>
          <a:solidFill>
            <a:srgbClr val="C2544A"/>
          </a:solidFill>
          <a:ln w="12700">
            <a:solidFill>
              <a:srgbClr val="C2544A"/>
            </a:solidFill>
            <a:prstDash val="solid"/>
          </a:ln>
        </p:spPr>
        <p:txBody>
          <a:bodyPr/>
          <a:lstStyle/>
          <a:p>
            <a:endParaRPr lang="fr-FR"/>
          </a:p>
        </p:txBody>
      </p:sp>
      <p:sp>
        <p:nvSpPr>
          <p:cNvPr id="23" name="Text 21">
            <a:hlinkClick r:id="rId3" action="ppaction://hlinksldjump"/>
          </p:cNvPr>
          <p:cNvSpPr/>
          <p:nvPr/>
        </p:nvSpPr>
        <p:spPr>
          <a:xfrm>
            <a:off x="3383280" y="3337560"/>
            <a:ext cx="2377440" cy="566928"/>
          </a:xfrm>
          <a:prstGeom prst="rect">
            <a:avLst/>
          </a:prstGeom>
          <a:noFill/>
          <a:ln/>
        </p:spPr>
        <p:txBody>
          <a:bodyPr wrap="square" lIns="0" tIns="0" rIns="0" bIns="0" rtlCol="0" anchor="ctr"/>
          <a:lstStyle/>
          <a:p>
            <a:pPr marL="0" indent="0" algn="ctr">
              <a:buNone/>
            </a:pPr>
            <a:r>
              <a:rPr lang="en-US" sz="1300" b="1" u="sng" dirty="0">
                <a:solidFill>
                  <a:srgbClr val="FFFFFF"/>
                </a:solidFill>
                <a:latin typeface="Arial Black" pitchFamily="34" charset="0"/>
                <a:ea typeface="Arial Black" pitchFamily="34" charset="-122"/>
                <a:cs typeface="Arial Black" pitchFamily="34" charset="-120"/>
                <a:hlinkClick r:id="rId3" action="ppaction://hlinksldjump">
                  <a:extLst>
                    <a:ext uri="{A12FA001-AC4F-418D-AE19-62706E023703}">
                      <ahyp:hlinkClr xmlns:ahyp="http://schemas.microsoft.com/office/drawing/2018/hyperlinkcolor" val="tx"/>
                    </a:ext>
                  </a:extLst>
                </a:hlinkClick>
              </a:rPr>
              <a:t>▶  DÉMARRER L'ATELIER</a:t>
            </a:r>
            <a:endParaRPr lang="en-US" sz="1300" dirty="0"/>
          </a:p>
        </p:txBody>
      </p:sp>
      <p:sp>
        <p:nvSpPr>
          <p:cNvPr id="24" name="Shape 22"/>
          <p:cNvSpPr/>
          <p:nvPr/>
        </p:nvSpPr>
        <p:spPr>
          <a:xfrm>
            <a:off x="164592" y="3566160"/>
            <a:ext cx="3017520" cy="566928"/>
          </a:xfrm>
          <a:prstGeom prst="rect">
            <a:avLst/>
          </a:prstGeom>
          <a:solidFill>
            <a:srgbClr val="F7F7F7"/>
          </a:solidFill>
          <a:ln w="15240">
            <a:solidFill>
              <a:srgbClr val="C2544A"/>
            </a:solidFill>
            <a:prstDash val="solid"/>
          </a:ln>
        </p:spPr>
        <p:txBody>
          <a:bodyPr/>
          <a:lstStyle/>
          <a:p>
            <a:endParaRPr lang="fr-FR"/>
          </a:p>
        </p:txBody>
      </p:sp>
      <p:sp>
        <p:nvSpPr>
          <p:cNvPr id="25" name="Shape 23"/>
          <p:cNvSpPr/>
          <p:nvPr/>
        </p:nvSpPr>
        <p:spPr>
          <a:xfrm>
            <a:off x="164592" y="3566160"/>
            <a:ext cx="3017520" cy="73152"/>
          </a:xfrm>
          <a:prstGeom prst="rect">
            <a:avLst/>
          </a:prstGeom>
          <a:solidFill>
            <a:srgbClr val="C2544A"/>
          </a:solidFill>
          <a:ln w="12700">
            <a:solidFill>
              <a:srgbClr val="C2544A"/>
            </a:solidFill>
            <a:prstDash val="solid"/>
          </a:ln>
        </p:spPr>
        <p:txBody>
          <a:bodyPr/>
          <a:lstStyle/>
          <a:p>
            <a:endParaRPr lang="fr-FR"/>
          </a:p>
        </p:txBody>
      </p:sp>
      <p:sp>
        <p:nvSpPr>
          <p:cNvPr id="26" name="Text 24"/>
          <p:cNvSpPr/>
          <p:nvPr/>
        </p:nvSpPr>
        <p:spPr>
          <a:xfrm>
            <a:off x="201168" y="3639312"/>
            <a:ext cx="2944368" cy="237744"/>
          </a:xfrm>
          <a:prstGeom prst="rect">
            <a:avLst/>
          </a:prstGeom>
          <a:noFill/>
          <a:ln/>
        </p:spPr>
        <p:txBody>
          <a:bodyPr wrap="square" lIns="0" tIns="0" rIns="0" bIns="0" rtlCol="0" anchor="ctr"/>
          <a:lstStyle/>
          <a:p>
            <a:pPr marL="0" indent="0">
              <a:buNone/>
            </a:pPr>
            <a:r>
              <a:rPr lang="en-US" sz="1200" b="1" dirty="0">
                <a:solidFill>
                  <a:srgbClr val="1E293B"/>
                </a:solidFill>
                <a:latin typeface="Arial Black" pitchFamily="34" charset="0"/>
                <a:ea typeface="Arial Black" pitchFamily="34" charset="-122"/>
                <a:cs typeface="Arial Black" pitchFamily="34" charset="-120"/>
              </a:rPr>
              <a:t>✦  Par Cédric WALTENER</a:t>
            </a:r>
            <a:endParaRPr lang="en-US" sz="1200" dirty="0"/>
          </a:p>
        </p:txBody>
      </p:sp>
      <p:sp>
        <p:nvSpPr>
          <p:cNvPr id="27" name="Text 25"/>
          <p:cNvSpPr/>
          <p:nvPr/>
        </p:nvSpPr>
        <p:spPr>
          <a:xfrm>
            <a:off x="201168" y="4773168"/>
            <a:ext cx="2944368" cy="274320"/>
          </a:xfrm>
          <a:prstGeom prst="rect">
            <a:avLst/>
          </a:prstGeom>
          <a:noFill/>
          <a:ln/>
        </p:spPr>
        <p:txBody>
          <a:bodyPr wrap="square" lIns="0" tIns="0" rIns="0" bIns="0" rtlCol="0" anchor="ctr"/>
          <a:lstStyle/>
          <a:p>
            <a:pPr marL="0" indent="0">
              <a:buNone/>
            </a:pPr>
            <a:r>
              <a:rPr lang="en-US" sz="1000" dirty="0">
                <a:solidFill>
                  <a:srgbClr val="382F2F"/>
                </a:solidFill>
                <a:latin typeface="Calibri" pitchFamily="34" charset="0"/>
                <a:ea typeface="Calibri" pitchFamily="34" charset="-122"/>
                <a:cs typeface="Calibri" pitchFamily="34" charset="-120"/>
              </a:rPr>
              <a:t>Médiateur Numérique — 2026</a:t>
            </a:r>
            <a:endParaRPr lang="en-US" sz="1000" dirty="0"/>
          </a:p>
        </p:txBody>
      </p:sp>
      <p:pic>
        <p:nvPicPr>
          <p:cNvPr id="28" name="Picture 27" descr="logo_sig.png"/>
          <p:cNvPicPr>
            <a:picLocks noChangeAspect="1"/>
          </p:cNvPicPr>
          <p:nvPr/>
        </p:nvPicPr>
        <p:blipFill>
          <a:blip r:embed="rId4"/>
          <a:stretch>
            <a:fillRect/>
          </a:stretch>
        </p:blipFill>
        <p:spPr>
          <a:xfrm>
            <a:off x="8595360" y="420624"/>
            <a:ext cx="413491" cy="413491"/>
          </a:xfrm>
          <a:prstGeom prst="rect">
            <a:avLst/>
          </a:prstGeom>
        </p:spPr>
      </p:pic>
      <p:sp>
        <p:nvSpPr>
          <p:cNvPr id="800" name="soustitre_arnaques"/>
          <p:cNvSpPr/>
          <p:nvPr/>
        </p:nvSpPr>
        <p:spPr>
          <a:xfrm>
            <a:off x="0" y="2090000"/>
            <a:ext cx="9144000" cy="380000"/>
          </a:xfrm>
          <a:prstGeom prst="rect">
            <a:avLst/>
          </a:prstGeom>
        </p:spPr>
        <p:txBody>
          <a:bodyPr anchor="ctr"/>
          <a:lstStyle/>
          <a:p>
            <a:pPr algn="ctr"/>
            <a:r>
              <a:rPr lang="fr-FR" sz="2400" b="1" dirty="0">
                <a:solidFill>
                  <a:srgbClr val="1C7293"/>
                </a:solidFill>
              </a:rPr>
              <a:t>&amp; les arnaques en ligne</a:t>
            </a:r>
          </a:p>
        </p:txBody>
      </p:sp>
      <p:sp>
        <p:nvSpPr>
          <p:cNvPr id="29" name="ZoneTexte 28">
            <a:extLst>
              <a:ext uri="{FF2B5EF4-FFF2-40B4-BE49-F238E27FC236}">
                <a16:creationId xmlns:a16="http://schemas.microsoft.com/office/drawing/2014/main" id="{F22E4AE1-D571-3E95-3D18-74A73849D80F}"/>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0"/>
                      </p:stCondLst>
                      <p:childTnLst>
                        <p:par>
                          <p:cTn id="4" presetID="10" presetClass="entr" presetSubtype="0" fill="hold" grpId="0" nodeType="clickEffect">
                            <p:stCondLst>
                              <p:cond delay="0"/>
                            </p:stCondLst>
                            <p:childTnLst>
                              <p:set>
                                <p:cBhvr>
                                  <p:cTn id="5" dur="1" fill="hold"/>
                                  <p:tgtEl>
                                    <p:spTgt spid="8">
                                      <p:bg/>
                                    </p:spTgt>
                                  </p:tgtEl>
                                  <p:attrNameLst>
                                    <p:attrName>style.visibility</p:attrName>
                                  </p:attrNameLst>
                                </p:cBhvr>
                                <p:to>
                                  <p:strVal val="visible"/>
                                </p:to>
                              </p:set>
                              <p:animEffect transition="in" filter="fade">
                                <p:cBhvr>
                                  <p:cTn id="6" dur="700" fill="hold"/>
                                  <p:tgtEl>
                                    <p:spTgt spid="8">
                                      <p:bg/>
                                    </p:spTgt>
                                  </p:tgtEl>
                                </p:cBhvr>
                              </p:animEffect>
                            </p:childTnLst>
                          </p:cTn>
                        </p:par>
                        <p:par>
                          <p:cTn id="7" presetID="21" presetClass="entr" presetSubtype="4" fill="hold" grpId="0" nodeType="withEffect">
                            <p:stCondLst>
                              <p:cond delay="0"/>
                            </p:stCondLst>
                            <p:childTnLst>
                              <p:set>
                                <p:cBhvr>
                                  <p:cTn id="8" dur="1" fill="hold"/>
                                  <p:tgtEl>
                                    <p:spTgt spid="9">
                                      <p:bg/>
                                    </p:spTgt>
                                  </p:tgtEl>
                                  <p:attrNameLst>
                                    <p:attrName>style.visibility</p:attrName>
                                  </p:attrNameLst>
                                </p:cBhvr>
                                <p:to>
                                  <p:strVal val="visible"/>
                                </p:to>
                              </p:set>
                              <p:animEffect transition="in" filter="wipe(right)">
                                <p:cBhvr>
                                  <p:cTn id="9" dur="700" fill="hold"/>
                                  <p:tgtEl>
                                    <p:spTgt spid="9">
                                      <p:bg/>
                                    </p:spTgt>
                                  </p:tgtEl>
                                </p:cBhvr>
                              </p:animEffect>
                            </p:childTnLst>
                          </p:cTn>
                        </p:par>
                      </p:childTnLst>
                    </p:cTn>
                  </p:par>
                  <p:par>
                    <p:cTn id="10" fill="hold">
                      <p:stCondLst>
                        <p:cond delay="150"/>
                      </p:stCondLst>
                      <p:childTnLst>
                        <p:par>
                          <p:cTn id="11" presetID="10" presetClass="entr" presetSubtype="0" fill="hold" grpId="1" nodeType="withEffect">
                            <p:stCondLst>
                              <p:cond delay="0"/>
                            </p:stCondLst>
                            <p:childTnLst>
                              <p:set>
                                <p:cBhvr>
                                  <p:cTn id="12" dur="1" fill="hold"/>
                                  <p:tgtEl>
                                    <p:spTgt spid="10">
                                      <p:bg/>
                                    </p:spTgt>
                                  </p:tgtEl>
                                  <p:attrNameLst>
                                    <p:attrName>style.visibility</p:attrName>
                                  </p:attrNameLst>
                                </p:cBhvr>
                                <p:to>
                                  <p:strVal val="visible"/>
                                </p:to>
                              </p:set>
                              <p:animEffect transition="in" filter="fade">
                                <p:cBhvr>
                                  <p:cTn id="13" dur="600" fill="hold"/>
                                  <p:tgtEl>
                                    <p:spTgt spid="10">
                                      <p:bg/>
                                    </p:spTgt>
                                  </p:tgtEl>
                                </p:cBhvr>
                              </p:animEffect>
                            </p:childTnLst>
                          </p:cTn>
                        </p:par>
                      </p:childTnLst>
                    </p:cTn>
                  </p:par>
                  <p:par>
                    <p:cTn id="14" fill="hold">
                      <p:stCondLst>
                        <p:cond delay="500"/>
                      </p:stCondLst>
                      <p:childTnLst>
                        <p:par>
                          <p:cTn id="15" presetID="2" presetClass="entr" presetSubtype="8" fill="hold" grpId="2" nodeType="withEffect">
                            <p:stCondLst>
                              <p:cond delay="0"/>
                            </p:stCondLst>
                            <p:childTnLst>
                              <p:set>
                                <p:cBhvr>
                                  <p:cTn id="16" dur="1" fill="hold"/>
                                  <p:tgtEl>
                                    <p:spTgt spid="11">
                                      <p:bg/>
                                    </p:spTgt>
                                  </p:tgtEl>
                                  <p:attrNameLst>
                                    <p:attrName>style.visibility</p:attrName>
                                  </p:attrNameLst>
                                </p:cBhvr>
                                <p:to>
                                  <p:strVal val="visible"/>
                                </p:to>
                              </p:set>
                              <p:animEffect transition="in" filter="fly">
                                <p:cBhvr>
                                  <p:cTn id="17" dur="450" fill="hold"/>
                                  <p:tgtEl>
                                    <p:spTgt spid="11">
                                      <p:bg/>
                                    </p:spTgt>
                                  </p:tgtEl>
                                </p:cBhvr>
                              </p:animEffect>
                            </p:childTnLst>
                          </p:cTn>
                        </p:par>
                      </p:childTnLst>
                    </p:cTn>
                  </p:par>
                  <p:par>
                    <p:cTn id="18" fill="hold">
                      <p:stCondLst>
                        <p:cond delay="850"/>
                      </p:stCondLst>
                      <p:childTnLst>
                        <p:par>
                          <p:cTn id="19" presetID="10" presetClass="entr" presetSubtype="0" fill="hold" grpId="3" nodeType="withEffect">
                            <p:stCondLst>
                              <p:cond delay="0"/>
                            </p:stCondLst>
                            <p:childTnLst>
                              <p:set>
                                <p:cBhvr>
                                  <p:cTn id="20" dur="1" fill="hold"/>
                                  <p:tgtEl>
                                    <p:spTgt spid="23">
                                      <p:bg/>
                                    </p:spTgt>
                                  </p:tgtEl>
                                  <p:attrNameLst>
                                    <p:attrName>style.visibility</p:attrName>
                                  </p:attrNameLst>
                                </p:cBhvr>
                                <p:to>
                                  <p:strVal val="visible"/>
                                </p:to>
                              </p:set>
                              <p:animEffect transition="in" filter="fade">
                                <p:cBhvr>
                                  <p:cTn id="21" dur="500" fill="hold"/>
                                  <p:tgtEl>
                                    <p:spTgt spid="23">
                                      <p:bg/>
                                    </p:spTgt>
                                  </p:tgtEl>
                                </p:cBhvr>
                              </p:animEffect>
                            </p:childTnLst>
                          </p:cTn>
                        </p:par>
                        <p:par>
                          <p:cTn id="22" presetID="10" presetClass="entr" presetSubtype="0" fill="hold" grpId="3" nodeType="withEffect">
                            <p:stCondLst>
                              <p:cond delay="0"/>
                            </p:stCondLst>
                            <p:childTnLst>
                              <p:set>
                                <p:cBhvr>
                                  <p:cTn id="23" dur="1" fill="hold"/>
                                  <p:tgtEl>
                                    <p:spTgt spid="26">
                                      <p:bg/>
                                    </p:spTgt>
                                  </p:tgtEl>
                                  <p:attrNameLst>
                                    <p:attrName>style.visibility</p:attrName>
                                  </p:attrNameLst>
                                </p:cBhvr>
                                <p:to>
                                  <p:strVal val="visible"/>
                                </p:to>
                              </p:set>
                              <p:animEffect transition="in" filter="fade">
                                <p:cBhvr>
                                  <p:cTn id="24" dur="500" fill="hold"/>
                                  <p:tgtEl>
                                    <p:spTgt spid="26">
                                      <p:bg/>
                                    </p:spTgt>
                                  </p:tgtEl>
                                </p:cBhvr>
                              </p:animEffect>
                            </p:childTnLst>
                          </p:cTn>
                        </p:par>
                      </p:childTnLst>
                    </p:cTn>
                  </p:par>
                </p:childTnLst>
              </p:cTn>
            </p:seq>
          </p:childTnLst>
        </p:cTn>
      </p:par>
    </p:tnLst>
    <p:bldLst>
      <p:bldP spid="8" grpId="0" uiExpand="1" build="allAtOnce"/>
      <p:bldP spid="9" grpId="0" uiExpand="1" build="allAtOnce" animBg="1"/>
      <p:bldP spid="10" grpId="1" uiExpand="1" build="allAtOnce" animBg="1"/>
      <p:bldP spid="11" grpId="2" uiExpand="1" build="allAtOnce" animBg="1"/>
      <p:bldP spid="23" grpId="3" uiExpand="1" build="allAtOnce" animBg="1"/>
      <p:bldP spid="26" grpId="3" uiExpand="1" build="allAtOnce"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6A085"/>
          </a:solidFill>
          <a:ln w="12700">
            <a:solidFill>
              <a:srgbClr val="16A085"/>
            </a:solidFill>
            <a:prstDash val="solid"/>
          </a:ln>
        </p:spPr>
        <p:txBody>
          <a:bodyPr/>
          <a:lstStyle/>
          <a:p>
            <a:endParaRPr lang="fr-FR"/>
          </a:p>
        </p:txBody>
      </p:sp>
      <p:sp>
        <p:nvSpPr>
          <p:cNvPr id="3" name="Text 1"/>
          <p:cNvSpPr/>
          <p:nvPr/>
        </p:nvSpPr>
        <p:spPr>
          <a:xfrm>
            <a:off x="562708" y="45720"/>
            <a:ext cx="8215532" cy="658368"/>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Bienvenue — Cet atelier est fait pour vous !</a:t>
            </a:r>
            <a:endParaRPr lang="en-US" sz="2200" dirty="0"/>
          </a:p>
        </p:txBody>
      </p:sp>
      <p:sp>
        <p:nvSpPr>
          <p:cNvPr id="4" name="Shape 2"/>
          <p:cNvSpPr/>
          <p:nvPr/>
        </p:nvSpPr>
        <p:spPr>
          <a:xfrm>
            <a:off x="274320" y="868680"/>
            <a:ext cx="8595360" cy="777240"/>
          </a:xfrm>
          <a:prstGeom prst="rect">
            <a:avLst/>
          </a:prstGeom>
          <a:solidFill>
            <a:srgbClr val="E1E4F7"/>
          </a:solidFill>
          <a:ln w="12700">
            <a:solidFill>
              <a:srgbClr val="C7D0DC"/>
            </a:solidFill>
            <a:prstDash val="solid"/>
          </a:ln>
        </p:spPr>
        <p:txBody>
          <a:bodyPr/>
          <a:lstStyle/>
          <a:p>
            <a:endParaRPr lang="fr-FR"/>
          </a:p>
        </p:txBody>
      </p:sp>
      <p:sp>
        <p:nvSpPr>
          <p:cNvPr id="5" name="Text 3"/>
          <p:cNvSpPr/>
          <p:nvPr/>
        </p:nvSpPr>
        <p:spPr>
          <a:xfrm>
            <a:off x="502920" y="914400"/>
            <a:ext cx="8229600" cy="68580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Quel que soit votre niveau avec le numérique, vous êtes exactement au bon endroit.
</a:t>
            </a:r>
            <a:r>
              <a:rPr lang="en-US" sz="1300" dirty="0">
                <a:solidFill>
                  <a:srgbClr val="2C3338"/>
                </a:solidFill>
                <a:latin typeface="Calibri" pitchFamily="34" charset="0"/>
                <a:ea typeface="Calibri" pitchFamily="34" charset="-122"/>
                <a:cs typeface="Calibri" pitchFamily="34" charset="-120"/>
              </a:rPr>
              <a:t>Ici, on apprend ensemble — sans jugement, à votre rythme.</a:t>
            </a:r>
            <a:endParaRPr lang="en-US" sz="1600" dirty="0"/>
          </a:p>
        </p:txBody>
      </p:sp>
      <p:sp>
        <p:nvSpPr>
          <p:cNvPr id="6" name="Shape 4"/>
          <p:cNvSpPr/>
          <p:nvPr/>
        </p:nvSpPr>
        <p:spPr>
          <a:xfrm>
            <a:off x="274320" y="1920240"/>
            <a:ext cx="274320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7" name="Shape 5"/>
          <p:cNvSpPr/>
          <p:nvPr/>
        </p:nvSpPr>
        <p:spPr>
          <a:xfrm>
            <a:off x="274320" y="1920240"/>
            <a:ext cx="2743200" cy="91440"/>
          </a:xfrm>
          <a:prstGeom prst="rect">
            <a:avLst/>
          </a:prstGeom>
          <a:solidFill>
            <a:srgbClr val="16A085"/>
          </a:solidFill>
          <a:ln w="12700">
            <a:solidFill>
              <a:srgbClr val="16A085"/>
            </a:solidFill>
            <a:prstDash val="solid"/>
          </a:ln>
        </p:spPr>
        <p:txBody>
          <a:bodyPr/>
          <a:lstStyle/>
          <a:p>
            <a:endParaRPr lang="fr-FR"/>
          </a:p>
        </p:txBody>
      </p:sp>
      <p:sp>
        <p:nvSpPr>
          <p:cNvPr id="8" name="Text 6"/>
          <p:cNvSpPr/>
          <p:nvPr/>
        </p:nvSpPr>
        <p:spPr>
          <a:xfrm>
            <a:off x="274320" y="2029968"/>
            <a:ext cx="274320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384048" y="2651760"/>
            <a:ext cx="2523744" cy="38404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Posez toutes vos questions</a:t>
            </a:r>
            <a:endParaRPr lang="en-US" sz="1300" dirty="0"/>
          </a:p>
        </p:txBody>
      </p:sp>
      <p:sp>
        <p:nvSpPr>
          <p:cNvPr id="10" name="Text 8"/>
          <p:cNvSpPr/>
          <p:nvPr/>
        </p:nvSpPr>
        <p:spPr>
          <a:xfrm>
            <a:off x="384048" y="3090672"/>
            <a:ext cx="2523744"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Il n'y a pas de question bête. Si vous vous posez la question, d'autres aussi.</a:t>
            </a:r>
            <a:endParaRPr lang="en-US" sz="1100" dirty="0"/>
          </a:p>
        </p:txBody>
      </p:sp>
      <p:sp>
        <p:nvSpPr>
          <p:cNvPr id="11" name="Shape 9"/>
          <p:cNvSpPr/>
          <p:nvPr/>
        </p:nvSpPr>
        <p:spPr>
          <a:xfrm>
            <a:off x="3154680" y="1920240"/>
            <a:ext cx="274320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2" name="Shape 10"/>
          <p:cNvSpPr/>
          <p:nvPr/>
        </p:nvSpPr>
        <p:spPr>
          <a:xfrm>
            <a:off x="3154680" y="1920240"/>
            <a:ext cx="2743200" cy="91440"/>
          </a:xfrm>
          <a:prstGeom prst="rect">
            <a:avLst/>
          </a:prstGeom>
          <a:solidFill>
            <a:srgbClr val="16A085"/>
          </a:solidFill>
          <a:ln w="12700">
            <a:solidFill>
              <a:srgbClr val="16A085"/>
            </a:solidFill>
            <a:prstDash val="solid"/>
          </a:ln>
        </p:spPr>
        <p:txBody>
          <a:bodyPr/>
          <a:lstStyle/>
          <a:p>
            <a:endParaRPr lang="fr-FR"/>
          </a:p>
        </p:txBody>
      </p:sp>
      <p:sp>
        <p:nvSpPr>
          <p:cNvPr id="13" name="Text 11"/>
          <p:cNvSpPr/>
          <p:nvPr/>
        </p:nvSpPr>
        <p:spPr>
          <a:xfrm>
            <a:off x="3154680" y="2029968"/>
            <a:ext cx="274320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4" name="Text 12"/>
          <p:cNvSpPr/>
          <p:nvPr/>
        </p:nvSpPr>
        <p:spPr>
          <a:xfrm>
            <a:off x="3264408" y="2651760"/>
            <a:ext cx="2523744" cy="38404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Vous n'êtes pas seul(e)</a:t>
            </a:r>
            <a:endParaRPr lang="en-US" sz="1300" dirty="0"/>
          </a:p>
        </p:txBody>
      </p:sp>
      <p:sp>
        <p:nvSpPr>
          <p:cNvPr id="15" name="Text 13"/>
          <p:cNvSpPr/>
          <p:nvPr/>
        </p:nvSpPr>
        <p:spPr>
          <a:xfrm>
            <a:off x="3264408" y="3090672"/>
            <a:ext cx="2523744"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Se faire piéger, ça arrive à tout le monde. Des ingénieurs, des médecins ont été victimes.</a:t>
            </a:r>
            <a:endParaRPr lang="en-US" sz="1100" dirty="0"/>
          </a:p>
        </p:txBody>
      </p:sp>
      <p:sp>
        <p:nvSpPr>
          <p:cNvPr id="16" name="Shape 14"/>
          <p:cNvSpPr/>
          <p:nvPr/>
        </p:nvSpPr>
        <p:spPr>
          <a:xfrm>
            <a:off x="6035040" y="1920240"/>
            <a:ext cx="274320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7" name="Shape 15"/>
          <p:cNvSpPr/>
          <p:nvPr/>
        </p:nvSpPr>
        <p:spPr>
          <a:xfrm>
            <a:off x="6035040" y="1920240"/>
            <a:ext cx="2743200" cy="91440"/>
          </a:xfrm>
          <a:prstGeom prst="rect">
            <a:avLst/>
          </a:prstGeom>
          <a:solidFill>
            <a:srgbClr val="16A085"/>
          </a:solidFill>
          <a:ln w="12700">
            <a:solidFill>
              <a:srgbClr val="16A085"/>
            </a:solidFill>
            <a:prstDash val="solid"/>
          </a:ln>
        </p:spPr>
        <p:txBody>
          <a:bodyPr/>
          <a:lstStyle/>
          <a:p>
            <a:endParaRPr lang="fr-FR"/>
          </a:p>
        </p:txBody>
      </p:sp>
      <p:sp>
        <p:nvSpPr>
          <p:cNvPr id="18" name="Text 16"/>
          <p:cNvSpPr/>
          <p:nvPr/>
        </p:nvSpPr>
        <p:spPr>
          <a:xfrm>
            <a:off x="6035040" y="2029968"/>
            <a:ext cx="274320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9" name="Text 17"/>
          <p:cNvSpPr/>
          <p:nvPr/>
        </p:nvSpPr>
        <p:spPr>
          <a:xfrm>
            <a:off x="6144768" y="2651760"/>
            <a:ext cx="2523744" cy="38404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Pas de jugement</a:t>
            </a:r>
            <a:endParaRPr lang="en-US" sz="1300" dirty="0"/>
          </a:p>
        </p:txBody>
      </p:sp>
      <p:sp>
        <p:nvSpPr>
          <p:cNvPr id="20" name="Text 18"/>
          <p:cNvSpPr/>
          <p:nvPr/>
        </p:nvSpPr>
        <p:spPr>
          <a:xfrm>
            <a:off x="6144768" y="3090672"/>
            <a:ext cx="2523744"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Si vous avez déjà cliqué sur un lien suspect, ce n'est pas une honte. On apprend ensemble.</a:t>
            </a:r>
            <a:endParaRPr lang="en-US" sz="1100" dirty="0"/>
          </a:p>
        </p:txBody>
      </p:sp>
      <p:sp>
        <p:nvSpPr>
          <p:cNvPr id="24" name="Text 2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25" name="Shape 2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26" name="Text 2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sp>
        <p:nvSpPr>
          <p:cNvPr id="950" name="ChiffreChoc"/>
          <p:cNvSpPr>
            <a:spLocks noGrp="1"/>
          </p:cNvSpPr>
          <p:nvPr/>
        </p:nvSpPr>
        <p:spPr>
          <a:xfrm>
            <a:off x="137160" y="4466320"/>
            <a:ext cx="5800000" cy="380000"/>
          </a:xfrm>
          <a:prstGeom prst="rect">
            <a:avLst/>
          </a:prstGeom>
          <a:solidFill>
            <a:srgbClr val="E1E1F7"/>
          </a:solidFill>
          <a:ln>
            <a:solidFill>
              <a:srgbClr val="F97316"/>
            </a:solidFill>
          </a:ln>
        </p:spPr>
        <p:txBody>
          <a:bodyPr anchor="ctr"/>
          <a:lstStyle/>
          <a:p>
            <a:pPr algn="l"/>
            <a:r>
              <a:rPr lang="fr-FR" sz="1000" b="1" dirty="0">
                <a:solidFill>
                  <a:srgbClr val="334155"/>
                </a:solidFill>
                <a:latin typeface="Calibri"/>
              </a:rPr>
              <a:t>⚡ En ce moment : </a:t>
            </a:r>
            <a:r>
              <a:rPr lang="fr-FR" sz="1000" b="0" dirty="0">
                <a:solidFill>
                  <a:srgbClr val="334155"/>
                </a:solidFill>
                <a:latin typeface="Calibri"/>
              </a:rPr>
              <a:t>3 tentatives de phishing sont envoyées chaque seconde dans le monde.</a:t>
            </a:r>
            <a:r>
              <a:rPr lang="fr-FR" sz="800" b="0" dirty="0">
                <a:solidFill>
                  <a:srgbClr val="334155"/>
                </a:solidFill>
                <a:latin typeface="Calibri"/>
              </a:rPr>
              <a:t>  (Source : Vade Secure / Proofpoint 2024)</a:t>
            </a:r>
          </a:p>
        </p:txBody>
      </p:sp>
      <p:sp>
        <p:nvSpPr>
          <p:cNvPr id="960" name="VideoBtn_2">
            <a:hlinkClick r:id="rId4"/>
          </p:cNvPr>
          <p:cNvSpPr>
            <a:spLocks noGrp="1"/>
          </p:cNvSpPr>
          <p:nvPr/>
        </p:nvSpPr>
        <p:spPr>
          <a:xfrm>
            <a:off x="6506840" y="4260288"/>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Campagne phishing 2024</a:t>
            </a:r>
          </a:p>
        </p:txBody>
      </p:sp>
      <p:pic>
        <p:nvPicPr>
          <p:cNvPr id="961" name="Picture 960" descr="logo_sig.png"/>
          <p:cNvPicPr>
            <a:picLocks noChangeAspect="1"/>
          </p:cNvPicPr>
          <p:nvPr/>
        </p:nvPicPr>
        <p:blipFill>
          <a:blip r:embed="rId5"/>
          <a:stretch>
            <a:fillRect/>
          </a:stretch>
        </p:blipFill>
        <p:spPr>
          <a:xfrm>
            <a:off x="40143" y="40143"/>
            <a:ext cx="413491" cy="413491"/>
          </a:xfrm>
          <a:prstGeom prst="rect">
            <a:avLst/>
          </a:prstGeom>
        </p:spPr>
      </p:pic>
      <p:sp>
        <p:nvSpPr>
          <p:cNvPr id="21" name="ZoneTexte 20">
            <a:extLst>
              <a:ext uri="{FF2B5EF4-FFF2-40B4-BE49-F238E27FC236}">
                <a16:creationId xmlns:a16="http://schemas.microsoft.com/office/drawing/2014/main" id="{EAE79906-5D58-CE2C-5BC9-8930D6458241}"/>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Menu">
    <p:bg>
      <p:bgPr>
        <a:solidFill>
          <a:srgbClr val="E1E8F7"/>
        </a:solidFill>
        <a:effectLst/>
      </p:bgPr>
    </p:bg>
    <p:spTree>
      <p:nvGrpSpPr>
        <p:cNvPr id="1" name=""/>
        <p:cNvGrpSpPr/>
        <p:nvPr/>
      </p:nvGrpSpPr>
      <p:grpSpPr>
        <a:xfrm>
          <a:off x="0" y="0"/>
          <a:ext cx="9144000" cy="5143500"/>
          <a:chOff x="0" y="0"/>
          <a:chExt cx="9144000" cy="5143500"/>
        </a:xfrm>
      </p:grpSpPr>
      <p:sp>
        <p:nvSpPr>
          <p:cNvPr id="100" name="Title"/>
          <p:cNvSpPr>
            <a:spLocks noGrp="1"/>
          </p:cNvSpPr>
          <p:nvPr/>
        </p:nvSpPr>
        <p:spPr>
          <a:xfrm>
            <a:off x="228600" y="180000"/>
            <a:ext cx="8686800" cy="600000"/>
          </a:xfrm>
          <a:prstGeom prst="rect">
            <a:avLst/>
          </a:prstGeom>
          <a:noFill/>
        </p:spPr>
        <p:txBody>
          <a:bodyPr anchor="ctr"/>
          <a:lstStyle/>
          <a:p>
            <a:pPr algn="ctr"/>
            <a:r>
              <a:rPr lang="fr-FR" sz="2400" b="1" dirty="0">
                <a:solidFill>
                  <a:srgbClr val="1E293B"/>
                </a:solidFill>
                <a:latin typeface="Calibri"/>
              </a:rPr>
              <a:t>PHISHING — Navigation</a:t>
            </a:r>
          </a:p>
        </p:txBody>
      </p:sp>
      <p:sp>
        <p:nvSpPr>
          <p:cNvPr id="101" name="Subtitle"/>
          <p:cNvSpPr>
            <a:spLocks noGrp="1"/>
          </p:cNvSpPr>
          <p:nvPr/>
        </p:nvSpPr>
        <p:spPr>
          <a:xfrm>
            <a:off x="228600" y="4980000"/>
            <a:ext cx="8686800" cy="130000"/>
          </a:xfrm>
          <a:prstGeom prst="rect">
            <a:avLst/>
          </a:prstGeom>
          <a:noFill/>
        </p:spPr>
        <p:txBody>
          <a:bodyPr anchor="ctr"/>
          <a:lstStyle/>
          <a:p>
            <a:pPr algn="ctr"/>
            <a:endParaRPr lang="fr-FR" sz="900" b="0" i="1" dirty="0">
              <a:solidFill>
                <a:srgbClr val="64748B"/>
              </a:solidFill>
              <a:latin typeface="Calibri"/>
            </a:endParaRPr>
          </a:p>
        </p:txBody>
      </p:sp>
      <p:sp>
        <p:nvSpPr>
          <p:cNvPr id="200" name="btn_rId3">
            <a:hlinkClick r:id="rId3" action="ppaction://hlinksldjump"/>
          </p:cNvPr>
          <p:cNvSpPr>
            <a:spLocks noGrp="1"/>
          </p:cNvSpPr>
          <p:nvPr/>
        </p:nvSpPr>
        <p:spPr>
          <a:xfrm>
            <a:off x="228600" y="792000"/>
            <a:ext cx="2743200" cy="540000"/>
          </a:xfrm>
          <a:prstGeom prst="roundRect">
            <a:avLst>
              <a:gd name="adj" fmla="val 8000"/>
            </a:avLst>
          </a:prstGeom>
          <a:solidFill>
            <a:srgbClr val="E1EBF7"/>
          </a:solidFill>
          <a:ln w="19050">
            <a:solidFill>
              <a:srgbClr val="F97316"/>
            </a:solidFill>
          </a:ln>
        </p:spPr>
        <p:txBody>
          <a:bodyPr anchor="ctr"/>
          <a:lstStyle/>
          <a:p>
            <a:pPr algn="l"/>
            <a:r>
              <a:rPr lang="fr-FR" sz="1100" b="0" dirty="0">
                <a:solidFill>
                  <a:srgbClr val="334155"/>
                </a:solidFill>
                <a:latin typeface="Calibri"/>
                <a:hlinkClick r:id="rId3" action="ppaction://hlinksldjump"/>
              </a:rPr>
              <a:t>🎬  Intro &amp; chiffres chocs</a:t>
            </a:r>
          </a:p>
        </p:txBody>
      </p:sp>
      <p:sp>
        <p:nvSpPr>
          <p:cNvPr id="201" name="btn_rId4">
            <a:hlinkClick r:id="rId4" action="ppaction://hlinksldjump"/>
          </p:cNvPr>
          <p:cNvSpPr>
            <a:spLocks noGrp="1"/>
          </p:cNvSpPr>
          <p:nvPr/>
        </p:nvSpPr>
        <p:spPr>
          <a:xfrm>
            <a:off x="228600" y="1368000"/>
            <a:ext cx="2743200" cy="540000"/>
          </a:xfrm>
          <a:prstGeom prst="roundRect">
            <a:avLst>
              <a:gd name="adj" fmla="val 8000"/>
            </a:avLst>
          </a:prstGeom>
          <a:solidFill>
            <a:srgbClr val="E1EBF7"/>
          </a:solidFill>
          <a:ln w="19050">
            <a:solidFill>
              <a:srgbClr val="F97316"/>
            </a:solidFill>
          </a:ln>
        </p:spPr>
        <p:txBody>
          <a:bodyPr anchor="ctr"/>
          <a:lstStyle/>
          <a:p>
            <a:pPr algn="l"/>
            <a:r>
              <a:rPr lang="fr-FR" sz="1100" b="0" dirty="0">
                <a:solidFill>
                  <a:srgbClr val="334155"/>
                </a:solidFill>
                <a:latin typeface="Calibri"/>
                <a:hlinkClick r:id="rId4" action="ppaction://hlinksldjump"/>
              </a:rPr>
              <a:t>📊  Chiffres clés</a:t>
            </a:r>
          </a:p>
        </p:txBody>
      </p:sp>
      <p:sp>
        <p:nvSpPr>
          <p:cNvPr id="202" name="btn_rId5">
            <a:hlinkClick r:id="rId5" action="ppaction://hlinksldjump"/>
          </p:cNvPr>
          <p:cNvSpPr>
            <a:spLocks noGrp="1"/>
          </p:cNvSpPr>
          <p:nvPr/>
        </p:nvSpPr>
        <p:spPr>
          <a:xfrm>
            <a:off x="228600" y="1944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5" action="ppaction://hlinksldjump"/>
              </a:rPr>
              <a:t>👥  Qui sont les cibles ?</a:t>
            </a:r>
          </a:p>
        </p:txBody>
      </p:sp>
      <p:sp>
        <p:nvSpPr>
          <p:cNvPr id="203" name="btn_rId6">
            <a:hlinkClick r:id="rId6" action="ppaction://hlinksldjump"/>
          </p:cNvPr>
          <p:cNvSpPr>
            <a:spLocks noGrp="1"/>
          </p:cNvSpPr>
          <p:nvPr/>
        </p:nvSpPr>
        <p:spPr>
          <a:xfrm>
            <a:off x="228600" y="2520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6" action="ppaction://hlinksldjump"/>
              </a:rPr>
              <a:t>❓  Définition du phishing</a:t>
            </a:r>
          </a:p>
        </p:txBody>
      </p:sp>
      <p:sp>
        <p:nvSpPr>
          <p:cNvPr id="204" name="btn_rId7">
            <a:hlinkClick r:id="rId7" action="ppaction://hlinksldjump"/>
          </p:cNvPr>
          <p:cNvSpPr>
            <a:spLocks noGrp="1"/>
          </p:cNvSpPr>
          <p:nvPr/>
        </p:nvSpPr>
        <p:spPr>
          <a:xfrm>
            <a:off x="228600" y="3096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7" action="ppaction://hlinksldjump"/>
              </a:rPr>
              <a:t>📱  SMS vrais vs faux</a:t>
            </a:r>
          </a:p>
        </p:txBody>
      </p:sp>
      <p:sp>
        <p:nvSpPr>
          <p:cNvPr id="205" name="btn_rId9">
            <a:hlinkClick r:id="rId8" action="ppaction://hlinksldjump"/>
          </p:cNvPr>
          <p:cNvSpPr>
            <a:spLocks noGrp="1"/>
          </p:cNvSpPr>
          <p:nvPr/>
        </p:nvSpPr>
        <p:spPr>
          <a:xfrm>
            <a:off x="228600" y="3672000"/>
            <a:ext cx="2743200" cy="540000"/>
          </a:xfrm>
          <a:prstGeom prst="roundRect">
            <a:avLst>
              <a:gd name="adj" fmla="val 8000"/>
            </a:avLst>
          </a:prstGeom>
          <a:solidFill>
            <a:srgbClr val="E1EBF7"/>
          </a:solidFill>
          <a:ln w="19050">
            <a:solidFill>
              <a:srgbClr val="C2544A"/>
            </a:solidFill>
          </a:ln>
        </p:spPr>
        <p:txBody>
          <a:bodyPr anchor="ctr"/>
          <a:lstStyle/>
          <a:p>
            <a:pPr algn="l"/>
            <a:r>
              <a:rPr lang="fr-FR" sz="1100" b="0" dirty="0">
                <a:solidFill>
                  <a:srgbClr val="334155"/>
                </a:solidFill>
                <a:latin typeface="Calibri"/>
                <a:hlinkClick r:id="rId8" action="ppaction://hlinksldjump"/>
              </a:rPr>
              <a:t>⛔  Exemples Impôts / CAF</a:t>
            </a:r>
          </a:p>
        </p:txBody>
      </p:sp>
      <p:sp>
        <p:nvSpPr>
          <p:cNvPr id="206" name="btn_rId11">
            <a:hlinkClick r:id="rId9" action="ppaction://hlinksldjump"/>
          </p:cNvPr>
          <p:cNvSpPr>
            <a:spLocks noGrp="1"/>
          </p:cNvSpPr>
          <p:nvPr/>
        </p:nvSpPr>
        <p:spPr>
          <a:xfrm>
            <a:off x="3200400" y="792000"/>
            <a:ext cx="2743200" cy="540000"/>
          </a:xfrm>
          <a:prstGeom prst="roundRect">
            <a:avLst>
              <a:gd name="adj" fmla="val 8000"/>
            </a:avLst>
          </a:prstGeom>
          <a:solidFill>
            <a:srgbClr val="E1EBF7"/>
          </a:solidFill>
          <a:ln w="19050">
            <a:solidFill>
              <a:srgbClr val="C2544A"/>
            </a:solidFill>
          </a:ln>
        </p:spPr>
        <p:txBody>
          <a:bodyPr anchor="ctr"/>
          <a:lstStyle/>
          <a:p>
            <a:pPr algn="l"/>
            <a:r>
              <a:rPr lang="fr-FR" sz="1100" b="0" dirty="0">
                <a:solidFill>
                  <a:srgbClr val="334155"/>
                </a:solidFill>
                <a:latin typeface="Calibri"/>
                <a:hlinkClick r:id="rId9" action="ppaction://hlinksldjump"/>
              </a:rPr>
              <a:t>⛔  Exemple Ameli</a:t>
            </a:r>
          </a:p>
        </p:txBody>
      </p:sp>
      <p:sp>
        <p:nvSpPr>
          <p:cNvPr id="207" name="btn_rId19">
            <a:hlinkClick r:id="rId10" action="ppaction://hlinksldjump"/>
          </p:cNvPr>
          <p:cNvSpPr>
            <a:spLocks noGrp="1"/>
          </p:cNvSpPr>
          <p:nvPr/>
        </p:nvSpPr>
        <p:spPr>
          <a:xfrm>
            <a:off x="3200400" y="1368000"/>
            <a:ext cx="2743200" cy="540000"/>
          </a:xfrm>
          <a:prstGeom prst="roundRect">
            <a:avLst>
              <a:gd name="adj" fmla="val 8000"/>
            </a:avLst>
          </a:prstGeom>
          <a:solidFill>
            <a:srgbClr val="E1EBF7"/>
          </a:solidFill>
          <a:ln w="19050">
            <a:solidFill>
              <a:srgbClr val="C2544A"/>
            </a:solidFill>
          </a:ln>
        </p:spPr>
        <p:txBody>
          <a:bodyPr anchor="ctr"/>
          <a:lstStyle/>
          <a:p>
            <a:pPr algn="l"/>
            <a:r>
              <a:rPr lang="fr-FR" sz="1100" b="0" dirty="0">
                <a:solidFill>
                  <a:srgbClr val="334155"/>
                </a:solidFill>
                <a:latin typeface="Calibri"/>
                <a:hlinkClick r:id="rId10" action="ppaction://hlinksldjump"/>
              </a:rPr>
              <a:t>📞  Vishing — faux appel</a:t>
            </a:r>
          </a:p>
        </p:txBody>
      </p:sp>
      <p:sp>
        <p:nvSpPr>
          <p:cNvPr id="208" name="btn_rId12">
            <a:hlinkClick r:id="rId11" action="ppaction://hlinksldjump"/>
          </p:cNvPr>
          <p:cNvSpPr>
            <a:spLocks noGrp="1"/>
          </p:cNvSpPr>
          <p:nvPr/>
        </p:nvSpPr>
        <p:spPr>
          <a:xfrm>
            <a:off x="3200400" y="1944000"/>
            <a:ext cx="2743200" cy="540000"/>
          </a:xfrm>
          <a:prstGeom prst="roundRect">
            <a:avLst>
              <a:gd name="adj" fmla="val 8000"/>
            </a:avLst>
          </a:prstGeom>
          <a:solidFill>
            <a:srgbClr val="E1EBF7"/>
          </a:solidFill>
          <a:ln w="19050">
            <a:solidFill>
              <a:srgbClr val="F59E0B"/>
            </a:solidFill>
          </a:ln>
        </p:spPr>
        <p:txBody>
          <a:bodyPr anchor="ctr"/>
          <a:lstStyle/>
          <a:p>
            <a:pPr algn="l"/>
            <a:r>
              <a:rPr lang="fr-FR" sz="1100" b="0" dirty="0">
                <a:solidFill>
                  <a:srgbClr val="334155"/>
                </a:solidFill>
                <a:latin typeface="Calibri"/>
                <a:hlinkClick r:id="rId11" action="ppaction://hlinksldjump"/>
              </a:rPr>
              <a:t>🚨  Les 5 signes d'alerte</a:t>
            </a:r>
          </a:p>
        </p:txBody>
      </p:sp>
      <p:sp>
        <p:nvSpPr>
          <p:cNvPr id="209" name="btn_rId10">
            <a:hlinkClick r:id="rId12" action="ppaction://hlinksldjump"/>
          </p:cNvPr>
          <p:cNvSpPr>
            <a:spLocks noGrp="1"/>
          </p:cNvSpPr>
          <p:nvPr/>
        </p:nvSpPr>
        <p:spPr>
          <a:xfrm>
            <a:off x="3200400" y="2520000"/>
            <a:ext cx="2743200" cy="540000"/>
          </a:xfrm>
          <a:prstGeom prst="roundRect">
            <a:avLst>
              <a:gd name="adj" fmla="val 8000"/>
            </a:avLst>
          </a:prstGeom>
          <a:solidFill>
            <a:srgbClr val="E1EBF7"/>
          </a:solidFill>
          <a:ln w="19050">
            <a:solidFill>
              <a:srgbClr val="A855F7"/>
            </a:solidFill>
          </a:ln>
        </p:spPr>
        <p:txBody>
          <a:bodyPr anchor="ctr"/>
          <a:lstStyle/>
          <a:p>
            <a:pPr algn="l"/>
            <a:r>
              <a:rPr lang="fr-FR" sz="1100" b="0" dirty="0">
                <a:solidFill>
                  <a:srgbClr val="334155"/>
                </a:solidFill>
                <a:latin typeface="Calibri"/>
                <a:hlinkClick r:id="rId12" action="ppaction://hlinksldjump"/>
              </a:rPr>
              <a:t>🎯  Quiz interactif</a:t>
            </a:r>
          </a:p>
        </p:txBody>
      </p:sp>
      <p:sp>
        <p:nvSpPr>
          <p:cNvPr id="210" name="btn_rId16">
            <a:hlinkClick r:id="rId13" action="ppaction://hlinksldjump"/>
          </p:cNvPr>
          <p:cNvSpPr>
            <a:spLocks noGrp="1"/>
          </p:cNvSpPr>
          <p:nvPr/>
        </p:nvSpPr>
        <p:spPr>
          <a:xfrm>
            <a:off x="3200400" y="3096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3" action="ppaction://hlinksldjump"/>
              </a:rPr>
              <a:t>🛡  Signaler &amp; que faire</a:t>
            </a:r>
          </a:p>
        </p:txBody>
      </p:sp>
      <p:sp>
        <p:nvSpPr>
          <p:cNvPr id="211" name="btn_rId17">
            <a:hlinkClick r:id="rId14" action="ppaction://hlinksldjump"/>
          </p:cNvPr>
          <p:cNvSpPr>
            <a:spLocks noGrp="1"/>
          </p:cNvSpPr>
          <p:nvPr/>
        </p:nvSpPr>
        <p:spPr>
          <a:xfrm>
            <a:off x="3200400" y="3672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4" action="ppaction://hlinksldjump"/>
              </a:rPr>
              <a:t>👴  Protéger ses proches</a:t>
            </a:r>
          </a:p>
        </p:txBody>
      </p:sp>
      <p:sp>
        <p:nvSpPr>
          <p:cNvPr id="212" name="btn_rId18">
            <a:hlinkClick r:id="rId15" action="ppaction://hlinksldjump"/>
          </p:cNvPr>
          <p:cNvSpPr>
            <a:spLocks noGrp="1"/>
          </p:cNvSpPr>
          <p:nvPr/>
        </p:nvSpPr>
        <p:spPr>
          <a:xfrm>
            <a:off x="6172200" y="792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5" action="ppaction://hlinksldjump"/>
              </a:rPr>
              <a:t>📋  Mémo récapitulatif</a:t>
            </a:r>
          </a:p>
        </p:txBody>
      </p:sp>
      <p:sp>
        <p:nvSpPr>
          <p:cNvPr id="213" name="btn_rId20">
            <a:hlinkClick r:id="rId16" action="ppaction://hlinksldjump"/>
          </p:cNvPr>
          <p:cNvSpPr>
            <a:spLocks noGrp="1"/>
          </p:cNvSpPr>
          <p:nvPr/>
        </p:nvSpPr>
        <p:spPr>
          <a:xfrm>
            <a:off x="6172200" y="4248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6" action="ppaction://hlinksldjump"/>
              </a:rPr>
              <a:t>🏁  Conclusion</a:t>
            </a:r>
          </a:p>
        </p:txBody>
      </p:sp>
      <p:sp>
        <p:nvSpPr>
          <p:cNvPr id="214" name="btn_rId21">
            <a:hlinkClick r:id="rId17" action="ppaction://hlinksldjump"/>
          </p:cNvPr>
          <p:cNvSpPr>
            <a:spLocks noGrp="1"/>
          </p:cNvSpPr>
          <p:nvPr/>
        </p:nvSpPr>
        <p:spPr>
          <a:xfrm>
            <a:off x="6172200" y="1368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17" action="ppaction://hlinksldjump"/>
              </a:rPr>
              <a:t>🔒  Cadenas ≠ site sûr</a:t>
            </a:r>
          </a:p>
        </p:txBody>
      </p:sp>
      <p:sp>
        <p:nvSpPr>
          <p:cNvPr id="215" name="btn_rId23">
            <a:hlinkClick r:id="rId18" action="ppaction://hlinksldjump"/>
          </p:cNvPr>
          <p:cNvSpPr>
            <a:spLocks noGrp="1"/>
          </p:cNvSpPr>
          <p:nvPr/>
        </p:nvSpPr>
        <p:spPr>
          <a:xfrm>
            <a:off x="6172200" y="1944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18" action="ppaction://hlinksldjump"/>
              </a:rPr>
              <a:t>💬  Arnaque WhatsApp</a:t>
            </a:r>
          </a:p>
        </p:txBody>
      </p:sp>
      <p:sp>
        <p:nvSpPr>
          <p:cNvPr id="216" name="btn_rId24">
            <a:hlinkClick r:id="rId19" action="ppaction://hlinksldjump"/>
          </p:cNvPr>
          <p:cNvSpPr>
            <a:spLocks noGrp="1"/>
          </p:cNvSpPr>
          <p:nvPr/>
        </p:nvSpPr>
        <p:spPr>
          <a:xfrm>
            <a:off x="6172200" y="2520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19" action="ppaction://hlinksldjump"/>
              </a:rPr>
              <a:t>📷  QR codes piégés</a:t>
            </a:r>
          </a:p>
        </p:txBody>
      </p:sp>
      <p:sp>
        <p:nvSpPr>
          <p:cNvPr id="217" name="btn_rId25">
            <a:hlinkClick r:id="rId20" action="ppaction://hlinksldjump"/>
          </p:cNvPr>
          <p:cNvSpPr>
            <a:spLocks noGrp="1"/>
          </p:cNvSpPr>
          <p:nvPr/>
        </p:nvSpPr>
        <p:spPr>
          <a:xfrm>
            <a:off x="6172200" y="3096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20" action="ppaction://hlinksldjump"/>
              </a:rPr>
              <a:t>🔑  Mots de passe</a:t>
            </a:r>
          </a:p>
        </p:txBody>
      </p:sp>
      <p:pic>
        <p:nvPicPr>
          <p:cNvPr id="218" name="Picture 217" descr="logo_sig.png"/>
          <p:cNvPicPr>
            <a:picLocks noChangeAspect="1"/>
          </p:cNvPicPr>
          <p:nvPr/>
        </p:nvPicPr>
        <p:blipFill>
          <a:blip r:embed="rId21"/>
          <a:stretch>
            <a:fillRect/>
          </a:stretch>
        </p:blipFill>
        <p:spPr>
          <a:xfrm>
            <a:off x="40143" y="40143"/>
            <a:ext cx="413491" cy="413491"/>
          </a:xfrm>
          <a:prstGeom prst="rect">
            <a:avLst/>
          </a:prstGeom>
        </p:spPr>
      </p:pic>
      <p:sp>
        <p:nvSpPr>
          <p:cNvPr id="950" name="btn_site_sur">
            <a:hlinkClick r:id="rId22" action="ppaction://hlinksldjump"/>
          </p:cNvPr>
          <p:cNvSpPr>
            <a:spLocks noGrp="1"/>
          </p:cNvSpPr>
          <p:nvPr/>
        </p:nvSpPr>
        <p:spPr>
          <a:xfrm>
            <a:off x="3200400" y="4248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22" action="ppaction://hlinksldjump"/>
              </a:rPr>
              <a:t>🔎  Reconnaître un site sûr</a:t>
            </a:r>
          </a:p>
        </p:txBody>
      </p:sp>
      <p:sp>
        <p:nvSpPr>
          <p:cNvPr id="990" name="btn_piratage">
            <a:hlinkClick r:id="rId23" action="ppaction://hlinksldjump"/>
          </p:cNvPr>
          <p:cNvSpPr>
            <a:spLocks noGrp="1"/>
          </p:cNvSpPr>
          <p:nvPr/>
        </p:nvSpPr>
        <p:spPr>
          <a:xfrm>
            <a:off x="6172200" y="3672000"/>
            <a:ext cx="2743200" cy="540000"/>
          </a:xfrm>
          <a:prstGeom prst="roundRect">
            <a:avLst>
              <a:gd name="adj" fmla="val 8000"/>
            </a:avLst>
          </a:prstGeom>
          <a:solidFill>
            <a:srgbClr val="E1EBF7"/>
          </a:solidFill>
          <a:ln w="19050">
            <a:solidFill>
              <a:srgbClr val="C77F0A"/>
            </a:solidFill>
          </a:ln>
        </p:spPr>
        <p:txBody>
          <a:bodyPr anchor="ctr"/>
          <a:lstStyle/>
          <a:p>
            <a:pPr algn="l"/>
            <a:r>
              <a:rPr lang="fr-FR" sz="1100" b="0" dirty="0">
                <a:solidFill>
                  <a:srgbClr val="334155"/>
                </a:solidFill>
                <a:latin typeface="Calibri"/>
                <a:hlinkClick r:id="rId23" action="ppaction://hlinksldjump"/>
              </a:rPr>
              <a:t>🛟  Et si je suis piraté ?</a:t>
            </a:r>
          </a:p>
        </p:txBody>
      </p:sp>
      <p:sp>
        <p:nvSpPr>
          <p:cNvPr id="2" name="ZoneTexte 1">
            <a:extLst>
              <a:ext uri="{FF2B5EF4-FFF2-40B4-BE49-F238E27FC236}">
                <a16:creationId xmlns:a16="http://schemas.microsoft.com/office/drawing/2014/main" id="{D2677F51-59CC-C997-EA9E-091D181AC91D}"/>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4572000" cy="2578608"/>
          </a:xfrm>
          <a:prstGeom prst="rect">
            <a:avLst/>
          </a:prstGeom>
          <a:solidFill>
            <a:srgbClr val="F7E1E1"/>
          </a:solidFill>
          <a:ln w="6350">
            <a:solidFill>
              <a:srgbClr val="C7D0DC"/>
            </a:solidFill>
            <a:prstDash val="solid"/>
          </a:ln>
        </p:spPr>
        <p:txBody>
          <a:bodyPr/>
          <a:lstStyle/>
          <a:p>
            <a:endParaRPr lang="fr-FR"/>
          </a:p>
        </p:txBody>
      </p:sp>
      <p:sp>
        <p:nvSpPr>
          <p:cNvPr id="3" name="Shape 1"/>
          <p:cNvSpPr/>
          <p:nvPr/>
        </p:nvSpPr>
        <p:spPr>
          <a:xfrm>
            <a:off x="0" y="0"/>
            <a:ext cx="4572000" cy="73152"/>
          </a:xfrm>
          <a:prstGeom prst="rect">
            <a:avLst/>
          </a:prstGeom>
          <a:solidFill>
            <a:srgbClr val="C2544A"/>
          </a:solidFill>
          <a:ln w="12700">
            <a:solidFill>
              <a:srgbClr val="C2544A"/>
            </a:solidFill>
            <a:prstDash val="solid"/>
          </a:ln>
        </p:spPr>
        <p:txBody>
          <a:bodyPr/>
          <a:lstStyle/>
          <a:p>
            <a:endParaRPr lang="fr-FR"/>
          </a:p>
        </p:txBody>
      </p:sp>
      <p:sp>
        <p:nvSpPr>
          <p:cNvPr id="4" name="Text 2"/>
          <p:cNvSpPr/>
          <p:nvPr/>
        </p:nvSpPr>
        <p:spPr>
          <a:xfrm>
            <a:off x="228600" y="201168"/>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137160" y="256032"/>
            <a:ext cx="4297680" cy="1353312"/>
          </a:xfrm>
          <a:prstGeom prst="rect">
            <a:avLst/>
          </a:prstGeom>
          <a:noFill/>
          <a:ln/>
        </p:spPr>
        <p:txBody>
          <a:bodyPr wrap="square" lIns="0" tIns="0" rIns="0" bIns="0" rtlCol="0" anchor="ctr"/>
          <a:lstStyle/>
          <a:p>
            <a:pPr marL="0" indent="0" algn="ctr">
              <a:buNone/>
            </a:pPr>
            <a:r>
              <a:rPr lang="en-US" sz="8800" b="1" dirty="0">
                <a:solidFill>
                  <a:srgbClr val="C2544A"/>
                </a:solidFill>
                <a:latin typeface="Arial Black" pitchFamily="34" charset="0"/>
                <a:ea typeface="Arial Black" pitchFamily="34" charset="-122"/>
                <a:cs typeface="Arial Black" pitchFamily="34" charset="-120"/>
              </a:rPr>
              <a:t>83%</a:t>
            </a:r>
            <a:endParaRPr lang="en-US" sz="8800" dirty="0"/>
          </a:p>
        </p:txBody>
      </p:sp>
      <p:sp>
        <p:nvSpPr>
          <p:cNvPr id="6" name="Text 4"/>
          <p:cNvSpPr/>
          <p:nvPr/>
        </p:nvSpPr>
        <p:spPr>
          <a:xfrm>
            <a:off x="182880" y="1737360"/>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des Français ont déjà reçu</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un message suspect</a:t>
            </a:r>
            <a:endParaRPr lang="en-US" sz="1300" dirty="0"/>
          </a:p>
        </p:txBody>
      </p:sp>
      <p:sp>
        <p:nvSpPr>
          <p:cNvPr id="7" name="Shape 5"/>
          <p:cNvSpPr/>
          <p:nvPr/>
        </p:nvSpPr>
        <p:spPr>
          <a:xfrm>
            <a:off x="4572000" y="0"/>
            <a:ext cx="4572000" cy="2578608"/>
          </a:xfrm>
          <a:prstGeom prst="rect">
            <a:avLst/>
          </a:prstGeom>
          <a:solidFill>
            <a:srgbClr val="F7EDE1"/>
          </a:solidFill>
          <a:ln w="6350">
            <a:solidFill>
              <a:srgbClr val="C7D0DC"/>
            </a:solidFill>
            <a:prstDash val="solid"/>
          </a:ln>
        </p:spPr>
        <p:txBody>
          <a:bodyPr/>
          <a:lstStyle/>
          <a:p>
            <a:endParaRPr lang="fr-FR"/>
          </a:p>
        </p:txBody>
      </p:sp>
      <p:sp>
        <p:nvSpPr>
          <p:cNvPr id="8" name="Shape 6"/>
          <p:cNvSpPr/>
          <p:nvPr/>
        </p:nvSpPr>
        <p:spPr>
          <a:xfrm>
            <a:off x="4572000" y="0"/>
            <a:ext cx="4572000" cy="73152"/>
          </a:xfrm>
          <a:prstGeom prst="rect">
            <a:avLst/>
          </a:prstGeom>
          <a:solidFill>
            <a:srgbClr val="E67E22"/>
          </a:solidFill>
          <a:ln w="12700">
            <a:solidFill>
              <a:srgbClr val="E67E22"/>
            </a:solidFill>
            <a:prstDash val="solid"/>
          </a:ln>
        </p:spPr>
        <p:txBody>
          <a:bodyPr/>
          <a:lstStyle/>
          <a:p>
            <a:endParaRPr lang="fr-FR"/>
          </a:p>
        </p:txBody>
      </p:sp>
      <p:sp>
        <p:nvSpPr>
          <p:cNvPr id="9" name="Text 7"/>
          <p:cNvSpPr/>
          <p:nvPr/>
        </p:nvSpPr>
        <p:spPr>
          <a:xfrm>
            <a:off x="4800600" y="201168"/>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4709160" y="256032"/>
            <a:ext cx="4297680" cy="1353312"/>
          </a:xfrm>
          <a:prstGeom prst="rect">
            <a:avLst/>
          </a:prstGeom>
          <a:noFill/>
          <a:ln/>
        </p:spPr>
        <p:txBody>
          <a:bodyPr wrap="square" lIns="0" tIns="0" rIns="0" bIns="0" rtlCol="0" anchor="ctr"/>
          <a:lstStyle/>
          <a:p>
            <a:pPr marL="0" indent="0" algn="ctr">
              <a:buNone/>
            </a:pPr>
            <a:r>
              <a:rPr lang="en-US" sz="8800" b="1" dirty="0">
                <a:solidFill>
                  <a:srgbClr val="E67E22"/>
                </a:solidFill>
                <a:latin typeface="Arial Black" pitchFamily="34" charset="0"/>
                <a:ea typeface="Arial Black" pitchFamily="34" charset="-122"/>
                <a:cs typeface="Arial Black" pitchFamily="34" charset="-120"/>
              </a:rPr>
              <a:t>1er</a:t>
            </a:r>
            <a:endParaRPr lang="en-US" sz="8800" dirty="0"/>
          </a:p>
        </p:txBody>
      </p:sp>
      <p:sp>
        <p:nvSpPr>
          <p:cNvPr id="11" name="Text 9"/>
          <p:cNvSpPr/>
          <p:nvPr/>
        </p:nvSpPr>
        <p:spPr>
          <a:xfrm>
            <a:off x="4754880" y="1737360"/>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vecteur de cyberattaque</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en France</a:t>
            </a:r>
            <a:endParaRPr lang="en-US" sz="1300" dirty="0"/>
          </a:p>
        </p:txBody>
      </p:sp>
      <p:sp>
        <p:nvSpPr>
          <p:cNvPr id="12" name="Shape 10"/>
          <p:cNvSpPr/>
          <p:nvPr/>
        </p:nvSpPr>
        <p:spPr>
          <a:xfrm>
            <a:off x="0" y="2578608"/>
            <a:ext cx="4572000" cy="2578608"/>
          </a:xfrm>
          <a:prstGeom prst="rect">
            <a:avLst/>
          </a:prstGeom>
          <a:solidFill>
            <a:srgbClr val="E6E1F7"/>
          </a:solidFill>
          <a:ln w="6350">
            <a:solidFill>
              <a:srgbClr val="C7D0DC"/>
            </a:solidFill>
            <a:prstDash val="solid"/>
          </a:ln>
        </p:spPr>
        <p:txBody>
          <a:bodyPr/>
          <a:lstStyle/>
          <a:p>
            <a:endParaRPr lang="fr-FR"/>
          </a:p>
        </p:txBody>
      </p:sp>
      <p:sp>
        <p:nvSpPr>
          <p:cNvPr id="13" name="Shape 11"/>
          <p:cNvSpPr/>
          <p:nvPr/>
        </p:nvSpPr>
        <p:spPr>
          <a:xfrm>
            <a:off x="0" y="2578608"/>
            <a:ext cx="4572000" cy="73152"/>
          </a:xfrm>
          <a:prstGeom prst="rect">
            <a:avLst/>
          </a:prstGeom>
          <a:solidFill>
            <a:srgbClr val="8E44AD"/>
          </a:solidFill>
          <a:ln w="12700">
            <a:solidFill>
              <a:srgbClr val="8E44AD"/>
            </a:solidFill>
            <a:prstDash val="solid"/>
          </a:ln>
        </p:spPr>
        <p:txBody>
          <a:bodyPr/>
          <a:lstStyle/>
          <a:p>
            <a:endParaRPr lang="fr-FR"/>
          </a:p>
        </p:txBody>
      </p:sp>
      <p:sp>
        <p:nvSpPr>
          <p:cNvPr id="14" name="Text 12"/>
          <p:cNvSpPr/>
          <p:nvPr/>
        </p:nvSpPr>
        <p:spPr>
          <a:xfrm>
            <a:off x="228600" y="2779776"/>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137160" y="2834640"/>
            <a:ext cx="4297680" cy="1353312"/>
          </a:xfrm>
          <a:prstGeom prst="rect">
            <a:avLst/>
          </a:prstGeom>
          <a:noFill/>
          <a:ln/>
        </p:spPr>
        <p:txBody>
          <a:bodyPr wrap="square" lIns="0" tIns="0" rIns="0" bIns="0" rtlCol="0" anchor="ctr"/>
          <a:lstStyle/>
          <a:p>
            <a:pPr marL="0" indent="0" algn="ctr">
              <a:buNone/>
            </a:pPr>
            <a:r>
              <a:rPr lang="en-US" sz="5800" b="1" dirty="0">
                <a:solidFill>
                  <a:srgbClr val="8E44AD"/>
                </a:solidFill>
                <a:latin typeface="Arial Black" pitchFamily="34" charset="0"/>
                <a:ea typeface="Arial Black" pitchFamily="34" charset="-122"/>
                <a:cs typeface="Arial Black" pitchFamily="34" charset="-120"/>
              </a:rPr>
              <a:t>3,5 Mds$</a:t>
            </a:r>
            <a:endParaRPr lang="en-US" sz="5800" dirty="0"/>
          </a:p>
        </p:txBody>
      </p:sp>
      <p:sp>
        <p:nvSpPr>
          <p:cNvPr id="16" name="Text 14"/>
          <p:cNvSpPr/>
          <p:nvPr/>
        </p:nvSpPr>
        <p:spPr>
          <a:xfrm>
            <a:off x="182880" y="4315968"/>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de pertes liées au phishing</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chaque année dans le monde</a:t>
            </a:r>
            <a:endParaRPr lang="en-US" sz="1300" dirty="0"/>
          </a:p>
        </p:txBody>
      </p:sp>
      <p:sp>
        <p:nvSpPr>
          <p:cNvPr id="17" name="Shape 15"/>
          <p:cNvSpPr/>
          <p:nvPr/>
        </p:nvSpPr>
        <p:spPr>
          <a:xfrm>
            <a:off x="4572000" y="2578608"/>
            <a:ext cx="4572000" cy="2578608"/>
          </a:xfrm>
          <a:prstGeom prst="rect">
            <a:avLst/>
          </a:prstGeom>
          <a:solidFill>
            <a:srgbClr val="E1E6F7"/>
          </a:solidFill>
          <a:ln w="6350">
            <a:solidFill>
              <a:srgbClr val="C7D0DC"/>
            </a:solidFill>
            <a:prstDash val="solid"/>
          </a:ln>
        </p:spPr>
        <p:txBody>
          <a:bodyPr/>
          <a:lstStyle/>
          <a:p>
            <a:endParaRPr lang="fr-FR"/>
          </a:p>
        </p:txBody>
      </p:sp>
      <p:sp>
        <p:nvSpPr>
          <p:cNvPr id="18" name="Shape 16"/>
          <p:cNvSpPr/>
          <p:nvPr/>
        </p:nvSpPr>
        <p:spPr>
          <a:xfrm>
            <a:off x="4572000" y="2578608"/>
            <a:ext cx="4572000" cy="73152"/>
          </a:xfrm>
          <a:prstGeom prst="rect">
            <a:avLst/>
          </a:prstGeom>
          <a:solidFill>
            <a:srgbClr val="2980B9"/>
          </a:solidFill>
          <a:ln w="12700">
            <a:solidFill>
              <a:srgbClr val="2980B9"/>
            </a:solidFill>
            <a:prstDash val="solid"/>
          </a:ln>
        </p:spPr>
        <p:txBody>
          <a:bodyPr/>
          <a:lstStyle/>
          <a:p>
            <a:endParaRPr lang="fr-FR"/>
          </a:p>
        </p:txBody>
      </p:sp>
      <p:sp>
        <p:nvSpPr>
          <p:cNvPr id="19" name="Text 17"/>
          <p:cNvSpPr/>
          <p:nvPr/>
        </p:nvSpPr>
        <p:spPr>
          <a:xfrm>
            <a:off x="4800600" y="2779776"/>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4709160" y="2834640"/>
            <a:ext cx="4297680" cy="1353312"/>
          </a:xfrm>
          <a:prstGeom prst="rect">
            <a:avLst/>
          </a:prstGeom>
          <a:noFill/>
          <a:ln/>
        </p:spPr>
        <p:txBody>
          <a:bodyPr wrap="square" lIns="0" tIns="0" rIns="0" bIns="0" rtlCol="0" anchor="ctr"/>
          <a:lstStyle/>
          <a:p>
            <a:pPr marL="0" indent="0" algn="ctr">
              <a:buNone/>
            </a:pPr>
            <a:r>
              <a:rPr lang="en-US" sz="8800" b="1" dirty="0">
                <a:solidFill>
                  <a:srgbClr val="2980B9"/>
                </a:solidFill>
                <a:latin typeface="Arial Black" pitchFamily="34" charset="0"/>
                <a:ea typeface="Arial Black" pitchFamily="34" charset="-122"/>
                <a:cs typeface="Arial Black" pitchFamily="34" charset="-120"/>
              </a:rPr>
              <a:t>90%</a:t>
            </a:r>
            <a:endParaRPr lang="en-US" sz="8800" dirty="0"/>
          </a:p>
        </p:txBody>
      </p:sp>
      <p:sp>
        <p:nvSpPr>
          <p:cNvPr id="21" name="Text 19"/>
          <p:cNvSpPr/>
          <p:nvPr/>
        </p:nvSpPr>
        <p:spPr>
          <a:xfrm>
            <a:off x="4754880" y="4315968"/>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des incidents cyber</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impliquent une erreur humaine</a:t>
            </a:r>
            <a:endParaRPr lang="en-US" sz="1300" dirty="0"/>
          </a:p>
        </p:txBody>
      </p:sp>
      <p:sp>
        <p:nvSpPr>
          <p:cNvPr id="22" name="Shape 20"/>
          <p:cNvSpPr/>
          <p:nvPr/>
        </p:nvSpPr>
        <p:spPr>
          <a:xfrm>
            <a:off x="4498848" y="0"/>
            <a:ext cx="146304" cy="5143500"/>
          </a:xfrm>
          <a:prstGeom prst="rect">
            <a:avLst/>
          </a:prstGeom>
          <a:solidFill>
            <a:srgbClr val="F7F7F7"/>
          </a:solidFill>
          <a:ln w="12700">
            <a:solidFill>
              <a:srgbClr val="C7D0DC"/>
            </a:solidFill>
            <a:prstDash val="solid"/>
          </a:ln>
        </p:spPr>
        <p:txBody>
          <a:bodyPr/>
          <a:lstStyle/>
          <a:p>
            <a:endParaRPr lang="fr-FR"/>
          </a:p>
        </p:txBody>
      </p:sp>
      <p:sp>
        <p:nvSpPr>
          <p:cNvPr id="23" name="Shape 21"/>
          <p:cNvSpPr/>
          <p:nvPr/>
        </p:nvSpPr>
        <p:spPr>
          <a:xfrm>
            <a:off x="0" y="2505456"/>
            <a:ext cx="9144000" cy="146304"/>
          </a:xfrm>
          <a:prstGeom prst="rect">
            <a:avLst/>
          </a:prstGeom>
          <a:solidFill>
            <a:srgbClr val="F7F7F7"/>
          </a:solidFill>
          <a:ln w="12700">
            <a:solidFill>
              <a:srgbClr val="C7D0DC"/>
            </a:solidFill>
            <a:prstDash val="solid"/>
          </a:ln>
        </p:spPr>
        <p:txBody>
          <a:bodyPr/>
          <a:lstStyle/>
          <a:p>
            <a:endParaRPr lang="fr-FR"/>
          </a:p>
        </p:txBody>
      </p:sp>
      <p:sp>
        <p:nvSpPr>
          <p:cNvPr id="24" name="Text 22"/>
          <p:cNvSpPr/>
          <p:nvPr/>
        </p:nvSpPr>
        <p:spPr>
          <a:xfrm>
            <a:off x="0" y="4919472"/>
            <a:ext cx="7772400" cy="201168"/>
          </a:xfrm>
          <a:prstGeom prst="rect">
            <a:avLst/>
          </a:prstGeom>
          <a:noFill/>
          <a:ln/>
        </p:spPr>
        <p:txBody>
          <a:bodyPr wrap="square" lIns="0" tIns="0" rIns="0" bIns="0" rtlCol="0" anchor="ctr"/>
          <a:lstStyle/>
          <a:p>
            <a:pPr marL="0" indent="0" algn="ctr">
              <a:buNone/>
            </a:pPr>
            <a:r>
              <a:rPr lang="en-US" sz="850" i="1" dirty="0">
                <a:solidFill>
                  <a:srgbClr val="444444"/>
                </a:solidFill>
                <a:latin typeface="Calibri" pitchFamily="34" charset="0"/>
                <a:ea typeface="Calibri" pitchFamily="34" charset="-122"/>
                <a:cs typeface="Calibri" pitchFamily="34" charset="-120"/>
              </a:rPr>
              <a:t>Sources : ANSSI · Cybermalveillance.gouv.fr · IBM Security · rapport 2024</a:t>
            </a:r>
            <a:endParaRPr lang="en-US" sz="850" dirty="0"/>
          </a:p>
        </p:txBody>
      </p:sp>
      <p:sp>
        <p:nvSpPr>
          <p:cNvPr id="25" name="Shape 23"/>
          <p:cNvSpPr/>
          <p:nvPr/>
        </p:nvSpPr>
        <p:spPr>
          <a:xfrm>
            <a:off x="7927848" y="4759452"/>
            <a:ext cx="1143000" cy="320040"/>
          </a:xfrm>
          <a:prstGeom prst="rect">
            <a:avLst/>
          </a:prstGeom>
          <a:solidFill>
            <a:srgbClr val="E5E5F7"/>
          </a:solidFill>
          <a:ln w="6350">
            <a:solidFill>
              <a:srgbClr val="444466"/>
            </a:solidFill>
            <a:prstDash val="solid"/>
          </a:ln>
        </p:spPr>
        <p:txBody>
          <a:bodyPr/>
          <a:lstStyle/>
          <a:p>
            <a:endParaRPr lang="fr-FR"/>
          </a:p>
        </p:txBody>
      </p:sp>
      <p:sp>
        <p:nvSpPr>
          <p:cNvPr id="26" name="Text 24">
            <a:hlinkClick r:id="rId3" action="ppaction://hlinksldjump"/>
          </p:cNvPr>
          <p:cNvSpPr/>
          <p:nvPr/>
        </p:nvSpPr>
        <p:spPr>
          <a:xfrm>
            <a:off x="7955280" y="4754880"/>
            <a:ext cx="105156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48" name="Picture 47" descr="logo_sig.png"/>
          <p:cNvPicPr>
            <a:picLocks noChangeAspect="1"/>
          </p:cNvPicPr>
          <p:nvPr/>
        </p:nvPicPr>
        <p:blipFill>
          <a:blip r:embed="rId4"/>
          <a:stretch>
            <a:fillRect/>
          </a:stretch>
        </p:blipFill>
        <p:spPr>
          <a:xfrm>
            <a:off x="8644294" y="133894"/>
            <a:ext cx="413491" cy="413491"/>
          </a:xfrm>
          <a:prstGeom prst="rect">
            <a:avLst/>
          </a:prstGeom>
        </p:spPr>
      </p:pic>
      <p:sp>
        <p:nvSpPr>
          <p:cNvPr id="27" name="ZoneTexte 26">
            <a:extLst>
              <a:ext uri="{FF2B5EF4-FFF2-40B4-BE49-F238E27FC236}">
                <a16:creationId xmlns:a16="http://schemas.microsoft.com/office/drawing/2014/main" id="{30E57E9A-07F7-E6C8-43F0-1E8CE1176C17}"/>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611944" y="45720"/>
            <a:ext cx="8166295" cy="658368"/>
          </a:xfrm>
          <a:prstGeom prst="rect">
            <a:avLst/>
          </a:prstGeom>
          <a:noFill/>
          <a:ln/>
        </p:spPr>
        <p:txBody>
          <a:bodyPr wrap="square" lIns="0" tIns="0" rIns="0" bIns="0" rtlCol="0" anchor="ctr"/>
          <a:lstStyle/>
          <a:p>
            <a:pPr marL="0" indent="0">
              <a:buNone/>
            </a:pPr>
            <a:r>
              <a:rPr lang="en-US" sz="2200" b="1" dirty="0">
                <a:solidFill>
                  <a:srgbClr val="1E293B"/>
                </a:solidFill>
                <a:latin typeface="Arial Black" pitchFamily="34" charset="0"/>
                <a:ea typeface="Arial Black" pitchFamily="34" charset="-122"/>
                <a:cs typeface="Arial Black" pitchFamily="34" charset="-120"/>
              </a:rPr>
              <a:t>Qui sont les cibles ? Tout le monde — sans exception</a:t>
            </a:r>
            <a:endParaRPr lang="en-US" sz="2200" dirty="0"/>
          </a:p>
        </p:txBody>
      </p:sp>
      <p:sp>
        <p:nvSpPr>
          <p:cNvPr id="4" name="Text 2"/>
          <p:cNvSpPr/>
          <p:nvPr/>
        </p:nvSpPr>
        <p:spPr>
          <a:xfrm>
            <a:off x="1240970" y="841248"/>
            <a:ext cx="7628709" cy="320040"/>
          </a:xfrm>
          <a:prstGeom prst="rect">
            <a:avLst/>
          </a:prstGeom>
          <a:noFill/>
          <a:ln/>
        </p:spPr>
        <p:txBody>
          <a:bodyPr wrap="square" lIns="0" tIns="0" rIns="0" bIns="0" rtlCol="0" anchor="ctr"/>
          <a:lstStyle/>
          <a:p>
            <a:pPr marL="0" indent="0">
              <a:buNone/>
            </a:pPr>
            <a:r>
              <a:rPr lang="en-US" sz="1250" i="1" dirty="0">
                <a:solidFill>
                  <a:srgbClr val="272F38"/>
                </a:solidFill>
                <a:latin typeface="Calibri" pitchFamily="34" charset="0"/>
                <a:ea typeface="Calibri" pitchFamily="34" charset="-122"/>
                <a:cs typeface="Calibri" pitchFamily="34" charset="-120"/>
              </a:rPr>
              <a:t>Les escrocs ne ciblent pas « les gens qui ne savent pas ». Ils envoient des millions de messages au hasard.</a:t>
            </a:r>
            <a:endParaRPr lang="en-US" sz="1250" dirty="0"/>
          </a:p>
        </p:txBody>
      </p:sp>
      <p:sp>
        <p:nvSpPr>
          <p:cNvPr id="5" name="Shape 3"/>
          <p:cNvSpPr/>
          <p:nvPr/>
        </p:nvSpPr>
        <p:spPr>
          <a:xfrm>
            <a:off x="228600" y="126187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228600" y="1261872"/>
            <a:ext cx="2743200" cy="91440"/>
          </a:xfrm>
          <a:prstGeom prst="rect">
            <a:avLst/>
          </a:prstGeom>
          <a:solidFill>
            <a:srgbClr val="C2544A"/>
          </a:solidFill>
          <a:ln w="12700">
            <a:solidFill>
              <a:srgbClr val="C2544A"/>
            </a:solidFill>
            <a:prstDash val="solid"/>
          </a:ln>
        </p:spPr>
        <p:txBody>
          <a:bodyPr/>
          <a:lstStyle/>
          <a:p>
            <a:endParaRPr lang="fr-FR"/>
          </a:p>
        </p:txBody>
      </p:sp>
      <p:sp>
        <p:nvSpPr>
          <p:cNvPr id="7" name="Text 5"/>
          <p:cNvSpPr/>
          <p:nvPr/>
        </p:nvSpPr>
        <p:spPr>
          <a:xfrm>
            <a:off x="228600" y="137160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850392" y="1389888"/>
            <a:ext cx="2011680" cy="347472"/>
          </a:xfrm>
          <a:prstGeom prst="rect">
            <a:avLst/>
          </a:prstGeom>
          <a:noFill/>
          <a:ln/>
        </p:spPr>
        <p:txBody>
          <a:bodyPr wrap="square" lIns="0" tIns="0" rIns="0" bIns="0" rtlCol="0" anchor="ctr"/>
          <a:lstStyle/>
          <a:p>
            <a:pPr marL="0" indent="0">
              <a:buNone/>
            </a:pPr>
            <a:r>
              <a:rPr lang="en-US" sz="1300" b="1" dirty="0">
                <a:solidFill>
                  <a:srgbClr val="C2544A"/>
                </a:solidFill>
                <a:latin typeface="Arial" pitchFamily="34" charset="0"/>
                <a:ea typeface="Arial" pitchFamily="34" charset="-122"/>
                <a:cs typeface="Arial" pitchFamily="34" charset="-120"/>
              </a:rPr>
              <a:t>Seniors</a:t>
            </a:r>
            <a:endParaRPr lang="en-US" sz="1300" dirty="0"/>
          </a:p>
        </p:txBody>
      </p:sp>
      <p:sp>
        <p:nvSpPr>
          <p:cNvPr id="9" name="Text 7"/>
          <p:cNvSpPr/>
          <p:nvPr/>
        </p:nvSpPr>
        <p:spPr>
          <a:xfrm>
            <a:off x="338328" y="182880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Souvent plus ciblés car jugés moins méfiants. Arnaques à la carte Vitale et aux impôts.</a:t>
            </a:r>
            <a:endParaRPr lang="en-US" sz="950" dirty="0"/>
          </a:p>
        </p:txBody>
      </p:sp>
      <p:sp>
        <p:nvSpPr>
          <p:cNvPr id="10" name="Shape 8"/>
          <p:cNvSpPr/>
          <p:nvPr/>
        </p:nvSpPr>
        <p:spPr>
          <a:xfrm>
            <a:off x="3127248" y="126187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1" name="Shape 9"/>
          <p:cNvSpPr/>
          <p:nvPr/>
        </p:nvSpPr>
        <p:spPr>
          <a:xfrm>
            <a:off x="3127248" y="1261872"/>
            <a:ext cx="2743200" cy="91440"/>
          </a:xfrm>
          <a:prstGeom prst="rect">
            <a:avLst/>
          </a:prstGeom>
          <a:solidFill>
            <a:srgbClr val="2980B9"/>
          </a:solidFill>
          <a:ln w="12700">
            <a:solidFill>
              <a:srgbClr val="2980B9"/>
            </a:solidFill>
            <a:prstDash val="solid"/>
          </a:ln>
        </p:spPr>
        <p:txBody>
          <a:bodyPr/>
          <a:lstStyle/>
          <a:p>
            <a:endParaRPr lang="fr-FR"/>
          </a:p>
        </p:txBody>
      </p:sp>
      <p:sp>
        <p:nvSpPr>
          <p:cNvPr id="12" name="Text 10"/>
          <p:cNvSpPr/>
          <p:nvPr/>
        </p:nvSpPr>
        <p:spPr>
          <a:xfrm>
            <a:off x="3127248" y="137160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3749040" y="1389888"/>
            <a:ext cx="2011680" cy="347472"/>
          </a:xfrm>
          <a:prstGeom prst="rect">
            <a:avLst/>
          </a:prstGeom>
          <a:noFill/>
          <a:ln/>
        </p:spPr>
        <p:txBody>
          <a:bodyPr wrap="square" lIns="0" tIns="0" rIns="0" bIns="0" rtlCol="0" anchor="ctr"/>
          <a:lstStyle/>
          <a:p>
            <a:pPr marL="0" indent="0">
              <a:buNone/>
            </a:pPr>
            <a:r>
              <a:rPr lang="en-US" sz="1300" b="1" dirty="0">
                <a:solidFill>
                  <a:srgbClr val="2980B9"/>
                </a:solidFill>
                <a:latin typeface="Arial" pitchFamily="34" charset="0"/>
                <a:ea typeface="Arial" pitchFamily="34" charset="-122"/>
                <a:cs typeface="Arial" pitchFamily="34" charset="-120"/>
              </a:rPr>
              <a:t>Salariés &amp; cadres</a:t>
            </a:r>
            <a:endParaRPr lang="en-US" sz="1300" dirty="0"/>
          </a:p>
        </p:txBody>
      </p:sp>
      <p:sp>
        <p:nvSpPr>
          <p:cNvPr id="14" name="Text 12"/>
          <p:cNvSpPr/>
          <p:nvPr/>
        </p:nvSpPr>
        <p:spPr>
          <a:xfrm>
            <a:off x="3236976" y="182880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Faux e-mails RH. 60% des entreprises françaises ont subi du phishing (CESIN 2025).</a:t>
            </a:r>
            <a:endParaRPr lang="en-US" sz="950" dirty="0"/>
          </a:p>
        </p:txBody>
      </p:sp>
      <p:sp>
        <p:nvSpPr>
          <p:cNvPr id="15" name="Shape 13"/>
          <p:cNvSpPr/>
          <p:nvPr/>
        </p:nvSpPr>
        <p:spPr>
          <a:xfrm>
            <a:off x="6025896" y="126187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6" name="Shape 14"/>
          <p:cNvSpPr/>
          <p:nvPr/>
        </p:nvSpPr>
        <p:spPr>
          <a:xfrm>
            <a:off x="6025896" y="1261872"/>
            <a:ext cx="2743200" cy="91440"/>
          </a:xfrm>
          <a:prstGeom prst="rect">
            <a:avLst/>
          </a:prstGeom>
          <a:solidFill>
            <a:srgbClr val="27AE60"/>
          </a:solidFill>
          <a:ln w="12700">
            <a:solidFill>
              <a:srgbClr val="27AE60"/>
            </a:solidFill>
            <a:prstDash val="solid"/>
          </a:ln>
        </p:spPr>
        <p:txBody>
          <a:bodyPr/>
          <a:lstStyle/>
          <a:p>
            <a:endParaRPr lang="fr-FR"/>
          </a:p>
        </p:txBody>
      </p:sp>
      <p:sp>
        <p:nvSpPr>
          <p:cNvPr id="17" name="Text 15"/>
          <p:cNvSpPr/>
          <p:nvPr/>
        </p:nvSpPr>
        <p:spPr>
          <a:xfrm>
            <a:off x="6025896" y="137160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6647688" y="1389888"/>
            <a:ext cx="2011680" cy="347472"/>
          </a:xfrm>
          <a:prstGeom prst="rect">
            <a:avLst/>
          </a:prstGeom>
          <a:noFill/>
          <a:ln/>
        </p:spPr>
        <p:txBody>
          <a:bodyPr wrap="square" lIns="0" tIns="0" rIns="0" bIns="0" rtlCol="0" anchor="ctr"/>
          <a:lstStyle/>
          <a:p>
            <a:pPr marL="0" indent="0">
              <a:buNone/>
            </a:pPr>
            <a:r>
              <a:rPr lang="en-US" sz="1300" b="1" dirty="0">
                <a:solidFill>
                  <a:srgbClr val="27AE60"/>
                </a:solidFill>
                <a:latin typeface="Arial" pitchFamily="34" charset="0"/>
                <a:ea typeface="Arial" pitchFamily="34" charset="-122"/>
                <a:cs typeface="Arial" pitchFamily="34" charset="-120"/>
              </a:rPr>
              <a:t>Parents</a:t>
            </a:r>
            <a:endParaRPr lang="en-US" sz="1300" dirty="0"/>
          </a:p>
        </p:txBody>
      </p:sp>
      <p:sp>
        <p:nvSpPr>
          <p:cNvPr id="19" name="Text 17"/>
          <p:cNvSpPr/>
          <p:nvPr/>
        </p:nvSpPr>
        <p:spPr>
          <a:xfrm>
            <a:off x="6135624" y="182880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Arnaques CAF, frais de cantine, commandes en ligne.</a:t>
            </a:r>
            <a:endParaRPr lang="en-US" sz="950" dirty="0"/>
          </a:p>
        </p:txBody>
      </p:sp>
      <p:sp>
        <p:nvSpPr>
          <p:cNvPr id="20" name="Shape 18"/>
          <p:cNvSpPr/>
          <p:nvPr/>
        </p:nvSpPr>
        <p:spPr>
          <a:xfrm>
            <a:off x="228600" y="281635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2816352"/>
            <a:ext cx="2743200" cy="91440"/>
          </a:xfrm>
          <a:prstGeom prst="rect">
            <a:avLst/>
          </a:prstGeom>
          <a:solidFill>
            <a:srgbClr val="E67E22"/>
          </a:solidFill>
          <a:ln w="12700">
            <a:solidFill>
              <a:srgbClr val="E67E22"/>
            </a:solidFill>
            <a:prstDash val="solid"/>
          </a:ln>
        </p:spPr>
        <p:txBody>
          <a:bodyPr/>
          <a:lstStyle/>
          <a:p>
            <a:endParaRPr lang="fr-FR"/>
          </a:p>
        </p:txBody>
      </p:sp>
      <p:sp>
        <p:nvSpPr>
          <p:cNvPr id="22" name="Text 20"/>
          <p:cNvSpPr/>
          <p:nvPr/>
        </p:nvSpPr>
        <p:spPr>
          <a:xfrm>
            <a:off x="228600" y="292608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3" name="Text 21"/>
          <p:cNvSpPr/>
          <p:nvPr/>
        </p:nvSpPr>
        <p:spPr>
          <a:xfrm>
            <a:off x="850392" y="2944368"/>
            <a:ext cx="2011680" cy="347472"/>
          </a:xfrm>
          <a:prstGeom prst="rect">
            <a:avLst/>
          </a:prstGeom>
          <a:noFill/>
          <a:ln/>
        </p:spPr>
        <p:txBody>
          <a:bodyPr wrap="square" lIns="0" tIns="0" rIns="0" bIns="0" rtlCol="0" anchor="ctr"/>
          <a:lstStyle/>
          <a:p>
            <a:pPr marL="0" indent="0">
              <a:buNone/>
            </a:pPr>
            <a:r>
              <a:rPr lang="en-US" sz="1300" b="1" dirty="0">
                <a:solidFill>
                  <a:srgbClr val="E67E22"/>
                </a:solidFill>
                <a:latin typeface="Arial" pitchFamily="34" charset="0"/>
                <a:ea typeface="Arial" pitchFamily="34" charset="-122"/>
                <a:cs typeface="Arial" pitchFamily="34" charset="-120"/>
              </a:rPr>
              <a:t>Étudiants</a:t>
            </a:r>
            <a:endParaRPr lang="en-US" sz="1300" dirty="0"/>
          </a:p>
        </p:txBody>
      </p:sp>
      <p:sp>
        <p:nvSpPr>
          <p:cNvPr id="24" name="Text 22"/>
          <p:cNvSpPr/>
          <p:nvPr/>
        </p:nvSpPr>
        <p:spPr>
          <a:xfrm>
            <a:off x="338328" y="338328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Faux remboursements CPAM, offres d'emploi trop belles.</a:t>
            </a:r>
            <a:endParaRPr lang="en-US" sz="950" dirty="0"/>
          </a:p>
        </p:txBody>
      </p:sp>
      <p:sp>
        <p:nvSpPr>
          <p:cNvPr id="25" name="Shape 23"/>
          <p:cNvSpPr/>
          <p:nvPr/>
        </p:nvSpPr>
        <p:spPr>
          <a:xfrm>
            <a:off x="3127248" y="281635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6" name="Shape 24"/>
          <p:cNvSpPr/>
          <p:nvPr/>
        </p:nvSpPr>
        <p:spPr>
          <a:xfrm>
            <a:off x="3127248" y="2816352"/>
            <a:ext cx="2743200" cy="91440"/>
          </a:xfrm>
          <a:prstGeom prst="rect">
            <a:avLst/>
          </a:prstGeom>
          <a:solidFill>
            <a:srgbClr val="8E44AD"/>
          </a:solidFill>
          <a:ln w="12700">
            <a:solidFill>
              <a:srgbClr val="8E44AD"/>
            </a:solidFill>
            <a:prstDash val="solid"/>
          </a:ln>
        </p:spPr>
        <p:txBody>
          <a:bodyPr/>
          <a:lstStyle/>
          <a:p>
            <a:endParaRPr lang="fr-FR"/>
          </a:p>
        </p:txBody>
      </p:sp>
      <p:sp>
        <p:nvSpPr>
          <p:cNvPr id="27" name="Text 25"/>
          <p:cNvSpPr/>
          <p:nvPr/>
        </p:nvSpPr>
        <p:spPr>
          <a:xfrm>
            <a:off x="3127248" y="292608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8" name="Text 26"/>
          <p:cNvSpPr/>
          <p:nvPr/>
        </p:nvSpPr>
        <p:spPr>
          <a:xfrm>
            <a:off x="3749040" y="2944368"/>
            <a:ext cx="2011680" cy="347472"/>
          </a:xfrm>
          <a:prstGeom prst="rect">
            <a:avLst/>
          </a:prstGeom>
          <a:noFill/>
          <a:ln/>
        </p:spPr>
        <p:txBody>
          <a:bodyPr wrap="square" lIns="0" tIns="0" rIns="0" bIns="0" rtlCol="0" anchor="ctr"/>
          <a:lstStyle/>
          <a:p>
            <a:pPr marL="0" indent="0">
              <a:buNone/>
            </a:pPr>
            <a:r>
              <a:rPr lang="en-US" sz="1300" b="1" dirty="0">
                <a:solidFill>
                  <a:srgbClr val="8E44AD"/>
                </a:solidFill>
                <a:latin typeface="Arial" pitchFamily="34" charset="0"/>
                <a:ea typeface="Arial" pitchFamily="34" charset="-122"/>
                <a:cs typeface="Arial" pitchFamily="34" charset="-120"/>
              </a:rPr>
              <a:t>Chefs d'entreprise</a:t>
            </a:r>
            <a:endParaRPr lang="en-US" sz="1300" dirty="0"/>
          </a:p>
        </p:txBody>
      </p:sp>
      <p:sp>
        <p:nvSpPr>
          <p:cNvPr id="29" name="Text 27"/>
          <p:cNvSpPr/>
          <p:nvPr/>
        </p:nvSpPr>
        <p:spPr>
          <a:xfrm>
            <a:off x="3236976" y="338328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Fraude au président : 50 000€ à plusieurs millions € de perte.</a:t>
            </a:r>
            <a:endParaRPr lang="en-US" sz="950" dirty="0"/>
          </a:p>
        </p:txBody>
      </p:sp>
      <p:sp>
        <p:nvSpPr>
          <p:cNvPr id="30" name="Shape 28"/>
          <p:cNvSpPr/>
          <p:nvPr/>
        </p:nvSpPr>
        <p:spPr>
          <a:xfrm>
            <a:off x="6025896" y="281635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31" name="Shape 29"/>
          <p:cNvSpPr/>
          <p:nvPr/>
        </p:nvSpPr>
        <p:spPr>
          <a:xfrm>
            <a:off x="6025896" y="2816352"/>
            <a:ext cx="2743200" cy="91440"/>
          </a:xfrm>
          <a:prstGeom prst="rect">
            <a:avLst/>
          </a:prstGeom>
          <a:solidFill>
            <a:srgbClr val="16A085"/>
          </a:solidFill>
          <a:ln w="12700">
            <a:solidFill>
              <a:srgbClr val="16A085"/>
            </a:solidFill>
            <a:prstDash val="solid"/>
          </a:ln>
        </p:spPr>
        <p:txBody>
          <a:bodyPr/>
          <a:lstStyle/>
          <a:p>
            <a:endParaRPr lang="fr-FR"/>
          </a:p>
        </p:txBody>
      </p:sp>
      <p:sp>
        <p:nvSpPr>
          <p:cNvPr id="32" name="Text 30"/>
          <p:cNvSpPr/>
          <p:nvPr/>
        </p:nvSpPr>
        <p:spPr>
          <a:xfrm>
            <a:off x="6025896" y="292608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3" name="Text 31"/>
          <p:cNvSpPr/>
          <p:nvPr/>
        </p:nvSpPr>
        <p:spPr>
          <a:xfrm>
            <a:off x="6647688" y="2944368"/>
            <a:ext cx="2011680" cy="347472"/>
          </a:xfrm>
          <a:prstGeom prst="rect">
            <a:avLst/>
          </a:prstGeom>
          <a:noFill/>
          <a:ln/>
        </p:spPr>
        <p:txBody>
          <a:bodyPr wrap="square" lIns="0" tIns="0" rIns="0" bIns="0" rtlCol="0" anchor="ctr"/>
          <a:lstStyle/>
          <a:p>
            <a:pPr marL="0" indent="0">
              <a:buNone/>
            </a:pPr>
            <a:r>
              <a:rPr lang="en-US" sz="1300" b="1" dirty="0">
                <a:solidFill>
                  <a:srgbClr val="16A085"/>
                </a:solidFill>
                <a:latin typeface="Arial" pitchFamily="34" charset="0"/>
                <a:ea typeface="Arial" pitchFamily="34" charset="-122"/>
                <a:cs typeface="Arial" pitchFamily="34" charset="-120"/>
              </a:rPr>
              <a:t>Utilisateurs mobiles</a:t>
            </a:r>
            <a:endParaRPr lang="en-US" sz="1300" dirty="0"/>
          </a:p>
        </p:txBody>
      </p:sp>
      <p:sp>
        <p:nvSpPr>
          <p:cNvPr id="34" name="Text 32"/>
          <p:cNvSpPr/>
          <p:nvPr/>
        </p:nvSpPr>
        <p:spPr>
          <a:xfrm>
            <a:off x="6135624" y="338328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Le smishing (SMS piégé) touche ceux qui consultent sur smartphone.</a:t>
            </a:r>
            <a:endParaRPr lang="en-US" sz="950" dirty="0"/>
          </a:p>
        </p:txBody>
      </p:sp>
      <p:sp>
        <p:nvSpPr>
          <p:cNvPr id="35" name="Text 33"/>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9" name="Picture 58" descr="logo_sig.png"/>
          <p:cNvPicPr>
            <a:picLocks noChangeAspect="1"/>
          </p:cNvPicPr>
          <p:nvPr/>
        </p:nvPicPr>
        <p:blipFill>
          <a:blip r:embed="rId4"/>
          <a:stretch>
            <a:fillRect/>
          </a:stretch>
        </p:blipFill>
        <p:spPr>
          <a:xfrm>
            <a:off x="40143" y="40143"/>
            <a:ext cx="413491" cy="413491"/>
          </a:xfrm>
          <a:prstGeom prst="rect">
            <a:avLst/>
          </a:prstGeom>
        </p:spPr>
      </p:pic>
      <p:sp>
        <p:nvSpPr>
          <p:cNvPr id="38" name="ZoneTexte 37">
            <a:extLst>
              <a:ext uri="{FF2B5EF4-FFF2-40B4-BE49-F238E27FC236}">
                <a16:creationId xmlns:a16="http://schemas.microsoft.com/office/drawing/2014/main" id="{097D6927-A865-33F9-4F67-BBE2CEF25E8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640080" y="45720"/>
            <a:ext cx="8138160" cy="658368"/>
          </a:xfrm>
          <a:prstGeom prst="rect">
            <a:avLst/>
          </a:prstGeom>
          <a:noFill/>
          <a:ln/>
        </p:spPr>
        <p:txBody>
          <a:bodyPr wrap="square" lIns="0" tIns="0" rIns="0" bIns="0" rtlCol="0" anchor="ctr"/>
          <a:lstStyle/>
          <a:p>
            <a:pPr marL="0" indent="0">
              <a:buNone/>
            </a:pPr>
            <a:r>
              <a:rPr lang="en-US" sz="2200" b="1" dirty="0">
                <a:solidFill>
                  <a:srgbClr val="1E293B"/>
                </a:solidFill>
                <a:latin typeface="Arial Black" pitchFamily="34" charset="0"/>
                <a:ea typeface="Arial Black" pitchFamily="34" charset="-122"/>
                <a:cs typeface="Arial Black" pitchFamily="34" charset="-120"/>
              </a:rPr>
              <a:t>Qu'est-ce que le phishing ?</a:t>
            </a:r>
            <a:endParaRPr lang="en-US" sz="2200" dirty="0"/>
          </a:p>
        </p:txBody>
      </p:sp>
      <p:sp>
        <p:nvSpPr>
          <p:cNvPr id="4" name="Shape 2"/>
          <p:cNvSpPr/>
          <p:nvPr/>
        </p:nvSpPr>
        <p:spPr>
          <a:xfrm>
            <a:off x="182880" y="868680"/>
            <a:ext cx="8595360" cy="777240"/>
          </a:xfrm>
          <a:prstGeom prst="rect">
            <a:avLst/>
          </a:prstGeom>
          <a:solidFill>
            <a:srgbClr val="E1E4F7"/>
          </a:solidFill>
          <a:ln w="12700">
            <a:solidFill>
              <a:srgbClr val="C7D0DC"/>
            </a:solidFill>
            <a:prstDash val="solid"/>
          </a:ln>
          <a:effectLst>
            <a:outerShdw blurRad="101600" dist="25400" dir="8100000" algn="bl" rotWithShape="0">
              <a:srgbClr val="000000">
                <a:alpha val="10000"/>
              </a:srgbClr>
            </a:outerShdw>
          </a:effectLst>
        </p:spPr>
        <p:txBody>
          <a:bodyPr/>
          <a:lstStyle/>
          <a:p>
            <a:endParaRPr lang="fr-FR"/>
          </a:p>
        </p:txBody>
      </p:sp>
      <p:sp>
        <p:nvSpPr>
          <p:cNvPr id="5" name="Text 3"/>
          <p:cNvSpPr/>
          <p:nvPr/>
        </p:nvSpPr>
        <p:spPr>
          <a:xfrm>
            <a:off x="457200" y="914400"/>
            <a:ext cx="8229600" cy="685800"/>
          </a:xfrm>
          <a:prstGeom prst="rect">
            <a:avLst/>
          </a:prstGeom>
          <a:noFill/>
          <a:ln/>
        </p:spPr>
        <p:txBody>
          <a:bodyPr wrap="square" lIns="0" tIns="0" rIns="0" bIns="0"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Phishing </a:t>
            </a:r>
            <a:r>
              <a:rPr lang="en-US" sz="1300" dirty="0">
                <a:solidFill>
                  <a:srgbClr val="1E293B"/>
                </a:solidFill>
                <a:latin typeface="Calibri" pitchFamily="34" charset="0"/>
                <a:ea typeface="Calibri" pitchFamily="34" charset="-122"/>
                <a:cs typeface="Calibri" pitchFamily="34" charset="-120"/>
              </a:rPr>
              <a:t>(ou hameçonnage) : technique par laquelle un escroc se fait passer pour un organisme de confiance pour voler vos données personnelles ou votre argent.</a:t>
            </a:r>
            <a:endParaRPr lang="en-US" sz="1300" dirty="0"/>
          </a:p>
        </p:txBody>
      </p:sp>
      <p:sp>
        <p:nvSpPr>
          <p:cNvPr id="6" name="Shape 4"/>
          <p:cNvSpPr/>
          <p:nvPr/>
        </p:nvSpPr>
        <p:spPr>
          <a:xfrm>
            <a:off x="182880" y="1810512"/>
            <a:ext cx="201168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7" name="Shape 5"/>
          <p:cNvSpPr/>
          <p:nvPr/>
        </p:nvSpPr>
        <p:spPr>
          <a:xfrm>
            <a:off x="182880" y="1810512"/>
            <a:ext cx="2011680" cy="91440"/>
          </a:xfrm>
          <a:prstGeom prst="rect">
            <a:avLst/>
          </a:prstGeom>
          <a:solidFill>
            <a:srgbClr val="C2544A"/>
          </a:solidFill>
          <a:ln w="12700">
            <a:solidFill>
              <a:srgbClr val="C2544A"/>
            </a:solidFill>
            <a:prstDash val="solid"/>
          </a:ln>
        </p:spPr>
        <p:txBody>
          <a:bodyPr/>
          <a:lstStyle/>
          <a:p>
            <a:endParaRPr lang="fr-FR"/>
          </a:p>
        </p:txBody>
      </p:sp>
      <p:sp>
        <p:nvSpPr>
          <p:cNvPr id="8" name="Text 6"/>
          <p:cNvSpPr/>
          <p:nvPr/>
        </p:nvSpPr>
        <p:spPr>
          <a:xfrm>
            <a:off x="182880" y="1938528"/>
            <a:ext cx="201168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292608" y="2505456"/>
            <a:ext cx="1792224" cy="256032"/>
          </a:xfrm>
          <a:prstGeom prst="rect">
            <a:avLst/>
          </a:prstGeom>
          <a:noFill/>
          <a:ln/>
        </p:spPr>
        <p:txBody>
          <a:bodyPr wrap="square" lIns="0" tIns="0" rIns="0" bIns="0" rtlCol="0" anchor="ctr"/>
          <a:lstStyle/>
          <a:p>
            <a:pPr marL="0" indent="0" algn="ctr">
              <a:buNone/>
            </a:pPr>
            <a:r>
              <a:rPr lang="en-US" sz="1000" b="1" dirty="0">
                <a:solidFill>
                  <a:srgbClr val="C2544A"/>
                </a:solidFill>
                <a:latin typeface="Calibri" pitchFamily="34" charset="0"/>
                <a:ea typeface="Calibri" pitchFamily="34" charset="-122"/>
                <a:cs typeface="Calibri" pitchFamily="34" charset="-120"/>
              </a:rPr>
              <a:t>Par e-mail</a:t>
            </a:r>
            <a:endParaRPr lang="en-US" sz="1000" dirty="0"/>
          </a:p>
        </p:txBody>
      </p:sp>
      <p:sp>
        <p:nvSpPr>
          <p:cNvPr id="10" name="Text 8"/>
          <p:cNvSpPr/>
          <p:nvPr/>
        </p:nvSpPr>
        <p:spPr>
          <a:xfrm>
            <a:off x="292608" y="2743200"/>
            <a:ext cx="1792224" cy="347472"/>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Phishing classique</a:t>
            </a:r>
            <a:endParaRPr lang="en-US" sz="1300" dirty="0"/>
          </a:p>
        </p:txBody>
      </p:sp>
      <p:sp>
        <p:nvSpPr>
          <p:cNvPr id="11" name="Text 9"/>
          <p:cNvSpPr/>
          <p:nvPr/>
        </p:nvSpPr>
        <p:spPr>
          <a:xfrm>
            <a:off x="292608" y="3145536"/>
            <a:ext cx="1792224" cy="713232"/>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Faux mail avec lien ou pièce jointe piégée. Le plus courant.</a:t>
            </a:r>
            <a:endParaRPr lang="en-US" sz="1100" dirty="0"/>
          </a:p>
        </p:txBody>
      </p:sp>
      <p:sp>
        <p:nvSpPr>
          <p:cNvPr id="12" name="Shape 10"/>
          <p:cNvSpPr/>
          <p:nvPr/>
        </p:nvSpPr>
        <p:spPr>
          <a:xfrm>
            <a:off x="2258568" y="1810512"/>
            <a:ext cx="201168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3" name="Shape 11"/>
          <p:cNvSpPr/>
          <p:nvPr/>
        </p:nvSpPr>
        <p:spPr>
          <a:xfrm>
            <a:off x="2258568" y="1810512"/>
            <a:ext cx="2011680" cy="91440"/>
          </a:xfrm>
          <a:prstGeom prst="rect">
            <a:avLst/>
          </a:prstGeom>
          <a:solidFill>
            <a:srgbClr val="E67E22"/>
          </a:solidFill>
          <a:ln w="12700">
            <a:solidFill>
              <a:srgbClr val="E67E22"/>
            </a:solidFill>
            <a:prstDash val="solid"/>
          </a:ln>
        </p:spPr>
        <p:txBody>
          <a:bodyPr/>
          <a:lstStyle/>
          <a:p>
            <a:endParaRPr lang="fr-FR"/>
          </a:p>
        </p:txBody>
      </p:sp>
      <p:sp>
        <p:nvSpPr>
          <p:cNvPr id="14" name="Text 12"/>
          <p:cNvSpPr/>
          <p:nvPr/>
        </p:nvSpPr>
        <p:spPr>
          <a:xfrm>
            <a:off x="2258568" y="1938528"/>
            <a:ext cx="201168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5" name="Text 13"/>
          <p:cNvSpPr/>
          <p:nvPr/>
        </p:nvSpPr>
        <p:spPr>
          <a:xfrm>
            <a:off x="2368296" y="2505456"/>
            <a:ext cx="1792224" cy="256032"/>
          </a:xfrm>
          <a:prstGeom prst="rect">
            <a:avLst/>
          </a:prstGeom>
          <a:noFill/>
          <a:ln/>
        </p:spPr>
        <p:txBody>
          <a:bodyPr wrap="square" lIns="0" tIns="0" rIns="0" bIns="0" rtlCol="0" anchor="ctr"/>
          <a:lstStyle/>
          <a:p>
            <a:pPr marL="0" indent="0" algn="ctr">
              <a:buNone/>
            </a:pPr>
            <a:r>
              <a:rPr lang="en-US" sz="1000" b="1" dirty="0">
                <a:solidFill>
                  <a:srgbClr val="E67E22"/>
                </a:solidFill>
                <a:latin typeface="Calibri" pitchFamily="34" charset="0"/>
                <a:ea typeface="Calibri" pitchFamily="34" charset="-122"/>
                <a:cs typeface="Calibri" pitchFamily="34" charset="-120"/>
              </a:rPr>
              <a:t>Par SMS</a:t>
            </a:r>
            <a:endParaRPr lang="en-US" sz="1000" dirty="0"/>
          </a:p>
        </p:txBody>
      </p:sp>
      <p:sp>
        <p:nvSpPr>
          <p:cNvPr id="16" name="Text 14"/>
          <p:cNvSpPr/>
          <p:nvPr/>
        </p:nvSpPr>
        <p:spPr>
          <a:xfrm>
            <a:off x="2368296" y="2743200"/>
            <a:ext cx="1792224" cy="347472"/>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Smishing</a:t>
            </a:r>
            <a:endParaRPr lang="en-US" sz="1300" dirty="0"/>
          </a:p>
        </p:txBody>
      </p:sp>
      <p:sp>
        <p:nvSpPr>
          <p:cNvPr id="17" name="Text 15"/>
          <p:cNvSpPr/>
          <p:nvPr/>
        </p:nvSpPr>
        <p:spPr>
          <a:xfrm>
            <a:off x="2368296" y="3145536"/>
            <a:ext cx="1792224" cy="713232"/>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SMS imitant La Poste, banque ou CPAM.</a:t>
            </a:r>
            <a:endParaRPr lang="en-US" sz="1100" dirty="0"/>
          </a:p>
        </p:txBody>
      </p:sp>
      <p:sp>
        <p:nvSpPr>
          <p:cNvPr id="18" name="Shape 16"/>
          <p:cNvSpPr/>
          <p:nvPr/>
        </p:nvSpPr>
        <p:spPr>
          <a:xfrm>
            <a:off x="4334256" y="1810512"/>
            <a:ext cx="201168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4334256" y="1810512"/>
            <a:ext cx="2011680" cy="91440"/>
          </a:xfrm>
          <a:prstGeom prst="rect">
            <a:avLst/>
          </a:prstGeom>
          <a:solidFill>
            <a:srgbClr val="8E44AD"/>
          </a:solidFill>
          <a:ln w="12700">
            <a:solidFill>
              <a:srgbClr val="8E44AD"/>
            </a:solidFill>
            <a:prstDash val="solid"/>
          </a:ln>
        </p:spPr>
        <p:txBody>
          <a:bodyPr/>
          <a:lstStyle/>
          <a:p>
            <a:endParaRPr lang="fr-FR"/>
          </a:p>
        </p:txBody>
      </p:sp>
      <p:sp>
        <p:nvSpPr>
          <p:cNvPr id="20" name="Text 18"/>
          <p:cNvSpPr/>
          <p:nvPr/>
        </p:nvSpPr>
        <p:spPr>
          <a:xfrm>
            <a:off x="4334256" y="1938528"/>
            <a:ext cx="201168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1" name="Text 19"/>
          <p:cNvSpPr/>
          <p:nvPr/>
        </p:nvSpPr>
        <p:spPr>
          <a:xfrm>
            <a:off x="4443984" y="2505456"/>
            <a:ext cx="1792224" cy="256032"/>
          </a:xfrm>
          <a:prstGeom prst="rect">
            <a:avLst/>
          </a:prstGeom>
          <a:noFill/>
          <a:ln/>
        </p:spPr>
        <p:txBody>
          <a:bodyPr wrap="square" lIns="0" tIns="0" rIns="0" bIns="0" rtlCol="0" anchor="ctr"/>
          <a:lstStyle/>
          <a:p>
            <a:pPr marL="0" indent="0" algn="ctr">
              <a:buNone/>
            </a:pPr>
            <a:r>
              <a:rPr lang="en-US" sz="1000" b="1" dirty="0">
                <a:solidFill>
                  <a:srgbClr val="8E44AD"/>
                </a:solidFill>
                <a:latin typeface="Calibri" pitchFamily="34" charset="0"/>
                <a:ea typeface="Calibri" pitchFamily="34" charset="-122"/>
                <a:cs typeface="Calibri" pitchFamily="34" charset="-120"/>
              </a:rPr>
              <a:t>Par téléphone</a:t>
            </a:r>
            <a:endParaRPr lang="en-US" sz="1000" dirty="0"/>
          </a:p>
        </p:txBody>
      </p:sp>
      <p:sp>
        <p:nvSpPr>
          <p:cNvPr id="22" name="Text 20"/>
          <p:cNvSpPr/>
          <p:nvPr/>
        </p:nvSpPr>
        <p:spPr>
          <a:xfrm>
            <a:off x="4443984" y="2743200"/>
            <a:ext cx="1792224" cy="347472"/>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Vishing</a:t>
            </a:r>
            <a:endParaRPr lang="en-US" sz="1300" dirty="0"/>
          </a:p>
        </p:txBody>
      </p:sp>
      <p:sp>
        <p:nvSpPr>
          <p:cNvPr id="23" name="Text 21"/>
          <p:cNvSpPr/>
          <p:nvPr/>
        </p:nvSpPr>
        <p:spPr>
          <a:xfrm>
            <a:off x="4443984" y="3145536"/>
            <a:ext cx="1792224" cy="713232"/>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Faux conseiller qui appelle pour obtenir vos codes.</a:t>
            </a:r>
            <a:endParaRPr lang="en-US" sz="1100" dirty="0"/>
          </a:p>
        </p:txBody>
      </p:sp>
      <p:sp>
        <p:nvSpPr>
          <p:cNvPr id="24" name="Shape 22"/>
          <p:cNvSpPr/>
          <p:nvPr/>
        </p:nvSpPr>
        <p:spPr>
          <a:xfrm>
            <a:off x="182880" y="4069080"/>
            <a:ext cx="8595360" cy="685800"/>
          </a:xfrm>
          <a:prstGeom prst="rect">
            <a:avLst/>
          </a:prstGeom>
          <a:solidFill>
            <a:srgbClr val="F7EEE1"/>
          </a:solidFill>
          <a:ln w="10160">
            <a:solidFill>
              <a:srgbClr val="E67E22"/>
            </a:solidFill>
            <a:prstDash val="solid"/>
          </a:ln>
        </p:spPr>
        <p:txBody>
          <a:bodyPr/>
          <a:lstStyle/>
          <a:p>
            <a:endParaRPr lang="fr-FR"/>
          </a:p>
        </p:txBody>
      </p:sp>
      <p:sp>
        <p:nvSpPr>
          <p:cNvPr id="25" name="Text 23"/>
          <p:cNvSpPr/>
          <p:nvPr/>
        </p:nvSpPr>
        <p:spPr>
          <a:xfrm>
            <a:off x="457200" y="4114800"/>
            <a:ext cx="8321040" cy="594360"/>
          </a:xfrm>
          <a:prstGeom prst="rect">
            <a:avLst/>
          </a:prstGeom>
          <a:noFill/>
          <a:ln/>
        </p:spPr>
        <p:txBody>
          <a:bodyPr wrap="square" lIns="0" tIns="0" rIns="0" bIns="0" rtlCol="0" anchor="ctr"/>
          <a:lstStyle/>
          <a:p>
            <a:pPr marL="0" indent="0">
              <a:buNone/>
            </a:pPr>
            <a:r>
              <a:rPr lang="en-US" sz="1200" b="1" dirty="0">
                <a:solidFill>
                  <a:srgbClr val="E67E22"/>
                </a:solidFill>
                <a:latin typeface="Calibri" pitchFamily="34" charset="0"/>
                <a:ea typeface="Calibri" pitchFamily="34" charset="-122"/>
                <a:cs typeface="Calibri" pitchFamily="34" charset="-120"/>
              </a:rPr>
              <a:t>⚠  Top 5 organismes imités : </a:t>
            </a:r>
            <a:r>
              <a:rPr lang="en-US" sz="1200" dirty="0">
                <a:solidFill>
                  <a:srgbClr val="382D19"/>
                </a:solidFill>
                <a:latin typeface="Calibri" pitchFamily="34" charset="0"/>
                <a:ea typeface="Calibri" pitchFamily="34" charset="-122"/>
                <a:cs typeface="Calibri" pitchFamily="34" charset="-120"/>
              </a:rPr>
              <a:t>Impôts (DGFiP)  ·  CAF  ·  Ameli/CPAM  ·  Banques  ·  La Poste / Chronopost</a:t>
            </a:r>
            <a:endParaRPr lang="en-US" sz="1200" dirty="0"/>
          </a:p>
        </p:txBody>
      </p:sp>
      <p:sp>
        <p:nvSpPr>
          <p:cNvPr id="26" name="Text 24"/>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27" name="Shape 25"/>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28" name="Text 26">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sp>
        <p:nvSpPr>
          <p:cNvPr id="50" name="QR_BG"/>
          <p:cNvSpPr/>
          <p:nvPr/>
        </p:nvSpPr>
        <p:spPr>
          <a:xfrm>
            <a:off x="6409944" y="1810512"/>
            <a:ext cx="2011680" cy="2148840"/>
          </a:xfrm>
          <a:prstGeom prst="rect">
            <a:avLst/>
          </a:prstGeom>
          <a:solidFill>
            <a:srgbClr val="E1EBF7"/>
          </a:solidFill>
          <a:ln/>
          <a:effectLst>
            <a:outerShdw blurRad="101600" dist="25400" dir="8100000" algn="bl" rotWithShape="0">
              <a:srgbClr val="000000">
                <a:alpha val="40000"/>
              </a:srgbClr>
            </a:outerShdw>
          </a:effectLst>
        </p:spPr>
        <p:txBody>
          <a:bodyPr/>
          <a:lstStyle/>
          <a:p>
            <a:endParaRPr/>
          </a:p>
        </p:txBody>
      </p:sp>
      <p:sp>
        <p:nvSpPr>
          <p:cNvPr id="51" name="QR_Accent"/>
          <p:cNvSpPr/>
          <p:nvPr/>
        </p:nvSpPr>
        <p:spPr>
          <a:xfrm>
            <a:off x="6409944" y="1810512"/>
            <a:ext cx="2011680" cy="91440"/>
          </a:xfrm>
          <a:prstGeom prst="rect">
            <a:avLst/>
          </a:prstGeom>
          <a:solidFill>
            <a:srgbClr val="1565C0"/>
          </a:solidFill>
          <a:ln w="12700">
            <a:solidFill>
              <a:srgbClr val="1565C0"/>
            </a:solidFill>
            <a:prstDash val="solid"/>
          </a:ln>
        </p:spPr>
        <p:txBody>
          <a:bodyPr/>
          <a:lstStyle/>
          <a:p>
            <a:endParaRPr/>
          </a:p>
        </p:txBody>
      </p:sp>
      <p:sp>
        <p:nvSpPr>
          <p:cNvPr id="52" name="QR_Icon"/>
          <p:cNvSpPr/>
          <p:nvPr/>
        </p:nvSpPr>
        <p:spPr>
          <a:xfrm>
            <a:off x="6409944" y="1938528"/>
            <a:ext cx="2011680" cy="548640"/>
          </a:xfrm>
          <a:prstGeom prst="rect">
            <a:avLst/>
          </a:prstGeom>
          <a:noFill/>
          <a:ln/>
        </p:spPr>
        <p:txBody>
          <a:bodyPr wrap="square" lIns="0" tIns="0" rIns="0" bIns="0" rtlCol="0" anchor="ctr"/>
          <a:lstStyle/>
          <a:p>
            <a:pPr marL="0" indent="0">
              <a:buNone/>
            </a:pPr>
            <a:r>
              <a:rPr lang="fr-FR" sz="3000" b="0" dirty="0">
                <a:solidFill>
                  <a:srgbClr val="1E293B"/>
                </a:solidFill>
              </a:rPr>
              <a:t>📷</a:t>
            </a:r>
          </a:p>
        </p:txBody>
      </p:sp>
      <p:sp>
        <p:nvSpPr>
          <p:cNvPr id="53" name="QR_Label"/>
          <p:cNvSpPr/>
          <p:nvPr/>
        </p:nvSpPr>
        <p:spPr>
          <a:xfrm>
            <a:off x="6519672" y="2505456"/>
            <a:ext cx="1792224" cy="256032"/>
          </a:xfrm>
          <a:prstGeom prst="rect">
            <a:avLst/>
          </a:prstGeom>
          <a:noFill/>
          <a:ln/>
        </p:spPr>
        <p:txBody>
          <a:bodyPr wrap="square" lIns="0" tIns="0" rIns="0" bIns="0" rtlCol="0" anchor="ctr"/>
          <a:lstStyle/>
          <a:p>
            <a:pPr marL="0" indent="0">
              <a:buNone/>
            </a:pPr>
            <a:r>
              <a:rPr lang="fr-FR" sz="1100" b="0" i="1" dirty="0">
                <a:solidFill>
                  <a:srgbClr val="1565C0"/>
                </a:solidFill>
                <a:latin typeface="Calibri" pitchFamily="34" charset="0"/>
              </a:rPr>
              <a:t>Par QR code</a:t>
            </a:r>
          </a:p>
        </p:txBody>
      </p:sp>
      <p:sp>
        <p:nvSpPr>
          <p:cNvPr id="54" name="QR_Title"/>
          <p:cNvSpPr/>
          <p:nvPr/>
        </p:nvSpPr>
        <p:spPr>
          <a:xfrm>
            <a:off x="6519672" y="2743200"/>
            <a:ext cx="1792224" cy="347472"/>
          </a:xfrm>
          <a:prstGeom prst="rect">
            <a:avLst/>
          </a:prstGeom>
          <a:noFill/>
          <a:ln/>
        </p:spPr>
        <p:txBody>
          <a:bodyPr wrap="square" lIns="0" tIns="0" rIns="0" bIns="0" rtlCol="0" anchor="ctr"/>
          <a:lstStyle/>
          <a:p>
            <a:pPr marL="0" indent="0">
              <a:buNone/>
            </a:pPr>
            <a:r>
              <a:rPr lang="fr-FR" sz="1600" b="1" dirty="0">
                <a:solidFill>
                  <a:srgbClr val="1E293B"/>
                </a:solidFill>
                <a:latin typeface="Calibri" pitchFamily="34" charset="0"/>
              </a:rPr>
              <a:t>Quishing</a:t>
            </a:r>
          </a:p>
        </p:txBody>
      </p:sp>
      <p:sp>
        <p:nvSpPr>
          <p:cNvPr id="55" name="QR_Desc"/>
          <p:cNvSpPr/>
          <p:nvPr/>
        </p:nvSpPr>
        <p:spPr>
          <a:xfrm>
            <a:off x="6519672" y="3145536"/>
            <a:ext cx="1792224" cy="713232"/>
          </a:xfrm>
          <a:prstGeom prst="rect">
            <a:avLst/>
          </a:prstGeom>
          <a:noFill/>
          <a:ln/>
        </p:spPr>
        <p:txBody>
          <a:bodyPr wrap="square" lIns="0" tIns="0" rIns="0" bIns="0" rtlCol="0" anchor="t"/>
          <a:lstStyle/>
          <a:p>
            <a:pPr marL="0" indent="0">
              <a:buNone/>
            </a:pPr>
            <a:r>
              <a:rPr lang="fr-FR" sz="1100" b="0" dirty="0">
                <a:solidFill>
                  <a:srgbClr val="262638"/>
                </a:solidFill>
                <a:latin typeface="Calibri" pitchFamily="34" charset="0"/>
              </a:rPr>
              <a:t>Faux QR code dans un mail, un SMS ou une affiche pour voler vos données.</a:t>
            </a:r>
          </a:p>
        </p:txBody>
      </p:sp>
      <p:sp>
        <p:nvSpPr>
          <p:cNvPr id="65" name="VideoBtn_8">
            <a:hlinkClick r:id="rId4"/>
          </p:cNvPr>
          <p:cNvSpPr>
            <a:spLocks noGrp="1"/>
          </p:cNvSpPr>
          <p:nvPr/>
        </p:nvSpPr>
        <p:spPr>
          <a:xfrm>
            <a:off x="6500000" y="130000"/>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Qu'est-ce que le phishing ?</a:t>
            </a:r>
          </a:p>
        </p:txBody>
      </p:sp>
      <p:pic>
        <p:nvPicPr>
          <p:cNvPr id="66" name="Picture 65" descr="logo_sig.png"/>
          <p:cNvPicPr>
            <a:picLocks noChangeAspect="1"/>
          </p:cNvPicPr>
          <p:nvPr/>
        </p:nvPicPr>
        <p:blipFill>
          <a:blip r:embed="rId5"/>
          <a:stretch>
            <a:fillRect/>
          </a:stretch>
        </p:blipFill>
        <p:spPr>
          <a:xfrm>
            <a:off x="40143" y="40143"/>
            <a:ext cx="413491" cy="413491"/>
          </a:xfrm>
          <a:prstGeom prst="rect">
            <a:avLst/>
          </a:prstGeom>
        </p:spPr>
      </p:pic>
      <p:sp>
        <p:nvSpPr>
          <p:cNvPr id="29" name="ZoneTexte 28">
            <a:extLst>
              <a:ext uri="{FF2B5EF4-FFF2-40B4-BE49-F238E27FC236}">
                <a16:creationId xmlns:a16="http://schemas.microsoft.com/office/drawing/2014/main" id="{7FD02181-CB29-3397-F6D1-3B4FBEBFC1C4}"/>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000" b="1" dirty="0">
                <a:solidFill>
                  <a:srgbClr val="1E293B"/>
                </a:solidFill>
                <a:latin typeface="Arial Black" pitchFamily="34" charset="0"/>
                <a:ea typeface="Arial Black" pitchFamily="34" charset="-122"/>
                <a:cs typeface="Arial Black" pitchFamily="34" charset="-120"/>
              </a:rPr>
              <a:t>Vrais vs Faux messages — SMS &amp; E-mails officiels</a:t>
            </a:r>
            <a:endParaRPr lang="en-US" sz="2000" dirty="0"/>
          </a:p>
        </p:txBody>
      </p:sp>
      <p:sp>
        <p:nvSpPr>
          <p:cNvPr id="4" name="Shape 2"/>
          <p:cNvSpPr/>
          <p:nvPr/>
        </p:nvSpPr>
        <p:spPr>
          <a:xfrm>
            <a:off x="228600" y="868680"/>
            <a:ext cx="2743200" cy="3977640"/>
          </a:xfrm>
          <a:prstGeom prst="rect">
            <a:avLst/>
          </a:prstGeom>
          <a:solidFill>
            <a:srgbClr val="F3F3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914400"/>
            <a:ext cx="2651760" cy="3886200"/>
          </a:xfrm>
          <a:prstGeom prst="rect">
            <a:avLst/>
          </a:prstGeom>
          <a:solidFill>
            <a:srgbClr val="E1E7F7"/>
          </a:solidFill>
          <a:ln w="12700">
            <a:solidFill>
              <a:srgbClr val="C7D0DC"/>
            </a:solidFill>
            <a:prstDash val="solid"/>
          </a:ln>
        </p:spPr>
        <p:txBody>
          <a:bodyPr/>
          <a:lstStyle/>
          <a:p>
            <a:endParaRPr lang="fr-FR"/>
          </a:p>
        </p:txBody>
      </p:sp>
      <p:sp>
        <p:nvSpPr>
          <p:cNvPr id="6" name="Shape 4"/>
          <p:cNvSpPr/>
          <p:nvPr/>
        </p:nvSpPr>
        <p:spPr>
          <a:xfrm>
            <a:off x="274320" y="914400"/>
            <a:ext cx="2651760" cy="365760"/>
          </a:xfrm>
          <a:prstGeom prst="rect">
            <a:avLst/>
          </a:prstGeom>
          <a:solidFill>
            <a:srgbClr val="27AE60"/>
          </a:solidFill>
          <a:ln w="12700">
            <a:solidFill>
              <a:srgbClr val="27AE60"/>
            </a:solidFill>
            <a:prstDash val="solid"/>
          </a:ln>
        </p:spPr>
        <p:txBody>
          <a:bodyPr/>
          <a:lstStyle/>
          <a:p>
            <a:endParaRPr lang="fr-FR"/>
          </a:p>
        </p:txBody>
      </p:sp>
      <p:sp>
        <p:nvSpPr>
          <p:cNvPr id="7" name="Text 5"/>
          <p:cNvSpPr/>
          <p:nvPr/>
        </p:nvSpPr>
        <p:spPr>
          <a:xfrm>
            <a:off x="274320" y="914400"/>
            <a:ext cx="2651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 Ameli (CPAM)</a:t>
            </a:r>
            <a:endParaRPr lang="en-US" sz="1000" dirty="0"/>
          </a:p>
        </p:txBody>
      </p:sp>
      <p:sp>
        <p:nvSpPr>
          <p:cNvPr id="8" name="Shape 6"/>
          <p:cNvSpPr/>
          <p:nvPr/>
        </p:nvSpPr>
        <p:spPr>
          <a:xfrm>
            <a:off x="731520" y="1371600"/>
            <a:ext cx="1737360" cy="274320"/>
          </a:xfrm>
          <a:prstGeom prst="rect">
            <a:avLst/>
          </a:prstGeom>
          <a:solidFill>
            <a:srgbClr val="27AE60"/>
          </a:solidFill>
          <a:ln w="12700">
            <a:solidFill>
              <a:srgbClr val="27AE60"/>
            </a:solidFill>
            <a:prstDash val="solid"/>
          </a:ln>
        </p:spPr>
        <p:txBody>
          <a:bodyPr/>
          <a:lstStyle/>
          <a:p>
            <a:endParaRPr lang="fr-FR"/>
          </a:p>
        </p:txBody>
      </p:sp>
      <p:sp>
        <p:nvSpPr>
          <p:cNvPr id="9" name="Text 7"/>
          <p:cNvSpPr/>
          <p:nvPr/>
        </p:nvSpPr>
        <p:spPr>
          <a:xfrm>
            <a:off x="731520" y="13716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VRAI SMS OFFICIEL</a:t>
            </a:r>
            <a:endParaRPr lang="en-US" sz="1000" dirty="0"/>
          </a:p>
        </p:txBody>
      </p:sp>
      <p:sp>
        <p:nvSpPr>
          <p:cNvPr id="10" name="Shape 8"/>
          <p:cNvSpPr/>
          <p:nvPr/>
        </p:nvSpPr>
        <p:spPr>
          <a:xfrm>
            <a:off x="365760" y="1737360"/>
            <a:ext cx="2468880" cy="1481328"/>
          </a:xfrm>
          <a:prstGeom prst="rect">
            <a:avLst/>
          </a:prstGeom>
          <a:solidFill>
            <a:srgbClr val="E1F7E9"/>
          </a:solidFill>
          <a:ln w="12700">
            <a:solidFill>
              <a:srgbClr val="C7D0DC"/>
            </a:solidFill>
            <a:prstDash val="solid"/>
          </a:ln>
        </p:spPr>
        <p:txBody>
          <a:bodyPr/>
          <a:lstStyle/>
          <a:p>
            <a:endParaRPr lang="fr-FR"/>
          </a:p>
        </p:txBody>
      </p:sp>
      <p:sp>
        <p:nvSpPr>
          <p:cNvPr id="11" name="Text 9"/>
          <p:cNvSpPr/>
          <p:nvPr/>
        </p:nvSpPr>
        <p:spPr>
          <a:xfrm>
            <a:off x="429768" y="1783080"/>
            <a:ext cx="2340864" cy="138988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Ameli : Votre remboursement de 18,50€ du 28/04 a été versé sur votre compte. Consultez le détail sur ameli.fr</a:t>
            </a:r>
            <a:endParaRPr lang="en-US" sz="1050" dirty="0"/>
          </a:p>
        </p:txBody>
      </p:sp>
      <p:sp>
        <p:nvSpPr>
          <p:cNvPr id="12" name="Shape 10"/>
          <p:cNvSpPr/>
          <p:nvPr/>
        </p:nvSpPr>
        <p:spPr>
          <a:xfrm>
            <a:off x="338328" y="3300984"/>
            <a:ext cx="2523744" cy="1417320"/>
          </a:xfrm>
          <a:prstGeom prst="rect">
            <a:avLst/>
          </a:prstGeom>
          <a:solidFill>
            <a:srgbClr val="E1F7E8"/>
          </a:solidFill>
          <a:ln w="6350">
            <a:solidFill>
              <a:srgbClr val="27AE60"/>
            </a:solidFill>
            <a:prstDash val="solid"/>
          </a:ln>
        </p:spPr>
        <p:txBody>
          <a:bodyPr/>
          <a:lstStyle/>
          <a:p>
            <a:endParaRPr lang="fr-FR"/>
          </a:p>
        </p:txBody>
      </p:sp>
      <p:sp>
        <p:nvSpPr>
          <p:cNvPr id="13" name="Text 11"/>
          <p:cNvSpPr/>
          <p:nvPr/>
        </p:nvSpPr>
        <p:spPr>
          <a:xfrm>
            <a:off x="393192" y="3355848"/>
            <a:ext cx="2414016" cy="1316736"/>
          </a:xfrm>
          <a:prstGeom prst="rect">
            <a:avLst/>
          </a:prstGeom>
          <a:noFill/>
          <a:ln/>
        </p:spPr>
        <p:txBody>
          <a:bodyPr wrap="square" lIns="0" tIns="0" rIns="0" bIns="0" rtlCol="0" anchor="ctr"/>
          <a:lstStyle/>
          <a:p>
            <a:pPr marL="0" indent="0">
              <a:buNone/>
            </a:pPr>
            <a:r>
              <a:rPr lang="en-US" sz="900" dirty="0">
                <a:solidFill>
                  <a:srgbClr val="193822"/>
                </a:solidFill>
                <a:latin typeface="Calibri" pitchFamily="34" charset="0"/>
                <a:ea typeface="Calibri" pitchFamily="34" charset="-122"/>
                <a:cs typeface="Calibri" pitchFamily="34" charset="-120"/>
              </a:rPr>
              <a:t>✓ Aucun lien à cliquer</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Aucune demande d'info</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Informe seulement</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Renvoie au site officiel</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(ameli.fr)</a:t>
            </a:r>
            <a:endParaRPr lang="en-US" sz="900" dirty="0"/>
          </a:p>
        </p:txBody>
      </p:sp>
      <p:sp>
        <p:nvSpPr>
          <p:cNvPr id="14" name="Shape 12"/>
          <p:cNvSpPr/>
          <p:nvPr/>
        </p:nvSpPr>
        <p:spPr>
          <a:xfrm>
            <a:off x="3200400" y="868680"/>
            <a:ext cx="2743200" cy="3977640"/>
          </a:xfrm>
          <a:prstGeom prst="rect">
            <a:avLst/>
          </a:prstGeom>
          <a:solidFill>
            <a:srgbClr val="F3F3F7"/>
          </a:solidFill>
          <a:ln/>
          <a:effectLst>
            <a:outerShdw blurRad="101600" dist="25400" dir="8100000" algn="bl" rotWithShape="0">
              <a:srgbClr val="000000">
                <a:alpha val="10000"/>
              </a:srgbClr>
            </a:outerShdw>
          </a:effectLst>
        </p:spPr>
        <p:txBody>
          <a:bodyPr/>
          <a:lstStyle/>
          <a:p>
            <a:endParaRPr lang="fr-FR"/>
          </a:p>
        </p:txBody>
      </p:sp>
      <p:sp>
        <p:nvSpPr>
          <p:cNvPr id="15" name="Shape 13"/>
          <p:cNvSpPr/>
          <p:nvPr/>
        </p:nvSpPr>
        <p:spPr>
          <a:xfrm>
            <a:off x="3246120" y="914400"/>
            <a:ext cx="2651760" cy="3886200"/>
          </a:xfrm>
          <a:prstGeom prst="rect">
            <a:avLst/>
          </a:prstGeom>
          <a:solidFill>
            <a:srgbClr val="E1E7F7"/>
          </a:solidFill>
          <a:ln w="12700">
            <a:solidFill>
              <a:srgbClr val="C7D0DC"/>
            </a:solidFill>
            <a:prstDash val="solid"/>
          </a:ln>
        </p:spPr>
        <p:txBody>
          <a:bodyPr/>
          <a:lstStyle/>
          <a:p>
            <a:endParaRPr lang="fr-FR"/>
          </a:p>
        </p:txBody>
      </p:sp>
      <p:sp>
        <p:nvSpPr>
          <p:cNvPr id="16" name="Shape 14"/>
          <p:cNvSpPr/>
          <p:nvPr/>
        </p:nvSpPr>
        <p:spPr>
          <a:xfrm>
            <a:off x="3246120" y="914400"/>
            <a:ext cx="2651760" cy="365760"/>
          </a:xfrm>
          <a:prstGeom prst="rect">
            <a:avLst/>
          </a:prstGeom>
          <a:solidFill>
            <a:srgbClr val="C2544A"/>
          </a:solidFill>
          <a:ln w="12700">
            <a:solidFill>
              <a:srgbClr val="C2544A"/>
            </a:solidFill>
            <a:prstDash val="solid"/>
          </a:ln>
        </p:spPr>
        <p:txBody>
          <a:bodyPr/>
          <a:lstStyle/>
          <a:p>
            <a:endParaRPr lang="fr-FR"/>
          </a:p>
        </p:txBody>
      </p:sp>
      <p:sp>
        <p:nvSpPr>
          <p:cNvPr id="17" name="Text 15"/>
          <p:cNvSpPr/>
          <p:nvPr/>
        </p:nvSpPr>
        <p:spPr>
          <a:xfrm>
            <a:off x="3246120" y="914400"/>
            <a:ext cx="2651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 La Poste (faux)</a:t>
            </a:r>
            <a:endParaRPr lang="en-US" sz="1000" dirty="0"/>
          </a:p>
        </p:txBody>
      </p:sp>
      <p:sp>
        <p:nvSpPr>
          <p:cNvPr id="18" name="Shape 16"/>
          <p:cNvSpPr/>
          <p:nvPr/>
        </p:nvSpPr>
        <p:spPr>
          <a:xfrm>
            <a:off x="3703320" y="1371600"/>
            <a:ext cx="1737360" cy="274320"/>
          </a:xfrm>
          <a:prstGeom prst="rect">
            <a:avLst/>
          </a:prstGeom>
          <a:solidFill>
            <a:srgbClr val="C2544A"/>
          </a:solidFill>
          <a:ln w="12700">
            <a:solidFill>
              <a:srgbClr val="C2544A"/>
            </a:solidFill>
            <a:prstDash val="solid"/>
          </a:ln>
        </p:spPr>
        <p:txBody>
          <a:bodyPr/>
          <a:lstStyle/>
          <a:p>
            <a:endParaRPr lang="fr-FR"/>
          </a:p>
        </p:txBody>
      </p:sp>
      <p:sp>
        <p:nvSpPr>
          <p:cNvPr id="19" name="Text 17"/>
          <p:cNvSpPr/>
          <p:nvPr/>
        </p:nvSpPr>
        <p:spPr>
          <a:xfrm>
            <a:off x="3703320" y="13716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FAUX SMS — ARNAQUE</a:t>
            </a:r>
            <a:endParaRPr lang="en-US" sz="1000" dirty="0"/>
          </a:p>
        </p:txBody>
      </p:sp>
      <p:sp>
        <p:nvSpPr>
          <p:cNvPr id="20" name="Shape 18"/>
          <p:cNvSpPr/>
          <p:nvPr/>
        </p:nvSpPr>
        <p:spPr>
          <a:xfrm>
            <a:off x="3337560" y="1737360"/>
            <a:ext cx="2468880" cy="1481328"/>
          </a:xfrm>
          <a:prstGeom prst="rect">
            <a:avLst/>
          </a:prstGeom>
          <a:solidFill>
            <a:srgbClr val="F7E1E1"/>
          </a:solidFill>
          <a:ln w="12700">
            <a:solidFill>
              <a:srgbClr val="C7D0DC"/>
            </a:solidFill>
            <a:prstDash val="solid"/>
          </a:ln>
        </p:spPr>
        <p:txBody>
          <a:bodyPr/>
          <a:lstStyle/>
          <a:p>
            <a:endParaRPr lang="fr-FR"/>
          </a:p>
        </p:txBody>
      </p:sp>
      <p:sp>
        <p:nvSpPr>
          <p:cNvPr id="21" name="Text 19"/>
          <p:cNvSpPr/>
          <p:nvPr/>
        </p:nvSpPr>
        <p:spPr>
          <a:xfrm>
            <a:off x="3401568" y="1783080"/>
            <a:ext cx="2340864" cy="138988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La-Poste : Votre colis n°FR8823 est en attente. Des frais de 2,49€ sont dus. Réglez avant 24h :</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laposte-paiement-fr.net</a:t>
            </a:r>
            <a:endParaRPr lang="en-US" sz="1050" dirty="0"/>
          </a:p>
        </p:txBody>
      </p:sp>
      <p:sp>
        <p:nvSpPr>
          <p:cNvPr id="22" name="Shape 20"/>
          <p:cNvSpPr/>
          <p:nvPr/>
        </p:nvSpPr>
        <p:spPr>
          <a:xfrm>
            <a:off x="3310128" y="3300984"/>
            <a:ext cx="2523744" cy="1417320"/>
          </a:xfrm>
          <a:prstGeom prst="rect">
            <a:avLst/>
          </a:prstGeom>
          <a:solidFill>
            <a:srgbClr val="F7E1E1"/>
          </a:solidFill>
          <a:ln w="6350">
            <a:solidFill>
              <a:srgbClr val="C2544A"/>
            </a:solidFill>
            <a:prstDash val="solid"/>
          </a:ln>
        </p:spPr>
        <p:txBody>
          <a:bodyPr/>
          <a:lstStyle/>
          <a:p>
            <a:endParaRPr lang="fr-FR"/>
          </a:p>
        </p:txBody>
      </p:sp>
      <p:sp>
        <p:nvSpPr>
          <p:cNvPr id="23" name="Text 21"/>
          <p:cNvSpPr/>
          <p:nvPr/>
        </p:nvSpPr>
        <p:spPr>
          <a:xfrm>
            <a:off x="3364992" y="3355848"/>
            <a:ext cx="2414016" cy="1316736"/>
          </a:xfrm>
          <a:prstGeom prst="rect">
            <a:avLst/>
          </a:prstGeom>
          <a:noFill/>
          <a:ln/>
        </p:spPr>
        <p:txBody>
          <a:bodyPr wrap="square" lIns="0" tIns="0" rIns="0" bIns="0" rtlCol="0" anchor="ctr"/>
          <a:lstStyle/>
          <a:p>
            <a:pPr marL="0" indent="0">
              <a:buNone/>
            </a:pPr>
            <a:r>
              <a:rPr lang="en-US" sz="900" dirty="0">
                <a:solidFill>
                  <a:srgbClr val="381919"/>
                </a:solidFill>
                <a:latin typeface="Calibri" pitchFamily="34" charset="0"/>
                <a:ea typeface="Calibri" pitchFamily="34" charset="-122"/>
                <a:cs typeface="Calibri" pitchFamily="34" charset="-120"/>
              </a:rPr>
              <a:t>⛔ Domaine inventé (.net)</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Frais par SMS = jamais réel</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Urgence artificielle (24h)</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La Poste ne demande</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JAMAIS de paiement par SMS</a:t>
            </a:r>
            <a:endParaRPr lang="en-US" sz="900" dirty="0"/>
          </a:p>
        </p:txBody>
      </p:sp>
      <p:sp>
        <p:nvSpPr>
          <p:cNvPr id="24" name="Shape 22"/>
          <p:cNvSpPr/>
          <p:nvPr/>
        </p:nvSpPr>
        <p:spPr>
          <a:xfrm>
            <a:off x="6172200" y="868680"/>
            <a:ext cx="2743200" cy="3977640"/>
          </a:xfrm>
          <a:prstGeom prst="rect">
            <a:avLst/>
          </a:prstGeom>
          <a:solidFill>
            <a:srgbClr val="F3F3F7"/>
          </a:solidFill>
          <a:ln/>
          <a:effectLst>
            <a:outerShdw blurRad="101600" dist="25400" dir="8100000" algn="bl" rotWithShape="0">
              <a:srgbClr val="000000">
                <a:alpha val="10000"/>
              </a:srgbClr>
            </a:outerShdw>
          </a:effectLst>
        </p:spPr>
        <p:txBody>
          <a:bodyPr/>
          <a:lstStyle/>
          <a:p>
            <a:endParaRPr lang="fr-FR"/>
          </a:p>
        </p:txBody>
      </p:sp>
      <p:sp>
        <p:nvSpPr>
          <p:cNvPr id="25" name="Shape 23"/>
          <p:cNvSpPr/>
          <p:nvPr/>
        </p:nvSpPr>
        <p:spPr>
          <a:xfrm>
            <a:off x="6217920" y="914400"/>
            <a:ext cx="2651760" cy="3886200"/>
          </a:xfrm>
          <a:prstGeom prst="rect">
            <a:avLst/>
          </a:prstGeom>
          <a:solidFill>
            <a:srgbClr val="E1E7F7"/>
          </a:solidFill>
          <a:ln w="12700">
            <a:solidFill>
              <a:srgbClr val="C7D0DC"/>
            </a:solidFill>
            <a:prstDash val="solid"/>
          </a:ln>
        </p:spPr>
        <p:txBody>
          <a:bodyPr/>
          <a:lstStyle/>
          <a:p>
            <a:endParaRPr lang="fr-FR"/>
          </a:p>
        </p:txBody>
      </p:sp>
      <p:sp>
        <p:nvSpPr>
          <p:cNvPr id="26" name="Shape 24"/>
          <p:cNvSpPr/>
          <p:nvPr/>
        </p:nvSpPr>
        <p:spPr>
          <a:xfrm>
            <a:off x="6217920" y="914400"/>
            <a:ext cx="2651760" cy="365760"/>
          </a:xfrm>
          <a:prstGeom prst="rect">
            <a:avLst/>
          </a:prstGeom>
          <a:solidFill>
            <a:srgbClr val="C2544A"/>
          </a:solidFill>
          <a:ln w="12700">
            <a:solidFill>
              <a:srgbClr val="C2544A"/>
            </a:solidFill>
            <a:prstDash val="solid"/>
          </a:ln>
        </p:spPr>
        <p:txBody>
          <a:bodyPr/>
          <a:lstStyle/>
          <a:p>
            <a:endParaRPr lang="fr-FR"/>
          </a:p>
        </p:txBody>
      </p:sp>
      <p:sp>
        <p:nvSpPr>
          <p:cNvPr id="27" name="Text 25"/>
          <p:cNvSpPr/>
          <p:nvPr/>
        </p:nvSpPr>
        <p:spPr>
          <a:xfrm>
            <a:off x="6217920" y="914400"/>
            <a:ext cx="2651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 Banque (faux)</a:t>
            </a:r>
            <a:endParaRPr lang="en-US" sz="1000" dirty="0"/>
          </a:p>
        </p:txBody>
      </p:sp>
      <p:sp>
        <p:nvSpPr>
          <p:cNvPr id="28" name="Shape 26"/>
          <p:cNvSpPr/>
          <p:nvPr/>
        </p:nvSpPr>
        <p:spPr>
          <a:xfrm>
            <a:off x="6675120" y="1371600"/>
            <a:ext cx="1737360" cy="274320"/>
          </a:xfrm>
          <a:prstGeom prst="rect">
            <a:avLst/>
          </a:prstGeom>
          <a:solidFill>
            <a:srgbClr val="C2544A"/>
          </a:solidFill>
          <a:ln w="12700">
            <a:solidFill>
              <a:srgbClr val="C2544A"/>
            </a:solidFill>
            <a:prstDash val="solid"/>
          </a:ln>
        </p:spPr>
        <p:txBody>
          <a:bodyPr/>
          <a:lstStyle/>
          <a:p>
            <a:endParaRPr lang="fr-FR"/>
          </a:p>
        </p:txBody>
      </p:sp>
      <p:sp>
        <p:nvSpPr>
          <p:cNvPr id="29" name="Text 27"/>
          <p:cNvSpPr/>
          <p:nvPr/>
        </p:nvSpPr>
        <p:spPr>
          <a:xfrm>
            <a:off x="6675120" y="13716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FAUX SMS — ARNAQUE</a:t>
            </a:r>
            <a:endParaRPr lang="en-US" sz="1000" dirty="0"/>
          </a:p>
        </p:txBody>
      </p:sp>
      <p:sp>
        <p:nvSpPr>
          <p:cNvPr id="30" name="Shape 28"/>
          <p:cNvSpPr/>
          <p:nvPr/>
        </p:nvSpPr>
        <p:spPr>
          <a:xfrm>
            <a:off x="6309360" y="1737360"/>
            <a:ext cx="2468880" cy="1481328"/>
          </a:xfrm>
          <a:prstGeom prst="rect">
            <a:avLst/>
          </a:prstGeom>
          <a:solidFill>
            <a:srgbClr val="F7E1E1"/>
          </a:solidFill>
          <a:ln w="12700">
            <a:solidFill>
              <a:srgbClr val="C7D0DC"/>
            </a:solidFill>
            <a:prstDash val="solid"/>
          </a:ln>
        </p:spPr>
        <p:txBody>
          <a:bodyPr/>
          <a:lstStyle/>
          <a:p>
            <a:endParaRPr lang="fr-FR"/>
          </a:p>
        </p:txBody>
      </p:sp>
      <p:sp>
        <p:nvSpPr>
          <p:cNvPr id="31" name="Text 29"/>
          <p:cNvSpPr/>
          <p:nvPr/>
        </p:nvSpPr>
        <p:spPr>
          <a:xfrm>
            <a:off x="6373368" y="1783080"/>
            <a:ext cx="2340864" cy="138988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CREDIT-AGRI : Activité suspecte sur votre compte. Vérifiez vos accès immédiatement :</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securite-ca-connexion.com</a:t>
            </a:r>
            <a:endParaRPr lang="en-US" sz="1050" dirty="0"/>
          </a:p>
        </p:txBody>
      </p:sp>
      <p:sp>
        <p:nvSpPr>
          <p:cNvPr id="32" name="Shape 30"/>
          <p:cNvSpPr/>
          <p:nvPr/>
        </p:nvSpPr>
        <p:spPr>
          <a:xfrm>
            <a:off x="6281928" y="3300984"/>
            <a:ext cx="2523744" cy="1417320"/>
          </a:xfrm>
          <a:prstGeom prst="rect">
            <a:avLst/>
          </a:prstGeom>
          <a:solidFill>
            <a:srgbClr val="F7E1E1"/>
          </a:solidFill>
          <a:ln w="6350">
            <a:solidFill>
              <a:srgbClr val="C2544A"/>
            </a:solidFill>
            <a:prstDash val="solid"/>
          </a:ln>
        </p:spPr>
        <p:txBody>
          <a:bodyPr/>
          <a:lstStyle/>
          <a:p>
            <a:endParaRPr lang="fr-FR"/>
          </a:p>
        </p:txBody>
      </p:sp>
      <p:sp>
        <p:nvSpPr>
          <p:cNvPr id="33" name="Text 31"/>
          <p:cNvSpPr/>
          <p:nvPr/>
        </p:nvSpPr>
        <p:spPr>
          <a:xfrm>
            <a:off x="6336792" y="3355848"/>
            <a:ext cx="2414016" cy="1316736"/>
          </a:xfrm>
          <a:prstGeom prst="rect">
            <a:avLst/>
          </a:prstGeom>
          <a:noFill/>
          <a:ln/>
        </p:spPr>
        <p:txBody>
          <a:bodyPr wrap="square" lIns="0" tIns="0" rIns="0" bIns="0" rtlCol="0" anchor="ctr"/>
          <a:lstStyle/>
          <a:p>
            <a:pPr marL="0" indent="0">
              <a:buNone/>
            </a:pPr>
            <a:r>
              <a:rPr lang="en-US" sz="900" dirty="0">
                <a:solidFill>
                  <a:srgbClr val="381919"/>
                </a:solidFill>
                <a:latin typeface="Calibri" pitchFamily="34" charset="0"/>
                <a:ea typeface="Calibri" pitchFamily="34" charset="-122"/>
                <a:cs typeface="Calibri" pitchFamily="34" charset="-120"/>
              </a:rPr>
              <a:t>⛔ Nom mal orthographié</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Domaine générique inventé</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Votre banque n'envoie</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JAMAIS de lien par SMS</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Urgence = manipulation</a:t>
            </a:r>
            <a:endParaRPr lang="en-US" sz="900" dirty="0"/>
          </a:p>
        </p:txBody>
      </p:sp>
      <p:sp>
        <p:nvSpPr>
          <p:cNvPr id="34" name="Shape 32"/>
          <p:cNvSpPr/>
          <p:nvPr/>
        </p:nvSpPr>
        <p:spPr>
          <a:xfrm>
            <a:off x="228600" y="4892040"/>
            <a:ext cx="8686800" cy="201168"/>
          </a:xfrm>
          <a:prstGeom prst="rect">
            <a:avLst/>
          </a:prstGeom>
          <a:solidFill>
            <a:srgbClr val="E1E4F7"/>
          </a:solidFill>
          <a:ln w="12700">
            <a:solidFill>
              <a:srgbClr val="C7D0DC"/>
            </a:solidFill>
            <a:prstDash val="solid"/>
          </a:ln>
        </p:spPr>
        <p:txBody>
          <a:bodyPr/>
          <a:lstStyle/>
          <a:p>
            <a:endParaRPr lang="fr-FR"/>
          </a:p>
        </p:txBody>
      </p:sp>
      <p:sp>
        <p:nvSpPr>
          <p:cNvPr id="35" name="Text 33"/>
          <p:cNvSpPr/>
          <p:nvPr/>
        </p:nvSpPr>
        <p:spPr>
          <a:xfrm>
            <a:off x="1296000" y="4892040"/>
            <a:ext cx="5688000" cy="201168"/>
          </a:xfrm>
          <a:prstGeom prst="rect">
            <a:avLst/>
          </a:prstGeom>
          <a:noFill/>
          <a:ln/>
        </p:spPr>
        <p:txBody>
          <a:bodyPr wrap="square" lIns="0" tIns="0" rIns="0" bIns="0" rtlCol="0" anchor="ctr"/>
          <a:lstStyle/>
          <a:p>
            <a:pPr marL="0" indent="0" algn="ctr">
              <a:buNone/>
            </a:pPr>
            <a:r>
              <a:rPr lang="en-US" sz="850" b="1" dirty="0">
                <a:solidFill>
                  <a:srgbClr val="27AE60"/>
                </a:solidFill>
                <a:latin typeface="Calibri" pitchFamily="34" charset="0"/>
                <a:ea typeface="Calibri" pitchFamily="34" charset="-122"/>
                <a:cs typeface="Calibri" pitchFamily="34" charset="-120"/>
              </a:rPr>
              <a:t>Règle d'or : </a:t>
            </a:r>
            <a:r>
              <a:rPr lang="en-US" sz="850" dirty="0">
                <a:solidFill>
                  <a:srgbClr val="1E293B"/>
                </a:solidFill>
                <a:latin typeface="Calibri" pitchFamily="34" charset="0"/>
                <a:ea typeface="Calibri" pitchFamily="34" charset="-122"/>
                <a:cs typeface="Calibri" pitchFamily="34" charset="-120"/>
              </a:rPr>
              <a:t>Un vrai SMS officiel informe sans jamais demander de cliquer ni de payer. En cas de doute → transférez au </a:t>
            </a:r>
            <a:r>
              <a:rPr lang="en-US" sz="850" b="1" dirty="0">
                <a:solidFill>
                  <a:srgbClr val="E67E22"/>
                </a:solidFill>
                <a:latin typeface="Calibri" pitchFamily="34" charset="0"/>
                <a:ea typeface="Calibri" pitchFamily="34" charset="-122"/>
                <a:cs typeface="Calibri" pitchFamily="34" charset="-120"/>
              </a:rPr>
              <a:t>33700</a:t>
            </a:r>
            <a:endParaRPr lang="en-US" sz="85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3" action="ppaction://hlinksldjump"/>
          </p:cNvPr>
          <p:cNvSpPr/>
          <p:nvPr/>
        </p:nvSpPr>
        <p:spPr>
          <a:xfrm>
            <a:off x="7863840" y="4800600"/>
            <a:ext cx="1143000" cy="27432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sp>
        <p:nvSpPr>
          <p:cNvPr id="960" name="EmailNote"/>
          <p:cNvSpPr>
            <a:spLocks noGrp="1"/>
          </p:cNvSpPr>
          <p:nvPr/>
        </p:nvSpPr>
        <p:spPr>
          <a:xfrm>
            <a:off x="171400" y="526782"/>
            <a:ext cx="8744000" cy="280000"/>
          </a:xfrm>
          <a:prstGeom prst="rect">
            <a:avLst/>
          </a:prstGeom>
          <a:solidFill>
            <a:srgbClr val="E1EBF7"/>
          </a:solidFill>
          <a:ln>
            <a:solidFill>
              <a:srgbClr val="22C55E"/>
            </a:solidFill>
          </a:ln>
        </p:spPr>
        <p:txBody>
          <a:bodyPr anchor="ctr"/>
          <a:lstStyle/>
          <a:p>
            <a:pPr algn="l"/>
            <a:r>
              <a:rPr lang="fr-FR" sz="900" b="1" dirty="0">
                <a:solidFill>
                  <a:srgbClr val="1E7D45"/>
                </a:solidFill>
                <a:latin typeface="Calibri"/>
              </a:rPr>
              <a:t>✓ E-mail officiel : </a:t>
            </a:r>
            <a:r>
              <a:rPr lang="fr-FR" sz="900" b="0" dirty="0">
                <a:solidFill>
                  <a:srgbClr val="334155"/>
                </a:solidFill>
                <a:latin typeface="Calibri"/>
              </a:rPr>
              <a:t>domaine @impots.gouv.fr / @caf.fr / @ameli.fr  ·  informe sans demander de cliquer  ·  jamais de RIB ni mot de passe  ·  ton neutre, aucune urgence</a:t>
            </a:r>
          </a:p>
        </p:txBody>
      </p:sp>
      <p:pic>
        <p:nvPicPr>
          <p:cNvPr id="961" name="Picture 960" descr="logo_sig.png"/>
          <p:cNvPicPr>
            <a:picLocks noChangeAspect="1"/>
          </p:cNvPicPr>
          <p:nvPr/>
        </p:nvPicPr>
        <p:blipFill>
          <a:blip r:embed="rId4"/>
          <a:stretch>
            <a:fillRect/>
          </a:stretch>
        </p:blipFill>
        <p:spPr>
          <a:xfrm>
            <a:off x="40143" y="40143"/>
            <a:ext cx="413491" cy="413491"/>
          </a:xfrm>
          <a:prstGeom prst="rect">
            <a:avLst/>
          </a:prstGeom>
        </p:spPr>
      </p:pic>
      <p:sp>
        <p:nvSpPr>
          <p:cNvPr id="38" name="ZoneTexte 37">
            <a:extLst>
              <a:ext uri="{FF2B5EF4-FFF2-40B4-BE49-F238E27FC236}">
                <a16:creationId xmlns:a16="http://schemas.microsoft.com/office/drawing/2014/main" id="{B88584E1-F381-44EB-C674-08300B777172}"/>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590842" y="45720"/>
            <a:ext cx="8187397" cy="658368"/>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Phishing 01 — Faux message imitant les Impôts (DGFiP)</a:t>
            </a:r>
            <a:endParaRPr lang="en-US" sz="1500" dirty="0"/>
          </a:p>
        </p:txBody>
      </p:sp>
      <p:sp>
        <p:nvSpPr>
          <p:cNvPr id="4" name="Shape 2"/>
          <p:cNvSpPr/>
          <p:nvPr/>
        </p:nvSpPr>
        <p:spPr>
          <a:xfrm>
            <a:off x="274320" y="868680"/>
            <a:ext cx="5212080" cy="310896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868680"/>
            <a:ext cx="5212080" cy="274320"/>
          </a:xfrm>
          <a:prstGeom prst="rect">
            <a:avLst/>
          </a:prstGeom>
          <a:solidFill>
            <a:srgbClr val="E1EBF7"/>
          </a:solidFill>
          <a:ln w="12700">
            <a:solidFill>
              <a:srgbClr val="C7D0DC"/>
            </a:solidFill>
            <a:prstDash val="solid"/>
          </a:ln>
        </p:spPr>
        <p:txBody>
          <a:bodyPr/>
          <a:lstStyle/>
          <a:p>
            <a:endParaRPr lang="fr-FR"/>
          </a:p>
        </p:txBody>
      </p:sp>
      <p:sp>
        <p:nvSpPr>
          <p:cNvPr id="6" name="Text 4"/>
          <p:cNvSpPr/>
          <p:nvPr/>
        </p:nvSpPr>
        <p:spPr>
          <a:xfrm>
            <a:off x="365760" y="905256"/>
            <a:ext cx="5029200" cy="201168"/>
          </a:xfrm>
          <a:prstGeom prst="rect">
            <a:avLst/>
          </a:prstGeom>
          <a:noFill/>
          <a:ln/>
        </p:spPr>
        <p:txBody>
          <a:bodyPr wrap="square" lIns="0" tIns="0" rIns="0" bIns="0" rtlCol="0" anchor="ctr"/>
          <a:lstStyle/>
          <a:p>
            <a:pPr marL="0" indent="0">
              <a:buNone/>
            </a:pPr>
            <a:r>
              <a:rPr lang="en-US" sz="850" dirty="0">
                <a:solidFill>
                  <a:srgbClr val="203038"/>
                </a:solidFill>
                <a:latin typeface="Calibri" pitchFamily="34" charset="0"/>
                <a:ea typeface="Calibri" pitchFamily="34" charset="-122"/>
                <a:cs typeface="Calibri" pitchFamily="34" charset="-120"/>
              </a:rPr>
              <a:t>Messagerie — Boîte de réception</a:t>
            </a:r>
            <a:endParaRPr lang="en-US" sz="850" dirty="0"/>
          </a:p>
        </p:txBody>
      </p:sp>
      <p:sp>
        <p:nvSpPr>
          <p:cNvPr id="7" name="Text 5"/>
          <p:cNvSpPr/>
          <p:nvPr/>
        </p:nvSpPr>
        <p:spPr>
          <a:xfrm>
            <a:off x="384048" y="119786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De : </a:t>
            </a:r>
            <a:r>
              <a:rPr lang="en-US" sz="1100" b="1" dirty="0">
                <a:solidFill>
                  <a:srgbClr val="C2544A"/>
                </a:solidFill>
                <a:latin typeface="Calibri" pitchFamily="34" charset="0"/>
                <a:ea typeface="Calibri" pitchFamily="34" charset="-122"/>
                <a:cs typeface="Calibri" pitchFamily="34" charset="-120"/>
              </a:rPr>
              <a:t>service-remboursement@dgfip-notification.com</a:t>
            </a:r>
            <a:endParaRPr lang="en-US" sz="1100" dirty="0"/>
          </a:p>
        </p:txBody>
      </p:sp>
      <p:sp>
        <p:nvSpPr>
          <p:cNvPr id="8" name="Shape 6"/>
          <p:cNvSpPr/>
          <p:nvPr/>
        </p:nvSpPr>
        <p:spPr>
          <a:xfrm>
            <a:off x="384048" y="1472184"/>
            <a:ext cx="4992624" cy="219456"/>
          </a:xfrm>
          <a:prstGeom prst="rect">
            <a:avLst/>
          </a:prstGeom>
          <a:solidFill>
            <a:srgbClr val="F7E1E1"/>
          </a:solidFill>
          <a:ln w="6350">
            <a:solidFill>
              <a:srgbClr val="C2544A"/>
            </a:solidFill>
            <a:prstDash val="solid"/>
          </a:ln>
        </p:spPr>
        <p:txBody>
          <a:bodyPr/>
          <a:lstStyle/>
          <a:p>
            <a:endParaRPr lang="fr-FR"/>
          </a:p>
        </p:txBody>
      </p:sp>
      <p:sp>
        <p:nvSpPr>
          <p:cNvPr id="9" name="Text 7"/>
          <p:cNvSpPr/>
          <p:nvPr/>
        </p:nvSpPr>
        <p:spPr>
          <a:xfrm>
            <a:off x="438912" y="1490472"/>
            <a:ext cx="4937760" cy="182880"/>
          </a:xfrm>
          <a:prstGeom prst="rect">
            <a:avLst/>
          </a:prstGeom>
          <a:noFill/>
          <a:ln/>
        </p:spPr>
        <p:txBody>
          <a:bodyPr wrap="square" lIns="0" tIns="0" rIns="0" bIns="0" rtlCol="0" anchor="ctr"/>
          <a:lstStyle/>
          <a:p>
            <a:pPr marL="0" indent="0">
              <a:buNone/>
            </a:pPr>
            <a:r>
              <a:rPr lang="en-US" sz="850" dirty="0">
                <a:solidFill>
                  <a:srgbClr val="C2544A"/>
                </a:solidFill>
                <a:latin typeface="Calibri" pitchFamily="34" charset="0"/>
                <a:ea typeface="Calibri" pitchFamily="34" charset="-122"/>
                <a:cs typeface="Calibri" pitchFamily="34" charset="-120"/>
              </a:rPr>
              <a:t>⚠ dgfip-notification.com — domaine inventé (le vrai est impots.gouv.fr)</a:t>
            </a:r>
            <a:endParaRPr lang="en-US" sz="850" dirty="0"/>
          </a:p>
        </p:txBody>
      </p:sp>
      <p:sp>
        <p:nvSpPr>
          <p:cNvPr id="10" name="Text 8"/>
          <p:cNvSpPr/>
          <p:nvPr/>
        </p:nvSpPr>
        <p:spPr>
          <a:xfrm>
            <a:off x="384048" y="174650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Objet : </a:t>
            </a:r>
            <a:r>
              <a:rPr lang="en-US" sz="1100" b="1" dirty="0">
                <a:solidFill>
                  <a:srgbClr val="1E293B"/>
                </a:solidFill>
                <a:latin typeface="Calibri" pitchFamily="34" charset="0"/>
                <a:ea typeface="Calibri" pitchFamily="34" charset="-122"/>
                <a:cs typeface="Calibri" pitchFamily="34" charset="-120"/>
              </a:rPr>
              <a:t>URGENT — Remboursement fiscal de 347,00€ en attente</a:t>
            </a:r>
            <a:endParaRPr lang="en-US" sz="1100" dirty="0"/>
          </a:p>
        </p:txBody>
      </p:sp>
      <p:sp>
        <p:nvSpPr>
          <p:cNvPr id="11" name="Shape 9"/>
          <p:cNvSpPr/>
          <p:nvPr/>
        </p:nvSpPr>
        <p:spPr>
          <a:xfrm>
            <a:off x="384048" y="2057400"/>
            <a:ext cx="4992624" cy="0"/>
          </a:xfrm>
          <a:prstGeom prst="line">
            <a:avLst/>
          </a:prstGeom>
          <a:noFill/>
          <a:ln w="12700">
            <a:solidFill>
              <a:srgbClr val="253545"/>
            </a:solidFill>
            <a:prstDash val="solid"/>
          </a:ln>
        </p:spPr>
        <p:txBody>
          <a:bodyPr/>
          <a:lstStyle/>
          <a:p>
            <a:endParaRPr lang="fr-FR"/>
          </a:p>
        </p:txBody>
      </p:sp>
      <p:sp>
        <p:nvSpPr>
          <p:cNvPr id="12" name="Text 10"/>
          <p:cNvSpPr/>
          <p:nvPr/>
        </p:nvSpPr>
        <p:spPr>
          <a:xfrm>
            <a:off x="384048" y="2130552"/>
            <a:ext cx="4992624" cy="96012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Madame, Monsieur,</a:t>
            </a:r>
            <a:endParaRPr lang="en-US" sz="1100" dirty="0"/>
          </a:p>
          <a:p>
            <a:pPr marL="0" indent="0">
              <a:buNone/>
            </a:pP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Suite à l'analyse de votre dossier fiscal, vous bénéficiez d'un remboursement de 347,00 EUR.</a:t>
            </a: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Veuillez confirmer vos coordonnées bancaires dans les 48 heures sous peine d'annulation.</a:t>
            </a:r>
            <a:endParaRPr lang="en-US" sz="1100" dirty="0"/>
          </a:p>
        </p:txBody>
      </p:sp>
      <p:sp>
        <p:nvSpPr>
          <p:cNvPr id="13" name="Shape 11"/>
          <p:cNvSpPr/>
          <p:nvPr/>
        </p:nvSpPr>
        <p:spPr>
          <a:xfrm>
            <a:off x="384048" y="3172968"/>
            <a:ext cx="2331720" cy="329184"/>
          </a:xfrm>
          <a:prstGeom prst="rect">
            <a:avLst/>
          </a:prstGeom>
          <a:solidFill>
            <a:srgbClr val="1565C0"/>
          </a:solidFill>
          <a:ln w="12700">
            <a:solidFill>
              <a:srgbClr val="1565C0"/>
            </a:solidFill>
            <a:prstDash val="solid"/>
          </a:ln>
        </p:spPr>
        <p:txBody>
          <a:bodyPr/>
          <a:lstStyle/>
          <a:p>
            <a:endParaRPr lang="fr-FR"/>
          </a:p>
        </p:txBody>
      </p:sp>
      <p:sp>
        <p:nvSpPr>
          <p:cNvPr id="14" name="Text 12"/>
          <p:cNvSpPr/>
          <p:nvPr/>
        </p:nvSpPr>
        <p:spPr>
          <a:xfrm>
            <a:off x="384048" y="3172968"/>
            <a:ext cx="23317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Accéder à mon espace remboursement</a:t>
            </a:r>
            <a:endParaRPr lang="en-US" sz="900" dirty="0"/>
          </a:p>
        </p:txBody>
      </p:sp>
      <p:sp>
        <p:nvSpPr>
          <p:cNvPr id="15" name="Shape 13"/>
          <p:cNvSpPr/>
          <p:nvPr/>
        </p:nvSpPr>
        <p:spPr>
          <a:xfrm>
            <a:off x="384048" y="3538728"/>
            <a:ext cx="2331720" cy="201168"/>
          </a:xfrm>
          <a:prstGeom prst="rect">
            <a:avLst/>
          </a:prstGeom>
          <a:solidFill>
            <a:srgbClr val="F7E1E1"/>
          </a:solidFill>
          <a:ln w="6350">
            <a:solidFill>
              <a:srgbClr val="C2544A"/>
            </a:solidFill>
            <a:prstDash val="solid"/>
          </a:ln>
        </p:spPr>
        <p:txBody>
          <a:bodyPr/>
          <a:lstStyle/>
          <a:p>
            <a:endParaRPr lang="fr-FR"/>
          </a:p>
        </p:txBody>
      </p:sp>
      <p:sp>
        <p:nvSpPr>
          <p:cNvPr id="16" name="Text 14"/>
          <p:cNvSpPr/>
          <p:nvPr/>
        </p:nvSpPr>
        <p:spPr>
          <a:xfrm>
            <a:off x="384048" y="3538728"/>
            <a:ext cx="2331720" cy="201168"/>
          </a:xfrm>
          <a:prstGeom prst="rect">
            <a:avLst/>
          </a:prstGeom>
          <a:noFill/>
          <a:ln/>
        </p:spPr>
        <p:txBody>
          <a:bodyPr wrap="square" lIns="0" tIns="0" rIns="0" bIns="0" rtlCol="0" anchor="ctr"/>
          <a:lstStyle/>
          <a:p>
            <a:pPr marL="0" indent="0" algn="ctr">
              <a:buNone/>
            </a:pPr>
            <a:r>
              <a:rPr lang="en-US" sz="800" b="1" dirty="0">
                <a:solidFill>
                  <a:srgbClr val="C2544A"/>
                </a:solidFill>
                <a:latin typeface="Calibri" pitchFamily="34" charset="0"/>
                <a:ea typeface="Calibri" pitchFamily="34" charset="-122"/>
                <a:cs typeface="Calibri" pitchFamily="34" charset="-120"/>
              </a:rPr>
              <a:t>⛔ LIEN PIÉGÉ — NE JAMAIS CLIQUER</a:t>
            </a:r>
            <a:endParaRPr lang="en-US" sz="800" dirty="0"/>
          </a:p>
        </p:txBody>
      </p:sp>
      <p:sp>
        <p:nvSpPr>
          <p:cNvPr id="17" name="Text 15"/>
          <p:cNvSpPr/>
          <p:nvPr/>
        </p:nvSpPr>
        <p:spPr>
          <a:xfrm>
            <a:off x="384048" y="3776472"/>
            <a:ext cx="4992624" cy="164592"/>
          </a:xfrm>
          <a:prstGeom prst="rect">
            <a:avLst/>
          </a:prstGeom>
          <a:noFill/>
          <a:ln/>
        </p:spPr>
        <p:txBody>
          <a:bodyPr wrap="square" lIns="0" tIns="0" rIns="0" bIns="0" rtlCol="0" anchor="ctr"/>
          <a:lstStyle/>
          <a:p>
            <a:pPr marL="0" indent="0">
              <a:buNone/>
            </a:pPr>
            <a:r>
              <a:rPr lang="en-US" sz="850" i="1" dirty="0">
                <a:solidFill>
                  <a:srgbClr val="242E38"/>
                </a:solidFill>
                <a:latin typeface="Calibri" pitchFamily="34" charset="0"/>
                <a:ea typeface="Calibri" pitchFamily="34" charset="-122"/>
                <a:cs typeface="Calibri" pitchFamily="34" charset="-120"/>
              </a:rPr>
              <a:t>Direction Générale des Finances Publiques</a:t>
            </a:r>
            <a:endParaRPr lang="en-US" sz="850" dirty="0"/>
          </a:p>
        </p:txBody>
      </p:sp>
      <p:sp>
        <p:nvSpPr>
          <p:cNvPr id="18" name="Shape 16"/>
          <p:cNvSpPr/>
          <p:nvPr/>
        </p:nvSpPr>
        <p:spPr>
          <a:xfrm>
            <a:off x="5669280" y="868680"/>
            <a:ext cx="3246120" cy="3108960"/>
          </a:xfrm>
          <a:prstGeom prst="rect">
            <a:avLst/>
          </a:prstGeom>
          <a:solidFill>
            <a:srgbClr val="F7E1E1"/>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5779008" y="905256"/>
            <a:ext cx="306324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Indices à repérer</a:t>
            </a:r>
            <a:endParaRPr lang="en-US" sz="1200" dirty="0"/>
          </a:p>
        </p:txBody>
      </p:sp>
      <p:sp>
        <p:nvSpPr>
          <p:cNvPr id="21" name="Shape 19"/>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22" name="Text 20"/>
          <p:cNvSpPr/>
          <p:nvPr/>
        </p:nvSpPr>
        <p:spPr>
          <a:xfrm>
            <a:off x="5824728" y="137160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217920" y="137160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@dgfip-notification.com — le vrai est impots.gouv.fr</a:t>
            </a:r>
            <a:endParaRPr lang="en-US" sz="950" dirty="0"/>
          </a:p>
        </p:txBody>
      </p:sp>
      <p:sp>
        <p:nvSpPr>
          <p:cNvPr id="24" name="Shape 22"/>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25" name="Text 23"/>
          <p:cNvSpPr/>
          <p:nvPr/>
        </p:nvSpPr>
        <p:spPr>
          <a:xfrm>
            <a:off x="5824728" y="201168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6217920" y="201168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Urgence : '48 heures sous peine d'annulation'</a:t>
            </a:r>
            <a:endParaRPr lang="en-US" sz="950" dirty="0"/>
          </a:p>
        </p:txBody>
      </p:sp>
      <p:sp>
        <p:nvSpPr>
          <p:cNvPr id="27" name="Shape 25"/>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8" name="Text 26"/>
          <p:cNvSpPr/>
          <p:nvPr/>
        </p:nvSpPr>
        <p:spPr>
          <a:xfrm>
            <a:off x="5824728" y="265176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6217920" y="265176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Demande de RIB — les impôts ne le font JAMAIS</a:t>
            </a:r>
            <a:endParaRPr lang="en-US" sz="950" dirty="0"/>
          </a:p>
        </p:txBody>
      </p:sp>
      <p:sp>
        <p:nvSpPr>
          <p:cNvPr id="30" name="Shape 28"/>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31" name="Text 29"/>
          <p:cNvSpPr/>
          <p:nvPr/>
        </p:nvSpPr>
        <p:spPr>
          <a:xfrm>
            <a:off x="5824728" y="329184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2" name="Text 30"/>
          <p:cNvSpPr/>
          <p:nvPr/>
        </p:nvSpPr>
        <p:spPr>
          <a:xfrm>
            <a:off x="6217920" y="329184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Montant précis (347€) inventé pour paraître crédible</a:t>
            </a:r>
            <a:endParaRPr lang="en-US" sz="950" dirty="0"/>
          </a:p>
        </p:txBody>
      </p:sp>
      <p:sp>
        <p:nvSpPr>
          <p:cNvPr id="33" name="Text 3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4"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5" name="Text 3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7" name="Picture 56" descr="logo_sig.png"/>
          <p:cNvPicPr>
            <a:picLocks noChangeAspect="1"/>
          </p:cNvPicPr>
          <p:nvPr/>
        </p:nvPicPr>
        <p:blipFill>
          <a:blip r:embed="rId4"/>
          <a:stretch>
            <a:fillRect/>
          </a:stretch>
        </p:blipFill>
        <p:spPr>
          <a:xfrm>
            <a:off x="40143" y="40143"/>
            <a:ext cx="413491" cy="413491"/>
          </a:xfrm>
          <a:prstGeom prst="rect">
            <a:avLst/>
          </a:prstGeom>
        </p:spPr>
      </p:pic>
      <p:sp>
        <p:nvSpPr>
          <p:cNvPr id="36" name="ZoneTexte 35">
            <a:extLst>
              <a:ext uri="{FF2B5EF4-FFF2-40B4-BE49-F238E27FC236}">
                <a16:creationId xmlns:a16="http://schemas.microsoft.com/office/drawing/2014/main" id="{A64FC272-B58B-F6B6-9BDE-21B3E7A4EC3C}"/>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569742" y="45720"/>
            <a:ext cx="8208498" cy="658368"/>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Phishing 02 — Faux message imitant la CAF</a:t>
            </a:r>
            <a:endParaRPr lang="en-US" sz="1500" dirty="0"/>
          </a:p>
        </p:txBody>
      </p:sp>
      <p:sp>
        <p:nvSpPr>
          <p:cNvPr id="4" name="Shape 2"/>
          <p:cNvSpPr/>
          <p:nvPr/>
        </p:nvSpPr>
        <p:spPr>
          <a:xfrm>
            <a:off x="274320" y="868680"/>
            <a:ext cx="5212080" cy="310896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868680"/>
            <a:ext cx="5212080" cy="274320"/>
          </a:xfrm>
          <a:prstGeom prst="rect">
            <a:avLst/>
          </a:prstGeom>
          <a:solidFill>
            <a:srgbClr val="E1EBF7"/>
          </a:solidFill>
          <a:ln w="12700">
            <a:solidFill>
              <a:srgbClr val="C7D0DC"/>
            </a:solidFill>
            <a:prstDash val="solid"/>
          </a:ln>
        </p:spPr>
        <p:txBody>
          <a:bodyPr/>
          <a:lstStyle/>
          <a:p>
            <a:endParaRPr lang="fr-FR"/>
          </a:p>
        </p:txBody>
      </p:sp>
      <p:sp>
        <p:nvSpPr>
          <p:cNvPr id="6" name="Text 4"/>
          <p:cNvSpPr/>
          <p:nvPr/>
        </p:nvSpPr>
        <p:spPr>
          <a:xfrm>
            <a:off x="365760" y="905256"/>
            <a:ext cx="5029200" cy="201168"/>
          </a:xfrm>
          <a:prstGeom prst="rect">
            <a:avLst/>
          </a:prstGeom>
          <a:noFill/>
          <a:ln/>
        </p:spPr>
        <p:txBody>
          <a:bodyPr wrap="square" lIns="0" tIns="0" rIns="0" bIns="0" rtlCol="0" anchor="ctr"/>
          <a:lstStyle/>
          <a:p>
            <a:pPr marL="0" indent="0">
              <a:buNone/>
            </a:pPr>
            <a:r>
              <a:rPr lang="en-US" sz="850" dirty="0">
                <a:solidFill>
                  <a:srgbClr val="203038"/>
                </a:solidFill>
                <a:latin typeface="Calibri" pitchFamily="34" charset="0"/>
                <a:ea typeface="Calibri" pitchFamily="34" charset="-122"/>
                <a:cs typeface="Calibri" pitchFamily="34" charset="-120"/>
              </a:rPr>
              <a:t>Messagerie — Boîte de réception</a:t>
            </a:r>
            <a:endParaRPr lang="en-US" sz="850" dirty="0"/>
          </a:p>
        </p:txBody>
      </p:sp>
      <p:sp>
        <p:nvSpPr>
          <p:cNvPr id="7" name="Text 5"/>
          <p:cNvSpPr/>
          <p:nvPr/>
        </p:nvSpPr>
        <p:spPr>
          <a:xfrm>
            <a:off x="384048" y="119786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De : </a:t>
            </a:r>
            <a:r>
              <a:rPr lang="en-US" sz="1100" b="1" dirty="0">
                <a:solidFill>
                  <a:srgbClr val="C2544A"/>
                </a:solidFill>
                <a:latin typeface="Calibri" pitchFamily="34" charset="0"/>
                <a:ea typeface="Calibri" pitchFamily="34" charset="-122"/>
                <a:cs typeface="Calibri" pitchFamily="34" charset="-120"/>
              </a:rPr>
              <a:t>caf-allocations@mise-a-jour-dossier.net</a:t>
            </a:r>
            <a:endParaRPr lang="en-US" sz="1100" dirty="0"/>
          </a:p>
        </p:txBody>
      </p:sp>
      <p:sp>
        <p:nvSpPr>
          <p:cNvPr id="8" name="Shape 6"/>
          <p:cNvSpPr/>
          <p:nvPr/>
        </p:nvSpPr>
        <p:spPr>
          <a:xfrm>
            <a:off x="384048" y="1472184"/>
            <a:ext cx="4992624" cy="219456"/>
          </a:xfrm>
          <a:prstGeom prst="rect">
            <a:avLst/>
          </a:prstGeom>
          <a:solidFill>
            <a:srgbClr val="F7E1E1"/>
          </a:solidFill>
          <a:ln w="6350">
            <a:solidFill>
              <a:srgbClr val="C2544A"/>
            </a:solidFill>
            <a:prstDash val="solid"/>
          </a:ln>
        </p:spPr>
        <p:txBody>
          <a:bodyPr/>
          <a:lstStyle/>
          <a:p>
            <a:endParaRPr lang="fr-FR"/>
          </a:p>
        </p:txBody>
      </p:sp>
      <p:sp>
        <p:nvSpPr>
          <p:cNvPr id="9" name="Text 7"/>
          <p:cNvSpPr/>
          <p:nvPr/>
        </p:nvSpPr>
        <p:spPr>
          <a:xfrm>
            <a:off x="438912" y="1490472"/>
            <a:ext cx="4937760" cy="182880"/>
          </a:xfrm>
          <a:prstGeom prst="rect">
            <a:avLst/>
          </a:prstGeom>
          <a:noFill/>
          <a:ln/>
        </p:spPr>
        <p:txBody>
          <a:bodyPr wrap="square" lIns="0" tIns="0" rIns="0" bIns="0" rtlCol="0" anchor="ctr"/>
          <a:lstStyle/>
          <a:p>
            <a:pPr marL="0" indent="0">
              <a:buNone/>
            </a:pPr>
            <a:r>
              <a:rPr lang="en-US" sz="850" dirty="0">
                <a:solidFill>
                  <a:srgbClr val="C2544A"/>
                </a:solidFill>
                <a:latin typeface="Calibri" pitchFamily="34" charset="0"/>
                <a:ea typeface="Calibri" pitchFamily="34" charset="-122"/>
                <a:cs typeface="Calibri" pitchFamily="34" charset="-120"/>
              </a:rPr>
              <a:t>⚠ mise-a-jour-dossier.net — domaine suspect (le vrai est caf.fr)</a:t>
            </a:r>
            <a:endParaRPr lang="en-US" sz="850" dirty="0"/>
          </a:p>
        </p:txBody>
      </p:sp>
      <p:sp>
        <p:nvSpPr>
          <p:cNvPr id="10" name="Text 8"/>
          <p:cNvSpPr/>
          <p:nvPr/>
        </p:nvSpPr>
        <p:spPr>
          <a:xfrm>
            <a:off x="384048" y="174650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Objet : </a:t>
            </a:r>
            <a:r>
              <a:rPr lang="en-US" sz="1100" b="1" dirty="0">
                <a:solidFill>
                  <a:srgbClr val="1E293B"/>
                </a:solidFill>
                <a:latin typeface="Calibri" pitchFamily="34" charset="0"/>
                <a:ea typeface="Calibri" pitchFamily="34" charset="-122"/>
                <a:cs typeface="Calibri" pitchFamily="34" charset="-120"/>
              </a:rPr>
              <a:t>Votre allocation de 186€ est bloquée — Mise à jour requise</a:t>
            </a:r>
            <a:endParaRPr lang="en-US" sz="1100" dirty="0"/>
          </a:p>
        </p:txBody>
      </p:sp>
      <p:sp>
        <p:nvSpPr>
          <p:cNvPr id="11" name="Shape 9"/>
          <p:cNvSpPr/>
          <p:nvPr/>
        </p:nvSpPr>
        <p:spPr>
          <a:xfrm>
            <a:off x="384048" y="2057400"/>
            <a:ext cx="4992624" cy="0"/>
          </a:xfrm>
          <a:prstGeom prst="line">
            <a:avLst/>
          </a:prstGeom>
          <a:noFill/>
          <a:ln w="12700">
            <a:solidFill>
              <a:srgbClr val="253545"/>
            </a:solidFill>
            <a:prstDash val="solid"/>
          </a:ln>
        </p:spPr>
        <p:txBody>
          <a:bodyPr/>
          <a:lstStyle/>
          <a:p>
            <a:endParaRPr lang="fr-FR"/>
          </a:p>
        </p:txBody>
      </p:sp>
      <p:sp>
        <p:nvSpPr>
          <p:cNvPr id="12" name="Text 10"/>
          <p:cNvSpPr/>
          <p:nvPr/>
        </p:nvSpPr>
        <p:spPr>
          <a:xfrm>
            <a:off x="384048" y="2130552"/>
            <a:ext cx="4992624" cy="96012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Votre dossier CAF présente une anomalie.</a:t>
            </a: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Pour débloquer vos allocations, mettez à jour vos informations personnelles et votre RIB dès maintenant via le lien ci-dessous.</a:t>
            </a:r>
            <a:endParaRPr lang="en-US" sz="1100" dirty="0"/>
          </a:p>
        </p:txBody>
      </p:sp>
      <p:sp>
        <p:nvSpPr>
          <p:cNvPr id="13" name="Shape 11"/>
          <p:cNvSpPr/>
          <p:nvPr/>
        </p:nvSpPr>
        <p:spPr>
          <a:xfrm>
            <a:off x="384048" y="3172968"/>
            <a:ext cx="2331720" cy="329184"/>
          </a:xfrm>
          <a:prstGeom prst="rect">
            <a:avLst/>
          </a:prstGeom>
          <a:solidFill>
            <a:srgbClr val="005B96"/>
          </a:solidFill>
          <a:ln w="12700">
            <a:solidFill>
              <a:srgbClr val="005B96"/>
            </a:solidFill>
            <a:prstDash val="solid"/>
          </a:ln>
        </p:spPr>
        <p:txBody>
          <a:bodyPr/>
          <a:lstStyle/>
          <a:p>
            <a:endParaRPr lang="fr-FR"/>
          </a:p>
        </p:txBody>
      </p:sp>
      <p:sp>
        <p:nvSpPr>
          <p:cNvPr id="14" name="Text 12"/>
          <p:cNvSpPr/>
          <p:nvPr/>
        </p:nvSpPr>
        <p:spPr>
          <a:xfrm>
            <a:off x="384048" y="3172968"/>
            <a:ext cx="23317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Mettre à jour mon dossier CAF</a:t>
            </a:r>
            <a:endParaRPr lang="en-US" sz="900" dirty="0"/>
          </a:p>
        </p:txBody>
      </p:sp>
      <p:sp>
        <p:nvSpPr>
          <p:cNvPr id="15" name="Shape 13"/>
          <p:cNvSpPr/>
          <p:nvPr/>
        </p:nvSpPr>
        <p:spPr>
          <a:xfrm>
            <a:off x="384048" y="3538728"/>
            <a:ext cx="2331720" cy="201168"/>
          </a:xfrm>
          <a:prstGeom prst="rect">
            <a:avLst/>
          </a:prstGeom>
          <a:solidFill>
            <a:srgbClr val="F7E1E1"/>
          </a:solidFill>
          <a:ln w="6350">
            <a:solidFill>
              <a:srgbClr val="C2544A"/>
            </a:solidFill>
            <a:prstDash val="solid"/>
          </a:ln>
        </p:spPr>
        <p:txBody>
          <a:bodyPr/>
          <a:lstStyle/>
          <a:p>
            <a:endParaRPr lang="fr-FR"/>
          </a:p>
        </p:txBody>
      </p:sp>
      <p:sp>
        <p:nvSpPr>
          <p:cNvPr id="16" name="Text 14"/>
          <p:cNvSpPr/>
          <p:nvPr/>
        </p:nvSpPr>
        <p:spPr>
          <a:xfrm>
            <a:off x="384048" y="3538728"/>
            <a:ext cx="2331720" cy="201168"/>
          </a:xfrm>
          <a:prstGeom prst="rect">
            <a:avLst/>
          </a:prstGeom>
          <a:noFill/>
          <a:ln/>
        </p:spPr>
        <p:txBody>
          <a:bodyPr wrap="square" lIns="0" tIns="0" rIns="0" bIns="0" rtlCol="0" anchor="ctr"/>
          <a:lstStyle/>
          <a:p>
            <a:pPr marL="0" indent="0" algn="ctr">
              <a:buNone/>
            </a:pPr>
            <a:r>
              <a:rPr lang="en-US" sz="800" b="1" dirty="0">
                <a:solidFill>
                  <a:srgbClr val="C2544A"/>
                </a:solidFill>
                <a:latin typeface="Calibri" pitchFamily="34" charset="0"/>
                <a:ea typeface="Calibri" pitchFamily="34" charset="-122"/>
                <a:cs typeface="Calibri" pitchFamily="34" charset="-120"/>
              </a:rPr>
              <a:t>⛔ LIEN PIÉGÉ — NE JAMAIS CLIQUER</a:t>
            </a:r>
            <a:endParaRPr lang="en-US" sz="800" dirty="0"/>
          </a:p>
        </p:txBody>
      </p:sp>
      <p:sp>
        <p:nvSpPr>
          <p:cNvPr id="17" name="Text 15"/>
          <p:cNvSpPr/>
          <p:nvPr/>
        </p:nvSpPr>
        <p:spPr>
          <a:xfrm>
            <a:off x="384048" y="3776472"/>
            <a:ext cx="4992624" cy="164592"/>
          </a:xfrm>
          <a:prstGeom prst="rect">
            <a:avLst/>
          </a:prstGeom>
          <a:noFill/>
          <a:ln/>
        </p:spPr>
        <p:txBody>
          <a:bodyPr wrap="square" lIns="0" tIns="0" rIns="0" bIns="0" rtlCol="0" anchor="ctr"/>
          <a:lstStyle/>
          <a:p>
            <a:pPr marL="0" indent="0">
              <a:buNone/>
            </a:pPr>
            <a:r>
              <a:rPr lang="en-US" sz="850" i="1" dirty="0">
                <a:solidFill>
                  <a:srgbClr val="242E38"/>
                </a:solidFill>
                <a:latin typeface="Calibri" pitchFamily="34" charset="0"/>
                <a:ea typeface="Calibri" pitchFamily="34" charset="-122"/>
                <a:cs typeface="Calibri" pitchFamily="34" charset="-120"/>
              </a:rPr>
              <a:t>Service Allocations CAF — Ne pas répondre</a:t>
            </a:r>
            <a:endParaRPr lang="en-US" sz="850" dirty="0"/>
          </a:p>
        </p:txBody>
      </p:sp>
      <p:sp>
        <p:nvSpPr>
          <p:cNvPr id="18" name="Shape 16"/>
          <p:cNvSpPr/>
          <p:nvPr/>
        </p:nvSpPr>
        <p:spPr>
          <a:xfrm>
            <a:off x="5669280" y="868680"/>
            <a:ext cx="3246120" cy="3108960"/>
          </a:xfrm>
          <a:prstGeom prst="rect">
            <a:avLst/>
          </a:prstGeom>
          <a:solidFill>
            <a:srgbClr val="F7E1E1"/>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5779008" y="905256"/>
            <a:ext cx="306324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Indices à repérer</a:t>
            </a:r>
            <a:endParaRPr lang="en-US" sz="1200" dirty="0"/>
          </a:p>
        </p:txBody>
      </p:sp>
      <p:sp>
        <p:nvSpPr>
          <p:cNvPr id="21" name="Shape 19"/>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22" name="Text 20"/>
          <p:cNvSpPr/>
          <p:nvPr/>
        </p:nvSpPr>
        <p:spPr>
          <a:xfrm>
            <a:off x="5824728" y="137160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217920" y="137160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Domaine '.net' — la vraie CAF utilise @caf.fr</a:t>
            </a:r>
            <a:endParaRPr lang="en-US" sz="950" dirty="0"/>
          </a:p>
        </p:txBody>
      </p:sp>
      <p:sp>
        <p:nvSpPr>
          <p:cNvPr id="24" name="Shape 22"/>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25" name="Text 23"/>
          <p:cNvSpPr/>
          <p:nvPr/>
        </p:nvSpPr>
        <p:spPr>
          <a:xfrm>
            <a:off x="5824728" y="201168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6217920" y="201168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Demande de RIB par mail — jamais</a:t>
            </a:r>
            <a:endParaRPr lang="en-US" sz="950" dirty="0"/>
          </a:p>
        </p:txBody>
      </p:sp>
      <p:sp>
        <p:nvSpPr>
          <p:cNvPr id="27" name="Shape 25"/>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8" name="Text 26"/>
          <p:cNvSpPr/>
          <p:nvPr/>
        </p:nvSpPr>
        <p:spPr>
          <a:xfrm>
            <a:off x="5824728" y="265176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6217920" y="265176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Blocage inventé pour créer l'urgence</a:t>
            </a:r>
            <a:endParaRPr lang="en-US" sz="950" dirty="0"/>
          </a:p>
        </p:txBody>
      </p:sp>
      <p:sp>
        <p:nvSpPr>
          <p:cNvPr id="30" name="Shape 28"/>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31" name="Text 29"/>
          <p:cNvSpPr/>
          <p:nvPr/>
        </p:nvSpPr>
        <p:spPr>
          <a:xfrm>
            <a:off x="5824728" y="329184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2" name="Text 30"/>
          <p:cNvSpPr/>
          <p:nvPr/>
        </p:nvSpPr>
        <p:spPr>
          <a:xfrm>
            <a:off x="6217920" y="329184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'Ne pas répondre' pour paraître officiel</a:t>
            </a:r>
            <a:endParaRPr lang="en-US" sz="950" dirty="0"/>
          </a:p>
        </p:txBody>
      </p:sp>
      <p:sp>
        <p:nvSpPr>
          <p:cNvPr id="33" name="Text 3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4"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5" name="Text 3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7" name="Picture 56" descr="logo_sig.png"/>
          <p:cNvPicPr>
            <a:picLocks noChangeAspect="1"/>
          </p:cNvPicPr>
          <p:nvPr/>
        </p:nvPicPr>
        <p:blipFill>
          <a:blip r:embed="rId4"/>
          <a:stretch>
            <a:fillRect/>
          </a:stretch>
        </p:blipFill>
        <p:spPr>
          <a:xfrm>
            <a:off x="40143" y="40143"/>
            <a:ext cx="413491" cy="413491"/>
          </a:xfrm>
          <a:prstGeom prst="rect">
            <a:avLst/>
          </a:prstGeom>
        </p:spPr>
      </p:pic>
      <p:sp>
        <p:nvSpPr>
          <p:cNvPr id="36" name="ZoneTexte 35">
            <a:extLst>
              <a:ext uri="{FF2B5EF4-FFF2-40B4-BE49-F238E27FC236}">
                <a16:creationId xmlns:a16="http://schemas.microsoft.com/office/drawing/2014/main" id="{F0A9E01A-FA2B-5E8C-B5CC-EA1E8A61620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562708" y="45720"/>
            <a:ext cx="8215532" cy="658368"/>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Phishing 03 — Faux message imitant Ameli / CPAM</a:t>
            </a:r>
            <a:endParaRPr lang="en-US" sz="1500" dirty="0"/>
          </a:p>
        </p:txBody>
      </p:sp>
      <p:sp>
        <p:nvSpPr>
          <p:cNvPr id="4" name="Shape 2"/>
          <p:cNvSpPr/>
          <p:nvPr/>
        </p:nvSpPr>
        <p:spPr>
          <a:xfrm>
            <a:off x="274320" y="868680"/>
            <a:ext cx="5212080" cy="310896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868680"/>
            <a:ext cx="5212080" cy="274320"/>
          </a:xfrm>
          <a:prstGeom prst="rect">
            <a:avLst/>
          </a:prstGeom>
          <a:solidFill>
            <a:srgbClr val="E1EBF7"/>
          </a:solidFill>
          <a:ln w="12700">
            <a:solidFill>
              <a:srgbClr val="C7D0DC"/>
            </a:solidFill>
            <a:prstDash val="solid"/>
          </a:ln>
        </p:spPr>
        <p:txBody>
          <a:bodyPr/>
          <a:lstStyle/>
          <a:p>
            <a:endParaRPr lang="fr-FR"/>
          </a:p>
        </p:txBody>
      </p:sp>
      <p:sp>
        <p:nvSpPr>
          <p:cNvPr id="6" name="Text 4"/>
          <p:cNvSpPr/>
          <p:nvPr/>
        </p:nvSpPr>
        <p:spPr>
          <a:xfrm>
            <a:off x="365760" y="905256"/>
            <a:ext cx="5029200" cy="201168"/>
          </a:xfrm>
          <a:prstGeom prst="rect">
            <a:avLst/>
          </a:prstGeom>
          <a:noFill/>
          <a:ln/>
        </p:spPr>
        <p:txBody>
          <a:bodyPr wrap="square" lIns="0" tIns="0" rIns="0" bIns="0" rtlCol="0" anchor="ctr"/>
          <a:lstStyle/>
          <a:p>
            <a:pPr marL="0" indent="0">
              <a:buNone/>
            </a:pPr>
            <a:r>
              <a:rPr lang="en-US" sz="850" dirty="0">
                <a:solidFill>
                  <a:srgbClr val="203038"/>
                </a:solidFill>
                <a:latin typeface="Calibri" pitchFamily="34" charset="0"/>
                <a:ea typeface="Calibri" pitchFamily="34" charset="-122"/>
                <a:cs typeface="Calibri" pitchFamily="34" charset="-120"/>
              </a:rPr>
              <a:t>Messagerie — Boîte de réception</a:t>
            </a:r>
            <a:endParaRPr lang="en-US" sz="850" dirty="0"/>
          </a:p>
        </p:txBody>
      </p:sp>
      <p:sp>
        <p:nvSpPr>
          <p:cNvPr id="7" name="Text 5"/>
          <p:cNvSpPr/>
          <p:nvPr/>
        </p:nvSpPr>
        <p:spPr>
          <a:xfrm>
            <a:off x="384048" y="119786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De : </a:t>
            </a:r>
            <a:r>
              <a:rPr lang="en-US" sz="1100" b="1" dirty="0">
                <a:solidFill>
                  <a:srgbClr val="C2544A"/>
                </a:solidFill>
                <a:latin typeface="Calibri" pitchFamily="34" charset="0"/>
                <a:ea typeface="Calibri" pitchFamily="34" charset="-122"/>
                <a:cs typeface="Calibri" pitchFamily="34" charset="-120"/>
              </a:rPr>
              <a:t>ameli-remboursement@securite-sociale-fr.org</a:t>
            </a:r>
            <a:endParaRPr lang="en-US" sz="1100" dirty="0"/>
          </a:p>
        </p:txBody>
      </p:sp>
      <p:sp>
        <p:nvSpPr>
          <p:cNvPr id="8" name="Shape 6"/>
          <p:cNvSpPr/>
          <p:nvPr/>
        </p:nvSpPr>
        <p:spPr>
          <a:xfrm>
            <a:off x="384048" y="1472184"/>
            <a:ext cx="4992624" cy="219456"/>
          </a:xfrm>
          <a:prstGeom prst="rect">
            <a:avLst/>
          </a:prstGeom>
          <a:solidFill>
            <a:srgbClr val="F7E1E1"/>
          </a:solidFill>
          <a:ln w="6350">
            <a:solidFill>
              <a:srgbClr val="C2544A"/>
            </a:solidFill>
            <a:prstDash val="solid"/>
          </a:ln>
        </p:spPr>
        <p:txBody>
          <a:bodyPr/>
          <a:lstStyle/>
          <a:p>
            <a:endParaRPr lang="fr-FR"/>
          </a:p>
        </p:txBody>
      </p:sp>
      <p:sp>
        <p:nvSpPr>
          <p:cNvPr id="9" name="Text 7"/>
          <p:cNvSpPr/>
          <p:nvPr/>
        </p:nvSpPr>
        <p:spPr>
          <a:xfrm>
            <a:off x="438912" y="1490472"/>
            <a:ext cx="4937760" cy="182880"/>
          </a:xfrm>
          <a:prstGeom prst="rect">
            <a:avLst/>
          </a:prstGeom>
          <a:noFill/>
          <a:ln/>
        </p:spPr>
        <p:txBody>
          <a:bodyPr wrap="square" lIns="0" tIns="0" rIns="0" bIns="0" rtlCol="0" anchor="ctr"/>
          <a:lstStyle/>
          <a:p>
            <a:pPr marL="0" indent="0">
              <a:buNone/>
            </a:pPr>
            <a:r>
              <a:rPr lang="en-US" sz="850" dirty="0">
                <a:solidFill>
                  <a:srgbClr val="C2544A"/>
                </a:solidFill>
                <a:latin typeface="Calibri" pitchFamily="34" charset="0"/>
                <a:ea typeface="Calibri" pitchFamily="34" charset="-122"/>
                <a:cs typeface="Calibri" pitchFamily="34" charset="-120"/>
              </a:rPr>
              <a:t>⚠ securite-sociale-fr.org — domaine inventé (le vrai est ameli.fr)</a:t>
            </a:r>
            <a:endParaRPr lang="en-US" sz="850" dirty="0"/>
          </a:p>
        </p:txBody>
      </p:sp>
      <p:sp>
        <p:nvSpPr>
          <p:cNvPr id="10" name="Text 8"/>
          <p:cNvSpPr/>
          <p:nvPr/>
        </p:nvSpPr>
        <p:spPr>
          <a:xfrm>
            <a:off x="384048" y="174650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Objet : </a:t>
            </a:r>
            <a:r>
              <a:rPr lang="en-US" sz="1100" b="1" dirty="0">
                <a:solidFill>
                  <a:srgbClr val="1E293B"/>
                </a:solidFill>
                <a:latin typeface="Calibri" pitchFamily="34" charset="0"/>
                <a:ea typeface="Calibri" pitchFamily="34" charset="-122"/>
                <a:cs typeface="Calibri" pitchFamily="34" charset="-120"/>
              </a:rPr>
              <a:t>Votre carte Vitale expire — Renouvelez-la maintenant</a:t>
            </a:r>
            <a:endParaRPr lang="en-US" sz="1100" dirty="0"/>
          </a:p>
        </p:txBody>
      </p:sp>
      <p:sp>
        <p:nvSpPr>
          <p:cNvPr id="11" name="Shape 9"/>
          <p:cNvSpPr/>
          <p:nvPr/>
        </p:nvSpPr>
        <p:spPr>
          <a:xfrm>
            <a:off x="384048" y="2057400"/>
            <a:ext cx="4992624" cy="0"/>
          </a:xfrm>
          <a:prstGeom prst="line">
            <a:avLst/>
          </a:prstGeom>
          <a:noFill/>
          <a:ln w="12700">
            <a:solidFill>
              <a:srgbClr val="253545"/>
            </a:solidFill>
            <a:prstDash val="solid"/>
          </a:ln>
        </p:spPr>
        <p:txBody>
          <a:bodyPr/>
          <a:lstStyle/>
          <a:p>
            <a:endParaRPr lang="fr-FR"/>
          </a:p>
        </p:txBody>
      </p:sp>
      <p:sp>
        <p:nvSpPr>
          <p:cNvPr id="12" name="Text 10"/>
          <p:cNvSpPr/>
          <p:nvPr/>
        </p:nvSpPr>
        <p:spPr>
          <a:xfrm>
            <a:off x="384048" y="2130552"/>
            <a:ext cx="4992624" cy="96012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Votre carte Vitale arrivera à expiration le 30/04/2026.</a:t>
            </a: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Pour éviter toute interruption de vos remboursements, cliquez ci-dessous et mettez à jour vos informations médicales.</a:t>
            </a:r>
            <a:endParaRPr lang="en-US" sz="1100" dirty="0"/>
          </a:p>
        </p:txBody>
      </p:sp>
      <p:sp>
        <p:nvSpPr>
          <p:cNvPr id="13" name="Shape 11"/>
          <p:cNvSpPr/>
          <p:nvPr/>
        </p:nvSpPr>
        <p:spPr>
          <a:xfrm>
            <a:off x="384048" y="3172968"/>
            <a:ext cx="2331720" cy="329184"/>
          </a:xfrm>
          <a:prstGeom prst="rect">
            <a:avLst/>
          </a:prstGeom>
          <a:solidFill>
            <a:srgbClr val="00796B"/>
          </a:solidFill>
          <a:ln w="12700">
            <a:solidFill>
              <a:srgbClr val="00796B"/>
            </a:solidFill>
            <a:prstDash val="solid"/>
          </a:ln>
        </p:spPr>
        <p:txBody>
          <a:bodyPr/>
          <a:lstStyle/>
          <a:p>
            <a:endParaRPr lang="fr-FR"/>
          </a:p>
        </p:txBody>
      </p:sp>
      <p:sp>
        <p:nvSpPr>
          <p:cNvPr id="14" name="Text 12"/>
          <p:cNvSpPr/>
          <p:nvPr/>
        </p:nvSpPr>
        <p:spPr>
          <a:xfrm>
            <a:off x="384048" y="3172968"/>
            <a:ext cx="23317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Renouveler ma carte Vitale en ligne</a:t>
            </a:r>
            <a:endParaRPr lang="en-US" sz="900" dirty="0"/>
          </a:p>
        </p:txBody>
      </p:sp>
      <p:sp>
        <p:nvSpPr>
          <p:cNvPr id="15" name="Shape 13"/>
          <p:cNvSpPr/>
          <p:nvPr/>
        </p:nvSpPr>
        <p:spPr>
          <a:xfrm>
            <a:off x="384048" y="3538728"/>
            <a:ext cx="2331720" cy="201168"/>
          </a:xfrm>
          <a:prstGeom prst="rect">
            <a:avLst/>
          </a:prstGeom>
          <a:solidFill>
            <a:srgbClr val="F7E1E1"/>
          </a:solidFill>
          <a:ln w="6350">
            <a:solidFill>
              <a:srgbClr val="C2544A"/>
            </a:solidFill>
            <a:prstDash val="solid"/>
          </a:ln>
        </p:spPr>
        <p:txBody>
          <a:bodyPr/>
          <a:lstStyle/>
          <a:p>
            <a:endParaRPr lang="fr-FR"/>
          </a:p>
        </p:txBody>
      </p:sp>
      <p:sp>
        <p:nvSpPr>
          <p:cNvPr id="16" name="Text 14"/>
          <p:cNvSpPr/>
          <p:nvPr/>
        </p:nvSpPr>
        <p:spPr>
          <a:xfrm>
            <a:off x="384048" y="3538728"/>
            <a:ext cx="2331720" cy="201168"/>
          </a:xfrm>
          <a:prstGeom prst="rect">
            <a:avLst/>
          </a:prstGeom>
          <a:noFill/>
          <a:ln/>
        </p:spPr>
        <p:txBody>
          <a:bodyPr wrap="square" lIns="0" tIns="0" rIns="0" bIns="0" rtlCol="0" anchor="ctr"/>
          <a:lstStyle/>
          <a:p>
            <a:pPr marL="0" indent="0" algn="ctr">
              <a:buNone/>
            </a:pPr>
            <a:r>
              <a:rPr lang="en-US" sz="800" b="1" dirty="0">
                <a:solidFill>
                  <a:srgbClr val="C2544A"/>
                </a:solidFill>
                <a:latin typeface="Calibri" pitchFamily="34" charset="0"/>
                <a:ea typeface="Calibri" pitchFamily="34" charset="-122"/>
                <a:cs typeface="Calibri" pitchFamily="34" charset="-120"/>
              </a:rPr>
              <a:t>⛔ LIEN PIÉGÉ — NE JAMAIS CLIQUER</a:t>
            </a:r>
            <a:endParaRPr lang="en-US" sz="800" dirty="0"/>
          </a:p>
        </p:txBody>
      </p:sp>
      <p:sp>
        <p:nvSpPr>
          <p:cNvPr id="17" name="Text 15"/>
          <p:cNvSpPr/>
          <p:nvPr/>
        </p:nvSpPr>
        <p:spPr>
          <a:xfrm>
            <a:off x="384048" y="3776472"/>
            <a:ext cx="4992624" cy="164592"/>
          </a:xfrm>
          <a:prstGeom prst="rect">
            <a:avLst/>
          </a:prstGeom>
          <a:noFill/>
          <a:ln/>
        </p:spPr>
        <p:txBody>
          <a:bodyPr wrap="square" lIns="0" tIns="0" rIns="0" bIns="0" rtlCol="0" anchor="ctr"/>
          <a:lstStyle/>
          <a:p>
            <a:pPr marL="0" indent="0">
              <a:buNone/>
            </a:pPr>
            <a:r>
              <a:rPr lang="en-US" sz="850" i="1" dirty="0">
                <a:solidFill>
                  <a:srgbClr val="242E38"/>
                </a:solidFill>
                <a:latin typeface="Calibri" pitchFamily="34" charset="0"/>
                <a:ea typeface="Calibri" pitchFamily="34" charset="-122"/>
                <a:cs typeface="Calibri" pitchFamily="34" charset="-120"/>
              </a:rPr>
              <a:t>Assurance Maladie — Service cartes</a:t>
            </a:r>
            <a:endParaRPr lang="en-US" sz="850" dirty="0"/>
          </a:p>
        </p:txBody>
      </p:sp>
      <p:sp>
        <p:nvSpPr>
          <p:cNvPr id="18" name="Shape 16"/>
          <p:cNvSpPr/>
          <p:nvPr/>
        </p:nvSpPr>
        <p:spPr>
          <a:xfrm>
            <a:off x="5669280" y="868680"/>
            <a:ext cx="3246120" cy="3108960"/>
          </a:xfrm>
          <a:prstGeom prst="rect">
            <a:avLst/>
          </a:prstGeom>
          <a:solidFill>
            <a:srgbClr val="F7E1E1"/>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5779008" y="905256"/>
            <a:ext cx="306324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Indices à repérer</a:t>
            </a:r>
            <a:endParaRPr lang="en-US" sz="1200" dirty="0"/>
          </a:p>
        </p:txBody>
      </p:sp>
      <p:sp>
        <p:nvSpPr>
          <p:cNvPr id="21" name="Shape 19"/>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22" name="Text 20"/>
          <p:cNvSpPr/>
          <p:nvPr/>
        </p:nvSpPr>
        <p:spPr>
          <a:xfrm>
            <a:off x="5824728" y="137160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217920" y="137160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La carte Vitale n'expire pas — arnaque répandue</a:t>
            </a:r>
            <a:endParaRPr lang="en-US" sz="950" dirty="0"/>
          </a:p>
        </p:txBody>
      </p:sp>
      <p:sp>
        <p:nvSpPr>
          <p:cNvPr id="24" name="Shape 22"/>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25" name="Text 23"/>
          <p:cNvSpPr/>
          <p:nvPr/>
        </p:nvSpPr>
        <p:spPr>
          <a:xfrm>
            <a:off x="5824728" y="201168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6217920" y="201168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Domaine '.org' — le vrai Ameli utilise ameli.fr</a:t>
            </a:r>
            <a:endParaRPr lang="en-US" sz="950" dirty="0"/>
          </a:p>
        </p:txBody>
      </p:sp>
      <p:sp>
        <p:nvSpPr>
          <p:cNvPr id="27" name="Shape 25"/>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8" name="Text 26"/>
          <p:cNvSpPr/>
          <p:nvPr/>
        </p:nvSpPr>
        <p:spPr>
          <a:xfrm>
            <a:off x="5824728" y="265176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6217920" y="265176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Fausse date d'expiration pour créer l'urgence</a:t>
            </a:r>
            <a:endParaRPr lang="en-US" sz="950" dirty="0"/>
          </a:p>
        </p:txBody>
      </p:sp>
      <p:sp>
        <p:nvSpPr>
          <p:cNvPr id="30" name="Shape 28"/>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31" name="Text 29"/>
          <p:cNvSpPr/>
          <p:nvPr/>
        </p:nvSpPr>
        <p:spPr>
          <a:xfrm>
            <a:off x="5824728" y="329184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2" name="Text 30"/>
          <p:cNvSpPr/>
          <p:nvPr/>
        </p:nvSpPr>
        <p:spPr>
          <a:xfrm>
            <a:off x="6217920" y="329184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'Informations médicales' par mail = jamais officiel</a:t>
            </a:r>
            <a:endParaRPr lang="en-US" sz="950" dirty="0"/>
          </a:p>
        </p:txBody>
      </p:sp>
      <p:sp>
        <p:nvSpPr>
          <p:cNvPr id="33" name="Text 3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4"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5" name="Text 3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7" name="Picture 56" descr="logo_sig.png"/>
          <p:cNvPicPr>
            <a:picLocks noChangeAspect="1"/>
          </p:cNvPicPr>
          <p:nvPr/>
        </p:nvPicPr>
        <p:blipFill>
          <a:blip r:embed="rId4"/>
          <a:stretch>
            <a:fillRect/>
          </a:stretch>
        </p:blipFill>
        <p:spPr>
          <a:xfrm>
            <a:off x="40143" y="40143"/>
            <a:ext cx="413491" cy="413491"/>
          </a:xfrm>
          <a:prstGeom prst="rect">
            <a:avLst/>
          </a:prstGeom>
        </p:spPr>
      </p:pic>
      <p:sp>
        <p:nvSpPr>
          <p:cNvPr id="36" name="ZoneTexte 35">
            <a:extLst>
              <a:ext uri="{FF2B5EF4-FFF2-40B4-BE49-F238E27FC236}">
                <a16:creationId xmlns:a16="http://schemas.microsoft.com/office/drawing/2014/main" id="{B3579AC9-B1D7-A8BC-651B-460870E36EE9}"/>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Vishing">
    <p:bg>
      <p:bgPr>
        <a:solidFill>
          <a:srgbClr val="E1E8F7"/>
        </a:solidFill>
        <a:effectLst/>
      </p:bgPr>
    </p:bg>
    <p:spTree>
      <p:nvGrpSpPr>
        <p:cNvPr id="1" name=""/>
        <p:cNvGrpSpPr/>
        <p:nvPr/>
      </p:nvGrpSpPr>
      <p:grpSpPr>
        <a:xfrm>
          <a:off x="0" y="0"/>
          <a:ext cx="0" cy="0"/>
          <a:chOff x="0" y="0"/>
          <a:chExt cx="0" cy="0"/>
        </a:xfrm>
      </p:grpSpPr>
      <p:sp>
        <p:nvSpPr>
          <p:cNvPr id="2" name="TopBar"/>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itre"/>
          <p:cNvSpPr/>
          <p:nvPr/>
        </p:nvSpPr>
        <p:spPr>
          <a:xfrm>
            <a:off x="548640" y="45720"/>
            <a:ext cx="8229600" cy="658368"/>
          </a:xfrm>
          <a:prstGeom prst="rect">
            <a:avLst/>
          </a:prstGeom>
          <a:noFill/>
          <a:ln/>
        </p:spPr>
        <p:txBody>
          <a:bodyPr wrap="square" lIns="0" tIns="0" rIns="0" bIns="0" rtlCol="0" anchor="ctr"/>
          <a:lstStyle/>
          <a:p>
            <a:pPr marL="0" indent="0">
              <a:buNone/>
            </a:pPr>
            <a:r>
              <a:rPr lang="fr-FR" sz="1500" b="1" dirty="0">
                <a:solidFill>
                  <a:srgbClr val="1E293B"/>
                </a:solidFill>
                <a:latin typeface="Arial" pitchFamily="34" charset="0"/>
              </a:rPr>
              <a:t>Vishing 01 — Faux appel imitant votre conseiller bancaire</a:t>
            </a:r>
          </a:p>
        </p:txBody>
      </p:sp>
      <p:sp>
        <p:nvSpPr>
          <p:cNvPr id="4" name="BlocGauche"/>
          <p:cNvSpPr/>
          <p:nvPr/>
        </p:nvSpPr>
        <p:spPr>
          <a:xfrm>
            <a:off x="274320" y="868680"/>
            <a:ext cx="5212080" cy="3108960"/>
          </a:xfrm>
          <a:prstGeom prst="rect">
            <a:avLst/>
          </a:prstGeom>
          <a:solidFill>
            <a:srgbClr val="E1EBF7"/>
          </a:solidFill>
          <a:ln/>
        </p:spPr>
        <p:txBody>
          <a:bodyPr/>
          <a:lstStyle/>
          <a:p>
            <a:endParaRPr lang="fr-FR"/>
          </a:p>
        </p:txBody>
      </p:sp>
      <p:sp>
        <p:nvSpPr>
          <p:cNvPr id="5" name="HeaderRouge"/>
          <p:cNvSpPr/>
          <p:nvPr/>
        </p:nvSpPr>
        <p:spPr>
          <a:xfrm>
            <a:off x="274320" y="868680"/>
            <a:ext cx="5212080" cy="274320"/>
          </a:xfrm>
          <a:prstGeom prst="rect">
            <a:avLst/>
          </a:prstGeom>
          <a:solidFill>
            <a:srgbClr val="C2544A"/>
          </a:solidFill>
          <a:ln w="12700">
            <a:solidFill>
              <a:srgbClr val="C2544A"/>
            </a:solidFill>
            <a:prstDash val="solid"/>
          </a:ln>
        </p:spPr>
        <p:txBody>
          <a:bodyPr/>
          <a:lstStyle/>
          <a:p>
            <a:endParaRPr lang="fr-FR"/>
          </a:p>
        </p:txBody>
      </p:sp>
      <p:sp>
        <p:nvSpPr>
          <p:cNvPr id="6" name="LabelAppel"/>
          <p:cNvSpPr/>
          <p:nvPr/>
        </p:nvSpPr>
        <p:spPr>
          <a:xfrm>
            <a:off x="365760" y="905256"/>
            <a:ext cx="5029200" cy="201168"/>
          </a:xfrm>
          <a:prstGeom prst="rect">
            <a:avLst/>
          </a:prstGeom>
          <a:noFill/>
          <a:ln/>
        </p:spPr>
        <p:txBody>
          <a:bodyPr wrap="square" lIns="0" tIns="0" rIns="0" bIns="0" rtlCol="0" anchor="ctr"/>
          <a:lstStyle/>
          <a:p>
            <a:pPr marL="0" indent="0">
              <a:buNone/>
            </a:pPr>
            <a:r>
              <a:rPr lang="fr-FR" sz="850" dirty="0">
                <a:solidFill>
                  <a:srgbClr val="FFFFFF"/>
                </a:solidFill>
                <a:latin typeface="Calibri" pitchFamily="34" charset="0"/>
              </a:rPr>
              <a:t>📞  Appel entrant — Numéro affiché : 05 61 00 00 00</a:t>
            </a:r>
          </a:p>
        </p:txBody>
      </p:sp>
      <p:sp>
        <p:nvSpPr>
          <p:cNvPr id="7" name="AvtNumero"/>
          <p:cNvSpPr/>
          <p:nvPr/>
        </p:nvSpPr>
        <p:spPr>
          <a:xfrm>
            <a:off x="274320" y="1142568"/>
            <a:ext cx="5212080" cy="164592"/>
          </a:xfrm>
          <a:prstGeom prst="rect">
            <a:avLst/>
          </a:prstGeom>
          <a:solidFill>
            <a:srgbClr val="F7E1E1"/>
          </a:solidFill>
          <a:ln w="6350">
            <a:solidFill>
              <a:srgbClr val="C2544A"/>
            </a:solidFill>
            <a:prstDash val="solid"/>
          </a:ln>
        </p:spPr>
        <p:txBody>
          <a:bodyPr/>
          <a:lstStyle/>
          <a:p>
            <a:endParaRPr lang="fr-FR"/>
          </a:p>
        </p:txBody>
      </p:sp>
      <p:sp>
        <p:nvSpPr>
          <p:cNvPr id="8" name="AvtNumerotxt"/>
          <p:cNvSpPr/>
          <p:nvPr/>
        </p:nvSpPr>
        <p:spPr>
          <a:xfrm>
            <a:off x="365760" y="1142568"/>
            <a:ext cx="5029200" cy="164592"/>
          </a:xfrm>
          <a:prstGeom prst="rect">
            <a:avLst/>
          </a:prstGeom>
          <a:noFill/>
          <a:ln/>
        </p:spPr>
        <p:txBody>
          <a:bodyPr wrap="square" lIns="0" tIns="0" rIns="0" bIns="0" rtlCol="0" anchor="ctr"/>
          <a:lstStyle/>
          <a:p>
            <a:pPr marL="0" indent="0">
              <a:buNone/>
            </a:pPr>
            <a:r>
              <a:rPr lang="fr-FR" sz="800" dirty="0">
                <a:solidFill>
                  <a:srgbClr val="C2544A"/>
                </a:solidFill>
                <a:latin typeface="Calibri" pitchFamily="34" charset="0"/>
              </a:rPr>
              <a:t>⚠ Numéro usurpé — les escrocs peuvent afficher n'importe quel numéro</a:t>
            </a:r>
          </a:p>
        </p:txBody>
      </p:sp>
      <p:sp>
        <p:nvSpPr>
          <p:cNvPr id="9" name="Sep"/>
          <p:cNvSpPr/>
          <p:nvPr/>
        </p:nvSpPr>
        <p:spPr>
          <a:xfrm>
            <a:off x="384048" y="1380000"/>
            <a:ext cx="4992624" cy="0"/>
          </a:xfrm>
          <a:prstGeom prst="line">
            <a:avLst/>
          </a:prstGeom>
          <a:noFill/>
          <a:ln w="12700">
            <a:solidFill>
              <a:srgbClr val="253545"/>
            </a:solidFill>
            <a:prstDash val="solid"/>
          </a:ln>
        </p:spPr>
        <p:txBody>
          <a:bodyPr/>
          <a:lstStyle/>
          <a:p>
            <a:endParaRPr lang="fr-FR"/>
          </a:p>
        </p:txBody>
      </p:sp>
      <p:sp>
        <p:nvSpPr>
          <p:cNvPr id="10" name="Dialogue"/>
          <p:cNvSpPr/>
          <p:nvPr/>
        </p:nvSpPr>
        <p:spPr>
          <a:xfrm>
            <a:off x="384048" y="1440000"/>
            <a:ext cx="4992624" cy="1500000"/>
          </a:xfrm>
          <a:prstGeom prst="rect">
            <a:avLst/>
          </a:prstGeom>
          <a:noFill/>
          <a:ln/>
        </p:spPr>
        <p:txBody>
          <a:bodyPr wrap="square" lIns="0" tIns="0" rIns="0" bIns="0" rtlCol="0" anchor="t"/>
          <a:lstStyle/>
          <a:p>
            <a:pPr marL="0" indent="0">
              <a:buNone/>
            </a:pPr>
            <a:r>
              <a:rPr lang="fr-FR" sz="1050" b="1" dirty="0">
                <a:solidFill>
                  <a:srgbClr val="382C19"/>
                </a:solidFill>
                <a:latin typeface="Calibri" pitchFamily="34" charset="0"/>
              </a:rPr>
              <a:t>L'escroc dit :</a:t>
            </a:r>
          </a:p>
          <a:p>
            <a:pPr marL="0" indent="0">
              <a:buNone/>
            </a:pPr>
            <a:endParaRPr lang="fr-FR" sz="1050" dirty="0"/>
          </a:p>
          <a:p>
            <a:pPr marL="0" indent="0">
              <a:buNone/>
            </a:pPr>
            <a:r>
              <a:rPr lang="fr-FR" sz="1050" i="1" dirty="0">
                <a:solidFill>
                  <a:srgbClr val="272F38"/>
                </a:solidFill>
                <a:latin typeface="Calibri" pitchFamily="34" charset="0"/>
              </a:rPr>
              <a:t>« Bonjour, je suis Marc Dupont, conseiller sécurité du Crédit Agricole. Nous avons détecté une transaction suspecte de 847€ sur votre compte. Pour bloquer le virement, j’ai besoin de confirmer votre identité : pouvez-vous me donner votre code reçu par SMS ? »</a:t>
            </a:r>
          </a:p>
          <a:p>
            <a:pPr marL="0" indent="0">
              <a:buNone/>
            </a:pPr>
            <a:endParaRPr lang="fr-FR" sz="1050" dirty="0"/>
          </a:p>
          <a:p>
            <a:pPr marL="0" indent="0">
              <a:buNone/>
            </a:pPr>
            <a:r>
              <a:rPr lang="fr-FR" sz="950" b="1" dirty="0">
                <a:solidFill>
                  <a:srgbClr val="C2544A"/>
                </a:solidFill>
                <a:latin typeface="Calibri" pitchFamily="34" charset="0"/>
              </a:rPr>
              <a:t>⛔ NE JAMAIS DONNER UN CODE SMS PAR TÉLÉPHONE</a:t>
            </a:r>
          </a:p>
        </p:txBody>
      </p:sp>
      <p:sp>
        <p:nvSpPr>
          <p:cNvPr id="11" name="BlocDroit"/>
          <p:cNvSpPr/>
          <p:nvPr/>
        </p:nvSpPr>
        <p:spPr>
          <a:xfrm>
            <a:off x="5669280" y="868680"/>
            <a:ext cx="3246120" cy="3108960"/>
          </a:xfrm>
          <a:prstGeom prst="rect">
            <a:avLst/>
          </a:prstGeom>
          <a:solidFill>
            <a:srgbClr val="F7E1E1"/>
          </a:solidFill>
          <a:ln/>
        </p:spPr>
        <p:txBody>
          <a:bodyPr/>
          <a:lstStyle/>
          <a:p>
            <a:endParaRPr lang="fr-FR"/>
          </a:p>
        </p:txBody>
      </p:sp>
      <p:sp>
        <p:nvSpPr>
          <p:cNvPr id="12" name="HeaderIndices"/>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13" name="TitreIndices"/>
          <p:cNvSpPr/>
          <p:nvPr/>
        </p:nvSpPr>
        <p:spPr>
          <a:xfrm>
            <a:off x="5779008" y="905256"/>
            <a:ext cx="3063240" cy="274320"/>
          </a:xfrm>
          <a:prstGeom prst="rect">
            <a:avLst/>
          </a:prstGeom>
          <a:noFill/>
          <a:ln/>
        </p:spPr>
        <p:txBody>
          <a:bodyPr wrap="square" lIns="0" tIns="0" rIns="0" bIns="0" rtlCol="0" anchor="ctr"/>
          <a:lstStyle/>
          <a:p>
            <a:pPr marL="0" indent="0">
              <a:buNone/>
            </a:pPr>
            <a:r>
              <a:rPr lang="fr-FR" sz="1200" b="1" dirty="0">
                <a:solidFill>
                  <a:srgbClr val="FFFFFF"/>
                </a:solidFill>
                <a:latin typeface="Arial" pitchFamily="34" charset="0"/>
              </a:rPr>
              <a:t>🔍  Indices à repérer</a:t>
            </a:r>
          </a:p>
        </p:txBody>
      </p:sp>
      <p:sp>
        <p:nvSpPr>
          <p:cNvPr id="14" name="Ind1bg"/>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15" name="Ind1ico"/>
          <p:cNvSpPr/>
          <p:nvPr/>
        </p:nvSpPr>
        <p:spPr>
          <a:xfrm>
            <a:off x="5824728" y="137160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16" name="Ind1txt"/>
          <p:cNvSpPr/>
          <p:nvPr/>
        </p:nvSpPr>
        <p:spPr>
          <a:xfrm>
            <a:off x="6217920" y="137160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Numéro usurpé — votre banque peut apparaître comme source</a:t>
            </a:r>
          </a:p>
        </p:txBody>
      </p:sp>
      <p:sp>
        <p:nvSpPr>
          <p:cNvPr id="17" name="Ind2bg"/>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18" name="Ind2ico"/>
          <p:cNvSpPr/>
          <p:nvPr/>
        </p:nvSpPr>
        <p:spPr>
          <a:xfrm>
            <a:off x="5824728" y="201168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19" name="Ind2txt"/>
          <p:cNvSpPr/>
          <p:nvPr/>
        </p:nvSpPr>
        <p:spPr>
          <a:xfrm>
            <a:off x="6217920" y="201168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Urgence artificielle — pression pour décider vite</a:t>
            </a:r>
          </a:p>
        </p:txBody>
      </p:sp>
      <p:sp>
        <p:nvSpPr>
          <p:cNvPr id="20" name="Ind3bg"/>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1" name="Ind3ico"/>
          <p:cNvSpPr/>
          <p:nvPr/>
        </p:nvSpPr>
        <p:spPr>
          <a:xfrm>
            <a:off x="5824728" y="265176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22" name="Ind3txt"/>
          <p:cNvSpPr/>
          <p:nvPr/>
        </p:nvSpPr>
        <p:spPr>
          <a:xfrm>
            <a:off x="6217920" y="265176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Demande de code SMS — votre banque ne le fait JAMAIS</a:t>
            </a:r>
          </a:p>
        </p:txBody>
      </p:sp>
      <p:sp>
        <p:nvSpPr>
          <p:cNvPr id="23" name="Ind4bg"/>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24" name="Ind4ico"/>
          <p:cNvSpPr/>
          <p:nvPr/>
        </p:nvSpPr>
        <p:spPr>
          <a:xfrm>
            <a:off x="5824728" y="329184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25" name="Ind4txt"/>
          <p:cNvSpPr/>
          <p:nvPr/>
        </p:nvSpPr>
        <p:spPr>
          <a:xfrm>
            <a:off x="6217920" y="329184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Raccrochez et rappelez le numéro officiel au dos de votre carte</a:t>
            </a:r>
          </a:p>
        </p:txBody>
      </p:sp>
      <p:sp>
        <p:nvSpPr>
          <p:cNvPr id="26" name="Footer"/>
          <p:cNvSpPr/>
          <p:nvPr/>
        </p:nvSpPr>
        <p:spPr>
          <a:xfrm>
            <a:off x="0" y="4956048"/>
            <a:ext cx="7772400" cy="182880"/>
          </a:xfrm>
          <a:prstGeom prst="rect">
            <a:avLst/>
          </a:prstGeom>
          <a:noFill/>
          <a:ln/>
        </p:spPr>
        <p:txBody>
          <a:bodyPr wrap="square" lIns="0" tIns="0" rIns="0" bIns="0" rtlCol="0" anchor="ctr"/>
          <a:lstStyle/>
          <a:p>
            <a:pPr marL="0" indent="0" algn="ctr">
              <a:buNone/>
            </a:pPr>
            <a:r>
              <a:rPr lang="fr-FR" sz="800" dirty="0">
                <a:solidFill>
                  <a:srgbClr val="242E38"/>
                </a:solidFill>
                <a:latin typeface="Calibri" pitchFamily="34" charset="0"/>
              </a:rPr>
              <a:t>Cédric WALTENER — Atelier Phishing — 2026</a:t>
            </a:r>
          </a:p>
        </p:txBody>
      </p:sp>
      <p:sp>
        <p:nvSpPr>
          <p:cNvPr id="27" name="BtnMenu"/>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28" name="BtnMenuTxt">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fr-FR" sz="950" dirty="0">
                <a:solidFill>
                  <a:srgbClr val="262638"/>
                </a:solidFill>
                <a:latin typeface="Calibri" pitchFamily="34" charset="0"/>
              </a:rPr>
              <a:t>☰  Menu</a:t>
            </a:r>
          </a:p>
        </p:txBody>
      </p:sp>
      <p:sp>
        <p:nvSpPr>
          <p:cNvPr id="40" name="VideoBtn_42">
            <a:hlinkClick r:id="rId4"/>
          </p:cNvPr>
          <p:cNvSpPr>
            <a:spLocks noGrp="1"/>
          </p:cNvSpPr>
          <p:nvPr/>
        </p:nvSpPr>
        <p:spPr>
          <a:xfrm>
            <a:off x="6500000" y="130000"/>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Arnaque au faux banquier</a:t>
            </a:r>
          </a:p>
        </p:txBody>
      </p:sp>
      <p:pic>
        <p:nvPicPr>
          <p:cNvPr id="41" name="Picture 40" descr="logo_sig.png"/>
          <p:cNvPicPr>
            <a:picLocks noChangeAspect="1"/>
          </p:cNvPicPr>
          <p:nvPr/>
        </p:nvPicPr>
        <p:blipFill>
          <a:blip r:embed="rId5"/>
          <a:stretch>
            <a:fillRect/>
          </a:stretch>
        </p:blipFill>
        <p:spPr>
          <a:xfrm>
            <a:off x="40143" y="40143"/>
            <a:ext cx="413491" cy="413491"/>
          </a:xfrm>
          <a:prstGeom prst="rect">
            <a:avLst/>
          </a:prstGeom>
        </p:spPr>
      </p:pic>
      <p:sp>
        <p:nvSpPr>
          <p:cNvPr id="90" name="ReactHeader"/>
          <p:cNvSpPr/>
          <p:nvPr/>
        </p:nvSpPr>
        <p:spPr>
          <a:xfrm>
            <a:off x="381000" y="3000375"/>
            <a:ext cx="4991100" cy="247650"/>
          </a:xfrm>
          <a:prstGeom prst="rect">
            <a:avLst/>
          </a:prstGeom>
          <a:solidFill>
            <a:srgbClr val="5E9C84"/>
          </a:solidFill>
          <a:ln w="12700">
            <a:solidFill>
              <a:srgbClr val="5E9C84"/>
            </a:solidFill>
            <a:prstDash val="solid"/>
          </a:ln>
        </p:spPr>
        <p:txBody>
          <a:bodyPr lIns="91440" tIns="18288" rIns="91440" bIns="18288" anchor="ctr"/>
          <a:lstStyle/>
          <a:p>
            <a:r>
              <a:rPr lang="fr-FR" sz="1200" b="1">
                <a:solidFill>
                  <a:srgbClr val="FFFFFF"/>
                </a:solidFill>
              </a:rPr>
              <a:t>✅  La bonne réaction</a:t>
            </a:r>
          </a:p>
        </p:txBody>
      </p:sp>
      <p:sp>
        <p:nvSpPr>
          <p:cNvPr id="91" name="ReactBody"/>
          <p:cNvSpPr/>
          <p:nvPr/>
        </p:nvSpPr>
        <p:spPr>
          <a:xfrm>
            <a:off x="381000" y="3286125"/>
            <a:ext cx="4991100" cy="609600"/>
          </a:xfrm>
          <a:prstGeom prst="rect">
            <a:avLst/>
          </a:prstGeom>
          <a:solidFill>
            <a:srgbClr val="EAF3EE"/>
          </a:solidFill>
          <a:ln w="6350">
            <a:solidFill>
              <a:srgbClr val="C7D9CD"/>
            </a:solidFill>
            <a:prstDash val="solid"/>
          </a:ln>
        </p:spPr>
        <p:txBody>
          <a:bodyPr lIns="118872" tIns="54864" rIns="91440" bIns="36576" anchor="ctr"/>
          <a:lstStyle/>
          <a:p>
            <a:pPr>
              <a:spcAft>
                <a:spcPts val="500"/>
              </a:spcAft>
            </a:pPr>
            <a:r>
              <a:rPr lang="fr-FR" sz="950" b="1">
                <a:solidFill>
                  <a:srgbClr val="5E9C84"/>
                </a:solidFill>
              </a:rPr>
              <a:t>1. </a:t>
            </a:r>
            <a:r>
              <a:rPr lang="fr-FR" sz="950">
                <a:solidFill>
                  <a:srgbClr val="272F38"/>
                </a:solidFill>
              </a:rPr>
              <a:t>Raccrochez immédiatement — sans vous justifier.</a:t>
            </a:r>
          </a:p>
          <a:p>
            <a:pPr>
              <a:spcAft>
                <a:spcPts val="500"/>
              </a:spcAft>
            </a:pPr>
            <a:r>
              <a:rPr lang="fr-FR" sz="950" b="1">
                <a:solidFill>
                  <a:srgbClr val="5E9C84"/>
                </a:solidFill>
              </a:rPr>
              <a:t>2. </a:t>
            </a:r>
            <a:r>
              <a:rPr lang="fr-FR" sz="950">
                <a:solidFill>
                  <a:srgbClr val="272F38"/>
                </a:solidFill>
              </a:rPr>
              <a:t>Rappelez le numéro officiel au dos de votre carte.</a:t>
            </a:r>
          </a:p>
          <a:p>
            <a:r>
              <a:rPr lang="fr-FR" sz="950" b="1">
                <a:solidFill>
                  <a:srgbClr val="5E9C84"/>
                </a:solidFill>
              </a:rPr>
              <a:t>3. </a:t>
            </a:r>
            <a:r>
              <a:rPr lang="fr-FR" sz="950">
                <a:solidFill>
                  <a:srgbClr val="272F38"/>
                </a:solidFill>
              </a:rPr>
              <a:t>Ne donnez jamais code, mot de passe ni identifiant.</a:t>
            </a:r>
          </a:p>
        </p:txBody>
      </p:sp>
      <p:sp>
        <p:nvSpPr>
          <p:cNvPr id="29" name="ZoneTexte 28">
            <a:extLst>
              <a:ext uri="{FF2B5EF4-FFF2-40B4-BE49-F238E27FC236}">
                <a16:creationId xmlns:a16="http://schemas.microsoft.com/office/drawing/2014/main" id="{C3F5AEFB-960B-2FBA-A67D-36BFAEC96128}"/>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200" b="1" dirty="0">
                <a:solidFill>
                  <a:srgbClr val="1E293B"/>
                </a:solidFill>
                <a:latin typeface="Arial Black" pitchFamily="34" charset="0"/>
                <a:ea typeface="Arial Black" pitchFamily="34" charset="-122"/>
                <a:cs typeface="Arial Black" pitchFamily="34" charset="-120"/>
              </a:rPr>
              <a:t>Les 5 signes d'alerte à mémoriser</a:t>
            </a:r>
            <a:endParaRPr lang="en-US" sz="2200" dirty="0"/>
          </a:p>
        </p:txBody>
      </p:sp>
      <p:sp>
        <p:nvSpPr>
          <p:cNvPr id="4" name="Shape 2"/>
          <p:cNvSpPr/>
          <p:nvPr/>
        </p:nvSpPr>
        <p:spPr>
          <a:xfrm>
            <a:off x="228600" y="8686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28600" y="868680"/>
            <a:ext cx="411480" cy="1234440"/>
          </a:xfrm>
          <a:prstGeom prst="rect">
            <a:avLst/>
          </a:prstGeom>
          <a:solidFill>
            <a:srgbClr val="C2544A"/>
          </a:solidFill>
          <a:ln w="12700">
            <a:solidFill>
              <a:srgbClr val="C2544A"/>
            </a:solidFill>
            <a:prstDash val="solid"/>
          </a:ln>
        </p:spPr>
        <p:txBody>
          <a:bodyPr/>
          <a:lstStyle/>
          <a:p>
            <a:endParaRPr lang="fr-FR"/>
          </a:p>
        </p:txBody>
      </p:sp>
      <p:sp>
        <p:nvSpPr>
          <p:cNvPr id="6" name="Text 4"/>
          <p:cNvSpPr/>
          <p:nvPr/>
        </p:nvSpPr>
        <p:spPr>
          <a:xfrm>
            <a:off x="228600" y="8686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7" name="Text 5"/>
          <p:cNvSpPr/>
          <p:nvPr/>
        </p:nvSpPr>
        <p:spPr>
          <a:xfrm>
            <a:off x="704088" y="9601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097280" y="9418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Adresse expéditeur suspecte</a:t>
            </a:r>
            <a:endParaRPr lang="en-US" sz="1200" dirty="0"/>
          </a:p>
        </p:txBody>
      </p:sp>
      <p:sp>
        <p:nvSpPr>
          <p:cNvPr id="9" name="Text 7"/>
          <p:cNvSpPr/>
          <p:nvPr/>
        </p:nvSpPr>
        <p:spPr>
          <a:xfrm>
            <a:off x="704088" y="13533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Domaine faux, Gmail, ou nom similaire au vrai.</a:t>
            </a:r>
            <a:endParaRPr lang="en-US" sz="950" dirty="0"/>
          </a:p>
        </p:txBody>
      </p:sp>
      <p:sp>
        <p:nvSpPr>
          <p:cNvPr id="10" name="Shape 8"/>
          <p:cNvSpPr/>
          <p:nvPr/>
        </p:nvSpPr>
        <p:spPr>
          <a:xfrm>
            <a:off x="704088" y="1655064"/>
            <a:ext cx="3730752" cy="292608"/>
          </a:xfrm>
          <a:prstGeom prst="rect">
            <a:avLst/>
          </a:prstGeom>
          <a:solidFill>
            <a:srgbClr val="E1F7E8"/>
          </a:solidFill>
          <a:ln w="6350">
            <a:solidFill>
              <a:srgbClr val="27AE60"/>
            </a:solidFill>
            <a:prstDash val="solid"/>
          </a:ln>
        </p:spPr>
        <p:txBody>
          <a:bodyPr/>
          <a:lstStyle/>
          <a:p>
            <a:endParaRPr lang="fr-FR"/>
          </a:p>
        </p:txBody>
      </p:sp>
      <p:sp>
        <p:nvSpPr>
          <p:cNvPr id="11" name="Text 9"/>
          <p:cNvSpPr/>
          <p:nvPr/>
        </p:nvSpPr>
        <p:spPr>
          <a:xfrm>
            <a:off x="758952" y="16733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Lire toujours l'adresse ENTIÈRE après le @</a:t>
            </a:r>
            <a:endParaRPr lang="en-US" sz="850" dirty="0"/>
          </a:p>
        </p:txBody>
      </p:sp>
      <p:sp>
        <p:nvSpPr>
          <p:cNvPr id="12" name="Shape 10"/>
          <p:cNvSpPr/>
          <p:nvPr/>
        </p:nvSpPr>
        <p:spPr>
          <a:xfrm>
            <a:off x="228600" y="22402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3" name="Shape 11"/>
          <p:cNvSpPr/>
          <p:nvPr/>
        </p:nvSpPr>
        <p:spPr>
          <a:xfrm>
            <a:off x="228600" y="2240280"/>
            <a:ext cx="411480" cy="1234440"/>
          </a:xfrm>
          <a:prstGeom prst="rect">
            <a:avLst/>
          </a:prstGeom>
          <a:solidFill>
            <a:srgbClr val="C2544A"/>
          </a:solidFill>
          <a:ln w="12700">
            <a:solidFill>
              <a:srgbClr val="C2544A"/>
            </a:solidFill>
            <a:prstDash val="solid"/>
          </a:ln>
        </p:spPr>
        <p:txBody>
          <a:bodyPr/>
          <a:lstStyle/>
          <a:p>
            <a:endParaRPr lang="fr-FR"/>
          </a:p>
        </p:txBody>
      </p:sp>
      <p:sp>
        <p:nvSpPr>
          <p:cNvPr id="14" name="Text 12"/>
          <p:cNvSpPr/>
          <p:nvPr/>
        </p:nvSpPr>
        <p:spPr>
          <a:xfrm>
            <a:off x="228600" y="22402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5" name="Text 13"/>
          <p:cNvSpPr/>
          <p:nvPr/>
        </p:nvSpPr>
        <p:spPr>
          <a:xfrm>
            <a:off x="704088" y="23317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1097280" y="23134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Lien hypertexte piégé</a:t>
            </a:r>
            <a:endParaRPr lang="en-US" sz="1200" dirty="0"/>
          </a:p>
        </p:txBody>
      </p:sp>
      <p:sp>
        <p:nvSpPr>
          <p:cNvPr id="17" name="Text 15"/>
          <p:cNvSpPr/>
          <p:nvPr/>
        </p:nvSpPr>
        <p:spPr>
          <a:xfrm>
            <a:off x="704088" y="27249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URL réelle différente du texte affiché.</a:t>
            </a:r>
            <a:endParaRPr lang="en-US" sz="950" dirty="0"/>
          </a:p>
        </p:txBody>
      </p:sp>
      <p:sp>
        <p:nvSpPr>
          <p:cNvPr id="18" name="Shape 16"/>
          <p:cNvSpPr/>
          <p:nvPr/>
        </p:nvSpPr>
        <p:spPr>
          <a:xfrm>
            <a:off x="704088" y="3026664"/>
            <a:ext cx="3730752" cy="292608"/>
          </a:xfrm>
          <a:prstGeom prst="rect">
            <a:avLst/>
          </a:prstGeom>
          <a:solidFill>
            <a:srgbClr val="E1F7E8"/>
          </a:solidFill>
          <a:ln w="6350">
            <a:solidFill>
              <a:srgbClr val="27AE60"/>
            </a:solidFill>
            <a:prstDash val="solid"/>
          </a:ln>
        </p:spPr>
        <p:txBody>
          <a:bodyPr/>
          <a:lstStyle/>
          <a:p>
            <a:endParaRPr lang="fr-FR"/>
          </a:p>
        </p:txBody>
      </p:sp>
      <p:sp>
        <p:nvSpPr>
          <p:cNvPr id="19" name="Text 17"/>
          <p:cNvSpPr/>
          <p:nvPr/>
        </p:nvSpPr>
        <p:spPr>
          <a:xfrm>
            <a:off x="758952" y="30449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Survoler sans cliquer — ou aller directement sur le site officiel</a:t>
            </a:r>
            <a:endParaRPr lang="en-US" sz="850" dirty="0"/>
          </a:p>
        </p:txBody>
      </p:sp>
      <p:sp>
        <p:nvSpPr>
          <p:cNvPr id="20" name="Shape 18"/>
          <p:cNvSpPr/>
          <p:nvPr/>
        </p:nvSpPr>
        <p:spPr>
          <a:xfrm>
            <a:off x="228600" y="36118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3611880"/>
            <a:ext cx="411480" cy="1234440"/>
          </a:xfrm>
          <a:prstGeom prst="rect">
            <a:avLst/>
          </a:prstGeom>
          <a:solidFill>
            <a:srgbClr val="C2544A"/>
          </a:solidFill>
          <a:ln w="12700">
            <a:solidFill>
              <a:srgbClr val="C2544A"/>
            </a:solidFill>
            <a:prstDash val="solid"/>
          </a:ln>
        </p:spPr>
        <p:txBody>
          <a:bodyPr/>
          <a:lstStyle/>
          <a:p>
            <a:endParaRPr lang="fr-FR"/>
          </a:p>
        </p:txBody>
      </p:sp>
      <p:sp>
        <p:nvSpPr>
          <p:cNvPr id="22" name="Text 20"/>
          <p:cNvSpPr/>
          <p:nvPr/>
        </p:nvSpPr>
        <p:spPr>
          <a:xfrm>
            <a:off x="228600" y="36118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23" name="Text 21"/>
          <p:cNvSpPr/>
          <p:nvPr/>
        </p:nvSpPr>
        <p:spPr>
          <a:xfrm>
            <a:off x="704088" y="37033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1097280" y="36850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Ton d'urgence ou menace</a:t>
            </a:r>
            <a:endParaRPr lang="en-US" sz="1200" dirty="0"/>
          </a:p>
        </p:txBody>
      </p:sp>
      <p:sp>
        <p:nvSpPr>
          <p:cNvPr id="25" name="Text 23"/>
          <p:cNvSpPr/>
          <p:nvPr/>
        </p:nvSpPr>
        <p:spPr>
          <a:xfrm>
            <a:off x="704088" y="40965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Blocage, annulation, poursuites, délai court.</a:t>
            </a:r>
            <a:endParaRPr lang="en-US" sz="950" dirty="0"/>
          </a:p>
        </p:txBody>
      </p:sp>
      <p:sp>
        <p:nvSpPr>
          <p:cNvPr id="26" name="Shape 24"/>
          <p:cNvSpPr/>
          <p:nvPr/>
        </p:nvSpPr>
        <p:spPr>
          <a:xfrm>
            <a:off x="704088" y="4398264"/>
            <a:ext cx="3730752" cy="292608"/>
          </a:xfrm>
          <a:prstGeom prst="rect">
            <a:avLst/>
          </a:prstGeom>
          <a:solidFill>
            <a:srgbClr val="E1F7E8"/>
          </a:solidFill>
          <a:ln w="6350">
            <a:solidFill>
              <a:srgbClr val="27AE60"/>
            </a:solidFill>
            <a:prstDash val="solid"/>
          </a:ln>
        </p:spPr>
        <p:txBody>
          <a:bodyPr/>
          <a:lstStyle/>
          <a:p>
            <a:endParaRPr lang="fr-FR"/>
          </a:p>
        </p:txBody>
      </p:sp>
      <p:sp>
        <p:nvSpPr>
          <p:cNvPr id="27" name="Text 25"/>
          <p:cNvSpPr/>
          <p:nvPr/>
        </p:nvSpPr>
        <p:spPr>
          <a:xfrm>
            <a:off x="758952" y="44165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Aucun organisme ne bloque un compte en 24h par mail</a:t>
            </a:r>
            <a:endParaRPr lang="en-US" sz="850" dirty="0"/>
          </a:p>
        </p:txBody>
      </p:sp>
      <p:sp>
        <p:nvSpPr>
          <p:cNvPr id="28" name="Shape 26"/>
          <p:cNvSpPr/>
          <p:nvPr/>
        </p:nvSpPr>
        <p:spPr>
          <a:xfrm>
            <a:off x="4846320" y="8686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9" name="Shape 27"/>
          <p:cNvSpPr/>
          <p:nvPr/>
        </p:nvSpPr>
        <p:spPr>
          <a:xfrm>
            <a:off x="4846320" y="868680"/>
            <a:ext cx="411480" cy="1234440"/>
          </a:xfrm>
          <a:prstGeom prst="rect">
            <a:avLst/>
          </a:prstGeom>
          <a:solidFill>
            <a:srgbClr val="C2544A"/>
          </a:solidFill>
          <a:ln w="12700">
            <a:solidFill>
              <a:srgbClr val="C2544A"/>
            </a:solidFill>
            <a:prstDash val="solid"/>
          </a:ln>
        </p:spPr>
        <p:txBody>
          <a:bodyPr/>
          <a:lstStyle/>
          <a:p>
            <a:endParaRPr lang="fr-FR"/>
          </a:p>
        </p:txBody>
      </p:sp>
      <p:sp>
        <p:nvSpPr>
          <p:cNvPr id="30" name="Text 28"/>
          <p:cNvSpPr/>
          <p:nvPr/>
        </p:nvSpPr>
        <p:spPr>
          <a:xfrm>
            <a:off x="4846320" y="8686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31" name="Text 29"/>
          <p:cNvSpPr/>
          <p:nvPr/>
        </p:nvSpPr>
        <p:spPr>
          <a:xfrm>
            <a:off x="5321808" y="9601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5715000" y="9418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Demande d'infos sensibles</a:t>
            </a:r>
            <a:endParaRPr lang="en-US" sz="1200" dirty="0"/>
          </a:p>
        </p:txBody>
      </p:sp>
      <p:sp>
        <p:nvSpPr>
          <p:cNvPr id="33" name="Text 31"/>
          <p:cNvSpPr/>
          <p:nvPr/>
        </p:nvSpPr>
        <p:spPr>
          <a:xfrm>
            <a:off x="5321808" y="13533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RIB, mot de passe, numéro de carte — jamais par mail.</a:t>
            </a:r>
            <a:endParaRPr lang="en-US" sz="950" dirty="0"/>
          </a:p>
        </p:txBody>
      </p:sp>
      <p:sp>
        <p:nvSpPr>
          <p:cNvPr id="34" name="Shape 32"/>
          <p:cNvSpPr/>
          <p:nvPr/>
        </p:nvSpPr>
        <p:spPr>
          <a:xfrm>
            <a:off x="5321808" y="1655064"/>
            <a:ext cx="3730752" cy="292608"/>
          </a:xfrm>
          <a:prstGeom prst="rect">
            <a:avLst/>
          </a:prstGeom>
          <a:solidFill>
            <a:srgbClr val="E1F7E8"/>
          </a:solidFill>
          <a:ln w="6350">
            <a:solidFill>
              <a:srgbClr val="27AE60"/>
            </a:solidFill>
            <a:prstDash val="solid"/>
          </a:ln>
        </p:spPr>
        <p:txBody>
          <a:bodyPr/>
          <a:lstStyle/>
          <a:p>
            <a:endParaRPr lang="fr-FR"/>
          </a:p>
        </p:txBody>
      </p:sp>
      <p:sp>
        <p:nvSpPr>
          <p:cNvPr id="35" name="Text 33"/>
          <p:cNvSpPr/>
          <p:nvPr/>
        </p:nvSpPr>
        <p:spPr>
          <a:xfrm>
            <a:off x="5376672" y="16733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Si on vous demande ça par message, c'est une arnaque</a:t>
            </a:r>
            <a:endParaRPr lang="en-US" sz="850" dirty="0"/>
          </a:p>
        </p:txBody>
      </p:sp>
      <p:sp>
        <p:nvSpPr>
          <p:cNvPr id="36" name="Shape 34"/>
          <p:cNvSpPr/>
          <p:nvPr/>
        </p:nvSpPr>
        <p:spPr>
          <a:xfrm>
            <a:off x="4846320" y="22402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37" name="Shape 35"/>
          <p:cNvSpPr/>
          <p:nvPr/>
        </p:nvSpPr>
        <p:spPr>
          <a:xfrm>
            <a:off x="4846320" y="2240280"/>
            <a:ext cx="411480" cy="1234440"/>
          </a:xfrm>
          <a:prstGeom prst="rect">
            <a:avLst/>
          </a:prstGeom>
          <a:solidFill>
            <a:srgbClr val="C2544A"/>
          </a:solidFill>
          <a:ln w="12700">
            <a:solidFill>
              <a:srgbClr val="C2544A"/>
            </a:solidFill>
            <a:prstDash val="solid"/>
          </a:ln>
        </p:spPr>
        <p:txBody>
          <a:bodyPr/>
          <a:lstStyle/>
          <a:p>
            <a:endParaRPr lang="fr-FR"/>
          </a:p>
        </p:txBody>
      </p:sp>
      <p:sp>
        <p:nvSpPr>
          <p:cNvPr id="38" name="Text 36"/>
          <p:cNvSpPr/>
          <p:nvPr/>
        </p:nvSpPr>
        <p:spPr>
          <a:xfrm>
            <a:off x="4846320" y="22402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5</a:t>
            </a:r>
            <a:endParaRPr lang="en-US" sz="2200" dirty="0"/>
          </a:p>
        </p:txBody>
      </p:sp>
      <p:sp>
        <p:nvSpPr>
          <p:cNvPr id="39" name="Text 37"/>
          <p:cNvSpPr/>
          <p:nvPr/>
        </p:nvSpPr>
        <p:spPr>
          <a:xfrm>
            <a:off x="5321808" y="23317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0" name="Text 38"/>
          <p:cNvSpPr/>
          <p:nvPr/>
        </p:nvSpPr>
        <p:spPr>
          <a:xfrm>
            <a:off x="5715000" y="23134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Mauvaise qualité visuelle</a:t>
            </a:r>
            <a:endParaRPr lang="en-US" sz="1200" dirty="0"/>
          </a:p>
        </p:txBody>
      </p:sp>
      <p:sp>
        <p:nvSpPr>
          <p:cNvPr id="41" name="Text 39"/>
          <p:cNvSpPr/>
          <p:nvPr/>
        </p:nvSpPr>
        <p:spPr>
          <a:xfrm>
            <a:off x="5321808" y="27249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Fautes d'orthographe, logo flou, mise en page étrange.</a:t>
            </a:r>
            <a:endParaRPr lang="en-US" sz="950" dirty="0"/>
          </a:p>
        </p:txBody>
      </p:sp>
      <p:sp>
        <p:nvSpPr>
          <p:cNvPr id="42" name="Shape 40"/>
          <p:cNvSpPr/>
          <p:nvPr/>
        </p:nvSpPr>
        <p:spPr>
          <a:xfrm>
            <a:off x="5321808" y="3026664"/>
            <a:ext cx="3730752" cy="292608"/>
          </a:xfrm>
          <a:prstGeom prst="rect">
            <a:avLst/>
          </a:prstGeom>
          <a:solidFill>
            <a:srgbClr val="E1F7E8"/>
          </a:solidFill>
          <a:ln w="6350">
            <a:solidFill>
              <a:srgbClr val="27AE60"/>
            </a:solidFill>
            <a:prstDash val="solid"/>
          </a:ln>
        </p:spPr>
        <p:txBody>
          <a:bodyPr/>
          <a:lstStyle/>
          <a:p>
            <a:endParaRPr lang="fr-FR"/>
          </a:p>
        </p:txBody>
      </p:sp>
      <p:sp>
        <p:nvSpPr>
          <p:cNvPr id="43" name="Text 41"/>
          <p:cNvSpPr/>
          <p:nvPr/>
        </p:nvSpPr>
        <p:spPr>
          <a:xfrm>
            <a:off x="5376672" y="30449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Un organisme officiel relit toujours ses communications</a:t>
            </a:r>
            <a:endParaRPr lang="en-US" sz="850" dirty="0"/>
          </a:p>
        </p:txBody>
      </p:sp>
      <p:sp>
        <p:nvSpPr>
          <p:cNvPr id="45" name="Shape 42"/>
          <p:cNvSpPr/>
          <p:nvPr/>
        </p:nvSpPr>
        <p:spPr>
          <a:xfrm>
            <a:off x="5376672" y="3954780"/>
            <a:ext cx="2954883" cy="317930"/>
          </a:xfrm>
          <a:prstGeom prst="rect">
            <a:avLst/>
          </a:prstGeom>
          <a:solidFill>
            <a:srgbClr val="E67E22"/>
          </a:solidFill>
          <a:ln w="12700">
            <a:solidFill>
              <a:srgbClr val="E67E22"/>
            </a:solidFill>
            <a:prstDash val="solid"/>
          </a:ln>
        </p:spPr>
        <p:txBody>
          <a:bodyPr/>
          <a:lstStyle/>
          <a:p>
            <a:endParaRPr lang="fr-FR"/>
          </a:p>
        </p:txBody>
      </p:sp>
      <p:sp>
        <p:nvSpPr>
          <p:cNvPr id="46" name="Text 43">
            <a:hlinkClick r:id="" action="ppaction://noaction"/>
          </p:cNvPr>
          <p:cNvSpPr/>
          <p:nvPr/>
        </p:nvSpPr>
        <p:spPr>
          <a:xfrm>
            <a:off x="5396249" y="3909764"/>
            <a:ext cx="2743200" cy="384048"/>
          </a:xfrm>
          <a:prstGeom prst="rect">
            <a:avLst/>
          </a:prstGeom>
          <a:noFill/>
          <a:ln/>
        </p:spPr>
        <p:txBody>
          <a:bodyPr wrap="square" lIns="0" tIns="0" rIns="0" bIns="0" rtlCol="0" anchor="ctr"/>
          <a:lstStyle/>
          <a:p>
            <a:pPr marL="0" indent="0" algn="ctr">
              <a:buNone/>
            </a:pPr>
            <a:r>
              <a:rPr lang="en-US" sz="1300" b="1" u="sng" dirty="0">
                <a:solidFill>
                  <a:srgbClr val="FFFFFF"/>
                </a:solidFill>
                <a:latin typeface="Arial Black" pitchFamily="34" charset="0"/>
                <a:ea typeface="Arial Black" pitchFamily="34" charset="-122"/>
                <a:cs typeface="Arial Black" pitchFamily="34" charset="-120"/>
                <a:hlinkClick r:id="" action="ppaction://noaction">
                  <a:extLst>
                    <a:ext uri="{A12FA001-AC4F-418D-AE19-62706E023703}">
                      <ahyp:hlinkClr xmlns:ahyp="http://schemas.microsoft.com/office/drawing/2018/hyperlinkcolor" val="tx"/>
                    </a:ext>
                  </a:extLst>
                </a:hlinkClick>
              </a:rPr>
              <a:t>🎯  Passer au Quiz  ▶</a:t>
            </a:r>
            <a:endParaRPr lang="en-US" sz="1300" dirty="0"/>
          </a:p>
        </p:txBody>
      </p:sp>
      <p:sp>
        <p:nvSpPr>
          <p:cNvPr id="47" name="Shape 4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48" name="Text 45">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70" name="Picture 69" descr="logo_sig.png"/>
          <p:cNvPicPr>
            <a:picLocks noChangeAspect="1"/>
          </p:cNvPicPr>
          <p:nvPr/>
        </p:nvPicPr>
        <p:blipFill>
          <a:blip r:embed="rId4"/>
          <a:stretch>
            <a:fillRect/>
          </a:stretch>
        </p:blipFill>
        <p:spPr>
          <a:xfrm>
            <a:off x="40143" y="40143"/>
            <a:ext cx="413491" cy="413491"/>
          </a:xfrm>
          <a:prstGeom prst="rect">
            <a:avLst/>
          </a:prstGeom>
        </p:spPr>
      </p:pic>
      <p:sp>
        <p:nvSpPr>
          <p:cNvPr id="44" name="ZoneTexte 43">
            <a:extLst>
              <a:ext uri="{FF2B5EF4-FFF2-40B4-BE49-F238E27FC236}">
                <a16:creationId xmlns:a16="http://schemas.microsoft.com/office/drawing/2014/main" id="{83C3AE5D-A61F-48E8-4FC7-3BE9A789850E}"/>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14068"/>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365760" y="54864"/>
            <a:ext cx="2743200"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        Question 1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remboursement@dgfip-service-client.com</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Votre remboursement d'impôts de 284,00€ est disponible</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Suite au traitement de votre dossier fiscal 2025, un remboursement de 284,00€ a été validé.</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Veuillez confirmer votre RIB sous 48h pour recevoir le virement.</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331871" y="4009644"/>
            <a:ext cx="480258"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87939"/>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1" name="Picture 990" descr="logo_sig.png"/>
          <p:cNvPicPr>
            <a:picLocks noChangeAspect="1"/>
          </p:cNvPicPr>
          <p:nvPr/>
        </p:nvPicPr>
        <p:blipFill>
          <a:blip r:embed="rId5"/>
          <a:stretch>
            <a:fillRect/>
          </a:stretch>
        </p:blipFill>
        <p:spPr>
          <a:xfrm>
            <a:off x="40143" y="40143"/>
            <a:ext cx="413491" cy="413491"/>
          </a:xfrm>
          <a:prstGeom prst="rect">
            <a:avLst/>
          </a:prstGeom>
        </p:spPr>
      </p:pic>
      <p:sp>
        <p:nvSpPr>
          <p:cNvPr id="16" name="ZoneTexte 15">
            <a:extLst>
              <a:ext uri="{FF2B5EF4-FFF2-40B4-BE49-F238E27FC236}">
                <a16:creationId xmlns:a16="http://schemas.microsoft.com/office/drawing/2014/main" id="{2E509AEC-DFB9-DE2A-B762-48ED6444B48B}"/>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304903" y="295120"/>
            <a:ext cx="3744000" cy="500000"/>
          </a:xfrm>
          <a:prstGeom prst="rect">
            <a:avLst/>
          </a:prstGeom>
          <a:noFill/>
        </p:spPr>
        <p:txBody>
          <a:bodyPr anchor="ctr"/>
          <a:lstStyle/>
          <a:p>
            <a:pPr algn="l"/>
            <a:r>
              <a:rPr lang="fr-FR" sz="1600" b="1" dirty="0">
                <a:solidFill>
                  <a:srgbClr val="1E293B"/>
                </a:solidFill>
                <a:latin typeface="Calibri"/>
              </a:rPr>
              <a:t>Question 1 / 5 — La réponse</a:t>
            </a:r>
          </a:p>
        </p:txBody>
      </p:sp>
      <p:sp>
        <p:nvSpPr>
          <p:cNvPr id="31" name="Verdict"/>
          <p:cNvSpPr>
            <a:spLocks noGrp="1"/>
          </p:cNvSpPr>
          <p:nvPr/>
        </p:nvSpPr>
        <p:spPr>
          <a:xfrm>
            <a:off x="548640" y="1100000"/>
            <a:ext cx="8046720" cy="900000"/>
          </a:xfrm>
          <a:prstGeom prst="rect">
            <a:avLst/>
          </a:prstGeom>
          <a:solidFill>
            <a:srgbClr val="F7E1E1"/>
          </a:solidFill>
          <a:ln w="38100">
            <a:solidFill>
              <a:srgbClr val="C2544A"/>
            </a:solidFill>
          </a:ln>
        </p:spPr>
        <p:txBody>
          <a:bodyPr anchor="ctr"/>
          <a:lstStyle/>
          <a:p>
            <a:pPr algn="ctr"/>
            <a:r>
              <a:rPr lang="fr-FR" sz="2800" b="1" dirty="0">
                <a:solidFill>
                  <a:srgbClr val="334155"/>
                </a:solidFill>
                <a:latin typeface="Calibri"/>
              </a:rPr>
              <a:t>⛔  C'ÉTAIT UNE ARNAQUE</a:t>
            </a:r>
          </a:p>
          <a:p>
            <a:pPr algn="ctr"/>
            <a:r>
              <a:rPr lang="fr-FR" sz="1100" b="0" dirty="0">
                <a:solidFill>
                  <a:srgbClr val="334155"/>
                </a:solidFill>
                <a:latin typeface="Calibri"/>
              </a:rPr>
              <a:t>Expéditeur : remboursement@dgfip-service-client.com</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dgfip-service-client.com — domaine inventé, le vrai est impots.gouv.fr</a:t>
            </a:r>
          </a:p>
          <a:p>
            <a:pPr algn="l"/>
            <a:r>
              <a:rPr lang="fr-FR" sz="1100" b="0" dirty="0">
                <a:solidFill>
                  <a:srgbClr val="1E293B"/>
                </a:solidFill>
                <a:latin typeface="Calibri"/>
              </a:rPr>
              <a:t>⛔  Les impôts ont déjà votre RIB — ils ne le redemandent JAMAIS</a:t>
            </a:r>
          </a:p>
          <a:p>
            <a:pPr algn="l"/>
            <a:r>
              <a:rPr lang="fr-FR" sz="1100" b="0" dirty="0">
                <a:solidFill>
                  <a:srgbClr val="1E293B"/>
                </a:solidFill>
                <a:latin typeface="Calibri"/>
              </a:rPr>
              <a:t>⛔  Urgence artificielle (48h) pour vous empêcher de réfléchir</a:t>
            </a:r>
          </a:p>
          <a:p>
            <a:pPr algn="l"/>
            <a:r>
              <a:rPr lang="fr-FR" sz="1100" b="0" dirty="0">
                <a:solidFill>
                  <a:srgbClr val="1E293B"/>
                </a:solidFill>
                <a:latin typeface="Calibri"/>
              </a:rPr>
              <a:t>⛔  Montant précis (284€) conçu pour paraître crédible</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
        <p:nvSpPr>
          <p:cNvPr id="2" name="ZoneTexte 1">
            <a:extLst>
              <a:ext uri="{FF2B5EF4-FFF2-40B4-BE49-F238E27FC236}">
                <a16:creationId xmlns:a16="http://schemas.microsoft.com/office/drawing/2014/main" id="{F44369E0-C3BB-282F-5041-E77BDAE85C4A}"/>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493776" y="54864"/>
            <a:ext cx="2615183"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2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no-reply@caf.fr</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Votre paiement CAF d'avril a été effectué</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Madame, Monsieur,</a:t>
            </a:r>
            <a:endParaRPr lang="en-US" sz="1300" dirty="0"/>
          </a:p>
          <a:p>
            <a:pPr marL="0" indent="0">
              <a:buNone/>
            </a:pP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Nous vous informons que votre paiement du mois d'avril 2026 a été versé sur votre compte.</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Retrouvez le détail sur caf.fr dans votre espace Mon Compte.</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304713" y="3963924"/>
            <a:ext cx="534573"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2" name="Picture 991" descr="logo_sig.png"/>
          <p:cNvPicPr>
            <a:picLocks noChangeAspect="1"/>
          </p:cNvPicPr>
          <p:nvPr/>
        </p:nvPicPr>
        <p:blipFill>
          <a:blip r:embed="rId5"/>
          <a:stretch>
            <a:fillRect/>
          </a:stretch>
        </p:blipFill>
        <p:spPr>
          <a:xfrm>
            <a:off x="40143" y="40143"/>
            <a:ext cx="413491" cy="413491"/>
          </a:xfrm>
          <a:prstGeom prst="rect">
            <a:avLst/>
          </a:prstGeom>
        </p:spPr>
      </p:pic>
      <p:sp>
        <p:nvSpPr>
          <p:cNvPr id="16" name="ZoneTexte 15">
            <a:extLst>
              <a:ext uri="{FF2B5EF4-FFF2-40B4-BE49-F238E27FC236}">
                <a16:creationId xmlns:a16="http://schemas.microsoft.com/office/drawing/2014/main" id="{71E22193-5D33-87B0-3C99-01E1A60D84D1}"/>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370217" y="260000"/>
            <a:ext cx="2656814" cy="500000"/>
          </a:xfrm>
          <a:prstGeom prst="rect">
            <a:avLst/>
          </a:prstGeom>
          <a:noFill/>
        </p:spPr>
        <p:txBody>
          <a:bodyPr anchor="ctr"/>
          <a:lstStyle/>
          <a:p>
            <a:pPr algn="l"/>
            <a:r>
              <a:rPr lang="fr-FR" sz="1600" b="1" dirty="0">
                <a:solidFill>
                  <a:srgbClr val="1E293B"/>
                </a:solidFill>
                <a:latin typeface="Calibri"/>
              </a:rPr>
              <a:t>Question 2 / 5 — La réponse</a:t>
            </a:r>
          </a:p>
        </p:txBody>
      </p:sp>
      <p:sp>
        <p:nvSpPr>
          <p:cNvPr id="31" name="Verdict"/>
          <p:cNvSpPr>
            <a:spLocks noGrp="1"/>
          </p:cNvSpPr>
          <p:nvPr/>
        </p:nvSpPr>
        <p:spPr>
          <a:xfrm>
            <a:off x="548640" y="1100000"/>
            <a:ext cx="8046720" cy="900000"/>
          </a:xfrm>
          <a:prstGeom prst="rect">
            <a:avLst/>
          </a:prstGeom>
          <a:solidFill>
            <a:srgbClr val="E1F7E4"/>
          </a:solidFill>
          <a:ln w="38100">
            <a:solidFill>
              <a:srgbClr val="22C55E"/>
            </a:solidFill>
          </a:ln>
        </p:spPr>
        <p:txBody>
          <a:bodyPr anchor="ctr"/>
          <a:lstStyle/>
          <a:p>
            <a:pPr algn="ctr"/>
            <a:r>
              <a:rPr lang="fr-FR" sz="2800" b="1" dirty="0">
                <a:solidFill>
                  <a:srgbClr val="1E7D45"/>
                </a:solidFill>
                <a:latin typeface="Calibri"/>
              </a:rPr>
              <a:t>✅  C'ÉTAIT UN MESSAGE LÉGITIME</a:t>
            </a:r>
          </a:p>
          <a:p>
            <a:pPr algn="ctr"/>
            <a:r>
              <a:rPr lang="fr-FR" sz="1100" b="0" dirty="0">
                <a:solidFill>
                  <a:srgbClr val="334155"/>
                </a:solidFill>
                <a:latin typeface="Calibri"/>
              </a:rPr>
              <a:t>Expéditeur : no-reply@caf.fr</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Domaine officiel : caf.fr — le seul domaine utilisé par la CAF</a:t>
            </a:r>
          </a:p>
          <a:p>
            <a:pPr algn="l"/>
            <a:r>
              <a:rPr lang="fr-FR" sz="1100" b="0" dirty="0">
                <a:solidFill>
                  <a:srgbClr val="1E293B"/>
                </a:solidFill>
                <a:latin typeface="Calibri"/>
              </a:rPr>
              <a:t>✅  Aucune demande d'information — informe seulement du paiement</a:t>
            </a:r>
          </a:p>
          <a:p>
            <a:pPr algn="l"/>
            <a:r>
              <a:rPr lang="fr-FR" sz="1100" b="0" dirty="0">
                <a:solidFill>
                  <a:srgbClr val="1E293B"/>
                </a:solidFill>
                <a:latin typeface="Calibri"/>
              </a:rPr>
              <a:t>✅  Renvoie vers caf.fr sans demander de cliquer sur un lien</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
        <p:nvSpPr>
          <p:cNvPr id="2" name="ZoneTexte 1">
            <a:extLst>
              <a:ext uri="{FF2B5EF4-FFF2-40B4-BE49-F238E27FC236}">
                <a16:creationId xmlns:a16="http://schemas.microsoft.com/office/drawing/2014/main" id="{389B1960-417E-8BE1-0C43-B5EF8BD78D33}"/>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493776" y="54864"/>
            <a:ext cx="2615183"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3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service@chronopost-livraison-colis.com</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Votre colis est en attente — Frais de 1,99€ requis</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Votre colis n°FR8823 ne peut pas être livré à l'adresse indiquée.</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Veuillez régler des frais de port de 1,99€ dans les 24h pour éviter le retour.</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318781" y="4006127"/>
            <a:ext cx="506437"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3" name="Picture 992" descr="logo_sig.png"/>
          <p:cNvPicPr>
            <a:picLocks noChangeAspect="1"/>
          </p:cNvPicPr>
          <p:nvPr/>
        </p:nvPicPr>
        <p:blipFill>
          <a:blip r:embed="rId5"/>
          <a:stretch>
            <a:fillRect/>
          </a:stretch>
        </p:blipFill>
        <p:spPr>
          <a:xfrm>
            <a:off x="40143" y="40143"/>
            <a:ext cx="413491" cy="413491"/>
          </a:xfrm>
          <a:prstGeom prst="rect">
            <a:avLst/>
          </a:prstGeom>
        </p:spPr>
      </p:pic>
      <p:sp>
        <p:nvSpPr>
          <p:cNvPr id="16" name="ZoneTexte 15">
            <a:extLst>
              <a:ext uri="{FF2B5EF4-FFF2-40B4-BE49-F238E27FC236}">
                <a16:creationId xmlns:a16="http://schemas.microsoft.com/office/drawing/2014/main" id="{3EE7AF8E-10B6-FE6F-DF30-C1A8D997EFE0}"/>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252651" y="295120"/>
            <a:ext cx="2687612" cy="500000"/>
          </a:xfrm>
          <a:prstGeom prst="rect">
            <a:avLst/>
          </a:prstGeom>
          <a:noFill/>
        </p:spPr>
        <p:txBody>
          <a:bodyPr anchor="ctr"/>
          <a:lstStyle/>
          <a:p>
            <a:pPr algn="l"/>
            <a:r>
              <a:rPr lang="fr-FR" sz="1600" b="1" dirty="0">
                <a:solidFill>
                  <a:srgbClr val="1E293B"/>
                </a:solidFill>
                <a:latin typeface="Calibri"/>
              </a:rPr>
              <a:t>Question 3 / 5 — La réponse</a:t>
            </a:r>
          </a:p>
        </p:txBody>
      </p:sp>
      <p:sp>
        <p:nvSpPr>
          <p:cNvPr id="31" name="Verdict"/>
          <p:cNvSpPr>
            <a:spLocks noGrp="1"/>
          </p:cNvSpPr>
          <p:nvPr/>
        </p:nvSpPr>
        <p:spPr>
          <a:xfrm>
            <a:off x="548640" y="1100000"/>
            <a:ext cx="8046720" cy="900000"/>
          </a:xfrm>
          <a:prstGeom prst="rect">
            <a:avLst/>
          </a:prstGeom>
          <a:solidFill>
            <a:srgbClr val="F7E1E1"/>
          </a:solidFill>
          <a:ln w="38100">
            <a:solidFill>
              <a:srgbClr val="C2544A"/>
            </a:solidFill>
          </a:ln>
        </p:spPr>
        <p:txBody>
          <a:bodyPr anchor="ctr"/>
          <a:lstStyle/>
          <a:p>
            <a:pPr algn="ctr"/>
            <a:r>
              <a:rPr lang="fr-FR" sz="2800" b="1" dirty="0">
                <a:solidFill>
                  <a:srgbClr val="334155"/>
                </a:solidFill>
                <a:latin typeface="Calibri"/>
              </a:rPr>
              <a:t>⛔  C'ÉTAIT UNE ARNAQUE</a:t>
            </a:r>
          </a:p>
          <a:p>
            <a:pPr algn="ctr"/>
            <a:r>
              <a:rPr lang="fr-FR" sz="1100" b="0" dirty="0">
                <a:solidFill>
                  <a:srgbClr val="334155"/>
                </a:solidFill>
                <a:latin typeface="Calibri"/>
              </a:rPr>
              <a:t>Expéditeur : service@chronopost-livraison-colis.com</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chronopost-livraison-colis.com — inventé, le vrai est chronopost.fr</a:t>
            </a:r>
          </a:p>
          <a:p>
            <a:pPr algn="l"/>
            <a:r>
              <a:rPr lang="fr-FR" sz="1100" b="0" dirty="0">
                <a:solidFill>
                  <a:srgbClr val="1E293B"/>
                </a:solidFill>
                <a:latin typeface="Calibri"/>
              </a:rPr>
              <a:t>⛔  Chronopost ne demande JAMAIS de paiement par mail ou SMS</a:t>
            </a:r>
          </a:p>
          <a:p>
            <a:pPr algn="l"/>
            <a:r>
              <a:rPr lang="fr-FR" sz="1100" b="0" dirty="0">
                <a:solidFill>
                  <a:srgbClr val="1E293B"/>
                </a:solidFill>
                <a:latin typeface="Calibri"/>
              </a:rPr>
              <a:t>⛔  Urgence artificielle (24h) pour bloquer la réflexion</a:t>
            </a:r>
          </a:p>
          <a:p>
            <a:pPr algn="l"/>
            <a:r>
              <a:rPr lang="fr-FR" sz="1100" b="0" dirty="0">
                <a:solidFill>
                  <a:srgbClr val="1E293B"/>
                </a:solidFill>
                <a:latin typeface="Calibri"/>
              </a:rPr>
              <a:t>💡  Le petit montant (1,99€) est calculé pour sembler crédible</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
        <p:nvSpPr>
          <p:cNvPr id="2" name="ZoneTexte 1">
            <a:extLst>
              <a:ext uri="{FF2B5EF4-FFF2-40B4-BE49-F238E27FC236}">
                <a16:creationId xmlns:a16="http://schemas.microsoft.com/office/drawing/2014/main" id="{7E4BFF98-5409-FD98-6F9E-4C35A5EE037C}"/>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8">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594360" y="54864"/>
            <a:ext cx="2514600"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4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service-carte-vitale@ameli-renouvellement.org</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URGENT — Votre carte Vitale expire le 31/05/2026</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Votre carte Vitale arrivera à expiration dans 15 jours.</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Pour éviter l'interruption de vos remboursements, mettez à jour vos données médicales et bancaires.</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294163" y="3963924"/>
            <a:ext cx="555674"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4" name="Picture 993" descr="logo_sig.png"/>
          <p:cNvPicPr>
            <a:picLocks noChangeAspect="1"/>
          </p:cNvPicPr>
          <p:nvPr/>
        </p:nvPicPr>
        <p:blipFill>
          <a:blip r:embed="rId5"/>
          <a:stretch>
            <a:fillRect/>
          </a:stretch>
        </p:blipFill>
        <p:spPr>
          <a:xfrm>
            <a:off x="40143" y="40143"/>
            <a:ext cx="413491" cy="413491"/>
          </a:xfrm>
          <a:prstGeom prst="rect">
            <a:avLst/>
          </a:prstGeom>
        </p:spPr>
      </p:pic>
      <p:sp>
        <p:nvSpPr>
          <p:cNvPr id="16" name="ZoneTexte 15">
            <a:extLst>
              <a:ext uri="{FF2B5EF4-FFF2-40B4-BE49-F238E27FC236}">
                <a16:creationId xmlns:a16="http://schemas.microsoft.com/office/drawing/2014/main" id="{B161FF6F-5788-9B9A-8E38-460D5C7DAAAF}"/>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122022" y="320040"/>
            <a:ext cx="2769327" cy="500000"/>
          </a:xfrm>
          <a:prstGeom prst="rect">
            <a:avLst/>
          </a:prstGeom>
          <a:noFill/>
        </p:spPr>
        <p:txBody>
          <a:bodyPr anchor="ctr"/>
          <a:lstStyle/>
          <a:p>
            <a:pPr algn="l"/>
            <a:r>
              <a:rPr lang="fr-FR" sz="1600" b="1" dirty="0">
                <a:solidFill>
                  <a:srgbClr val="1E293B"/>
                </a:solidFill>
                <a:latin typeface="Calibri"/>
              </a:rPr>
              <a:t>Question 4 / 5 — La réponse</a:t>
            </a:r>
          </a:p>
        </p:txBody>
      </p:sp>
      <p:sp>
        <p:nvSpPr>
          <p:cNvPr id="31" name="Verdict"/>
          <p:cNvSpPr>
            <a:spLocks noGrp="1"/>
          </p:cNvSpPr>
          <p:nvPr/>
        </p:nvSpPr>
        <p:spPr>
          <a:xfrm>
            <a:off x="548640" y="1100000"/>
            <a:ext cx="8046720" cy="900000"/>
          </a:xfrm>
          <a:prstGeom prst="rect">
            <a:avLst/>
          </a:prstGeom>
          <a:solidFill>
            <a:srgbClr val="F7E1E1"/>
          </a:solidFill>
          <a:ln w="38100">
            <a:solidFill>
              <a:srgbClr val="C2544A"/>
            </a:solidFill>
          </a:ln>
        </p:spPr>
        <p:txBody>
          <a:bodyPr anchor="ctr"/>
          <a:lstStyle/>
          <a:p>
            <a:pPr algn="ctr"/>
            <a:r>
              <a:rPr lang="fr-FR" sz="2800" b="1" dirty="0">
                <a:solidFill>
                  <a:srgbClr val="334155"/>
                </a:solidFill>
                <a:latin typeface="Calibri"/>
              </a:rPr>
              <a:t>⛔  C'ÉTAIT UNE ARNAQUE</a:t>
            </a:r>
          </a:p>
          <a:p>
            <a:pPr algn="ctr"/>
            <a:r>
              <a:rPr lang="fr-FR" sz="1100" b="0" dirty="0">
                <a:solidFill>
                  <a:srgbClr val="334155"/>
                </a:solidFill>
                <a:latin typeface="Calibri"/>
              </a:rPr>
              <a:t>Expéditeur : service-carte-vitale@ameli-renouvellement.org</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ameli-renouvellement.org — domaine inventé, le vrai est ameli.fr</a:t>
            </a:r>
          </a:p>
          <a:p>
            <a:pPr algn="l"/>
            <a:r>
              <a:rPr lang="fr-FR" sz="1100" b="0" dirty="0">
                <a:solidFill>
                  <a:srgbClr val="1E293B"/>
                </a:solidFill>
                <a:latin typeface="Calibri"/>
              </a:rPr>
              <a:t>⛔  La carte Vitale N'EXPIRE PAS — l'arnaque la plus répandue en France</a:t>
            </a:r>
          </a:p>
          <a:p>
            <a:pPr algn="l"/>
            <a:r>
              <a:rPr lang="fr-FR" sz="1100" b="0" dirty="0">
                <a:solidFill>
                  <a:srgbClr val="1E293B"/>
                </a:solidFill>
                <a:latin typeface="Calibri"/>
              </a:rPr>
              <a:t>⛔  Demande de données médicales ET bancaires = double arnaque</a:t>
            </a:r>
          </a:p>
          <a:p>
            <a:pPr algn="l"/>
            <a:r>
              <a:rPr lang="fr-FR" sz="1100" b="0" dirty="0">
                <a:solidFill>
                  <a:srgbClr val="1E293B"/>
                </a:solidFill>
                <a:latin typeface="Calibri"/>
              </a:rPr>
              <a:t>💡  Ameli ne demande jamais de renouveler la carte Vitale par mail</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
        <p:nvSpPr>
          <p:cNvPr id="2" name="ZoneTexte 1">
            <a:extLst>
              <a:ext uri="{FF2B5EF4-FFF2-40B4-BE49-F238E27FC236}">
                <a16:creationId xmlns:a16="http://schemas.microsoft.com/office/drawing/2014/main" id="{A27EF94D-2029-8EC1-5FDE-6E2267EDE1A0}"/>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493776" y="54864"/>
            <a:ext cx="2615183"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5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contact@francetravail.fr</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Mise à jour de votre dossier France Travail</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Votre espace personnel a été mis à jour suite à votre dernière déclaration de situation.</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Connectez-vous sur francetravail.fr pour consulter vos informations.</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269545" y="3950208"/>
            <a:ext cx="569742"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5" name="Picture 994" descr="logo_sig.png"/>
          <p:cNvPicPr>
            <a:picLocks noChangeAspect="1"/>
          </p:cNvPicPr>
          <p:nvPr/>
        </p:nvPicPr>
        <p:blipFill>
          <a:blip r:embed="rId5"/>
          <a:stretch>
            <a:fillRect/>
          </a:stretch>
        </p:blipFill>
        <p:spPr>
          <a:xfrm>
            <a:off x="40143" y="40143"/>
            <a:ext cx="413491" cy="413491"/>
          </a:xfrm>
          <a:prstGeom prst="rect">
            <a:avLst/>
          </a:prstGeom>
        </p:spPr>
      </p:pic>
      <p:sp>
        <p:nvSpPr>
          <p:cNvPr id="16" name="ZoneTexte 15">
            <a:extLst>
              <a:ext uri="{FF2B5EF4-FFF2-40B4-BE49-F238E27FC236}">
                <a16:creationId xmlns:a16="http://schemas.microsoft.com/office/drawing/2014/main" id="{43B15132-7C31-5BA9-6C2D-0272E301D5A6}"/>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167743" y="320040"/>
            <a:ext cx="2828108" cy="500000"/>
          </a:xfrm>
          <a:prstGeom prst="rect">
            <a:avLst/>
          </a:prstGeom>
          <a:noFill/>
        </p:spPr>
        <p:txBody>
          <a:bodyPr anchor="ctr"/>
          <a:lstStyle/>
          <a:p>
            <a:pPr algn="l"/>
            <a:r>
              <a:rPr lang="fr-FR" sz="1600" b="1" dirty="0">
                <a:solidFill>
                  <a:srgbClr val="1E293B"/>
                </a:solidFill>
                <a:latin typeface="Calibri"/>
              </a:rPr>
              <a:t>Question 5 / 5 — La réponse</a:t>
            </a:r>
          </a:p>
        </p:txBody>
      </p:sp>
      <p:sp>
        <p:nvSpPr>
          <p:cNvPr id="31" name="Verdict"/>
          <p:cNvSpPr>
            <a:spLocks noGrp="1"/>
          </p:cNvSpPr>
          <p:nvPr/>
        </p:nvSpPr>
        <p:spPr>
          <a:xfrm>
            <a:off x="548640" y="1100000"/>
            <a:ext cx="8046720" cy="900000"/>
          </a:xfrm>
          <a:prstGeom prst="rect">
            <a:avLst/>
          </a:prstGeom>
          <a:solidFill>
            <a:srgbClr val="E1F7E4"/>
          </a:solidFill>
          <a:ln w="38100">
            <a:solidFill>
              <a:srgbClr val="22C55E"/>
            </a:solidFill>
          </a:ln>
        </p:spPr>
        <p:txBody>
          <a:bodyPr anchor="ctr"/>
          <a:lstStyle/>
          <a:p>
            <a:pPr algn="ctr"/>
            <a:r>
              <a:rPr lang="fr-FR" sz="2800" b="1" dirty="0">
                <a:solidFill>
                  <a:srgbClr val="1E7D45"/>
                </a:solidFill>
                <a:latin typeface="Calibri"/>
              </a:rPr>
              <a:t>✅  C'ÉTAIT UN MESSAGE LÉGITIME</a:t>
            </a:r>
          </a:p>
          <a:p>
            <a:pPr algn="ctr"/>
            <a:r>
              <a:rPr lang="fr-FR" sz="1100" b="0" dirty="0">
                <a:solidFill>
                  <a:srgbClr val="334155"/>
                </a:solidFill>
                <a:latin typeface="Calibri"/>
              </a:rPr>
              <a:t>Expéditeur : contact@francetravail.fr</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francetravail.fr : domaine officiel (ex-Pôle Emploi)</a:t>
            </a:r>
          </a:p>
          <a:p>
            <a:pPr algn="l"/>
            <a:r>
              <a:rPr lang="fr-FR" sz="1100" b="0" dirty="0">
                <a:solidFill>
                  <a:srgbClr val="1E293B"/>
                </a:solidFill>
                <a:latin typeface="Calibri"/>
              </a:rPr>
              <a:t>✅  Ton neutre, aucune urgence, aucune demande de données</a:t>
            </a:r>
          </a:p>
          <a:p>
            <a:pPr algn="l"/>
            <a:r>
              <a:rPr lang="fr-FR" sz="1100" b="0" dirty="0">
                <a:solidFill>
                  <a:srgbClr val="1E293B"/>
                </a:solidFill>
                <a:latin typeface="Calibri"/>
              </a:rPr>
              <a:t>✅  Vous redirige vers le site officiel sans rien demander</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
        <p:nvSpPr>
          <p:cNvPr id="2" name="ZoneTexte 1">
            <a:extLst>
              <a:ext uri="{FF2B5EF4-FFF2-40B4-BE49-F238E27FC236}">
                <a16:creationId xmlns:a16="http://schemas.microsoft.com/office/drawing/2014/main" id="{C7E2331F-AB98-4E88-2273-A5AD4EBEEE11}"/>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9">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1800" b="1" dirty="0">
                <a:solidFill>
                  <a:srgbClr val="1E293B"/>
                </a:solidFill>
                <a:latin typeface="Arial Black" pitchFamily="34" charset="0"/>
                <a:ea typeface="Arial Black" pitchFamily="34" charset="-122"/>
                <a:cs typeface="Arial Black" pitchFamily="34" charset="-120"/>
              </a:rPr>
              <a:t>Signaler, se faire aider &amp; porter plainte</a:t>
            </a:r>
            <a:endParaRPr lang="en-US" sz="1800" dirty="0"/>
          </a:p>
        </p:txBody>
      </p:sp>
      <p:sp>
        <p:nvSpPr>
          <p:cNvPr id="4" name="Shape 2"/>
          <p:cNvSpPr/>
          <p:nvPr/>
        </p:nvSpPr>
        <p:spPr>
          <a:xfrm>
            <a:off x="274320" y="91440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914400"/>
            <a:ext cx="4160520" cy="91440"/>
          </a:xfrm>
          <a:prstGeom prst="rect">
            <a:avLst/>
          </a:prstGeom>
          <a:solidFill>
            <a:srgbClr val="2980B9"/>
          </a:solidFill>
          <a:ln w="12700">
            <a:solidFill>
              <a:srgbClr val="2980B9"/>
            </a:solidFill>
            <a:prstDash val="solid"/>
          </a:ln>
        </p:spPr>
        <p:txBody>
          <a:bodyPr/>
          <a:lstStyle/>
          <a:p>
            <a:endParaRPr lang="fr-FR"/>
          </a:p>
        </p:txBody>
      </p:sp>
      <p:sp>
        <p:nvSpPr>
          <p:cNvPr id="6" name="Text 4"/>
          <p:cNvSpPr/>
          <p:nvPr/>
        </p:nvSpPr>
        <p:spPr>
          <a:xfrm>
            <a:off x="384048" y="107899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1024128" y="1078992"/>
            <a:ext cx="2377440" cy="347472"/>
          </a:xfrm>
          <a:prstGeom prst="rect">
            <a:avLst/>
          </a:prstGeom>
          <a:noFill/>
          <a:ln/>
        </p:spPr>
        <p:txBody>
          <a:bodyPr wrap="square" lIns="0" tIns="0" rIns="0" bIns="0" rtlCol="0" anchor="ctr"/>
          <a:lstStyle/>
          <a:p>
            <a:pPr marL="0" indent="0">
              <a:buNone/>
            </a:pPr>
            <a:r>
              <a:rPr lang="en-US" sz="1500" b="1" dirty="0">
                <a:solidFill>
                  <a:srgbClr val="2980B9"/>
                </a:solidFill>
                <a:latin typeface="Arial" pitchFamily="34" charset="0"/>
                <a:ea typeface="Arial" pitchFamily="34" charset="-122"/>
                <a:cs typeface="Arial" pitchFamily="34" charset="-120"/>
              </a:rPr>
              <a:t>cybermalveillance.gouv.fr</a:t>
            </a:r>
            <a:endParaRPr lang="en-US" sz="1500" dirty="0"/>
          </a:p>
        </p:txBody>
      </p:sp>
      <p:sp>
        <p:nvSpPr>
          <p:cNvPr id="8" name="Text 6"/>
          <p:cNvSpPr/>
          <p:nvPr/>
        </p:nvSpPr>
        <p:spPr>
          <a:xfrm>
            <a:off x="1024128" y="141732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Signaler, obtenir de l'aide</a:t>
            </a:r>
            <a:endParaRPr lang="en-US" sz="1000" dirty="0"/>
          </a:p>
        </p:txBody>
      </p:sp>
      <p:sp>
        <p:nvSpPr>
          <p:cNvPr id="9" name="Shape 7"/>
          <p:cNvSpPr/>
          <p:nvPr/>
        </p:nvSpPr>
        <p:spPr>
          <a:xfrm>
            <a:off x="384048" y="1691640"/>
            <a:ext cx="3200400" cy="0"/>
          </a:xfrm>
          <a:prstGeom prst="line">
            <a:avLst/>
          </a:prstGeom>
          <a:noFill/>
          <a:ln w="10160">
            <a:solidFill>
              <a:srgbClr val="253545"/>
            </a:solidFill>
            <a:prstDash val="solid"/>
          </a:ln>
        </p:spPr>
        <p:txBody>
          <a:bodyPr/>
          <a:lstStyle/>
          <a:p>
            <a:endParaRPr lang="fr-FR"/>
          </a:p>
        </p:txBody>
      </p:sp>
      <p:sp>
        <p:nvSpPr>
          <p:cNvPr id="10" name="Text 8"/>
          <p:cNvSpPr/>
          <p:nvPr/>
        </p:nvSpPr>
        <p:spPr>
          <a:xfrm>
            <a:off x="384048" y="175564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Signalez un phishing, trouvez un prestataire. Gratuit.</a:t>
            </a:r>
            <a:endParaRPr lang="en-US" sz="1100" dirty="0"/>
          </a:p>
        </p:txBody>
      </p:sp>
      <p:pic>
        <p:nvPicPr>
          <p:cNvPr id="11" name="Image 0" descr="preencoded.png"/>
          <p:cNvPicPr>
            <a:picLocks noChangeAspect="1"/>
          </p:cNvPicPr>
          <p:nvPr/>
        </p:nvPicPr>
        <p:blipFill>
          <a:blip r:embed="rId3"/>
          <a:stretch>
            <a:fillRect/>
          </a:stretch>
        </p:blipFill>
        <p:spPr>
          <a:xfrm>
            <a:off x="3675888" y="1078992"/>
            <a:ext cx="658368" cy="658368"/>
          </a:xfrm>
          <a:prstGeom prst="rect">
            <a:avLst/>
          </a:prstGeom>
        </p:spPr>
      </p:pic>
      <p:sp>
        <p:nvSpPr>
          <p:cNvPr id="12" name="Shape 9"/>
          <p:cNvSpPr/>
          <p:nvPr/>
        </p:nvSpPr>
        <p:spPr>
          <a:xfrm>
            <a:off x="4709160" y="91440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3" name="Shape 10"/>
          <p:cNvSpPr/>
          <p:nvPr/>
        </p:nvSpPr>
        <p:spPr>
          <a:xfrm>
            <a:off x="4709160" y="914400"/>
            <a:ext cx="4160520" cy="91440"/>
          </a:xfrm>
          <a:prstGeom prst="rect">
            <a:avLst/>
          </a:prstGeom>
          <a:solidFill>
            <a:srgbClr val="E67E22"/>
          </a:solidFill>
          <a:ln w="12700">
            <a:solidFill>
              <a:srgbClr val="E67E22"/>
            </a:solidFill>
            <a:prstDash val="solid"/>
          </a:ln>
        </p:spPr>
        <p:txBody>
          <a:bodyPr/>
          <a:lstStyle/>
          <a:p>
            <a:endParaRPr lang="fr-FR"/>
          </a:p>
        </p:txBody>
      </p:sp>
      <p:sp>
        <p:nvSpPr>
          <p:cNvPr id="14" name="Text 11"/>
          <p:cNvSpPr/>
          <p:nvPr/>
        </p:nvSpPr>
        <p:spPr>
          <a:xfrm>
            <a:off x="4818888" y="107899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5" name="Text 12"/>
          <p:cNvSpPr/>
          <p:nvPr/>
        </p:nvSpPr>
        <p:spPr>
          <a:xfrm>
            <a:off x="5458968" y="1078992"/>
            <a:ext cx="2377440" cy="347472"/>
          </a:xfrm>
          <a:prstGeom prst="rect">
            <a:avLst/>
          </a:prstGeom>
          <a:noFill/>
          <a:ln/>
        </p:spPr>
        <p:txBody>
          <a:bodyPr wrap="square" lIns="0" tIns="0" rIns="0" bIns="0" rtlCol="0" anchor="ctr"/>
          <a:lstStyle/>
          <a:p>
            <a:pPr marL="0" indent="0">
              <a:buNone/>
            </a:pPr>
            <a:r>
              <a:rPr lang="en-US" sz="1500" b="1" dirty="0">
                <a:solidFill>
                  <a:srgbClr val="E67E22"/>
                </a:solidFill>
                <a:latin typeface="Arial" pitchFamily="34" charset="0"/>
                <a:ea typeface="Arial" pitchFamily="34" charset="-122"/>
                <a:cs typeface="Arial" pitchFamily="34" charset="-120"/>
              </a:rPr>
              <a:t>33700</a:t>
            </a:r>
            <a:endParaRPr lang="en-US" sz="1500" dirty="0"/>
          </a:p>
        </p:txBody>
      </p:sp>
      <p:sp>
        <p:nvSpPr>
          <p:cNvPr id="16" name="Text 13"/>
          <p:cNvSpPr/>
          <p:nvPr/>
        </p:nvSpPr>
        <p:spPr>
          <a:xfrm>
            <a:off x="5458968" y="141732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SMS frauduleux</a:t>
            </a:r>
            <a:endParaRPr lang="en-US" sz="1000" dirty="0"/>
          </a:p>
        </p:txBody>
      </p:sp>
      <p:sp>
        <p:nvSpPr>
          <p:cNvPr id="17" name="Shape 14"/>
          <p:cNvSpPr/>
          <p:nvPr/>
        </p:nvSpPr>
        <p:spPr>
          <a:xfrm>
            <a:off x="4818888" y="1691640"/>
            <a:ext cx="3200400" cy="0"/>
          </a:xfrm>
          <a:prstGeom prst="line">
            <a:avLst/>
          </a:prstGeom>
          <a:noFill/>
          <a:ln w="10160">
            <a:solidFill>
              <a:srgbClr val="253545"/>
            </a:solidFill>
            <a:prstDash val="solid"/>
          </a:ln>
        </p:spPr>
        <p:txBody>
          <a:bodyPr/>
          <a:lstStyle/>
          <a:p>
            <a:endParaRPr lang="fr-FR"/>
          </a:p>
        </p:txBody>
      </p:sp>
      <p:sp>
        <p:nvSpPr>
          <p:cNvPr id="18" name="Text 15"/>
          <p:cNvSpPr/>
          <p:nvPr/>
        </p:nvSpPr>
        <p:spPr>
          <a:xfrm>
            <a:off x="4818888" y="175564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Transférez le SMS suspect au 33700. Immédiat et gratuit.</a:t>
            </a:r>
            <a:endParaRPr lang="en-US" sz="1100" dirty="0"/>
          </a:p>
        </p:txBody>
      </p:sp>
      <p:pic>
        <p:nvPicPr>
          <p:cNvPr id="19" name="Image 1" descr="preencoded.png"/>
          <p:cNvPicPr>
            <a:picLocks noChangeAspect="1"/>
          </p:cNvPicPr>
          <p:nvPr/>
        </p:nvPicPr>
        <p:blipFill>
          <a:blip r:embed="rId4"/>
          <a:stretch>
            <a:fillRect/>
          </a:stretch>
        </p:blipFill>
        <p:spPr>
          <a:xfrm>
            <a:off x="8110728" y="1078992"/>
            <a:ext cx="658368" cy="658368"/>
          </a:xfrm>
          <a:prstGeom prst="rect">
            <a:avLst/>
          </a:prstGeom>
        </p:spPr>
      </p:pic>
      <p:sp>
        <p:nvSpPr>
          <p:cNvPr id="20" name="Shape 16"/>
          <p:cNvSpPr/>
          <p:nvPr/>
        </p:nvSpPr>
        <p:spPr>
          <a:xfrm>
            <a:off x="274320" y="288036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7"/>
          <p:cNvSpPr/>
          <p:nvPr/>
        </p:nvSpPr>
        <p:spPr>
          <a:xfrm>
            <a:off x="274320" y="2880360"/>
            <a:ext cx="4160520" cy="91440"/>
          </a:xfrm>
          <a:prstGeom prst="rect">
            <a:avLst/>
          </a:prstGeom>
          <a:solidFill>
            <a:srgbClr val="8E44AD"/>
          </a:solidFill>
          <a:ln w="12700">
            <a:solidFill>
              <a:srgbClr val="8E44AD"/>
            </a:solidFill>
            <a:prstDash val="solid"/>
          </a:ln>
        </p:spPr>
        <p:txBody>
          <a:bodyPr/>
          <a:lstStyle/>
          <a:p>
            <a:endParaRPr lang="fr-FR"/>
          </a:p>
        </p:txBody>
      </p:sp>
      <p:sp>
        <p:nvSpPr>
          <p:cNvPr id="22" name="Text 18"/>
          <p:cNvSpPr/>
          <p:nvPr/>
        </p:nvSpPr>
        <p:spPr>
          <a:xfrm>
            <a:off x="384048" y="304495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3" name="Text 19"/>
          <p:cNvSpPr/>
          <p:nvPr/>
        </p:nvSpPr>
        <p:spPr>
          <a:xfrm>
            <a:off x="1024128" y="3044952"/>
            <a:ext cx="2377440" cy="347472"/>
          </a:xfrm>
          <a:prstGeom prst="rect">
            <a:avLst/>
          </a:prstGeom>
          <a:noFill/>
          <a:ln/>
        </p:spPr>
        <p:txBody>
          <a:bodyPr wrap="square" lIns="0" tIns="0" rIns="0" bIns="0" rtlCol="0" anchor="ctr"/>
          <a:lstStyle/>
          <a:p>
            <a:pPr marL="0" indent="0">
              <a:buNone/>
            </a:pPr>
            <a:r>
              <a:rPr lang="en-US" sz="1500" b="1" dirty="0">
                <a:solidFill>
                  <a:srgbClr val="8E44AD"/>
                </a:solidFill>
                <a:latin typeface="Arial" pitchFamily="34" charset="0"/>
                <a:ea typeface="Arial" pitchFamily="34" charset="-122"/>
                <a:cs typeface="Arial" pitchFamily="34" charset="-120"/>
              </a:rPr>
              <a:t>signal-spam.fr</a:t>
            </a:r>
            <a:endParaRPr lang="en-US" sz="1500" dirty="0"/>
          </a:p>
        </p:txBody>
      </p:sp>
      <p:sp>
        <p:nvSpPr>
          <p:cNvPr id="24" name="Text 20"/>
          <p:cNvSpPr/>
          <p:nvPr/>
        </p:nvSpPr>
        <p:spPr>
          <a:xfrm>
            <a:off x="1024128" y="338328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E-mail de phishing</a:t>
            </a:r>
            <a:endParaRPr lang="en-US" sz="1000" dirty="0"/>
          </a:p>
        </p:txBody>
      </p:sp>
      <p:sp>
        <p:nvSpPr>
          <p:cNvPr id="25" name="Shape 21"/>
          <p:cNvSpPr/>
          <p:nvPr/>
        </p:nvSpPr>
        <p:spPr>
          <a:xfrm>
            <a:off x="384048" y="3657600"/>
            <a:ext cx="3200400" cy="0"/>
          </a:xfrm>
          <a:prstGeom prst="line">
            <a:avLst/>
          </a:prstGeom>
          <a:noFill/>
          <a:ln w="10160">
            <a:solidFill>
              <a:srgbClr val="253545"/>
            </a:solidFill>
            <a:prstDash val="solid"/>
          </a:ln>
        </p:spPr>
        <p:txBody>
          <a:bodyPr/>
          <a:lstStyle/>
          <a:p>
            <a:endParaRPr lang="fr-FR"/>
          </a:p>
        </p:txBody>
      </p:sp>
      <p:sp>
        <p:nvSpPr>
          <p:cNvPr id="26" name="Text 22"/>
          <p:cNvSpPr/>
          <p:nvPr/>
        </p:nvSpPr>
        <p:spPr>
          <a:xfrm>
            <a:off x="384048" y="372160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Transférez le mail frauduleux pour alimenter les filtres.</a:t>
            </a:r>
            <a:endParaRPr lang="en-US" sz="1100" dirty="0"/>
          </a:p>
        </p:txBody>
      </p:sp>
      <p:pic>
        <p:nvPicPr>
          <p:cNvPr id="27" name="Image 2" descr="preencoded.png"/>
          <p:cNvPicPr>
            <a:picLocks noChangeAspect="1"/>
          </p:cNvPicPr>
          <p:nvPr/>
        </p:nvPicPr>
        <p:blipFill>
          <a:blip r:embed="rId5"/>
          <a:stretch>
            <a:fillRect/>
          </a:stretch>
        </p:blipFill>
        <p:spPr>
          <a:xfrm>
            <a:off x="3675888" y="3044952"/>
            <a:ext cx="658368" cy="658368"/>
          </a:xfrm>
          <a:prstGeom prst="rect">
            <a:avLst/>
          </a:prstGeom>
        </p:spPr>
      </p:pic>
      <p:sp>
        <p:nvSpPr>
          <p:cNvPr id="28" name="Shape 23"/>
          <p:cNvSpPr/>
          <p:nvPr/>
        </p:nvSpPr>
        <p:spPr>
          <a:xfrm>
            <a:off x="4709160" y="288036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9" name="Shape 24"/>
          <p:cNvSpPr/>
          <p:nvPr/>
        </p:nvSpPr>
        <p:spPr>
          <a:xfrm>
            <a:off x="4709160" y="2880360"/>
            <a:ext cx="4160520" cy="91440"/>
          </a:xfrm>
          <a:prstGeom prst="rect">
            <a:avLst/>
          </a:prstGeom>
          <a:solidFill>
            <a:srgbClr val="C2544A"/>
          </a:solidFill>
          <a:ln w="12700">
            <a:solidFill>
              <a:srgbClr val="C2544A"/>
            </a:solidFill>
            <a:prstDash val="solid"/>
          </a:ln>
        </p:spPr>
        <p:txBody>
          <a:bodyPr/>
          <a:lstStyle/>
          <a:p>
            <a:endParaRPr lang="fr-FR"/>
          </a:p>
        </p:txBody>
      </p:sp>
      <p:sp>
        <p:nvSpPr>
          <p:cNvPr id="30" name="Text 25"/>
          <p:cNvSpPr/>
          <p:nvPr/>
        </p:nvSpPr>
        <p:spPr>
          <a:xfrm>
            <a:off x="4818888" y="304495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1" name="Text 26"/>
          <p:cNvSpPr/>
          <p:nvPr/>
        </p:nvSpPr>
        <p:spPr>
          <a:xfrm>
            <a:off x="5458968" y="3044952"/>
            <a:ext cx="2377440" cy="347472"/>
          </a:xfrm>
          <a:prstGeom prst="rect">
            <a:avLst/>
          </a:prstGeom>
          <a:noFill/>
          <a:ln/>
        </p:spPr>
        <p:txBody>
          <a:bodyPr wrap="square" lIns="0" tIns="0" rIns="0" bIns="0" rtlCol="0" anchor="ctr"/>
          <a:lstStyle/>
          <a:p>
            <a:pPr marL="0" indent="0">
              <a:buNone/>
            </a:pPr>
            <a:r>
              <a:rPr lang="en-US" sz="1500" b="1" dirty="0">
                <a:solidFill>
                  <a:srgbClr val="C2544A"/>
                </a:solidFill>
                <a:latin typeface="Arial" pitchFamily="34" charset="0"/>
                <a:ea typeface="Arial" pitchFamily="34" charset="-122"/>
                <a:cs typeface="Arial" pitchFamily="34" charset="-120"/>
              </a:rPr>
              <a:t>Votre banque</a:t>
            </a:r>
            <a:endParaRPr lang="en-US" sz="1500" dirty="0"/>
          </a:p>
        </p:txBody>
      </p:sp>
      <p:sp>
        <p:nvSpPr>
          <p:cNvPr id="32" name="Text 27"/>
          <p:cNvSpPr/>
          <p:nvPr/>
        </p:nvSpPr>
        <p:spPr>
          <a:xfrm>
            <a:off x="5458968" y="338328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Numéro dos de carte</a:t>
            </a:r>
            <a:endParaRPr lang="en-US" sz="1000" dirty="0"/>
          </a:p>
        </p:txBody>
      </p:sp>
      <p:sp>
        <p:nvSpPr>
          <p:cNvPr id="33" name="Shape 28"/>
          <p:cNvSpPr/>
          <p:nvPr/>
        </p:nvSpPr>
        <p:spPr>
          <a:xfrm>
            <a:off x="4818888" y="3657600"/>
            <a:ext cx="3200400" cy="0"/>
          </a:xfrm>
          <a:prstGeom prst="line">
            <a:avLst/>
          </a:prstGeom>
          <a:noFill/>
          <a:ln w="10160">
            <a:solidFill>
              <a:srgbClr val="253545"/>
            </a:solidFill>
            <a:prstDash val="solid"/>
          </a:ln>
        </p:spPr>
        <p:txBody>
          <a:bodyPr/>
          <a:lstStyle/>
          <a:p>
            <a:endParaRPr lang="fr-FR"/>
          </a:p>
        </p:txBody>
      </p:sp>
      <p:sp>
        <p:nvSpPr>
          <p:cNvPr id="34" name="Text 29"/>
          <p:cNvSpPr/>
          <p:nvPr/>
        </p:nvSpPr>
        <p:spPr>
          <a:xfrm>
            <a:off x="4818888" y="372160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Coordonnées bancaires saisies ? Appelez immédiatement.</a:t>
            </a:r>
            <a:endParaRPr lang="en-US" sz="1100" dirty="0"/>
          </a:p>
        </p:txBody>
      </p:sp>
      <p:sp>
        <p:nvSpPr>
          <p:cNvPr id="35" name="Text 30"/>
          <p:cNvSpPr/>
          <p:nvPr/>
        </p:nvSpPr>
        <p:spPr>
          <a:xfrm>
            <a:off x="8110728" y="3081528"/>
            <a:ext cx="658368"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6" name="Text 31"/>
          <p:cNvSpPr/>
          <p:nvPr/>
        </p:nvSpPr>
        <p:spPr>
          <a:xfrm>
            <a:off x="274320" y="4828032"/>
            <a:ext cx="8595360" cy="256032"/>
          </a:xfrm>
          <a:prstGeom prst="rect">
            <a:avLst/>
          </a:prstGeom>
          <a:noFill/>
          <a:ln/>
        </p:spPr>
        <p:txBody>
          <a:bodyPr wrap="square" lIns="0" tIns="0" rIns="0" bIns="0" rtlCol="0" anchor="ctr"/>
          <a:lstStyle/>
          <a:p>
            <a:pPr marL="0" indent="0" algn="ctr">
              <a:buNone/>
            </a:pPr>
            <a:r>
              <a:rPr lang="en-US" sz="1000" b="1" i="1" dirty="0">
                <a:solidFill>
                  <a:srgbClr val="E67E22"/>
                </a:solidFill>
                <a:latin typeface="Calibri" pitchFamily="34" charset="0"/>
                <a:ea typeface="Calibri" pitchFamily="34" charset="-122"/>
                <a:cs typeface="Calibri" pitchFamily="34" charset="-120"/>
              </a:rPr>
              <a:t>💡  Scannez les QR codes avec votre téléphone pour accéder directement aux sites officiels</a:t>
            </a:r>
            <a:endParaRPr lang="en-US" sz="1000" dirty="0"/>
          </a:p>
        </p:txBody>
      </p:sp>
      <p:sp>
        <p:nvSpPr>
          <p:cNvPr id="38"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9" name="Text 33">
            <a:hlinkClick r:id="rId6" action="ppaction://hlinksldjump"/>
          </p:cNvPr>
          <p:cNvSpPr/>
          <p:nvPr/>
        </p:nvSpPr>
        <p:spPr>
          <a:xfrm>
            <a:off x="8019288" y="4887552"/>
            <a:ext cx="987552" cy="187368"/>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6" action="ppaction://hlinksldjump">
                  <a:extLst>
                    <a:ext uri="{A12FA001-AC4F-418D-AE19-62706E023703}">
                      <ahyp:hlinkClr xmlns:ahyp="http://schemas.microsoft.com/office/drawing/2018/hyperlinkcolor" val="tx"/>
                    </a:ext>
                  </a:extLst>
                </a:hlinkClick>
              </a:rPr>
              <a:t>☰  Menu</a:t>
            </a:r>
            <a:endParaRPr lang="en-US" sz="950" dirty="0"/>
          </a:p>
        </p:txBody>
      </p:sp>
      <p:sp>
        <p:nvSpPr>
          <p:cNvPr id="980" name="VideoBtn_39">
            <a:hlinkClick r:id="rId7"/>
          </p:cNvPr>
          <p:cNvSpPr>
            <a:spLocks noGrp="1"/>
          </p:cNvSpPr>
          <p:nvPr/>
        </p:nvSpPr>
        <p:spPr>
          <a:xfrm>
            <a:off x="6500000" y="130000"/>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Reconnaître un phishing</a:t>
            </a:r>
          </a:p>
        </p:txBody>
      </p:sp>
      <p:sp>
        <p:nvSpPr>
          <p:cNvPr id="970" name="ActionBox"/>
          <p:cNvSpPr>
            <a:spLocks noGrp="1"/>
          </p:cNvSpPr>
          <p:nvPr/>
        </p:nvSpPr>
        <p:spPr>
          <a:xfrm>
            <a:off x="200000" y="3900000"/>
            <a:ext cx="4200000" cy="950000"/>
          </a:xfrm>
          <a:prstGeom prst="roundRect">
            <a:avLst>
              <a:gd name="adj" fmla="val 5000"/>
            </a:avLst>
          </a:prstGeom>
          <a:solidFill>
            <a:srgbClr val="F7E1E1"/>
          </a:solidFill>
          <a:ln w="19050">
            <a:solidFill>
              <a:srgbClr val="C2544A"/>
            </a:solidFill>
          </a:ln>
        </p:spPr>
        <p:txBody>
          <a:bodyPr lIns="100000" tIns="80000" anchor="t"/>
          <a:lstStyle/>
          <a:p>
            <a:pPr algn="l"/>
            <a:r>
              <a:rPr lang="fr-FR" sz="1000" b="1" dirty="0">
                <a:solidFill>
                  <a:srgbClr val="334155"/>
                </a:solidFill>
                <a:latin typeface="Calibri"/>
              </a:rPr>
              <a:t>🛑 J'ai cliqué — que faire ?</a:t>
            </a:r>
          </a:p>
          <a:p>
            <a:pPr algn="l"/>
            <a:r>
              <a:rPr lang="fr-FR" sz="850" b="0" dirty="0">
                <a:solidFill>
                  <a:srgbClr val="334155"/>
                </a:solidFill>
                <a:latin typeface="Calibri"/>
              </a:rPr>
              <a:t>1. Fermer la page sans rien saisir</a:t>
            </a:r>
          </a:p>
          <a:p>
            <a:pPr algn="l"/>
            <a:r>
              <a:rPr lang="fr-FR" sz="850" b="0" dirty="0">
                <a:solidFill>
                  <a:srgbClr val="334155"/>
                </a:solidFill>
                <a:latin typeface="Calibri"/>
              </a:rPr>
              <a:t>2. Changer vos mots de passe</a:t>
            </a:r>
          </a:p>
          <a:p>
            <a:pPr algn="l"/>
            <a:r>
              <a:rPr lang="fr-FR" sz="850" b="0" dirty="0">
                <a:solidFill>
                  <a:srgbClr val="334155"/>
                </a:solidFill>
                <a:latin typeface="Calibri"/>
              </a:rPr>
              <a:t>3. Appeler l'organisme (vrai numéro)</a:t>
            </a:r>
          </a:p>
          <a:p>
            <a:pPr algn="l"/>
            <a:r>
              <a:rPr lang="fr-FR" sz="850" b="0" dirty="0">
                <a:solidFill>
                  <a:srgbClr val="334155"/>
                </a:solidFill>
                <a:latin typeface="Calibri"/>
              </a:rPr>
              <a:t>4. Alerter votre banque si données bancaires saisies</a:t>
            </a:r>
          </a:p>
        </p:txBody>
      </p:sp>
      <p:sp>
        <p:nvSpPr>
          <p:cNvPr id="971" name="PlainteBox"/>
          <p:cNvSpPr>
            <a:spLocks noGrp="1"/>
          </p:cNvSpPr>
          <p:nvPr/>
        </p:nvSpPr>
        <p:spPr>
          <a:xfrm>
            <a:off x="4700000" y="3900000"/>
            <a:ext cx="4244000" cy="950000"/>
          </a:xfrm>
          <a:prstGeom prst="roundRect">
            <a:avLst>
              <a:gd name="adj" fmla="val 5000"/>
            </a:avLst>
          </a:prstGeom>
          <a:solidFill>
            <a:srgbClr val="E1E1F7"/>
          </a:solidFill>
          <a:ln w="19050">
            <a:solidFill>
              <a:srgbClr val="F59E0B"/>
            </a:solidFill>
          </a:ln>
        </p:spPr>
        <p:txBody>
          <a:bodyPr lIns="100000" tIns="80000" anchor="t"/>
          <a:lstStyle/>
          <a:p>
            <a:pPr algn="l"/>
            <a:r>
              <a:rPr lang="fr-FR" sz="1000" b="1" dirty="0">
                <a:solidFill>
                  <a:srgbClr val="A02820"/>
                </a:solidFill>
                <a:latin typeface="Calibri"/>
              </a:rPr>
              <a:t>⚖️ Porter plainte</a:t>
            </a:r>
          </a:p>
          <a:p>
            <a:pPr algn="l"/>
            <a:r>
              <a:rPr lang="fr-FR" sz="850" b="0" dirty="0">
                <a:solidFill>
                  <a:srgbClr val="334155"/>
                </a:solidFill>
                <a:latin typeface="Calibri"/>
              </a:rPr>
              <a:t>En ligne : masecurite.interieur.gouv.fr (THESEE)</a:t>
            </a:r>
          </a:p>
          <a:p>
            <a:pPr algn="l"/>
            <a:r>
              <a:rPr lang="fr-FR" sz="850" b="0" dirty="0">
                <a:solidFill>
                  <a:srgbClr val="334155"/>
                </a:solidFill>
                <a:latin typeface="Calibri"/>
              </a:rPr>
              <a:t>En gendarmerie avec vos captures d'écran</a:t>
            </a:r>
          </a:p>
          <a:p>
            <a:pPr algn="l"/>
            <a:r>
              <a:rPr lang="fr-FR" sz="850" b="0" dirty="0">
                <a:solidFill>
                  <a:srgbClr val="334155"/>
                </a:solidFill>
                <a:latin typeface="Calibri"/>
              </a:rPr>
              <a:t>Gardez les messages — ce sont des preuves</a:t>
            </a:r>
          </a:p>
          <a:p>
            <a:pPr algn="l"/>
            <a:r>
              <a:rPr lang="fr-FR" sz="850" b="0" dirty="0">
                <a:solidFill>
                  <a:srgbClr val="334155"/>
                </a:solidFill>
                <a:latin typeface="Calibri"/>
              </a:rPr>
              <a:t>Délai opposition bancaire : 13 mois</a:t>
            </a:r>
          </a:p>
        </p:txBody>
      </p:sp>
      <p:pic>
        <p:nvPicPr>
          <p:cNvPr id="981" name="Picture 980" descr="logo_sig.png"/>
          <p:cNvPicPr>
            <a:picLocks noChangeAspect="1"/>
          </p:cNvPicPr>
          <p:nvPr/>
        </p:nvPicPr>
        <p:blipFill>
          <a:blip r:embed="rId8"/>
          <a:stretch>
            <a:fillRect/>
          </a:stretch>
        </p:blipFill>
        <p:spPr>
          <a:xfrm>
            <a:off x="40143" y="40143"/>
            <a:ext cx="413491" cy="413491"/>
          </a:xfrm>
          <a:prstGeom prst="rect">
            <a:avLst/>
          </a:prstGeom>
        </p:spPr>
      </p:pic>
      <p:sp>
        <p:nvSpPr>
          <p:cNvPr id="37" name="ZoneTexte 36">
            <a:extLst>
              <a:ext uri="{FF2B5EF4-FFF2-40B4-BE49-F238E27FC236}">
                <a16:creationId xmlns:a16="http://schemas.microsoft.com/office/drawing/2014/main" id="{61B429B3-AF42-C896-ECE8-9599B83CC975}"/>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40">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E44AD"/>
          </a:solidFill>
          <a:ln w="12700">
            <a:solidFill>
              <a:srgbClr val="8E44AD"/>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Protéger ses proches — Seniors &amp; entourage</a:t>
            </a:r>
            <a:endParaRPr lang="en-US" sz="2200" dirty="0"/>
          </a:p>
        </p:txBody>
      </p:sp>
      <p:sp>
        <p:nvSpPr>
          <p:cNvPr id="4" name="Text 2"/>
          <p:cNvSpPr/>
          <p:nvPr/>
        </p:nvSpPr>
        <p:spPr>
          <a:xfrm>
            <a:off x="868680" y="877824"/>
            <a:ext cx="6459583" cy="347472"/>
          </a:xfrm>
          <a:prstGeom prst="rect">
            <a:avLst/>
          </a:prstGeom>
          <a:noFill/>
          <a:ln/>
        </p:spPr>
        <p:txBody>
          <a:bodyPr wrap="square" lIns="0" tIns="0" rIns="0" bIns="0" rtlCol="0" anchor="ctr"/>
          <a:lstStyle/>
          <a:p>
            <a:pPr marL="0" indent="0">
              <a:buNone/>
            </a:pPr>
            <a:r>
              <a:rPr lang="en-US" sz="1200" i="1" dirty="0">
                <a:solidFill>
                  <a:srgbClr val="272F38"/>
                </a:solidFill>
                <a:latin typeface="Calibri" pitchFamily="34" charset="0"/>
                <a:ea typeface="Calibri" pitchFamily="34" charset="-122"/>
                <a:cs typeface="Calibri" pitchFamily="34" charset="-120"/>
              </a:rPr>
              <a:t>Les seniors sont 3 fois plus ciblés. En tant que participant, vous pouvez devenir un relais de protection.</a:t>
            </a:r>
            <a:endParaRPr lang="en-US" sz="1200" dirty="0"/>
          </a:p>
        </p:txBody>
      </p:sp>
      <p:sp>
        <p:nvSpPr>
          <p:cNvPr id="5" name="Shape 3"/>
          <p:cNvSpPr/>
          <p:nvPr/>
        </p:nvSpPr>
        <p:spPr>
          <a:xfrm>
            <a:off x="228600" y="1298448"/>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228600" y="1298448"/>
            <a:ext cx="2743200" cy="91440"/>
          </a:xfrm>
          <a:prstGeom prst="rect">
            <a:avLst/>
          </a:prstGeom>
          <a:solidFill>
            <a:srgbClr val="8E44AD"/>
          </a:solidFill>
          <a:ln w="12700">
            <a:solidFill>
              <a:srgbClr val="8E44AD"/>
            </a:solidFill>
            <a:prstDash val="solid"/>
          </a:ln>
        </p:spPr>
        <p:txBody>
          <a:bodyPr/>
          <a:lstStyle/>
          <a:p>
            <a:endParaRPr lang="fr-FR"/>
          </a:p>
        </p:txBody>
      </p:sp>
      <p:sp>
        <p:nvSpPr>
          <p:cNvPr id="7" name="Text 5"/>
          <p:cNvSpPr/>
          <p:nvPr/>
        </p:nvSpPr>
        <p:spPr>
          <a:xfrm>
            <a:off x="320040"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868680"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Parlez-en en famille</a:t>
            </a:r>
            <a:endParaRPr lang="en-US" sz="1100" dirty="0"/>
          </a:p>
        </p:txBody>
      </p:sp>
      <p:sp>
        <p:nvSpPr>
          <p:cNvPr id="9" name="Text 7"/>
          <p:cNvSpPr/>
          <p:nvPr/>
        </p:nvSpPr>
        <p:spPr>
          <a:xfrm>
            <a:off x="338328"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Expliquez les arnaques à vos proches avec des exemples concrets.</a:t>
            </a:r>
            <a:endParaRPr lang="en-US" sz="950" dirty="0"/>
          </a:p>
        </p:txBody>
      </p:sp>
      <p:sp>
        <p:nvSpPr>
          <p:cNvPr id="10" name="Shape 8"/>
          <p:cNvSpPr/>
          <p:nvPr/>
        </p:nvSpPr>
        <p:spPr>
          <a:xfrm>
            <a:off x="3127248" y="1298448"/>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1" name="Shape 9"/>
          <p:cNvSpPr/>
          <p:nvPr/>
        </p:nvSpPr>
        <p:spPr>
          <a:xfrm>
            <a:off x="3127248" y="1298448"/>
            <a:ext cx="2743200" cy="91440"/>
          </a:xfrm>
          <a:prstGeom prst="rect">
            <a:avLst/>
          </a:prstGeom>
          <a:solidFill>
            <a:srgbClr val="8E44AD"/>
          </a:solidFill>
          <a:ln w="12700">
            <a:solidFill>
              <a:srgbClr val="8E44AD"/>
            </a:solidFill>
            <a:prstDash val="solid"/>
          </a:ln>
        </p:spPr>
        <p:txBody>
          <a:bodyPr/>
          <a:lstStyle/>
          <a:p>
            <a:endParaRPr lang="fr-FR"/>
          </a:p>
        </p:txBody>
      </p:sp>
      <p:sp>
        <p:nvSpPr>
          <p:cNvPr id="12" name="Text 10"/>
          <p:cNvSpPr/>
          <p:nvPr/>
        </p:nvSpPr>
        <p:spPr>
          <a:xfrm>
            <a:off x="3218688"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767328"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Le mot de code familial</a:t>
            </a:r>
            <a:endParaRPr lang="en-US" sz="1100" dirty="0"/>
          </a:p>
        </p:txBody>
      </p:sp>
      <p:sp>
        <p:nvSpPr>
          <p:cNvPr id="14" name="Text 12"/>
          <p:cNvSpPr/>
          <p:nvPr/>
        </p:nvSpPr>
        <p:spPr>
          <a:xfrm>
            <a:off x="3236976"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Un mot de passe entre proches pour confirmer qu'un appel n'est pas une arnaque.</a:t>
            </a:r>
            <a:endParaRPr lang="en-US" sz="950" dirty="0"/>
          </a:p>
        </p:txBody>
      </p:sp>
      <p:sp>
        <p:nvSpPr>
          <p:cNvPr id="15" name="Shape 13"/>
          <p:cNvSpPr/>
          <p:nvPr/>
        </p:nvSpPr>
        <p:spPr>
          <a:xfrm>
            <a:off x="6025896" y="1298448"/>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6" name="Shape 14"/>
          <p:cNvSpPr/>
          <p:nvPr/>
        </p:nvSpPr>
        <p:spPr>
          <a:xfrm>
            <a:off x="6025896" y="1298448"/>
            <a:ext cx="2743200" cy="91440"/>
          </a:xfrm>
          <a:prstGeom prst="rect">
            <a:avLst/>
          </a:prstGeom>
          <a:solidFill>
            <a:srgbClr val="8E44AD"/>
          </a:solidFill>
          <a:ln w="12700">
            <a:solidFill>
              <a:srgbClr val="8E44AD"/>
            </a:solidFill>
            <a:prstDash val="solid"/>
          </a:ln>
        </p:spPr>
        <p:txBody>
          <a:bodyPr/>
          <a:lstStyle/>
          <a:p>
            <a:endParaRPr lang="fr-FR"/>
          </a:p>
        </p:txBody>
      </p:sp>
      <p:sp>
        <p:nvSpPr>
          <p:cNvPr id="17" name="Text 15"/>
          <p:cNvSpPr/>
          <p:nvPr/>
        </p:nvSpPr>
        <p:spPr>
          <a:xfrm>
            <a:off x="6117336"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665976"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Configurer les filtres anti-spam</a:t>
            </a:r>
            <a:endParaRPr lang="en-US" sz="1100" dirty="0"/>
          </a:p>
        </p:txBody>
      </p:sp>
      <p:sp>
        <p:nvSpPr>
          <p:cNvPr id="19" name="Text 17"/>
          <p:cNvSpPr/>
          <p:nvPr/>
        </p:nvSpPr>
        <p:spPr>
          <a:xfrm>
            <a:off x="6135624"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Activez les filtres dans la messagerie de vos proches (Gmail, Orange, La Poste…).</a:t>
            </a:r>
            <a:endParaRPr lang="en-US" sz="950" dirty="0"/>
          </a:p>
        </p:txBody>
      </p:sp>
      <p:sp>
        <p:nvSpPr>
          <p:cNvPr id="20" name="Shape 18"/>
          <p:cNvSpPr/>
          <p:nvPr/>
        </p:nvSpPr>
        <p:spPr>
          <a:xfrm>
            <a:off x="228600" y="2834640"/>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2834640"/>
            <a:ext cx="2743200" cy="91440"/>
          </a:xfrm>
          <a:prstGeom prst="rect">
            <a:avLst/>
          </a:prstGeom>
          <a:solidFill>
            <a:srgbClr val="8E44AD"/>
          </a:solidFill>
          <a:ln w="12700">
            <a:solidFill>
              <a:srgbClr val="8E44AD"/>
            </a:solidFill>
            <a:prstDash val="solid"/>
          </a:ln>
        </p:spPr>
        <p:txBody>
          <a:bodyPr/>
          <a:lstStyle/>
          <a:p>
            <a:endParaRPr lang="fr-FR"/>
          </a:p>
        </p:txBody>
      </p:sp>
      <p:sp>
        <p:nvSpPr>
          <p:cNvPr id="22" name="Text 20"/>
          <p:cNvSpPr/>
          <p:nvPr/>
        </p:nvSpPr>
        <p:spPr>
          <a:xfrm>
            <a:off x="320040"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868680"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La liste des vrais numéros</a:t>
            </a:r>
            <a:endParaRPr lang="en-US" sz="1100" dirty="0"/>
          </a:p>
        </p:txBody>
      </p:sp>
      <p:sp>
        <p:nvSpPr>
          <p:cNvPr id="24" name="Text 22"/>
          <p:cNvSpPr/>
          <p:nvPr/>
        </p:nvSpPr>
        <p:spPr>
          <a:xfrm>
            <a:off x="338328"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Préparez une liste : banque, CAF, impôts. En cas de doute, on rappelle depuis ce numéro.</a:t>
            </a:r>
            <a:endParaRPr lang="en-US" sz="950" dirty="0"/>
          </a:p>
        </p:txBody>
      </p:sp>
      <p:sp>
        <p:nvSpPr>
          <p:cNvPr id="25" name="Shape 23"/>
          <p:cNvSpPr/>
          <p:nvPr/>
        </p:nvSpPr>
        <p:spPr>
          <a:xfrm>
            <a:off x="3127248" y="2834640"/>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6" name="Shape 24"/>
          <p:cNvSpPr/>
          <p:nvPr/>
        </p:nvSpPr>
        <p:spPr>
          <a:xfrm>
            <a:off x="3127248" y="2834640"/>
            <a:ext cx="2743200" cy="91440"/>
          </a:xfrm>
          <a:prstGeom prst="rect">
            <a:avLst/>
          </a:prstGeom>
          <a:solidFill>
            <a:srgbClr val="8E44AD"/>
          </a:solidFill>
          <a:ln w="12700">
            <a:solidFill>
              <a:srgbClr val="8E44AD"/>
            </a:solidFill>
            <a:prstDash val="solid"/>
          </a:ln>
        </p:spPr>
        <p:txBody>
          <a:bodyPr/>
          <a:lstStyle/>
          <a:p>
            <a:endParaRPr lang="fr-FR"/>
          </a:p>
        </p:txBody>
      </p:sp>
      <p:sp>
        <p:nvSpPr>
          <p:cNvPr id="27" name="Text 25"/>
          <p:cNvSpPr/>
          <p:nvPr/>
        </p:nvSpPr>
        <p:spPr>
          <a:xfrm>
            <a:off x="3218688"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3767328"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Ne jamais décider seul sous pression</a:t>
            </a:r>
            <a:endParaRPr lang="en-US" sz="1100" dirty="0"/>
          </a:p>
        </p:txBody>
      </p:sp>
      <p:sp>
        <p:nvSpPr>
          <p:cNvPr id="29" name="Text 27"/>
          <p:cNvSpPr/>
          <p:nvPr/>
        </p:nvSpPr>
        <p:spPr>
          <a:xfrm>
            <a:off x="3236976"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Si quelqu'un met la pression : raccrocher, attendre, appeler un proche avant d'agir.</a:t>
            </a:r>
            <a:endParaRPr lang="en-US" sz="950" dirty="0"/>
          </a:p>
        </p:txBody>
      </p:sp>
      <p:sp>
        <p:nvSpPr>
          <p:cNvPr id="30" name="Shape 28"/>
          <p:cNvSpPr/>
          <p:nvPr/>
        </p:nvSpPr>
        <p:spPr>
          <a:xfrm>
            <a:off x="6025896" y="2834640"/>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31" name="Shape 29"/>
          <p:cNvSpPr/>
          <p:nvPr/>
        </p:nvSpPr>
        <p:spPr>
          <a:xfrm>
            <a:off x="6025896" y="2834640"/>
            <a:ext cx="2743200" cy="91440"/>
          </a:xfrm>
          <a:prstGeom prst="rect">
            <a:avLst/>
          </a:prstGeom>
          <a:solidFill>
            <a:srgbClr val="8E44AD"/>
          </a:solidFill>
          <a:ln w="12700">
            <a:solidFill>
              <a:srgbClr val="8E44AD"/>
            </a:solidFill>
            <a:prstDash val="solid"/>
          </a:ln>
        </p:spPr>
        <p:txBody>
          <a:bodyPr/>
          <a:lstStyle/>
          <a:p>
            <a:endParaRPr lang="fr-FR"/>
          </a:p>
        </p:txBody>
      </p:sp>
      <p:sp>
        <p:nvSpPr>
          <p:cNvPr id="32" name="Text 30"/>
          <p:cNvSpPr/>
          <p:nvPr/>
        </p:nvSpPr>
        <p:spPr>
          <a:xfrm>
            <a:off x="6117336"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6665976"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La carte Vitale n'expire pas</a:t>
            </a:r>
            <a:endParaRPr lang="en-US" sz="1100" dirty="0"/>
          </a:p>
        </p:txBody>
      </p:sp>
      <p:sp>
        <p:nvSpPr>
          <p:cNvPr id="34" name="Text 32"/>
          <p:cNvSpPr/>
          <p:nvPr/>
        </p:nvSpPr>
        <p:spPr>
          <a:xfrm>
            <a:off x="6135624"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L'arnaque la plus courante chez les seniors. Elle ne se renouvelle PAS par internet.</a:t>
            </a:r>
            <a:endParaRPr lang="en-US" sz="950" dirty="0"/>
          </a:p>
        </p:txBody>
      </p:sp>
      <p:sp>
        <p:nvSpPr>
          <p:cNvPr id="35" name="Text 33"/>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9" name="Picture 58" descr="logo_sig.png"/>
          <p:cNvPicPr>
            <a:picLocks noChangeAspect="1"/>
          </p:cNvPicPr>
          <p:nvPr/>
        </p:nvPicPr>
        <p:blipFill>
          <a:blip r:embed="rId4"/>
          <a:stretch>
            <a:fillRect/>
          </a:stretch>
        </p:blipFill>
        <p:spPr>
          <a:xfrm>
            <a:off x="40143" y="40143"/>
            <a:ext cx="413491" cy="413491"/>
          </a:xfrm>
          <a:prstGeom prst="rect">
            <a:avLst/>
          </a:prstGeom>
        </p:spPr>
      </p:pic>
      <p:sp>
        <p:nvSpPr>
          <p:cNvPr id="38" name="ZoneTexte 37">
            <a:extLst>
              <a:ext uri="{FF2B5EF4-FFF2-40B4-BE49-F238E27FC236}">
                <a16:creationId xmlns:a16="http://schemas.microsoft.com/office/drawing/2014/main" id="{09090F0E-8751-366F-ED61-F77F81CF3B54}"/>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4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7AE60"/>
          </a:solidFill>
          <a:ln w="12700">
            <a:solidFill>
              <a:srgbClr val="27AE60"/>
            </a:solidFill>
            <a:prstDash val="solid"/>
          </a:ln>
        </p:spPr>
        <p:txBody>
          <a:bodyPr/>
          <a:lstStyle/>
          <a:p>
            <a:endParaRPr lang="fr-FR"/>
          </a:p>
        </p:txBody>
      </p:sp>
      <p:sp>
        <p:nvSpPr>
          <p:cNvPr id="3" name="Text 1"/>
          <p:cNvSpPr/>
          <p:nvPr/>
        </p:nvSpPr>
        <p:spPr>
          <a:xfrm>
            <a:off x="182880" y="36576"/>
            <a:ext cx="8778240" cy="676656"/>
          </a:xfrm>
          <a:prstGeom prst="rect">
            <a:avLst/>
          </a:prstGeom>
          <a:noFill/>
          <a:ln/>
        </p:spPr>
        <p:txBody>
          <a:bodyPr wrap="square" lIns="0" tIns="0" rIns="0" bIns="0"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  RÉCAP — Ce que je retiens de cet atelier</a:t>
            </a:r>
            <a:endParaRPr lang="en-US" sz="2400" dirty="0"/>
          </a:p>
        </p:txBody>
      </p:sp>
      <p:sp>
        <p:nvSpPr>
          <p:cNvPr id="4" name="Shape 2"/>
          <p:cNvSpPr/>
          <p:nvPr/>
        </p:nvSpPr>
        <p:spPr>
          <a:xfrm>
            <a:off x="137160" y="841248"/>
            <a:ext cx="2834640" cy="4160520"/>
          </a:xfrm>
          <a:prstGeom prst="rect">
            <a:avLst/>
          </a:prstGeom>
          <a:solidFill>
            <a:srgbClr val="F7E1E1"/>
          </a:solidFill>
          <a:ln w="10160">
            <a:solidFill>
              <a:srgbClr val="C2544A"/>
            </a:solidFill>
            <a:prstDash val="solid"/>
          </a:ln>
        </p:spPr>
        <p:txBody>
          <a:bodyPr/>
          <a:lstStyle/>
          <a:p>
            <a:endParaRPr lang="fr-FR"/>
          </a:p>
        </p:txBody>
      </p:sp>
      <p:sp>
        <p:nvSpPr>
          <p:cNvPr id="5" name="Shape 3"/>
          <p:cNvSpPr/>
          <p:nvPr/>
        </p:nvSpPr>
        <p:spPr>
          <a:xfrm>
            <a:off x="137160" y="841248"/>
            <a:ext cx="2834640" cy="457200"/>
          </a:xfrm>
          <a:prstGeom prst="rect">
            <a:avLst/>
          </a:prstGeom>
          <a:solidFill>
            <a:srgbClr val="C2544A"/>
          </a:solidFill>
          <a:ln w="12700">
            <a:solidFill>
              <a:srgbClr val="C2544A"/>
            </a:solidFill>
            <a:prstDash val="solid"/>
          </a:ln>
        </p:spPr>
        <p:txBody>
          <a:bodyPr/>
          <a:lstStyle/>
          <a:p>
            <a:endParaRPr lang="fr-FR"/>
          </a:p>
        </p:txBody>
      </p:sp>
      <p:sp>
        <p:nvSpPr>
          <p:cNvPr id="6" name="Text 4"/>
          <p:cNvSpPr/>
          <p:nvPr/>
        </p:nvSpPr>
        <p:spPr>
          <a:xfrm>
            <a:off x="228600" y="850392"/>
            <a:ext cx="265176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5 SIGNES D'ALERTE</a:t>
            </a:r>
            <a:endParaRPr lang="en-US" sz="1300" dirty="0"/>
          </a:p>
        </p:txBody>
      </p:sp>
      <p:sp>
        <p:nvSpPr>
          <p:cNvPr id="7" name="Shape 5"/>
          <p:cNvSpPr/>
          <p:nvPr/>
        </p:nvSpPr>
        <p:spPr>
          <a:xfrm>
            <a:off x="228600" y="1435608"/>
            <a:ext cx="329184" cy="329184"/>
          </a:xfrm>
          <a:prstGeom prst="ellipse">
            <a:avLst/>
          </a:prstGeom>
          <a:solidFill>
            <a:srgbClr val="C2544A"/>
          </a:solidFill>
          <a:ln w="12700">
            <a:solidFill>
              <a:srgbClr val="C2544A"/>
            </a:solidFill>
            <a:prstDash val="solid"/>
          </a:ln>
        </p:spPr>
        <p:txBody>
          <a:bodyPr/>
          <a:lstStyle/>
          <a:p>
            <a:endParaRPr lang="fr-FR"/>
          </a:p>
        </p:txBody>
      </p:sp>
      <p:sp>
        <p:nvSpPr>
          <p:cNvPr id="8" name="Text 6"/>
          <p:cNvSpPr/>
          <p:nvPr/>
        </p:nvSpPr>
        <p:spPr>
          <a:xfrm>
            <a:off x="228600" y="14356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9" name="Text 7"/>
          <p:cNvSpPr/>
          <p:nvPr/>
        </p:nvSpPr>
        <p:spPr>
          <a:xfrm>
            <a:off x="621792" y="1408176"/>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Adresse mail suspecte</a:t>
            </a:r>
            <a:endParaRPr lang="en-US" sz="1150" dirty="0"/>
          </a:p>
        </p:txBody>
      </p:sp>
      <p:sp>
        <p:nvSpPr>
          <p:cNvPr id="10" name="Text 8"/>
          <p:cNvSpPr/>
          <p:nvPr/>
        </p:nvSpPr>
        <p:spPr>
          <a:xfrm>
            <a:off x="621792" y="1691640"/>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Domaine faux ou Gmail au lieu de .gouv.fr</a:t>
            </a:r>
            <a:endParaRPr lang="en-US" sz="950" dirty="0"/>
          </a:p>
        </p:txBody>
      </p:sp>
      <p:sp>
        <p:nvSpPr>
          <p:cNvPr id="11" name="Shape 9"/>
          <p:cNvSpPr/>
          <p:nvPr/>
        </p:nvSpPr>
        <p:spPr>
          <a:xfrm>
            <a:off x="228600" y="2103120"/>
            <a:ext cx="329184" cy="329184"/>
          </a:xfrm>
          <a:prstGeom prst="ellipse">
            <a:avLst/>
          </a:prstGeom>
          <a:solidFill>
            <a:srgbClr val="C2544A"/>
          </a:solidFill>
          <a:ln w="12700">
            <a:solidFill>
              <a:srgbClr val="C2544A"/>
            </a:solidFill>
            <a:prstDash val="solid"/>
          </a:ln>
        </p:spPr>
        <p:txBody>
          <a:bodyPr/>
          <a:lstStyle/>
          <a:p>
            <a:endParaRPr lang="fr-FR"/>
          </a:p>
        </p:txBody>
      </p:sp>
      <p:sp>
        <p:nvSpPr>
          <p:cNvPr id="12" name="Text 10"/>
          <p:cNvSpPr/>
          <p:nvPr/>
        </p:nvSpPr>
        <p:spPr>
          <a:xfrm>
            <a:off x="228600" y="21031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3" name="Text 11"/>
          <p:cNvSpPr/>
          <p:nvPr/>
        </p:nvSpPr>
        <p:spPr>
          <a:xfrm>
            <a:off x="621792" y="2075688"/>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Lien hypertexte piégé</a:t>
            </a:r>
            <a:endParaRPr lang="en-US" sz="1150" dirty="0"/>
          </a:p>
        </p:txBody>
      </p:sp>
      <p:sp>
        <p:nvSpPr>
          <p:cNvPr id="14" name="Text 12"/>
          <p:cNvSpPr/>
          <p:nvPr/>
        </p:nvSpPr>
        <p:spPr>
          <a:xfrm>
            <a:off x="621792" y="2359152"/>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URL réelle ≠ texte affiché</a:t>
            </a:r>
            <a:endParaRPr lang="en-US" sz="950" dirty="0"/>
          </a:p>
        </p:txBody>
      </p:sp>
      <p:sp>
        <p:nvSpPr>
          <p:cNvPr id="15" name="Shape 13"/>
          <p:cNvSpPr/>
          <p:nvPr/>
        </p:nvSpPr>
        <p:spPr>
          <a:xfrm>
            <a:off x="228600" y="2770632"/>
            <a:ext cx="329184" cy="329184"/>
          </a:xfrm>
          <a:prstGeom prst="ellipse">
            <a:avLst/>
          </a:prstGeom>
          <a:solidFill>
            <a:srgbClr val="C2544A"/>
          </a:solidFill>
          <a:ln w="12700">
            <a:solidFill>
              <a:srgbClr val="C2544A"/>
            </a:solidFill>
            <a:prstDash val="solid"/>
          </a:ln>
        </p:spPr>
        <p:txBody>
          <a:bodyPr/>
          <a:lstStyle/>
          <a:p>
            <a:endParaRPr lang="fr-FR"/>
          </a:p>
        </p:txBody>
      </p:sp>
      <p:sp>
        <p:nvSpPr>
          <p:cNvPr id="16" name="Text 14"/>
          <p:cNvSpPr/>
          <p:nvPr/>
        </p:nvSpPr>
        <p:spPr>
          <a:xfrm>
            <a:off x="228600" y="2770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Text 15"/>
          <p:cNvSpPr/>
          <p:nvPr/>
        </p:nvSpPr>
        <p:spPr>
          <a:xfrm>
            <a:off x="621792" y="2743200"/>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Urgence ou menace</a:t>
            </a:r>
            <a:endParaRPr lang="en-US" sz="1150" dirty="0"/>
          </a:p>
        </p:txBody>
      </p:sp>
      <p:sp>
        <p:nvSpPr>
          <p:cNvPr id="18" name="Text 16"/>
          <p:cNvSpPr/>
          <p:nvPr/>
        </p:nvSpPr>
        <p:spPr>
          <a:xfrm>
            <a:off x="621792" y="3026664"/>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Blocage, annulation, poursuites…</a:t>
            </a:r>
            <a:endParaRPr lang="en-US" sz="950" dirty="0"/>
          </a:p>
        </p:txBody>
      </p:sp>
      <p:sp>
        <p:nvSpPr>
          <p:cNvPr id="19" name="Shape 17"/>
          <p:cNvSpPr/>
          <p:nvPr/>
        </p:nvSpPr>
        <p:spPr>
          <a:xfrm>
            <a:off x="228600" y="3438144"/>
            <a:ext cx="329184" cy="329184"/>
          </a:xfrm>
          <a:prstGeom prst="ellipse">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228600" y="34381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Text 19"/>
          <p:cNvSpPr/>
          <p:nvPr/>
        </p:nvSpPr>
        <p:spPr>
          <a:xfrm>
            <a:off x="621792" y="3410712"/>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Demande de RIB / mot de passe</a:t>
            </a:r>
            <a:endParaRPr lang="en-US" sz="1150" dirty="0"/>
          </a:p>
        </p:txBody>
      </p:sp>
      <p:sp>
        <p:nvSpPr>
          <p:cNvPr id="22" name="Text 20"/>
          <p:cNvSpPr/>
          <p:nvPr/>
        </p:nvSpPr>
        <p:spPr>
          <a:xfrm>
            <a:off x="621792" y="3694176"/>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Jamais par mail ou SMS</a:t>
            </a:r>
            <a:endParaRPr lang="en-US" sz="950" dirty="0"/>
          </a:p>
        </p:txBody>
      </p:sp>
      <p:sp>
        <p:nvSpPr>
          <p:cNvPr id="23" name="Shape 21"/>
          <p:cNvSpPr/>
          <p:nvPr/>
        </p:nvSpPr>
        <p:spPr>
          <a:xfrm>
            <a:off x="228600" y="4105656"/>
            <a:ext cx="329184" cy="329184"/>
          </a:xfrm>
          <a:prstGeom prst="ellipse">
            <a:avLst/>
          </a:prstGeom>
          <a:solidFill>
            <a:srgbClr val="C2544A"/>
          </a:solidFill>
          <a:ln w="12700">
            <a:solidFill>
              <a:srgbClr val="C2544A"/>
            </a:solidFill>
            <a:prstDash val="solid"/>
          </a:ln>
        </p:spPr>
        <p:txBody>
          <a:bodyPr/>
          <a:lstStyle/>
          <a:p>
            <a:endParaRPr lang="fr-FR"/>
          </a:p>
        </p:txBody>
      </p:sp>
      <p:sp>
        <p:nvSpPr>
          <p:cNvPr id="24" name="Text 22"/>
          <p:cNvSpPr/>
          <p:nvPr/>
        </p:nvSpPr>
        <p:spPr>
          <a:xfrm>
            <a:off x="228600" y="41056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5" name="Text 23"/>
          <p:cNvSpPr/>
          <p:nvPr/>
        </p:nvSpPr>
        <p:spPr>
          <a:xfrm>
            <a:off x="621792" y="4078224"/>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Fautes ou logo flou</a:t>
            </a:r>
            <a:endParaRPr lang="en-US" sz="1150" dirty="0"/>
          </a:p>
        </p:txBody>
      </p:sp>
      <p:sp>
        <p:nvSpPr>
          <p:cNvPr id="26" name="Text 24"/>
          <p:cNvSpPr/>
          <p:nvPr/>
        </p:nvSpPr>
        <p:spPr>
          <a:xfrm>
            <a:off x="621792" y="4361688"/>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Organisme officiel = 0 faute</a:t>
            </a:r>
            <a:endParaRPr lang="en-US" sz="950" dirty="0"/>
          </a:p>
        </p:txBody>
      </p:sp>
      <p:sp>
        <p:nvSpPr>
          <p:cNvPr id="27" name="Shape 25"/>
          <p:cNvSpPr/>
          <p:nvPr/>
        </p:nvSpPr>
        <p:spPr>
          <a:xfrm>
            <a:off x="3154680" y="841248"/>
            <a:ext cx="2834640" cy="4160520"/>
          </a:xfrm>
          <a:prstGeom prst="rect">
            <a:avLst/>
          </a:prstGeom>
          <a:solidFill>
            <a:srgbClr val="E1F7E8"/>
          </a:solidFill>
          <a:ln w="10160">
            <a:solidFill>
              <a:srgbClr val="27AE60"/>
            </a:solidFill>
            <a:prstDash val="solid"/>
          </a:ln>
        </p:spPr>
        <p:txBody>
          <a:bodyPr/>
          <a:lstStyle/>
          <a:p>
            <a:endParaRPr lang="fr-FR"/>
          </a:p>
        </p:txBody>
      </p:sp>
      <p:sp>
        <p:nvSpPr>
          <p:cNvPr id="28" name="Shape 26"/>
          <p:cNvSpPr/>
          <p:nvPr/>
        </p:nvSpPr>
        <p:spPr>
          <a:xfrm>
            <a:off x="3154680" y="841248"/>
            <a:ext cx="2834640" cy="457200"/>
          </a:xfrm>
          <a:prstGeom prst="rect">
            <a:avLst/>
          </a:prstGeom>
          <a:solidFill>
            <a:srgbClr val="27AE60"/>
          </a:solidFill>
          <a:ln w="12700">
            <a:solidFill>
              <a:srgbClr val="27AE60"/>
            </a:solidFill>
            <a:prstDash val="solid"/>
          </a:ln>
        </p:spPr>
        <p:txBody>
          <a:bodyPr/>
          <a:lstStyle/>
          <a:p>
            <a:endParaRPr lang="fr-FR"/>
          </a:p>
        </p:txBody>
      </p:sp>
      <p:sp>
        <p:nvSpPr>
          <p:cNvPr id="29" name="Text 27"/>
          <p:cNvSpPr/>
          <p:nvPr/>
        </p:nvSpPr>
        <p:spPr>
          <a:xfrm>
            <a:off x="3246120" y="850392"/>
            <a:ext cx="265176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5 BONS RÉFLEXES</a:t>
            </a:r>
            <a:endParaRPr lang="en-US" sz="1300" dirty="0"/>
          </a:p>
        </p:txBody>
      </p:sp>
      <p:sp>
        <p:nvSpPr>
          <p:cNvPr id="30" name="Shape 28"/>
          <p:cNvSpPr/>
          <p:nvPr/>
        </p:nvSpPr>
        <p:spPr>
          <a:xfrm>
            <a:off x="3246120" y="1453896"/>
            <a:ext cx="329184" cy="274320"/>
          </a:xfrm>
          <a:prstGeom prst="rect">
            <a:avLst/>
          </a:prstGeom>
          <a:solidFill>
            <a:srgbClr val="27AE60"/>
          </a:solidFill>
          <a:ln w="12700">
            <a:solidFill>
              <a:srgbClr val="27AE60"/>
            </a:solidFill>
            <a:prstDash val="solid"/>
          </a:ln>
        </p:spPr>
        <p:txBody>
          <a:bodyPr/>
          <a:lstStyle/>
          <a:p>
            <a:endParaRPr lang="fr-FR"/>
          </a:p>
        </p:txBody>
      </p:sp>
      <p:sp>
        <p:nvSpPr>
          <p:cNvPr id="31" name="Text 29"/>
          <p:cNvSpPr/>
          <p:nvPr/>
        </p:nvSpPr>
        <p:spPr>
          <a:xfrm>
            <a:off x="3246120" y="1453896"/>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32" name="Text 30"/>
          <p:cNvSpPr/>
          <p:nvPr/>
        </p:nvSpPr>
        <p:spPr>
          <a:xfrm>
            <a:off x="3639312" y="1408176"/>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Lire l'adresse mail en entier</a:t>
            </a:r>
            <a:endParaRPr lang="en-US" sz="1150" dirty="0"/>
          </a:p>
        </p:txBody>
      </p:sp>
      <p:sp>
        <p:nvSpPr>
          <p:cNvPr id="33" name="Text 31"/>
          <p:cNvSpPr/>
          <p:nvPr/>
        </p:nvSpPr>
        <p:spPr>
          <a:xfrm>
            <a:off x="3639312" y="1691640"/>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Tout ce qui est après le @</a:t>
            </a:r>
            <a:endParaRPr lang="en-US" sz="950" dirty="0"/>
          </a:p>
        </p:txBody>
      </p:sp>
      <p:sp>
        <p:nvSpPr>
          <p:cNvPr id="34" name="Shape 32"/>
          <p:cNvSpPr/>
          <p:nvPr/>
        </p:nvSpPr>
        <p:spPr>
          <a:xfrm>
            <a:off x="3246120" y="2121408"/>
            <a:ext cx="329184" cy="274320"/>
          </a:xfrm>
          <a:prstGeom prst="rect">
            <a:avLst/>
          </a:prstGeom>
          <a:solidFill>
            <a:srgbClr val="27AE60"/>
          </a:solidFill>
          <a:ln w="12700">
            <a:solidFill>
              <a:srgbClr val="27AE60"/>
            </a:solidFill>
            <a:prstDash val="solid"/>
          </a:ln>
        </p:spPr>
        <p:txBody>
          <a:bodyPr/>
          <a:lstStyle/>
          <a:p>
            <a:endParaRPr lang="fr-FR"/>
          </a:p>
        </p:txBody>
      </p:sp>
      <p:sp>
        <p:nvSpPr>
          <p:cNvPr id="35" name="Text 33"/>
          <p:cNvSpPr/>
          <p:nvPr/>
        </p:nvSpPr>
        <p:spPr>
          <a:xfrm>
            <a:off x="3246120" y="2121408"/>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36" name="Text 34"/>
          <p:cNvSpPr/>
          <p:nvPr/>
        </p:nvSpPr>
        <p:spPr>
          <a:xfrm>
            <a:off x="3639312" y="2075688"/>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Survoler le lien sans cliquer</a:t>
            </a:r>
            <a:endParaRPr lang="en-US" sz="1150" dirty="0"/>
          </a:p>
        </p:txBody>
      </p:sp>
      <p:sp>
        <p:nvSpPr>
          <p:cNvPr id="37" name="Text 35"/>
          <p:cNvSpPr/>
          <p:nvPr/>
        </p:nvSpPr>
        <p:spPr>
          <a:xfrm>
            <a:off x="3639312" y="2359152"/>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L'URL s'affiche en bas de l'écran</a:t>
            </a:r>
            <a:endParaRPr lang="en-US" sz="950" dirty="0"/>
          </a:p>
        </p:txBody>
      </p:sp>
      <p:sp>
        <p:nvSpPr>
          <p:cNvPr id="38" name="Shape 36"/>
          <p:cNvSpPr/>
          <p:nvPr/>
        </p:nvSpPr>
        <p:spPr>
          <a:xfrm>
            <a:off x="3246120" y="2788920"/>
            <a:ext cx="329184" cy="274320"/>
          </a:xfrm>
          <a:prstGeom prst="rect">
            <a:avLst/>
          </a:prstGeom>
          <a:solidFill>
            <a:srgbClr val="27AE60"/>
          </a:solidFill>
          <a:ln w="12700">
            <a:solidFill>
              <a:srgbClr val="27AE60"/>
            </a:solidFill>
            <a:prstDash val="solid"/>
          </a:ln>
        </p:spPr>
        <p:txBody>
          <a:bodyPr/>
          <a:lstStyle/>
          <a:p>
            <a:endParaRPr lang="fr-FR"/>
          </a:p>
        </p:txBody>
      </p:sp>
      <p:sp>
        <p:nvSpPr>
          <p:cNvPr id="39" name="Text 37"/>
          <p:cNvSpPr/>
          <p:nvPr/>
        </p:nvSpPr>
        <p:spPr>
          <a:xfrm>
            <a:off x="3246120" y="2788920"/>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40" name="Text 38"/>
          <p:cNvSpPr/>
          <p:nvPr/>
        </p:nvSpPr>
        <p:spPr>
          <a:xfrm>
            <a:off x="3639312" y="2743200"/>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Ne pas céder à l'urgence</a:t>
            </a:r>
            <a:endParaRPr lang="en-US" sz="1150" dirty="0"/>
          </a:p>
        </p:txBody>
      </p:sp>
      <p:sp>
        <p:nvSpPr>
          <p:cNvPr id="41" name="Text 39"/>
          <p:cNvSpPr/>
          <p:nvPr/>
        </p:nvSpPr>
        <p:spPr>
          <a:xfrm>
            <a:off x="3639312" y="3026664"/>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30 secondes de réflexion sauvent tout</a:t>
            </a:r>
            <a:endParaRPr lang="en-US" sz="950" dirty="0"/>
          </a:p>
        </p:txBody>
      </p:sp>
      <p:sp>
        <p:nvSpPr>
          <p:cNvPr id="42" name="Shape 40"/>
          <p:cNvSpPr/>
          <p:nvPr/>
        </p:nvSpPr>
        <p:spPr>
          <a:xfrm>
            <a:off x="3246120" y="3456432"/>
            <a:ext cx="329184" cy="274320"/>
          </a:xfrm>
          <a:prstGeom prst="rect">
            <a:avLst/>
          </a:prstGeom>
          <a:solidFill>
            <a:srgbClr val="27AE60"/>
          </a:solidFill>
          <a:ln w="12700">
            <a:solidFill>
              <a:srgbClr val="27AE60"/>
            </a:solidFill>
            <a:prstDash val="solid"/>
          </a:ln>
        </p:spPr>
        <p:txBody>
          <a:bodyPr/>
          <a:lstStyle/>
          <a:p>
            <a:endParaRPr lang="fr-FR"/>
          </a:p>
        </p:txBody>
      </p:sp>
      <p:sp>
        <p:nvSpPr>
          <p:cNvPr id="43" name="Text 41"/>
          <p:cNvSpPr/>
          <p:nvPr/>
        </p:nvSpPr>
        <p:spPr>
          <a:xfrm>
            <a:off x="3246120" y="3456432"/>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44" name="Text 42"/>
          <p:cNvSpPr/>
          <p:nvPr/>
        </p:nvSpPr>
        <p:spPr>
          <a:xfrm>
            <a:off x="3639312" y="3410712"/>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Ne jamais donner RIB par message</a:t>
            </a:r>
            <a:endParaRPr lang="en-US" sz="1150" dirty="0"/>
          </a:p>
        </p:txBody>
      </p:sp>
      <p:sp>
        <p:nvSpPr>
          <p:cNvPr id="45" name="Text 43"/>
          <p:cNvSpPr/>
          <p:nvPr/>
        </p:nvSpPr>
        <p:spPr>
          <a:xfrm>
            <a:off x="3639312" y="3694176"/>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Aucun organisme ne le demande</a:t>
            </a:r>
            <a:endParaRPr lang="en-US" sz="950" dirty="0"/>
          </a:p>
        </p:txBody>
      </p:sp>
      <p:sp>
        <p:nvSpPr>
          <p:cNvPr id="46" name="Shape 44"/>
          <p:cNvSpPr/>
          <p:nvPr/>
        </p:nvSpPr>
        <p:spPr>
          <a:xfrm>
            <a:off x="3246120" y="4123944"/>
            <a:ext cx="329184" cy="274320"/>
          </a:xfrm>
          <a:prstGeom prst="rect">
            <a:avLst/>
          </a:prstGeom>
          <a:solidFill>
            <a:srgbClr val="27AE60"/>
          </a:solidFill>
          <a:ln w="12700">
            <a:solidFill>
              <a:srgbClr val="27AE60"/>
            </a:solidFill>
            <a:prstDash val="solid"/>
          </a:ln>
        </p:spPr>
        <p:txBody>
          <a:bodyPr/>
          <a:lstStyle/>
          <a:p>
            <a:endParaRPr lang="fr-FR"/>
          </a:p>
        </p:txBody>
      </p:sp>
      <p:sp>
        <p:nvSpPr>
          <p:cNvPr id="47" name="Text 45"/>
          <p:cNvSpPr/>
          <p:nvPr/>
        </p:nvSpPr>
        <p:spPr>
          <a:xfrm>
            <a:off x="3246120" y="4123944"/>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48" name="Text 46"/>
          <p:cNvSpPr/>
          <p:nvPr/>
        </p:nvSpPr>
        <p:spPr>
          <a:xfrm>
            <a:off x="3639312" y="4078224"/>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En cas de doute : appeler</a:t>
            </a:r>
            <a:endParaRPr lang="en-US" sz="1150" dirty="0"/>
          </a:p>
        </p:txBody>
      </p:sp>
      <p:sp>
        <p:nvSpPr>
          <p:cNvPr id="49" name="Text 47"/>
          <p:cNvSpPr/>
          <p:nvPr/>
        </p:nvSpPr>
        <p:spPr>
          <a:xfrm>
            <a:off x="3639312" y="4361688"/>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Le vrai numéro, pas celui du message</a:t>
            </a:r>
            <a:endParaRPr lang="en-US" sz="950" dirty="0"/>
          </a:p>
        </p:txBody>
      </p:sp>
      <p:sp>
        <p:nvSpPr>
          <p:cNvPr id="50" name="Shape 48"/>
          <p:cNvSpPr/>
          <p:nvPr/>
        </p:nvSpPr>
        <p:spPr>
          <a:xfrm>
            <a:off x="6172200" y="841248"/>
            <a:ext cx="2834640" cy="4160520"/>
          </a:xfrm>
          <a:prstGeom prst="rect">
            <a:avLst/>
          </a:prstGeom>
          <a:solidFill>
            <a:srgbClr val="E1E8F7"/>
          </a:solidFill>
          <a:ln w="10160">
            <a:solidFill>
              <a:srgbClr val="2980B9"/>
            </a:solidFill>
            <a:prstDash val="solid"/>
          </a:ln>
        </p:spPr>
        <p:txBody>
          <a:bodyPr/>
          <a:lstStyle/>
          <a:p>
            <a:endParaRPr lang="fr-FR"/>
          </a:p>
        </p:txBody>
      </p:sp>
      <p:sp>
        <p:nvSpPr>
          <p:cNvPr id="51" name="Shape 49"/>
          <p:cNvSpPr/>
          <p:nvPr/>
        </p:nvSpPr>
        <p:spPr>
          <a:xfrm>
            <a:off x="6172200" y="841248"/>
            <a:ext cx="2834640" cy="457200"/>
          </a:xfrm>
          <a:prstGeom prst="rect">
            <a:avLst/>
          </a:prstGeom>
          <a:solidFill>
            <a:srgbClr val="2980B9"/>
          </a:solidFill>
          <a:ln w="12700">
            <a:solidFill>
              <a:srgbClr val="2980B9"/>
            </a:solidFill>
            <a:prstDash val="solid"/>
          </a:ln>
        </p:spPr>
        <p:txBody>
          <a:bodyPr/>
          <a:lstStyle/>
          <a:p>
            <a:endParaRPr lang="fr-FR"/>
          </a:p>
        </p:txBody>
      </p:sp>
      <p:sp>
        <p:nvSpPr>
          <p:cNvPr id="52" name="Text 50"/>
          <p:cNvSpPr/>
          <p:nvPr/>
        </p:nvSpPr>
        <p:spPr>
          <a:xfrm>
            <a:off x="6263640" y="850392"/>
            <a:ext cx="265176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EN CAS DE DOUTE</a:t>
            </a:r>
            <a:endParaRPr lang="en-US" sz="1300" dirty="0"/>
          </a:p>
        </p:txBody>
      </p:sp>
      <p:sp>
        <p:nvSpPr>
          <p:cNvPr id="53" name="Shape 51"/>
          <p:cNvSpPr/>
          <p:nvPr/>
        </p:nvSpPr>
        <p:spPr>
          <a:xfrm>
            <a:off x="6263640" y="1316736"/>
            <a:ext cx="2651760" cy="544068"/>
          </a:xfrm>
          <a:prstGeom prst="rect">
            <a:avLst/>
          </a:prstGeom>
          <a:solidFill>
            <a:srgbClr val="E1E8F7"/>
          </a:solidFill>
          <a:ln w="6350">
            <a:solidFill>
              <a:srgbClr val="2980B9"/>
            </a:solidFill>
            <a:prstDash val="solid"/>
          </a:ln>
        </p:spPr>
        <p:txBody>
          <a:bodyPr/>
          <a:lstStyle/>
          <a:p>
            <a:endParaRPr lang="fr-FR"/>
          </a:p>
        </p:txBody>
      </p:sp>
      <p:sp>
        <p:nvSpPr>
          <p:cNvPr id="54" name="Text 52"/>
          <p:cNvSpPr/>
          <p:nvPr/>
        </p:nvSpPr>
        <p:spPr>
          <a:xfrm>
            <a:off x="6327648" y="1339595"/>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E-mail piégé reçu</a:t>
            </a:r>
            <a:endParaRPr lang="en-US" sz="900" dirty="0"/>
          </a:p>
        </p:txBody>
      </p:sp>
      <p:sp>
        <p:nvSpPr>
          <p:cNvPr id="55" name="Text 53"/>
          <p:cNvSpPr/>
          <p:nvPr/>
        </p:nvSpPr>
        <p:spPr>
          <a:xfrm>
            <a:off x="6327648" y="1563624"/>
            <a:ext cx="2523744" cy="283464"/>
          </a:xfrm>
          <a:prstGeom prst="rect">
            <a:avLst/>
          </a:prstGeom>
          <a:noFill/>
          <a:ln/>
        </p:spPr>
        <p:txBody>
          <a:bodyPr wrap="square" lIns="0" tIns="0" rIns="0" bIns="0" rtlCol="0" anchor="ctr"/>
          <a:lstStyle/>
          <a:p>
            <a:pPr marL="0" indent="0">
              <a:buNone/>
            </a:pPr>
            <a:r>
              <a:rPr lang="en-US" sz="1100" b="1" dirty="0">
                <a:solidFill>
                  <a:srgbClr val="2980B9"/>
                </a:solidFill>
                <a:latin typeface="Arial" pitchFamily="34" charset="0"/>
                <a:ea typeface="Arial" pitchFamily="34" charset="-122"/>
                <a:cs typeface="Arial" pitchFamily="34" charset="-120"/>
              </a:rPr>
              <a:t>signal-spam.fr</a:t>
            </a:r>
            <a:endParaRPr lang="en-US" sz="1100" dirty="0"/>
          </a:p>
        </p:txBody>
      </p:sp>
      <p:sp>
        <p:nvSpPr>
          <p:cNvPr id="56" name="Shape 54"/>
          <p:cNvSpPr/>
          <p:nvPr/>
        </p:nvSpPr>
        <p:spPr>
          <a:xfrm>
            <a:off x="6263640" y="1874519"/>
            <a:ext cx="2651760" cy="544068"/>
          </a:xfrm>
          <a:prstGeom prst="rect">
            <a:avLst/>
          </a:prstGeom>
          <a:solidFill>
            <a:srgbClr val="E1E8F7"/>
          </a:solidFill>
          <a:ln w="6350">
            <a:solidFill>
              <a:srgbClr val="E67E22"/>
            </a:solidFill>
            <a:prstDash val="solid"/>
          </a:ln>
        </p:spPr>
        <p:txBody>
          <a:bodyPr/>
          <a:lstStyle/>
          <a:p>
            <a:endParaRPr lang="fr-FR"/>
          </a:p>
        </p:txBody>
      </p:sp>
      <p:sp>
        <p:nvSpPr>
          <p:cNvPr id="57" name="Text 55"/>
          <p:cNvSpPr/>
          <p:nvPr/>
        </p:nvSpPr>
        <p:spPr>
          <a:xfrm>
            <a:off x="6327648" y="1897379"/>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SMS arnaque reçu</a:t>
            </a:r>
            <a:endParaRPr lang="en-US" sz="900" dirty="0"/>
          </a:p>
        </p:txBody>
      </p:sp>
      <p:sp>
        <p:nvSpPr>
          <p:cNvPr id="58" name="Text 56"/>
          <p:cNvSpPr/>
          <p:nvPr/>
        </p:nvSpPr>
        <p:spPr>
          <a:xfrm>
            <a:off x="6327648" y="2121408"/>
            <a:ext cx="2523744" cy="283464"/>
          </a:xfrm>
          <a:prstGeom prst="rect">
            <a:avLst/>
          </a:prstGeom>
          <a:noFill/>
          <a:ln/>
        </p:spPr>
        <p:txBody>
          <a:bodyPr wrap="square" lIns="0" tIns="0" rIns="0" bIns="0" rtlCol="0" anchor="ctr"/>
          <a:lstStyle/>
          <a:p>
            <a:pPr marL="0" indent="0">
              <a:buNone/>
            </a:pPr>
            <a:r>
              <a:rPr lang="en-US" sz="1100" b="1" dirty="0">
                <a:solidFill>
                  <a:srgbClr val="E67E22"/>
                </a:solidFill>
                <a:latin typeface="Arial" pitchFamily="34" charset="0"/>
                <a:ea typeface="Arial" pitchFamily="34" charset="-122"/>
                <a:cs typeface="Arial" pitchFamily="34" charset="-120"/>
              </a:rPr>
              <a:t>Transférer au  33700</a:t>
            </a:r>
            <a:endParaRPr lang="en-US" sz="1100" dirty="0"/>
          </a:p>
        </p:txBody>
      </p:sp>
      <p:sp>
        <p:nvSpPr>
          <p:cNvPr id="302" name="AppelBg"/>
          <p:cNvSpPr/>
          <p:nvPr/>
        </p:nvSpPr>
        <p:spPr>
          <a:xfrm>
            <a:off x="6263640" y="2432304"/>
            <a:ext cx="2651760" cy="544068"/>
          </a:xfrm>
          <a:prstGeom prst="rect">
            <a:avLst/>
          </a:prstGeom>
          <a:solidFill>
            <a:srgbClr val="E1EAF7"/>
          </a:solidFill>
          <a:ln w="6350">
            <a:solidFill>
              <a:srgbClr val="27AE60"/>
            </a:solidFill>
            <a:prstDash val="solid"/>
          </a:ln>
        </p:spPr>
        <p:txBody>
          <a:bodyPr/>
          <a:lstStyle/>
          <a:p>
            <a:endParaRPr lang="fr-FR"/>
          </a:p>
        </p:txBody>
      </p:sp>
      <p:sp>
        <p:nvSpPr>
          <p:cNvPr id="300" name="AppelLabel"/>
          <p:cNvSpPr/>
          <p:nvPr/>
        </p:nvSpPr>
        <p:spPr>
          <a:xfrm>
            <a:off x="6263640" y="2455164"/>
            <a:ext cx="2706816" cy="192024"/>
          </a:xfrm>
          <a:prstGeom prst="rect">
            <a:avLst/>
          </a:prstGeom>
          <a:noFill/>
          <a:ln/>
        </p:spPr>
        <p:txBody>
          <a:bodyPr wrap="square" lIns="0" tIns="0" rIns="0" bIns="0" rtlCol="0" anchor="ctr"/>
          <a:lstStyle/>
          <a:p>
            <a:pPr marL="0" indent="0">
              <a:buNone/>
            </a:pPr>
            <a:r>
              <a:rPr lang="fr-FR" sz="900" dirty="0">
                <a:solidFill>
                  <a:srgbClr val="242E38"/>
                </a:solidFill>
                <a:latin typeface="Arial" pitchFamily="34" charset="0"/>
              </a:rPr>
              <a:t>Appel suspect reçu</a:t>
            </a:r>
          </a:p>
        </p:txBody>
      </p:sp>
      <p:sp>
        <p:nvSpPr>
          <p:cNvPr id="301" name="AppelValue"/>
          <p:cNvSpPr/>
          <p:nvPr/>
        </p:nvSpPr>
        <p:spPr>
          <a:xfrm>
            <a:off x="6327648" y="2679192"/>
            <a:ext cx="2523744" cy="283464"/>
          </a:xfrm>
          <a:prstGeom prst="rect">
            <a:avLst/>
          </a:prstGeom>
          <a:noFill/>
          <a:ln/>
        </p:spPr>
        <p:txBody>
          <a:bodyPr wrap="square" lIns="0" tIns="0" rIns="0" bIns="0" rtlCol="0" anchor="ctr"/>
          <a:lstStyle/>
          <a:p>
            <a:pPr marL="0" indent="0">
              <a:buNone/>
            </a:pPr>
            <a:r>
              <a:rPr lang="fr-FR" sz="1100" b="1" dirty="0">
                <a:solidFill>
                  <a:srgbClr val="27AE60"/>
                </a:solidFill>
                <a:latin typeface="Arial" pitchFamily="34" charset="0"/>
              </a:rPr>
              <a:t>Raccrocher — rappeler le vrai numéro</a:t>
            </a:r>
          </a:p>
        </p:txBody>
      </p:sp>
      <p:sp>
        <p:nvSpPr>
          <p:cNvPr id="59" name="Shape 57"/>
          <p:cNvSpPr/>
          <p:nvPr/>
        </p:nvSpPr>
        <p:spPr>
          <a:xfrm>
            <a:off x="6263640" y="2990088"/>
            <a:ext cx="2651760" cy="544068"/>
          </a:xfrm>
          <a:prstGeom prst="rect">
            <a:avLst/>
          </a:prstGeom>
          <a:solidFill>
            <a:srgbClr val="E1E8F7"/>
          </a:solidFill>
          <a:ln w="6350">
            <a:solidFill>
              <a:srgbClr val="8E44AD"/>
            </a:solidFill>
            <a:prstDash val="solid"/>
          </a:ln>
        </p:spPr>
        <p:txBody>
          <a:bodyPr/>
          <a:lstStyle/>
          <a:p>
            <a:endParaRPr lang="fr-FR"/>
          </a:p>
        </p:txBody>
      </p:sp>
      <p:sp>
        <p:nvSpPr>
          <p:cNvPr id="60" name="Text 58"/>
          <p:cNvSpPr/>
          <p:nvPr/>
        </p:nvSpPr>
        <p:spPr>
          <a:xfrm>
            <a:off x="6327648" y="3012948"/>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J'ai cliqué sur un lien</a:t>
            </a:r>
            <a:endParaRPr lang="en-US" sz="900" dirty="0"/>
          </a:p>
        </p:txBody>
      </p:sp>
      <p:sp>
        <p:nvSpPr>
          <p:cNvPr id="61" name="Text 59"/>
          <p:cNvSpPr/>
          <p:nvPr/>
        </p:nvSpPr>
        <p:spPr>
          <a:xfrm>
            <a:off x="6327648" y="3236976"/>
            <a:ext cx="2523744" cy="283464"/>
          </a:xfrm>
          <a:prstGeom prst="rect">
            <a:avLst/>
          </a:prstGeom>
          <a:noFill/>
          <a:ln/>
        </p:spPr>
        <p:txBody>
          <a:bodyPr wrap="square" lIns="0" tIns="0" rIns="0" bIns="0" rtlCol="0" anchor="ctr"/>
          <a:lstStyle/>
          <a:p>
            <a:pPr marL="0" indent="0">
              <a:buNone/>
            </a:pPr>
            <a:r>
              <a:rPr lang="en-US" sz="1100" b="1" dirty="0">
                <a:solidFill>
                  <a:srgbClr val="8E44AD"/>
                </a:solidFill>
                <a:latin typeface="Arial" pitchFamily="34" charset="0"/>
                <a:ea typeface="Arial" pitchFamily="34" charset="-122"/>
                <a:cs typeface="Arial" pitchFamily="34" charset="-120"/>
              </a:rPr>
              <a:t>Changer ses mots de passe</a:t>
            </a:r>
            <a:endParaRPr lang="en-US" sz="1100" dirty="0"/>
          </a:p>
        </p:txBody>
      </p:sp>
      <p:sp>
        <p:nvSpPr>
          <p:cNvPr id="62" name="Shape 60"/>
          <p:cNvSpPr/>
          <p:nvPr/>
        </p:nvSpPr>
        <p:spPr>
          <a:xfrm>
            <a:off x="6263640" y="3547872"/>
            <a:ext cx="2651760" cy="544068"/>
          </a:xfrm>
          <a:prstGeom prst="rect">
            <a:avLst/>
          </a:prstGeom>
          <a:solidFill>
            <a:srgbClr val="E1E8F7"/>
          </a:solidFill>
          <a:ln w="6350">
            <a:solidFill>
              <a:srgbClr val="C2544A"/>
            </a:solidFill>
            <a:prstDash val="solid"/>
          </a:ln>
        </p:spPr>
        <p:txBody>
          <a:bodyPr/>
          <a:lstStyle/>
          <a:p>
            <a:endParaRPr lang="fr-FR"/>
          </a:p>
        </p:txBody>
      </p:sp>
      <p:sp>
        <p:nvSpPr>
          <p:cNvPr id="63" name="Text 61"/>
          <p:cNvSpPr/>
          <p:nvPr/>
        </p:nvSpPr>
        <p:spPr>
          <a:xfrm>
            <a:off x="6327648" y="3570732"/>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Données bancaires saisies</a:t>
            </a:r>
            <a:endParaRPr lang="en-US" sz="900" dirty="0"/>
          </a:p>
        </p:txBody>
      </p:sp>
      <p:sp>
        <p:nvSpPr>
          <p:cNvPr id="64" name="Text 62"/>
          <p:cNvSpPr/>
          <p:nvPr/>
        </p:nvSpPr>
        <p:spPr>
          <a:xfrm>
            <a:off x="6327648" y="3794760"/>
            <a:ext cx="2523744" cy="283464"/>
          </a:xfrm>
          <a:prstGeom prst="rect">
            <a:avLst/>
          </a:prstGeom>
          <a:noFill/>
          <a:ln/>
        </p:spPr>
        <p:txBody>
          <a:bodyPr wrap="square" lIns="0" tIns="0" rIns="0" bIns="0" rtlCol="0" anchor="ctr"/>
          <a:lstStyle/>
          <a:p>
            <a:pPr marL="0" indent="0">
              <a:buNone/>
            </a:pPr>
            <a:r>
              <a:rPr lang="en-US" sz="1100" b="1" dirty="0">
                <a:solidFill>
                  <a:srgbClr val="C2544A"/>
                </a:solidFill>
                <a:latin typeface="Arial" pitchFamily="34" charset="0"/>
                <a:ea typeface="Arial" pitchFamily="34" charset="-122"/>
                <a:cs typeface="Arial" pitchFamily="34" charset="-120"/>
              </a:rPr>
              <a:t>Appeler sa banque (dos carte)</a:t>
            </a:r>
            <a:endParaRPr lang="en-US" sz="1100" dirty="0"/>
          </a:p>
        </p:txBody>
      </p:sp>
      <p:sp>
        <p:nvSpPr>
          <p:cNvPr id="65" name="Shape 63"/>
          <p:cNvSpPr/>
          <p:nvPr/>
        </p:nvSpPr>
        <p:spPr>
          <a:xfrm>
            <a:off x="6263640" y="4105656"/>
            <a:ext cx="2651760" cy="544068"/>
          </a:xfrm>
          <a:prstGeom prst="rect">
            <a:avLst/>
          </a:prstGeom>
          <a:solidFill>
            <a:srgbClr val="E1E8F7"/>
          </a:solidFill>
          <a:ln w="6350">
            <a:solidFill>
              <a:srgbClr val="27AE60"/>
            </a:solidFill>
            <a:prstDash val="solid"/>
          </a:ln>
        </p:spPr>
        <p:txBody>
          <a:bodyPr/>
          <a:lstStyle/>
          <a:p>
            <a:endParaRPr lang="fr-FR"/>
          </a:p>
        </p:txBody>
      </p:sp>
      <p:sp>
        <p:nvSpPr>
          <p:cNvPr id="66" name="Text 64"/>
          <p:cNvSpPr/>
          <p:nvPr/>
        </p:nvSpPr>
        <p:spPr>
          <a:xfrm>
            <a:off x="6327648" y="4128516"/>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La carte Vitale</a:t>
            </a:r>
            <a:endParaRPr lang="en-US" sz="900" dirty="0"/>
          </a:p>
        </p:txBody>
      </p:sp>
      <p:sp>
        <p:nvSpPr>
          <p:cNvPr id="67" name="Text 65"/>
          <p:cNvSpPr/>
          <p:nvPr/>
        </p:nvSpPr>
        <p:spPr>
          <a:xfrm>
            <a:off x="6327648" y="4352544"/>
            <a:ext cx="2523744" cy="283464"/>
          </a:xfrm>
          <a:prstGeom prst="rect">
            <a:avLst/>
          </a:prstGeom>
          <a:noFill/>
          <a:ln/>
        </p:spPr>
        <p:txBody>
          <a:bodyPr wrap="square" lIns="0" tIns="0" rIns="0" bIns="0" rtlCol="0" anchor="ctr"/>
          <a:lstStyle/>
          <a:p>
            <a:pPr marL="0" indent="0">
              <a:buNone/>
            </a:pPr>
            <a:r>
              <a:rPr lang="en-US" sz="1100" b="1" dirty="0">
                <a:solidFill>
                  <a:srgbClr val="27AE60"/>
                </a:solidFill>
                <a:latin typeface="Arial" pitchFamily="34" charset="0"/>
                <a:ea typeface="Arial" pitchFamily="34" charset="-122"/>
                <a:cs typeface="Arial" pitchFamily="34" charset="-120"/>
              </a:rPr>
              <a:t>N'expire JAMAIS</a:t>
            </a:r>
            <a:endParaRPr lang="en-US" sz="1100" dirty="0"/>
          </a:p>
        </p:txBody>
      </p:sp>
      <p:sp>
        <p:nvSpPr>
          <p:cNvPr id="68" name="Shape 6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69" name="Text 67">
            <a:hlinkClick r:id="rId3" action="ppaction://hlinksldjump"/>
          </p:cNvPr>
          <p:cNvSpPr/>
          <p:nvPr/>
        </p:nvSpPr>
        <p:spPr>
          <a:xfrm>
            <a:off x="7761548" y="4773168"/>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303" name="Picture 302" descr="logo_sig.png"/>
          <p:cNvPicPr>
            <a:picLocks noChangeAspect="1"/>
          </p:cNvPicPr>
          <p:nvPr/>
        </p:nvPicPr>
        <p:blipFill>
          <a:blip r:embed="rId4"/>
          <a:stretch>
            <a:fillRect/>
          </a:stretch>
        </p:blipFill>
        <p:spPr>
          <a:xfrm>
            <a:off x="8333048" y="182150"/>
            <a:ext cx="413491" cy="413491"/>
          </a:xfrm>
          <a:prstGeom prst="rect">
            <a:avLst/>
          </a:prstGeom>
        </p:spPr>
      </p:pic>
      <p:sp>
        <p:nvSpPr>
          <p:cNvPr id="70" name="ZoneTexte 69">
            <a:extLst>
              <a:ext uri="{FF2B5EF4-FFF2-40B4-BE49-F238E27FC236}">
                <a16:creationId xmlns:a16="http://schemas.microsoft.com/office/drawing/2014/main" id="{F9F5A856-0653-A404-EB7A-3CE514FBF449}"/>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9144000" cy="5143500"/>
          <a:chOff x="0" y="0"/>
          <a:chExt cx="9144000" cy="5143500"/>
        </a:xfrm>
      </p:grpSpPr>
      <p:sp>
        <p:nvSpPr>
          <p:cNvPr id="2" name="HeaderBar"/>
          <p:cNvSpPr/>
          <p:nvPr/>
        </p:nvSpPr>
        <p:spPr>
          <a:xfrm>
            <a:off x="0" y="0"/>
            <a:ext cx="8357616" cy="749808"/>
          </a:xfrm>
          <a:prstGeom prst="rect">
            <a:avLst/>
          </a:prstGeom>
          <a:solidFill>
            <a:srgbClr val="E1E4F7"/>
          </a:solidFill>
          <a:ln/>
        </p:spPr>
        <p:txBody>
          <a:bodyPr/>
          <a:lstStyle/>
          <a:p>
            <a:endParaRPr/>
          </a:p>
        </p:txBody>
      </p:sp>
      <p:sp>
        <p:nvSpPr>
          <p:cNvPr id="3" name="Title"/>
          <p:cNvSpPr/>
          <p:nvPr/>
        </p:nvSpPr>
        <p:spPr>
          <a:xfrm>
            <a:off x="365760" y="45720"/>
            <a:ext cx="8412480" cy="658368"/>
          </a:xfrm>
          <a:prstGeom prst="rect">
            <a:avLst/>
          </a:prstGeom>
          <a:noFill/>
          <a:ln/>
        </p:spPr>
        <p:txBody>
          <a:bodyPr wrap="square" lIns="91440" tIns="45720" rIns="91440" bIns="45720" rtlCol="0" anchor="ctr"/>
          <a:lstStyle/>
          <a:p>
            <a:pPr marL="0" indent="0">
              <a:buNone/>
            </a:pPr>
            <a:r>
              <a:rPr lang="fr-FR" sz="2200" b="1" dirty="0">
                <a:solidFill>
                  <a:srgbClr val="1E293B"/>
                </a:solidFill>
                <a:latin typeface="Arial Black" pitchFamily="34" charset="0"/>
              </a:rPr>
              <a:t>🔒  Le cadenas ≠ site sûr</a:t>
            </a:r>
          </a:p>
        </p:txBody>
      </p:sp>
      <p:sp>
        <p:nvSpPr>
          <p:cNvPr id="4" name="Line"/>
          <p:cNvSpPr/>
          <p:nvPr/>
        </p:nvSpPr>
        <p:spPr>
          <a:xfrm>
            <a:off x="274320" y="804672"/>
            <a:ext cx="7808975" cy="36576"/>
          </a:xfrm>
          <a:prstGeom prst="rect">
            <a:avLst/>
          </a:prstGeom>
          <a:solidFill>
            <a:srgbClr val="C2544A"/>
          </a:solidFill>
          <a:ln/>
        </p:spPr>
        <p:txBody>
          <a:bodyPr/>
          <a:lstStyle/>
          <a:p>
            <a:endParaRPr/>
          </a:p>
        </p:txBody>
      </p:sp>
      <p:sp>
        <p:nvSpPr>
          <p:cNvPr id="5" name="Intro"/>
          <p:cNvSpPr/>
          <p:nvPr/>
        </p:nvSpPr>
        <p:spPr>
          <a:xfrm>
            <a:off x="777240" y="896112"/>
            <a:ext cx="7306055" cy="365760"/>
          </a:xfrm>
          <a:prstGeom prst="rect">
            <a:avLst/>
          </a:prstGeom>
          <a:noFill/>
          <a:ln/>
        </p:spPr>
        <p:txBody>
          <a:bodyPr wrap="square" lIns="91440" tIns="45720" rIns="91440" bIns="45720" rtlCol="0" anchor="ctr"/>
          <a:lstStyle/>
          <a:p>
            <a:pPr marL="0" indent="0">
              <a:buNone/>
            </a:pPr>
            <a:r>
              <a:rPr lang="fr-FR" sz="1100" b="0" dirty="0">
                <a:solidFill>
                  <a:srgbClr val="262638"/>
                </a:solidFill>
                <a:latin typeface="Calibri" pitchFamily="34" charset="0"/>
              </a:rPr>
              <a:t>Beaucoup pensent que le cadenas 🔒 dans la barre d'adresse signifie que le site est sûr. C'est FAUX.</a:t>
            </a:r>
          </a:p>
        </p:txBody>
      </p:sp>
      <p:sp>
        <p:nvSpPr>
          <p:cNvPr id="6" name="Card1"/>
          <p:cNvSpPr/>
          <p:nvPr/>
        </p:nvSpPr>
        <p:spPr>
          <a:xfrm>
            <a:off x="274320" y="1353312"/>
            <a:ext cx="7808975" cy="1078992"/>
          </a:xfrm>
          <a:prstGeom prst="rect">
            <a:avLst/>
          </a:prstGeom>
          <a:solidFill>
            <a:srgbClr val="E1E8F7"/>
          </a:solidFill>
          <a:ln w="12700">
            <a:solidFill>
              <a:srgbClr val="C2544A"/>
            </a:solidFill>
            <a:prstDash val="solid"/>
          </a:ln>
        </p:spPr>
        <p:txBody>
          <a:bodyPr/>
          <a:lstStyle/>
          <a:p>
            <a:endParaRPr/>
          </a:p>
        </p:txBody>
      </p:sp>
      <p:sp>
        <p:nvSpPr>
          <p:cNvPr id="7" name="Card1Accent"/>
          <p:cNvSpPr/>
          <p:nvPr/>
        </p:nvSpPr>
        <p:spPr>
          <a:xfrm>
            <a:off x="274320" y="1353312"/>
            <a:ext cx="109728" cy="1078992"/>
          </a:xfrm>
          <a:prstGeom prst="rect">
            <a:avLst/>
          </a:prstGeom>
          <a:solidFill>
            <a:srgbClr val="C2544A"/>
          </a:solidFill>
          <a:ln/>
        </p:spPr>
        <p:txBody>
          <a:bodyPr/>
          <a:lstStyle/>
          <a:p>
            <a:endParaRPr/>
          </a:p>
        </p:txBody>
      </p:sp>
      <p:sp>
        <p:nvSpPr>
          <p:cNvPr id="8" name="Card1Tag"/>
          <p:cNvSpPr/>
          <p:nvPr/>
        </p:nvSpPr>
        <p:spPr>
          <a:xfrm>
            <a:off x="457200" y="1389888"/>
            <a:ext cx="1828800" cy="320040"/>
          </a:xfrm>
          <a:prstGeom prst="rect">
            <a:avLst/>
          </a:prstGeom>
          <a:noFill/>
          <a:ln/>
        </p:spPr>
        <p:txBody>
          <a:bodyPr wrap="square" lIns="91440" tIns="45720" rIns="91440" bIns="45720" rtlCol="0" anchor="ctr"/>
          <a:lstStyle/>
          <a:p>
            <a:pPr marL="0" indent="0">
              <a:buNone/>
            </a:pPr>
            <a:r>
              <a:rPr lang="fr-FR" sz="1100" b="1" dirty="0">
                <a:solidFill>
                  <a:srgbClr val="C2544A"/>
                </a:solidFill>
                <a:latin typeface="Calibri" pitchFamily="34" charset="0"/>
              </a:rPr>
              <a:t>⛔  Site de PHISHING</a:t>
            </a:r>
          </a:p>
        </p:txBody>
      </p:sp>
      <p:sp>
        <p:nvSpPr>
          <p:cNvPr id="9" name="Card1URL"/>
          <p:cNvSpPr/>
          <p:nvPr/>
        </p:nvSpPr>
        <p:spPr>
          <a:xfrm>
            <a:off x="457200" y="1737360"/>
            <a:ext cx="7498079" cy="256032"/>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  https://impots-gouv-remboursement.com</a:t>
            </a:r>
          </a:p>
        </p:txBody>
      </p:sp>
      <p:sp>
        <p:nvSpPr>
          <p:cNvPr id="10" name="Card1Desc"/>
          <p:cNvSpPr/>
          <p:nvPr/>
        </p:nvSpPr>
        <p:spPr>
          <a:xfrm>
            <a:off x="457200" y="2011680"/>
            <a:ext cx="7498079" cy="347472"/>
          </a:xfrm>
          <a:prstGeom prst="rect">
            <a:avLst/>
          </a:prstGeom>
          <a:noFill/>
          <a:ln/>
        </p:spPr>
        <p:txBody>
          <a:bodyPr wrap="square" lIns="91440" tIns="45720" rIns="91440" bIns="45720" rtlCol="0" anchor="ctr"/>
          <a:lstStyle/>
          <a:p>
            <a:pPr marL="0" indent="0">
              <a:buNone/>
            </a:pPr>
            <a:r>
              <a:rPr lang="fr-FR" sz="1000" b="0" dirty="0">
                <a:solidFill>
                  <a:srgbClr val="262638"/>
                </a:solidFill>
                <a:latin typeface="Calibri" pitchFamily="34" charset="0"/>
              </a:rPr>
              <a:t>Ce site a un cadenas VERT — et c'est pourtant une arnaque ! Le cadenas indique seulement que la connexion est chiffrée.</a:t>
            </a:r>
          </a:p>
        </p:txBody>
      </p:sp>
      <p:sp>
        <p:nvSpPr>
          <p:cNvPr id="11" name="Card2"/>
          <p:cNvSpPr/>
          <p:nvPr/>
        </p:nvSpPr>
        <p:spPr>
          <a:xfrm>
            <a:off x="274320" y="2523744"/>
            <a:ext cx="7808975" cy="1078992"/>
          </a:xfrm>
          <a:prstGeom prst="rect">
            <a:avLst/>
          </a:prstGeom>
          <a:solidFill>
            <a:srgbClr val="E1E8F7"/>
          </a:solidFill>
          <a:ln w="12700">
            <a:solidFill>
              <a:srgbClr val="27AE60"/>
            </a:solidFill>
            <a:prstDash val="solid"/>
          </a:ln>
        </p:spPr>
        <p:txBody>
          <a:bodyPr/>
          <a:lstStyle/>
          <a:p>
            <a:endParaRPr/>
          </a:p>
        </p:txBody>
      </p:sp>
      <p:sp>
        <p:nvSpPr>
          <p:cNvPr id="12" name="Card2Accent"/>
          <p:cNvSpPr/>
          <p:nvPr/>
        </p:nvSpPr>
        <p:spPr>
          <a:xfrm>
            <a:off x="274320" y="2523744"/>
            <a:ext cx="109728" cy="1078992"/>
          </a:xfrm>
          <a:prstGeom prst="rect">
            <a:avLst/>
          </a:prstGeom>
          <a:solidFill>
            <a:srgbClr val="27AE60"/>
          </a:solidFill>
          <a:ln/>
        </p:spPr>
        <p:txBody>
          <a:bodyPr/>
          <a:lstStyle/>
          <a:p>
            <a:endParaRPr/>
          </a:p>
        </p:txBody>
      </p:sp>
      <p:sp>
        <p:nvSpPr>
          <p:cNvPr id="13" name="Card2Tag"/>
          <p:cNvSpPr/>
          <p:nvPr/>
        </p:nvSpPr>
        <p:spPr>
          <a:xfrm>
            <a:off x="457200" y="2560320"/>
            <a:ext cx="1828800" cy="320040"/>
          </a:xfrm>
          <a:prstGeom prst="rect">
            <a:avLst/>
          </a:prstGeom>
          <a:noFill/>
          <a:ln/>
        </p:spPr>
        <p:txBody>
          <a:bodyPr wrap="square" lIns="91440" tIns="45720" rIns="91440" bIns="45720" rtlCol="0" anchor="ctr"/>
          <a:lstStyle/>
          <a:p>
            <a:pPr marL="0" indent="0">
              <a:buNone/>
            </a:pPr>
            <a:r>
              <a:rPr lang="fr-FR" sz="1100" b="1" dirty="0">
                <a:solidFill>
                  <a:srgbClr val="27AE60"/>
                </a:solidFill>
                <a:latin typeface="Calibri" pitchFamily="34" charset="0"/>
              </a:rPr>
              <a:t>✅  Site officiel des Impôts</a:t>
            </a:r>
          </a:p>
        </p:txBody>
      </p:sp>
      <p:sp>
        <p:nvSpPr>
          <p:cNvPr id="14" name="Card2URL"/>
          <p:cNvSpPr/>
          <p:nvPr/>
        </p:nvSpPr>
        <p:spPr>
          <a:xfrm>
            <a:off x="457200" y="2907792"/>
            <a:ext cx="7498079" cy="256032"/>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  https://impots.gouv.fr</a:t>
            </a:r>
          </a:p>
        </p:txBody>
      </p:sp>
      <p:sp>
        <p:nvSpPr>
          <p:cNvPr id="15" name="Card2Desc"/>
          <p:cNvSpPr/>
          <p:nvPr/>
        </p:nvSpPr>
        <p:spPr>
          <a:xfrm>
            <a:off x="457200" y="3182112"/>
            <a:ext cx="7498079" cy="347472"/>
          </a:xfrm>
          <a:prstGeom prst="rect">
            <a:avLst/>
          </a:prstGeom>
          <a:noFill/>
          <a:ln/>
        </p:spPr>
        <p:txBody>
          <a:bodyPr wrap="square" lIns="91440" tIns="45720" rIns="91440" bIns="45720" rtlCol="0" anchor="ctr"/>
          <a:lstStyle/>
          <a:p>
            <a:pPr marL="0" indent="0">
              <a:buNone/>
            </a:pPr>
            <a:r>
              <a:rPr lang="fr-FR" sz="1000" b="0" dirty="0">
                <a:solidFill>
                  <a:srgbClr val="262638"/>
                </a:solidFill>
                <a:latin typeface="Calibri" pitchFamily="34" charset="0"/>
              </a:rPr>
              <a:t>Ce site a aussi un cadenas. La différence : le nom de domaine. Le cadenas seul ne suffit pas.</a:t>
            </a:r>
          </a:p>
        </p:txBody>
      </p:sp>
      <p:sp>
        <p:nvSpPr>
          <p:cNvPr id="16" name="RuleBox"/>
          <p:cNvSpPr/>
          <p:nvPr/>
        </p:nvSpPr>
        <p:spPr>
          <a:xfrm>
            <a:off x="274320" y="3694176"/>
            <a:ext cx="7808975" cy="658368"/>
          </a:xfrm>
          <a:prstGeom prst="rect">
            <a:avLst/>
          </a:prstGeom>
          <a:solidFill>
            <a:srgbClr val="E67E22"/>
          </a:solidFill>
          <a:ln w="12700">
            <a:solidFill>
              <a:srgbClr val="E67E22"/>
            </a:solidFill>
            <a:prstDash val="solid"/>
          </a:ln>
        </p:spPr>
        <p:txBody>
          <a:bodyPr/>
          <a:lstStyle/>
          <a:p>
            <a:endParaRPr/>
          </a:p>
        </p:txBody>
      </p:sp>
      <p:sp>
        <p:nvSpPr>
          <p:cNvPr id="17" name="RuleTitle"/>
          <p:cNvSpPr/>
          <p:nvPr/>
        </p:nvSpPr>
        <p:spPr>
          <a:xfrm>
            <a:off x="457200" y="3730752"/>
            <a:ext cx="7498079" cy="274320"/>
          </a:xfrm>
          <a:prstGeom prst="rect">
            <a:avLst/>
          </a:prstGeom>
          <a:noFill/>
          <a:ln/>
        </p:spPr>
        <p:txBody>
          <a:bodyPr wrap="square" lIns="91440" tIns="45720" rIns="91440" bIns="45720" rtlCol="0" anchor="ctr"/>
          <a:lstStyle/>
          <a:p>
            <a:pPr marL="0" indent="0">
              <a:buNone/>
            </a:pPr>
            <a:r>
              <a:rPr lang="fr-FR" sz="1100" b="1" dirty="0">
                <a:solidFill>
                  <a:srgbClr val="0D0F1A"/>
                </a:solidFill>
                <a:latin typeface="Calibri" pitchFamily="34" charset="0"/>
              </a:rPr>
              <a:t>✓  La règle qui reste vraie :</a:t>
            </a:r>
          </a:p>
        </p:txBody>
      </p:sp>
      <p:sp>
        <p:nvSpPr>
          <p:cNvPr id="18" name="RuleText"/>
          <p:cNvSpPr/>
          <p:nvPr/>
        </p:nvSpPr>
        <p:spPr>
          <a:xfrm>
            <a:off x="457200" y="4005072"/>
            <a:ext cx="7498079" cy="274320"/>
          </a:xfrm>
          <a:prstGeom prst="rect">
            <a:avLst/>
          </a:prstGeom>
          <a:noFill/>
          <a:ln/>
        </p:spPr>
        <p:txBody>
          <a:bodyPr wrap="square" lIns="91440" tIns="45720" rIns="91440" bIns="45720" rtlCol="0" anchor="ctr"/>
          <a:lstStyle/>
          <a:p>
            <a:pPr marL="0" indent="0">
              <a:buNone/>
            </a:pPr>
            <a:r>
              <a:rPr lang="fr-FR" sz="1000" b="1" dirty="0">
                <a:solidFill>
                  <a:srgbClr val="0D0F1A"/>
                </a:solidFill>
                <a:latin typeface="Calibri" pitchFamily="34" charset="0"/>
              </a:rPr>
              <a:t>Vérifiez le NOM de domaine après https://   →   impots.gouv.fr ≠ impots-gouv-remboursement.com</a:t>
            </a:r>
          </a:p>
        </p:txBody>
      </p:sp>
      <p:sp>
        <p:nvSpPr>
          <p:cNvPr id="19" name="Footer"/>
          <p:cNvSpPr/>
          <p:nvPr/>
        </p:nvSpPr>
        <p:spPr>
          <a:xfrm>
            <a:off x="0" y="4956048"/>
            <a:ext cx="7772400" cy="182880"/>
          </a:xfrm>
          <a:prstGeom prst="rect">
            <a:avLst/>
          </a:prstGeom>
          <a:noFill/>
          <a:ln/>
        </p:spPr>
        <p:txBody>
          <a:bodyPr wrap="square" lIns="91440" tIns="45720" rIns="91440" bIns="45720" rtlCol="0" anchor="ctr"/>
          <a:lstStyle/>
          <a:p>
            <a:pPr marL="0" indent="0">
              <a:buNone/>
            </a:pPr>
            <a:r>
              <a:rPr lang="fr-FR" sz="800" b="0" dirty="0">
                <a:solidFill>
                  <a:srgbClr val="444466"/>
                </a:solidFill>
                <a:latin typeface="Calibri" pitchFamily="34" charset="0"/>
              </a:rPr>
              <a:t>Cédric WALTENER — Atelier Phishing — 2026</a:t>
            </a:r>
          </a:p>
        </p:txBody>
      </p:sp>
      <p:sp>
        <p:nvSpPr>
          <p:cNvPr id="20" name="MenuBtn"/>
          <p:cNvSpPr>
            <a:spLocks noGrp="1"/>
          </p:cNvSpPr>
          <p:nvPr/>
        </p:nvSpPr>
        <p:spPr>
          <a:xfrm>
            <a:off x="7315201" y="4480560"/>
            <a:ext cx="1042415" cy="292608"/>
          </a:xfrm>
          <a:prstGeom prst="rect">
            <a:avLst/>
          </a:prstGeom>
          <a:solidFill>
            <a:srgbClr val="E5E5F7"/>
          </a:solidFill>
          <a:ln w="6350">
            <a:solidFill>
              <a:srgbClr val="444466"/>
            </a:solidFill>
            <a:prstDash val="solid"/>
          </a:ln>
        </p:spPr>
        <p:txBody>
          <a:bodyPr anchor="ctr"/>
          <a:lstStyle/>
          <a:p>
            <a:pPr algn="ctr"/>
            <a:r>
              <a:rPr lang="fr-FR" sz="900" b="0" dirty="0">
                <a:solidFill>
                  <a:srgbClr val="334155"/>
                </a:solidFill>
                <a:latin typeface="Calibri" pitchFamily="34" charset="0"/>
                <a:hlinkClick r:id="rId3" action="ppaction://hlinksldjump"/>
              </a:rPr>
              <a:t>☰  Menu</a:t>
            </a:r>
          </a:p>
        </p:txBody>
      </p:sp>
      <p:pic>
        <p:nvPicPr>
          <p:cNvPr id="23" name="Picture 22" descr="logo_sig.png"/>
          <p:cNvPicPr>
            <a:picLocks noChangeAspect="1"/>
          </p:cNvPicPr>
          <p:nvPr/>
        </p:nvPicPr>
        <p:blipFill>
          <a:blip r:embed="rId4"/>
          <a:stretch>
            <a:fillRect/>
          </a:stretch>
        </p:blipFill>
        <p:spPr>
          <a:xfrm>
            <a:off x="40143" y="40143"/>
            <a:ext cx="413491" cy="413491"/>
          </a:xfrm>
          <a:prstGeom prst="rect">
            <a:avLst/>
          </a:prstGeom>
        </p:spPr>
      </p:pic>
      <p:sp>
        <p:nvSpPr>
          <p:cNvPr id="21" name="ZoneTexte 20">
            <a:extLst>
              <a:ext uri="{FF2B5EF4-FFF2-40B4-BE49-F238E27FC236}">
                <a16:creationId xmlns:a16="http://schemas.microsoft.com/office/drawing/2014/main" id="{657EE9A8-9B48-6026-08A6-23A6F46048E7}"/>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Titre"/>
          <p:cNvSpPr>
            <a:spLocks noGrp="1"/>
          </p:cNvSpPr>
          <p:nvPr/>
        </p:nvSpPr>
        <p:spPr>
          <a:xfrm>
            <a:off x="692330" y="150000"/>
            <a:ext cx="5556309" cy="520000"/>
          </a:xfrm>
          <a:prstGeom prst="rect">
            <a:avLst/>
          </a:prstGeom>
          <a:noFill/>
        </p:spPr>
        <p:txBody>
          <a:bodyPr wrap="square" lIns="91440" tIns="36000" rIns="91440" bIns="36000" anchor="ctr"/>
          <a:lstStyle/>
          <a:p>
            <a:pPr algn="l"/>
            <a:r>
              <a:rPr lang="fr-FR" sz="2200" b="1" dirty="0">
                <a:solidFill>
                  <a:srgbClr val="1E293B"/>
                </a:solidFill>
                <a:latin typeface="Calibri"/>
              </a:rPr>
              <a:t>🔎  Reconnaître un site sûr</a:t>
            </a:r>
          </a:p>
        </p:txBody>
      </p:sp>
      <p:sp>
        <p:nvSpPr>
          <p:cNvPr id="31" name="Cadenas"/>
          <p:cNvSpPr>
            <a:spLocks noGrp="1"/>
          </p:cNvSpPr>
          <p:nvPr/>
        </p:nvSpPr>
        <p:spPr>
          <a:xfrm>
            <a:off x="548640" y="700000"/>
            <a:ext cx="8046720" cy="560000"/>
          </a:xfrm>
          <a:prstGeom prst="rect">
            <a:avLst/>
          </a:prstGeom>
          <a:solidFill>
            <a:srgbClr val="E1EAF7"/>
          </a:solidFill>
        </p:spPr>
        <p:txBody>
          <a:bodyPr wrap="square" lIns="91440" tIns="36000" rIns="91440" bIns="36000" anchor="t"/>
          <a:lstStyle/>
          <a:p>
            <a:pPr algn="l"/>
            <a:r>
              <a:rPr lang="fr-FR" sz="1300" b="1" dirty="0">
                <a:solidFill>
                  <a:srgbClr val="A02820"/>
                </a:solidFill>
                <a:latin typeface="Calibri"/>
              </a:rPr>
              <a:t>🔒  Le cadenas (https) </a:t>
            </a:r>
            <a:r>
              <a:rPr lang="fr-FR" sz="1300" b="0" dirty="0">
                <a:solidFill>
                  <a:srgbClr val="334155"/>
                </a:solidFill>
                <a:latin typeface="Calibri"/>
              </a:rPr>
              <a:t>chiffre la connexion mais ne prouve PAS que le site est honnête — les faux sites en ont aussi.</a:t>
            </a:r>
          </a:p>
        </p:txBody>
      </p:sp>
      <p:sp>
        <p:nvSpPr>
          <p:cNvPr id="32" name="Regle"/>
          <p:cNvSpPr>
            <a:spLocks noGrp="1"/>
          </p:cNvSpPr>
          <p:nvPr/>
        </p:nvSpPr>
        <p:spPr>
          <a:xfrm>
            <a:off x="548640" y="1320000"/>
            <a:ext cx="8046720" cy="420000"/>
          </a:xfrm>
          <a:prstGeom prst="rect">
            <a:avLst/>
          </a:prstGeom>
          <a:noFill/>
        </p:spPr>
        <p:txBody>
          <a:bodyPr wrap="square" lIns="91440" tIns="36000" rIns="91440" bIns="36000" anchor="t"/>
          <a:lstStyle/>
          <a:p>
            <a:pPr algn="l"/>
            <a:r>
              <a:rPr lang="fr-FR" sz="1300" b="0" dirty="0">
                <a:solidFill>
                  <a:srgbClr val="1E293B"/>
                </a:solidFill>
                <a:latin typeface="Calibri"/>
              </a:rPr>
              <a:t>Le seul élément fiable = le nom de domaine, lu de DROITE à GAUCHE (ce qui précède le 1er « / »).</a:t>
            </a:r>
          </a:p>
        </p:txBody>
      </p:sp>
      <p:sp>
        <p:nvSpPr>
          <p:cNvPr id="33" name="Piege"/>
          <p:cNvSpPr>
            <a:spLocks noGrp="1"/>
          </p:cNvSpPr>
          <p:nvPr/>
        </p:nvSpPr>
        <p:spPr>
          <a:xfrm>
            <a:off x="548640" y="1820000"/>
            <a:ext cx="8046720" cy="1000000"/>
          </a:xfrm>
          <a:prstGeom prst="rect">
            <a:avLst/>
          </a:prstGeom>
          <a:solidFill>
            <a:srgbClr val="F7E1E1"/>
          </a:solidFill>
          <a:ln w="28575">
            <a:solidFill>
              <a:srgbClr val="C2544A"/>
            </a:solidFill>
          </a:ln>
        </p:spPr>
        <p:txBody>
          <a:bodyPr wrap="square" lIns="91440" tIns="36000" rIns="91440" bIns="36000" anchor="t"/>
          <a:lstStyle/>
          <a:p>
            <a:pPr algn="l"/>
            <a:r>
              <a:rPr lang="fr-FR" sz="1300" b="1" dirty="0">
                <a:solidFill>
                  <a:srgbClr val="334155"/>
                </a:solidFill>
                <a:latin typeface="Calibri"/>
              </a:rPr>
              <a:t>⛔  PIÈGE  :  </a:t>
            </a:r>
            <a:r>
              <a:rPr lang="fr-FR" sz="1300" b="0" dirty="0">
                <a:solidFill>
                  <a:srgbClr val="334155"/>
                </a:solidFill>
                <a:latin typeface="Calibri"/>
              </a:rPr>
              <a:t>impots.gouv.fr.</a:t>
            </a:r>
            <a:r>
              <a:rPr lang="fr-FR" sz="1500" b="1" dirty="0">
                <a:solidFill>
                  <a:srgbClr val="334155"/>
                </a:solidFill>
                <a:latin typeface="Calibri"/>
              </a:rPr>
              <a:t>connexion-securite.com</a:t>
            </a:r>
            <a:r>
              <a:rPr lang="fr-FR" sz="1300" b="0" dirty="0">
                <a:solidFill>
                  <a:srgbClr val="334155"/>
                </a:solidFill>
                <a:latin typeface="Calibri"/>
              </a:rPr>
              <a:t>/dossier</a:t>
            </a:r>
          </a:p>
          <a:p>
            <a:pPr algn="l"/>
            <a:r>
              <a:rPr lang="fr-FR" sz="1200" b="0" dirty="0">
                <a:solidFill>
                  <a:srgbClr val="334155"/>
                </a:solidFill>
                <a:latin typeface="Calibri"/>
              </a:rPr>
              <a:t>Vrai domaine = </a:t>
            </a:r>
            <a:r>
              <a:rPr lang="fr-FR" sz="1200" b="1" dirty="0">
                <a:solidFill>
                  <a:srgbClr val="334155"/>
                </a:solidFill>
                <a:latin typeface="Calibri"/>
              </a:rPr>
              <a:t>connexion-securite.com</a:t>
            </a:r>
            <a:r>
              <a:rPr lang="fr-FR" sz="1200" b="0" dirty="0">
                <a:solidFill>
                  <a:srgbClr val="334155"/>
                </a:solidFill>
                <a:latin typeface="Calibri"/>
              </a:rPr>
              <a:t>  →  site PIRATE. Le « impots.gouv.fr » n'est qu'un décor devant.</a:t>
            </a:r>
          </a:p>
        </p:txBody>
      </p:sp>
      <p:sp>
        <p:nvSpPr>
          <p:cNvPr id="34" name="Vrai"/>
          <p:cNvSpPr>
            <a:spLocks noGrp="1"/>
          </p:cNvSpPr>
          <p:nvPr/>
        </p:nvSpPr>
        <p:spPr>
          <a:xfrm>
            <a:off x="548640" y="2920000"/>
            <a:ext cx="8046720" cy="560000"/>
          </a:xfrm>
          <a:prstGeom prst="rect">
            <a:avLst/>
          </a:prstGeom>
          <a:solidFill>
            <a:srgbClr val="E1F7E4"/>
          </a:solidFill>
          <a:ln w="28575">
            <a:solidFill>
              <a:srgbClr val="22C55E"/>
            </a:solidFill>
          </a:ln>
        </p:spPr>
        <p:txBody>
          <a:bodyPr wrap="square" lIns="91440" tIns="36000" rIns="91440" bIns="36000" anchor="t"/>
          <a:lstStyle/>
          <a:p>
            <a:pPr algn="l"/>
            <a:r>
              <a:rPr lang="fr-FR" sz="1300" b="1" dirty="0">
                <a:solidFill>
                  <a:srgbClr val="1E7D45"/>
                </a:solidFill>
                <a:latin typeface="Calibri"/>
              </a:rPr>
              <a:t>✅  VRAI  :  </a:t>
            </a:r>
            <a:r>
              <a:rPr lang="fr-FR" sz="1500" b="1" dirty="0">
                <a:solidFill>
                  <a:srgbClr val="1E7D45"/>
                </a:solidFill>
                <a:latin typeface="Calibri"/>
              </a:rPr>
              <a:t>impots.gouv.fr</a:t>
            </a:r>
            <a:r>
              <a:rPr lang="fr-FR" sz="1200" b="0" dirty="0">
                <a:solidFill>
                  <a:srgbClr val="334155"/>
                </a:solidFill>
                <a:latin typeface="Calibri"/>
              </a:rPr>
              <a:t>   —  les sites de l'État finissent par .gouv.fr</a:t>
            </a:r>
          </a:p>
        </p:txBody>
      </p:sp>
      <p:sp>
        <p:nvSpPr>
          <p:cNvPr id="35" name="NoteFr"/>
          <p:cNvSpPr>
            <a:spLocks noGrp="1"/>
          </p:cNvSpPr>
          <p:nvPr/>
        </p:nvSpPr>
        <p:spPr>
          <a:xfrm>
            <a:off x="548640" y="3580000"/>
            <a:ext cx="8046720" cy="460000"/>
          </a:xfrm>
          <a:prstGeom prst="rect">
            <a:avLst/>
          </a:prstGeom>
          <a:noFill/>
        </p:spPr>
        <p:txBody>
          <a:bodyPr wrap="square" lIns="91440" tIns="36000" rIns="91440" bIns="36000" anchor="t"/>
          <a:lstStyle/>
          <a:p>
            <a:pPr algn="l"/>
            <a:r>
              <a:rPr lang="fr-FR" sz="1300" b="1" dirty="0">
                <a:solidFill>
                  <a:srgbClr val="382E19"/>
                </a:solidFill>
                <a:latin typeface="Calibri"/>
              </a:rPr>
              <a:t>Et le « .fr » ? </a:t>
            </a:r>
            <a:r>
              <a:rPr lang="fr-FR" sz="1300" b="0" dirty="0">
                <a:solidFill>
                  <a:srgbClr val="2B2B38"/>
                </a:solidFill>
                <a:latin typeface="Calibri"/>
              </a:rPr>
              <a:t>Il ne prouve rien : n'importe qui peut acheter un .fr. Ce qui compte = le domaine EXACT.</a:t>
            </a:r>
          </a:p>
        </p:txBody>
      </p:sp>
      <p:sp>
        <p:nvSpPr>
          <p:cNvPr id="36" name="Reflexe"/>
          <p:cNvSpPr>
            <a:spLocks noGrp="1"/>
          </p:cNvSpPr>
          <p:nvPr/>
        </p:nvSpPr>
        <p:spPr>
          <a:xfrm>
            <a:off x="548640" y="4080000"/>
            <a:ext cx="8046720" cy="520000"/>
          </a:xfrm>
          <a:prstGeom prst="rect">
            <a:avLst/>
          </a:prstGeom>
          <a:solidFill>
            <a:srgbClr val="E1EAF7"/>
          </a:solidFill>
        </p:spPr>
        <p:txBody>
          <a:bodyPr wrap="square" lIns="91440" tIns="36000" rIns="91440" bIns="36000" anchor="t"/>
          <a:lstStyle/>
          <a:p>
            <a:pPr algn="l"/>
            <a:r>
              <a:rPr lang="fr-FR" sz="1300" b="1" dirty="0">
                <a:solidFill>
                  <a:srgbClr val="334155"/>
                </a:solidFill>
                <a:latin typeface="Calibri"/>
              </a:rPr>
              <a:t>👉  Dans le doute : ne cliquez pas le lien — tapez vous-même l'adresse officielle.</a:t>
            </a:r>
          </a:p>
        </p:txBody>
      </p:sp>
      <p:sp>
        <p:nvSpPr>
          <p:cNvPr id="82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85" name="VideoBtn_site">
            <a:hlinkClick r:id="rId5"/>
          </p:cNvPr>
          <p:cNvSpPr>
            <a:spLocks noGrp="1"/>
          </p:cNvSpPr>
          <p:nvPr/>
        </p:nvSpPr>
        <p:spPr>
          <a:xfrm>
            <a:off x="6300000" y="130000"/>
            <a:ext cx="27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sécuriser ses achats</a:t>
            </a:r>
          </a:p>
        </p:txBody>
      </p:sp>
      <p:sp>
        <p:nvSpPr>
          <p:cNvPr id="2" name="ZoneTexte 1">
            <a:extLst>
              <a:ext uri="{FF2B5EF4-FFF2-40B4-BE49-F238E27FC236}">
                <a16:creationId xmlns:a16="http://schemas.microsoft.com/office/drawing/2014/main" id="{880BCF48-9C13-40A4-4A13-429D5A371AF7}"/>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header"/>
          <p:cNvSpPr/>
          <p:nvPr/>
        </p:nvSpPr>
        <p:spPr>
          <a:xfrm>
            <a:off x="0" y="0"/>
            <a:ext cx="8357616" cy="749808"/>
          </a:xfrm>
          <a:prstGeom prst="rect">
            <a:avLst/>
          </a:prstGeom>
          <a:solidFill>
            <a:srgbClr val="DCF3E4"/>
          </a:solidFill>
          <a:ln>
            <a:noFill/>
          </a:ln>
        </p:spPr>
        <p:txBody>
          <a:bodyPr/>
          <a:lstStyle/>
          <a:p>
            <a:endParaRPr lang="fr-FR"/>
          </a:p>
        </p:txBody>
      </p:sp>
      <p:sp>
        <p:nvSpPr>
          <p:cNvPr id="3" name="titre"/>
          <p:cNvSpPr/>
          <p:nvPr/>
        </p:nvSpPr>
        <p:spPr>
          <a:xfrm>
            <a:off x="690000" y="45720"/>
            <a:ext cx="7400000" cy="658368"/>
          </a:xfrm>
          <a:prstGeom prst="rect">
            <a:avLst/>
          </a:prstGeom>
        </p:spPr>
        <p:txBody>
          <a:bodyPr anchor="ctr"/>
          <a:lstStyle/>
          <a:p>
            <a:r>
              <a:rPr lang="fr-FR" sz="2400" b="1" dirty="0">
                <a:solidFill>
                  <a:srgbClr val="1A5C2A"/>
                </a:solidFill>
              </a:rPr>
              <a:t>L'arnaque par message : « Maman, c'est moi ! »</a:t>
            </a:r>
          </a:p>
        </p:txBody>
      </p:sp>
      <p:sp>
        <p:nvSpPr>
          <p:cNvPr id="4" name="barre"/>
          <p:cNvSpPr/>
          <p:nvPr/>
        </p:nvSpPr>
        <p:spPr>
          <a:xfrm>
            <a:off x="274320" y="804672"/>
            <a:ext cx="7808975" cy="36576"/>
          </a:xfrm>
          <a:prstGeom prst="rect">
            <a:avLst/>
          </a:prstGeom>
          <a:solidFill>
            <a:srgbClr val="27AE60"/>
          </a:solidFill>
          <a:ln>
            <a:noFill/>
          </a:ln>
        </p:spPr>
        <p:txBody>
          <a:bodyPr/>
          <a:lstStyle/>
          <a:p>
            <a:endParaRPr lang="fr-FR"/>
          </a:p>
        </p:txBody>
      </p:sp>
      <p:sp>
        <p:nvSpPr>
          <p:cNvPr id="10" name="phone"/>
          <p:cNvSpPr/>
          <p:nvPr/>
        </p:nvSpPr>
        <p:spPr>
          <a:xfrm>
            <a:off x="274320" y="980000"/>
            <a:ext cx="4480000" cy="3550000"/>
          </a:xfrm>
          <a:prstGeom prst="roundRect">
            <a:avLst>
              <a:gd name="adj" fmla="val 4000"/>
            </a:avLst>
          </a:prstGeom>
          <a:solidFill>
            <a:srgbClr val="ECE5DD"/>
          </a:solidFill>
          <a:ln w="12700">
            <a:solidFill>
              <a:srgbClr val="C7D0DC"/>
            </a:solidFill>
          </a:ln>
        </p:spPr>
        <p:txBody>
          <a:bodyPr/>
          <a:lstStyle/>
          <a:p>
            <a:endParaRPr lang="fr-FR"/>
          </a:p>
        </p:txBody>
      </p:sp>
      <p:sp>
        <p:nvSpPr>
          <p:cNvPr id="11" name="contact"/>
          <p:cNvSpPr/>
          <p:nvPr/>
        </p:nvSpPr>
        <p:spPr>
          <a:xfrm>
            <a:off x="274320" y="980000"/>
            <a:ext cx="4480000" cy="420000"/>
          </a:xfrm>
          <a:prstGeom prst="roundRect">
            <a:avLst>
              <a:gd name="adj" fmla="val 8000"/>
            </a:avLst>
          </a:prstGeom>
          <a:solidFill>
            <a:srgbClr val="1A5C2A"/>
          </a:solidFill>
          <a:ln>
            <a:noFill/>
          </a:ln>
        </p:spPr>
        <p:txBody>
          <a:bodyPr lIns="182880" anchor="ctr"/>
          <a:lstStyle/>
          <a:p>
            <a:r>
              <a:rPr lang="fr-FR" sz="1200" b="1" dirty="0">
                <a:solidFill>
                  <a:srgbClr val="FFFFFF"/>
                </a:solidFill>
              </a:rPr>
              <a:t>📱  Numéro inconnu</a:t>
            </a:r>
          </a:p>
        </p:txBody>
      </p:sp>
      <p:sp>
        <p:nvSpPr>
          <p:cNvPr id="12" name="b1"/>
          <p:cNvSpPr/>
          <p:nvPr/>
        </p:nvSpPr>
        <p:spPr>
          <a:xfrm>
            <a:off x="420000" y="1500000"/>
            <a:ext cx="2900000" cy="640000"/>
          </a:xfrm>
          <a:prstGeom prst="roundRect">
            <a:avLst>
              <a:gd name="adj" fmla="val 14000"/>
            </a:avLst>
          </a:prstGeom>
          <a:solidFill>
            <a:srgbClr val="FFFFFF"/>
          </a:solidFill>
          <a:ln>
            <a:noFill/>
          </a:ln>
        </p:spPr>
        <p:txBody>
          <a:bodyPr lIns="109728" tIns="54864" bIns="54864" anchor="ctr"/>
          <a:lstStyle/>
          <a:p>
            <a:r>
              <a:rPr lang="fr-FR" sz="1150" dirty="0">
                <a:solidFill>
                  <a:srgbClr val="1E293B"/>
                </a:solidFill>
              </a:rPr>
              <a:t>Bonjour maman, c'est moi Thomas. J'ai cassé mon téléphone, voici mon nouveau numéro 🙂</a:t>
            </a:r>
          </a:p>
        </p:txBody>
      </p:sp>
      <p:sp>
        <p:nvSpPr>
          <p:cNvPr id="13" name="b2"/>
          <p:cNvSpPr/>
          <p:nvPr/>
        </p:nvSpPr>
        <p:spPr>
          <a:xfrm>
            <a:off x="1700000" y="2230000"/>
            <a:ext cx="2900000" cy="520000"/>
          </a:xfrm>
          <a:prstGeom prst="roundRect">
            <a:avLst>
              <a:gd name="adj" fmla="val 16000"/>
            </a:avLst>
          </a:prstGeom>
          <a:solidFill>
            <a:srgbClr val="D9FDD3"/>
          </a:solidFill>
          <a:ln>
            <a:noFill/>
          </a:ln>
        </p:spPr>
        <p:txBody>
          <a:bodyPr lIns="109728" tIns="54864" bIns="54864" anchor="ctr"/>
          <a:lstStyle/>
          <a:p>
            <a:r>
              <a:rPr lang="fr-FR" sz="1150" dirty="0">
                <a:solidFill>
                  <a:srgbClr val="0F3D17"/>
                </a:solidFill>
              </a:rPr>
              <a:t>Ah bon ? Qu'est-ce qui se passe mon chéri ?</a:t>
            </a:r>
          </a:p>
        </p:txBody>
      </p:sp>
      <p:sp>
        <p:nvSpPr>
          <p:cNvPr id="14" name="b3"/>
          <p:cNvSpPr/>
          <p:nvPr/>
        </p:nvSpPr>
        <p:spPr>
          <a:xfrm>
            <a:off x="420000" y="2840000"/>
            <a:ext cx="3050000" cy="760000"/>
          </a:xfrm>
          <a:prstGeom prst="roundRect">
            <a:avLst>
              <a:gd name="adj" fmla="val 12000"/>
            </a:avLst>
          </a:prstGeom>
          <a:solidFill>
            <a:srgbClr val="FFFFFF"/>
          </a:solidFill>
          <a:ln>
            <a:noFill/>
          </a:ln>
        </p:spPr>
        <p:txBody>
          <a:bodyPr lIns="109728" tIns="54864" bIns="54864" anchor="ctr"/>
          <a:lstStyle/>
          <a:p>
            <a:r>
              <a:rPr lang="fr-FR" sz="1150" dirty="0">
                <a:solidFill>
                  <a:srgbClr val="1E293B"/>
                </a:solidFill>
              </a:rPr>
              <a:t>J'ai un paiement urgent de 250€ à faire et je n'ai plus accès à ma banque. Tu peux m'avancer ? Je te rembourse vite 🙏</a:t>
            </a:r>
          </a:p>
        </p:txBody>
      </p:sp>
      <p:sp>
        <p:nvSpPr>
          <p:cNvPr id="15" name="verdict"/>
          <p:cNvSpPr/>
          <p:nvPr/>
        </p:nvSpPr>
        <p:spPr>
          <a:xfrm>
            <a:off x="420000" y="3720000"/>
            <a:ext cx="4190000" cy="640000"/>
          </a:xfrm>
          <a:prstGeom prst="roundRect">
            <a:avLst>
              <a:gd name="adj" fmla="val 8000"/>
            </a:avLst>
          </a:prstGeom>
          <a:solidFill>
            <a:srgbClr val="FBE9EC"/>
          </a:solidFill>
          <a:ln w="19050">
            <a:solidFill>
              <a:srgbClr val="C2544A"/>
            </a:solidFill>
          </a:ln>
        </p:spPr>
        <p:txBody>
          <a:bodyPr lIns="146304" tIns="36576" bIns="36576" anchor="ctr"/>
          <a:lstStyle/>
          <a:p>
            <a:r>
              <a:rPr lang="fr-FR" sz="1250" b="1" dirty="0">
                <a:solidFill>
                  <a:srgbClr val="A02820"/>
                </a:solidFill>
              </a:rPr>
              <a:t>⛔ C'est une arnaque très courante !</a:t>
            </a:r>
          </a:p>
          <a:p>
            <a:r>
              <a:rPr lang="fr-FR" sz="1100" dirty="0">
                <a:solidFill>
                  <a:srgbClr val="334155"/>
                </a:solidFill>
              </a:rPr>
              <a:t>Un proche ne demande jamais d'argent par message.</a:t>
            </a:r>
          </a:p>
        </p:txBody>
      </p:sp>
      <p:sp>
        <p:nvSpPr>
          <p:cNvPr id="20" name="panel"/>
          <p:cNvSpPr/>
          <p:nvPr/>
        </p:nvSpPr>
        <p:spPr>
          <a:xfrm>
            <a:off x="4920000" y="980000"/>
            <a:ext cx="3163296" cy="3550000"/>
          </a:xfrm>
          <a:prstGeom prst="roundRect">
            <a:avLst>
              <a:gd name="adj" fmla="val 4000"/>
            </a:avLst>
          </a:prstGeom>
          <a:solidFill>
            <a:srgbClr val="EAF0F7"/>
          </a:solidFill>
          <a:ln w="12700">
            <a:solidFill>
              <a:srgbClr val="C7D0DC"/>
            </a:solidFill>
          </a:ln>
        </p:spPr>
        <p:txBody>
          <a:bodyPr/>
          <a:lstStyle/>
          <a:p>
            <a:endParaRPr lang="fr-FR"/>
          </a:p>
        </p:txBody>
      </p:sp>
      <p:sp>
        <p:nvSpPr>
          <p:cNvPr id="21" name="paneltitle"/>
          <p:cNvSpPr/>
          <p:nvPr/>
        </p:nvSpPr>
        <p:spPr>
          <a:xfrm>
            <a:off x="5060000" y="1080000"/>
            <a:ext cx="2900000" cy="360000"/>
          </a:xfrm>
          <a:prstGeom prst="rect">
            <a:avLst/>
          </a:prstGeom>
        </p:spPr>
        <p:txBody>
          <a:bodyPr anchor="ctr"/>
          <a:lstStyle/>
          <a:p>
            <a:r>
              <a:rPr lang="fr-FR" sz="1400" b="1" dirty="0">
                <a:solidFill>
                  <a:srgbClr val="1A3D6D"/>
                </a:solidFill>
              </a:rPr>
              <a:t>✅  Les bons réflexes</a:t>
            </a:r>
          </a:p>
        </p:txBody>
      </p:sp>
      <p:sp>
        <p:nvSpPr>
          <p:cNvPr id="30" name="num1"/>
          <p:cNvSpPr/>
          <p:nvPr/>
        </p:nvSpPr>
        <p:spPr>
          <a:xfrm>
            <a:off x="5060000" y="150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1</a:t>
            </a:r>
          </a:p>
        </p:txBody>
      </p:sp>
      <p:sp>
        <p:nvSpPr>
          <p:cNvPr id="31" name="txt1"/>
          <p:cNvSpPr/>
          <p:nvPr/>
        </p:nvSpPr>
        <p:spPr>
          <a:xfrm>
            <a:off x="5500000" y="1470000"/>
            <a:ext cx="2440000" cy="420000"/>
          </a:xfrm>
          <a:prstGeom prst="rect">
            <a:avLst/>
          </a:prstGeom>
        </p:spPr>
        <p:txBody>
          <a:bodyPr lIns="0" tIns="0" bIns="0" anchor="ctr"/>
          <a:lstStyle/>
          <a:p>
            <a:r>
              <a:rPr lang="fr-FR" sz="1100" dirty="0">
                <a:solidFill>
                  <a:srgbClr val="1E293B"/>
                </a:solidFill>
              </a:rPr>
              <a:t>Appelez le VRAI numéro de votre proche pour vérifier.</a:t>
            </a:r>
          </a:p>
        </p:txBody>
      </p:sp>
      <p:sp>
        <p:nvSpPr>
          <p:cNvPr id="32" name="num2"/>
          <p:cNvSpPr/>
          <p:nvPr/>
        </p:nvSpPr>
        <p:spPr>
          <a:xfrm>
            <a:off x="5060000" y="206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2</a:t>
            </a:r>
          </a:p>
        </p:txBody>
      </p:sp>
      <p:sp>
        <p:nvSpPr>
          <p:cNvPr id="33" name="txt2"/>
          <p:cNvSpPr/>
          <p:nvPr/>
        </p:nvSpPr>
        <p:spPr>
          <a:xfrm>
            <a:off x="5500000" y="2030000"/>
            <a:ext cx="2440000" cy="420000"/>
          </a:xfrm>
          <a:prstGeom prst="rect">
            <a:avLst/>
          </a:prstGeom>
        </p:spPr>
        <p:txBody>
          <a:bodyPr lIns="0" tIns="0" bIns="0" anchor="ctr"/>
          <a:lstStyle/>
          <a:p>
            <a:r>
              <a:rPr lang="fr-FR" sz="1100" dirty="0">
                <a:solidFill>
                  <a:srgbClr val="1E293B"/>
                </a:solidFill>
              </a:rPr>
              <a:t>Posez une question dont seul lui connaît la réponse.</a:t>
            </a:r>
          </a:p>
        </p:txBody>
      </p:sp>
      <p:sp>
        <p:nvSpPr>
          <p:cNvPr id="34" name="num3"/>
          <p:cNvSpPr/>
          <p:nvPr/>
        </p:nvSpPr>
        <p:spPr>
          <a:xfrm>
            <a:off x="5060000" y="262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3</a:t>
            </a:r>
          </a:p>
        </p:txBody>
      </p:sp>
      <p:sp>
        <p:nvSpPr>
          <p:cNvPr id="35" name="txt3"/>
          <p:cNvSpPr/>
          <p:nvPr/>
        </p:nvSpPr>
        <p:spPr>
          <a:xfrm>
            <a:off x="5500000" y="2590000"/>
            <a:ext cx="2440000" cy="420000"/>
          </a:xfrm>
          <a:prstGeom prst="rect">
            <a:avLst/>
          </a:prstGeom>
        </p:spPr>
        <p:txBody>
          <a:bodyPr lIns="0" tIns="0" bIns="0" anchor="ctr"/>
          <a:lstStyle/>
          <a:p>
            <a:r>
              <a:rPr lang="fr-FR" sz="1100" dirty="0">
                <a:solidFill>
                  <a:srgbClr val="1E293B"/>
                </a:solidFill>
              </a:rPr>
              <a:t>Ne virez jamais d'argent sans avoir entendu sa voix.</a:t>
            </a:r>
          </a:p>
        </p:txBody>
      </p:sp>
      <p:sp>
        <p:nvSpPr>
          <p:cNvPr id="36" name="num4"/>
          <p:cNvSpPr/>
          <p:nvPr/>
        </p:nvSpPr>
        <p:spPr>
          <a:xfrm>
            <a:off x="5060000" y="318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4</a:t>
            </a:r>
          </a:p>
        </p:txBody>
      </p:sp>
      <p:sp>
        <p:nvSpPr>
          <p:cNvPr id="37" name="txt4"/>
          <p:cNvSpPr/>
          <p:nvPr/>
        </p:nvSpPr>
        <p:spPr>
          <a:xfrm>
            <a:off x="5500000" y="3150000"/>
            <a:ext cx="2440000" cy="420000"/>
          </a:xfrm>
          <a:prstGeom prst="rect">
            <a:avLst/>
          </a:prstGeom>
        </p:spPr>
        <p:txBody>
          <a:bodyPr lIns="0" tIns="0" bIns="0" anchor="ctr"/>
          <a:lstStyle/>
          <a:p>
            <a:r>
              <a:rPr lang="fr-FR" sz="1100" dirty="0">
                <a:solidFill>
                  <a:srgbClr val="1E293B"/>
                </a:solidFill>
              </a:rPr>
              <a:t>Signalez le faux numéro au 33700 (gratuit).</a:t>
            </a:r>
          </a:p>
        </p:txBody>
      </p:sp>
      <p:sp>
        <p:nvSpPr>
          <p:cNvPr id="80" name="brouteurs"/>
          <p:cNvSpPr/>
          <p:nvPr/>
        </p:nvSpPr>
        <p:spPr>
          <a:xfrm>
            <a:off x="5060000" y="3820000"/>
            <a:ext cx="2880000" cy="600000"/>
          </a:xfrm>
          <a:prstGeom prst="roundRect">
            <a:avLst>
              <a:gd name="adj" fmla="val 8000"/>
            </a:avLst>
          </a:prstGeom>
          <a:solidFill>
            <a:srgbClr val="FBE9EC"/>
          </a:solidFill>
          <a:ln w="9525">
            <a:solidFill>
              <a:srgbClr val="C2544A"/>
            </a:solidFill>
          </a:ln>
        </p:spPr>
        <p:txBody>
          <a:bodyPr lIns="91440" tIns="27432" rIns="68580" bIns="27432" anchor="ctr">
            <a:normAutofit lnSpcReduction="10000"/>
          </a:bodyPr>
          <a:lstStyle/>
          <a:p>
            <a:r>
              <a:rPr lang="fr-FR" sz="1000" b="1" dirty="0">
                <a:solidFill>
                  <a:srgbClr val="A02820"/>
                </a:solidFill>
              </a:rPr>
              <a:t>💔 Même piège : les « brouteurs »</a:t>
            </a:r>
          </a:p>
          <a:p>
            <a:r>
              <a:rPr lang="fr-FR" sz="900" dirty="0">
                <a:solidFill>
                  <a:srgbClr val="475569"/>
                </a:solidFill>
              </a:rPr>
              <a:t>Faux amour en ligne pour soutirer de l'argent. Jamais d'argent à un inconnu rencontré sur le web.</a:t>
            </a:r>
          </a:p>
        </p:txBody>
      </p:sp>
      <p:sp>
        <p:nvSpPr>
          <p:cNvPr id="90" name="pied"/>
          <p:cNvSpPr/>
          <p:nvPr/>
        </p:nvSpPr>
        <p:spPr>
          <a:xfrm>
            <a:off x="0" y="4956048"/>
            <a:ext cx="7772400" cy="182880"/>
          </a:xfrm>
          <a:prstGeom prst="rect">
            <a:avLst/>
          </a:prstGeom>
        </p:spPr>
        <p:txBody>
          <a:bodyPr anchor="ctr"/>
          <a:lstStyle/>
          <a:p>
            <a:pPr algn="ctr"/>
            <a:r>
              <a:rPr lang="fr-FR" sz="900" dirty="0">
                <a:solidFill>
                  <a:srgbClr val="64748B"/>
                </a:solidFill>
              </a:rPr>
              <a:t>Cédric WALTENER — Atelier Phishing — 2026</a:t>
            </a:r>
          </a:p>
        </p:txBody>
      </p:sp>
      <p:pic>
        <p:nvPicPr>
          <p:cNvPr id="95" name="logo" descr="logo.png"/>
          <p:cNvPicPr>
            <a:picLocks noChangeAspect="1"/>
          </p:cNvPicPr>
          <p:nvPr/>
        </p:nvPicPr>
        <p:blipFill>
          <a:blip r:embed="rId3"/>
          <a:stretch>
            <a:fillRect/>
          </a:stretch>
        </p:blipFill>
        <p:spPr>
          <a:xfrm>
            <a:off x="40143" y="40143"/>
            <a:ext cx="491853" cy="491853"/>
          </a:xfrm>
          <a:prstGeom prst="rect">
            <a:avLst/>
          </a:prstGeom>
        </p:spPr>
      </p:pic>
      <p:sp>
        <p:nvSpPr>
          <p:cNvPr id="102" name="menu"/>
          <p:cNvSpPr/>
          <p:nvPr/>
        </p:nvSpPr>
        <p:spPr>
          <a:xfrm>
            <a:off x="7772400" y="4532392"/>
            <a:ext cx="1042415" cy="292608"/>
          </a:xfrm>
          <a:prstGeom prst="roundRect">
            <a:avLst/>
          </a:prstGeom>
          <a:solidFill>
            <a:srgbClr val="E5E5F7"/>
          </a:solidFill>
          <a:ln>
            <a:noFill/>
          </a:ln>
        </p:spPr>
        <p:txBody>
          <a:bodyPr anchor="ctr"/>
          <a:lstStyle/>
          <a:p>
            <a:pPr algn="ctr"/>
            <a:r>
              <a:rPr lang="fr-FR" sz="1100" b="1" dirty="0">
                <a:solidFill>
                  <a:srgbClr val="1A3D6D"/>
                </a:solidFill>
                <a:hlinkClick r:id="rId4" action="ppaction://hlinksldjump"/>
              </a:rPr>
              <a:t>☰  Menu</a:t>
            </a:r>
          </a:p>
        </p:txBody>
      </p:sp>
      <p:sp>
        <p:nvSpPr>
          <p:cNvPr id="5" name="ZoneTexte 4">
            <a:extLst>
              <a:ext uri="{FF2B5EF4-FFF2-40B4-BE49-F238E27FC236}">
                <a16:creationId xmlns:a16="http://schemas.microsoft.com/office/drawing/2014/main" id="{3A9055ED-F9F9-C262-258C-C0E9C417B52B}"/>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9144000" cy="5143500"/>
          <a:chOff x="0" y="0"/>
          <a:chExt cx="9144000" cy="5143500"/>
        </a:xfrm>
      </p:grpSpPr>
      <p:sp>
        <p:nvSpPr>
          <p:cNvPr id="2" name="HeaderBar"/>
          <p:cNvSpPr/>
          <p:nvPr/>
        </p:nvSpPr>
        <p:spPr>
          <a:xfrm>
            <a:off x="0" y="0"/>
            <a:ext cx="8357616" cy="749808"/>
          </a:xfrm>
          <a:prstGeom prst="rect">
            <a:avLst/>
          </a:prstGeom>
          <a:solidFill>
            <a:srgbClr val="F7EBE1"/>
          </a:solidFill>
          <a:ln/>
        </p:spPr>
        <p:txBody>
          <a:bodyPr/>
          <a:lstStyle/>
          <a:p>
            <a:endParaRPr/>
          </a:p>
        </p:txBody>
      </p:sp>
      <p:sp>
        <p:nvSpPr>
          <p:cNvPr id="3" name="Title"/>
          <p:cNvSpPr/>
          <p:nvPr/>
        </p:nvSpPr>
        <p:spPr>
          <a:xfrm>
            <a:off x="365760" y="45720"/>
            <a:ext cx="8412480" cy="658368"/>
          </a:xfrm>
          <a:prstGeom prst="rect">
            <a:avLst/>
          </a:prstGeom>
          <a:noFill/>
          <a:ln/>
        </p:spPr>
        <p:txBody>
          <a:bodyPr wrap="square" lIns="91440" tIns="45720" rIns="91440" bIns="45720" rtlCol="0" anchor="ctr"/>
          <a:lstStyle/>
          <a:p>
            <a:pPr marL="0" indent="0">
              <a:buNone/>
            </a:pPr>
            <a:r>
              <a:rPr lang="fr-FR" sz="2200" b="1" dirty="0">
                <a:solidFill>
                  <a:srgbClr val="382A19"/>
                </a:solidFill>
                <a:latin typeface="Arial Black" pitchFamily="34" charset="0"/>
              </a:rPr>
              <a:t>📷  QR Codes piégés — Le Quishing</a:t>
            </a:r>
          </a:p>
        </p:txBody>
      </p:sp>
      <p:sp>
        <p:nvSpPr>
          <p:cNvPr id="4" name="Line"/>
          <p:cNvSpPr/>
          <p:nvPr/>
        </p:nvSpPr>
        <p:spPr>
          <a:xfrm>
            <a:off x="274320" y="804672"/>
            <a:ext cx="7808975" cy="36576"/>
          </a:xfrm>
          <a:prstGeom prst="rect">
            <a:avLst/>
          </a:prstGeom>
          <a:solidFill>
            <a:srgbClr val="E67E22"/>
          </a:solidFill>
          <a:ln/>
        </p:spPr>
        <p:txBody>
          <a:bodyPr/>
          <a:lstStyle/>
          <a:p>
            <a:endParaRPr/>
          </a:p>
        </p:txBody>
      </p:sp>
      <p:sp>
        <p:nvSpPr>
          <p:cNvPr id="5" name="Def"/>
          <p:cNvSpPr/>
          <p:nvPr/>
        </p:nvSpPr>
        <p:spPr>
          <a:xfrm>
            <a:off x="274320" y="896112"/>
            <a:ext cx="7808975" cy="548640"/>
          </a:xfrm>
          <a:prstGeom prst="rect">
            <a:avLst/>
          </a:prstGeom>
          <a:solidFill>
            <a:srgbClr val="E1E8F7"/>
          </a:solidFill>
          <a:ln w="9525">
            <a:solidFill>
              <a:srgbClr val="C7D0DC"/>
            </a:solidFill>
            <a:prstDash val="solid"/>
          </a:ln>
        </p:spPr>
        <p:txBody>
          <a:bodyPr/>
          <a:lstStyle/>
          <a:p>
            <a:endParaRPr/>
          </a:p>
        </p:txBody>
      </p:sp>
      <p:sp>
        <p:nvSpPr>
          <p:cNvPr id="6" name="DefTxt"/>
          <p:cNvSpPr/>
          <p:nvPr/>
        </p:nvSpPr>
        <p:spPr>
          <a:xfrm>
            <a:off x="457200" y="914400"/>
            <a:ext cx="7498079" cy="493776"/>
          </a:xfrm>
          <a:prstGeom prst="rect">
            <a:avLst/>
          </a:prstGeom>
          <a:noFill/>
          <a:ln/>
        </p:spPr>
        <p:txBody>
          <a:bodyPr wrap="square" lIns="91440" tIns="45720" rIns="91440" bIns="45720" rtlCol="0" anchor="ctr"/>
          <a:lstStyle/>
          <a:p>
            <a:pPr marL="0" indent="0">
              <a:buNone/>
            </a:pPr>
            <a:r>
              <a:rPr lang="fr-FR" sz="1100" b="0" dirty="0">
                <a:solidFill>
                  <a:srgbClr val="262638"/>
                </a:solidFill>
                <a:latin typeface="Calibri" pitchFamily="34" charset="0"/>
              </a:rPr>
              <a:t>Quishing = phishing par QR code. L'escroc crée un QR code qui redirige vers un faux site pour voler vos informations.</a:t>
            </a:r>
          </a:p>
        </p:txBody>
      </p:sp>
      <p:sp>
        <p:nvSpPr>
          <p:cNvPr id="7" name="WhereTitle"/>
          <p:cNvSpPr/>
          <p:nvPr/>
        </p:nvSpPr>
        <p:spPr>
          <a:xfrm>
            <a:off x="274320" y="1517904"/>
            <a:ext cx="7808975" cy="329184"/>
          </a:xfrm>
          <a:prstGeom prst="rect">
            <a:avLst/>
          </a:prstGeom>
          <a:noFill/>
          <a:ln/>
        </p:spPr>
        <p:txBody>
          <a:bodyPr wrap="square" lIns="91440" tIns="45720" rIns="91440" bIns="45720" rtlCol="0" anchor="ctr"/>
          <a:lstStyle/>
          <a:p>
            <a:pPr marL="0" indent="0">
              <a:buNone/>
            </a:pPr>
            <a:r>
              <a:rPr lang="fr-FR" sz="1200" b="1" dirty="0">
                <a:solidFill>
                  <a:srgbClr val="E67E22"/>
                </a:solidFill>
                <a:latin typeface="Calibri" pitchFamily="34" charset="0"/>
              </a:rPr>
              <a:t>📍  Où les trouve-t-on ?</a:t>
            </a:r>
          </a:p>
        </p:txBody>
      </p:sp>
      <p:sp>
        <p:nvSpPr>
          <p:cNvPr id="8" name="LocBG0"/>
          <p:cNvSpPr/>
          <p:nvPr/>
        </p:nvSpPr>
        <p:spPr>
          <a:xfrm>
            <a:off x="274320" y="1920240"/>
            <a:ext cx="7808975" cy="621792"/>
          </a:xfrm>
          <a:prstGeom prst="rect">
            <a:avLst/>
          </a:prstGeom>
          <a:solidFill>
            <a:srgbClr val="E1E8F7"/>
          </a:solidFill>
          <a:ln w="9525">
            <a:solidFill>
              <a:srgbClr val="C7D0DC"/>
            </a:solidFill>
            <a:prstDash val="solid"/>
          </a:ln>
        </p:spPr>
        <p:txBody>
          <a:bodyPr/>
          <a:lstStyle/>
          <a:p>
            <a:endParaRPr/>
          </a:p>
        </p:txBody>
      </p:sp>
      <p:sp>
        <p:nvSpPr>
          <p:cNvPr id="9" name="LocAcc0"/>
          <p:cNvSpPr/>
          <p:nvPr/>
        </p:nvSpPr>
        <p:spPr>
          <a:xfrm>
            <a:off x="274320" y="1920240"/>
            <a:ext cx="73152" cy="621792"/>
          </a:xfrm>
          <a:prstGeom prst="rect">
            <a:avLst/>
          </a:prstGeom>
          <a:solidFill>
            <a:srgbClr val="E67E22"/>
          </a:solidFill>
          <a:ln/>
        </p:spPr>
        <p:txBody>
          <a:bodyPr/>
          <a:lstStyle/>
          <a:p>
            <a:endParaRPr/>
          </a:p>
        </p:txBody>
      </p:sp>
      <p:sp>
        <p:nvSpPr>
          <p:cNvPr id="10" name="LocIco0"/>
          <p:cNvSpPr/>
          <p:nvPr/>
        </p:nvSpPr>
        <p:spPr>
          <a:xfrm>
            <a:off x="384048" y="1920240"/>
            <a:ext cx="502920" cy="621792"/>
          </a:xfrm>
          <a:prstGeom prst="rect">
            <a:avLst/>
          </a:prstGeom>
          <a:noFill/>
          <a:ln/>
        </p:spPr>
        <p:txBody>
          <a:bodyPr wrap="square" lIns="91440" tIns="45720" rIns="91440" bIns="45720" rtlCol="0" anchor="ctr"/>
          <a:lstStyle/>
          <a:p>
            <a:pPr marL="0" indent="0">
              <a:buNone/>
            </a:pPr>
            <a:r>
              <a:rPr lang="fr-FR" sz="1600" b="0" dirty="0">
                <a:solidFill>
                  <a:srgbClr val="1E293B"/>
                </a:solidFill>
                <a:latin typeface="Arial" pitchFamily="34" charset="0"/>
              </a:rPr>
              <a:t>📧</a:t>
            </a:r>
          </a:p>
        </p:txBody>
      </p:sp>
      <p:sp>
        <p:nvSpPr>
          <p:cNvPr id="11" name="LocTit0"/>
          <p:cNvSpPr/>
          <p:nvPr/>
        </p:nvSpPr>
        <p:spPr>
          <a:xfrm>
            <a:off x="960120" y="1975104"/>
            <a:ext cx="6949440" cy="256032"/>
          </a:xfrm>
          <a:prstGeom prst="rect">
            <a:avLst/>
          </a:prstGeom>
          <a:noFill/>
          <a:ln/>
        </p:spPr>
        <p:txBody>
          <a:bodyPr wrap="square" lIns="91440" tIns="45720" rIns="91440" bIns="45720" rtlCol="0" anchor="ctr"/>
          <a:lstStyle/>
          <a:p>
            <a:pPr marL="0" indent="0">
              <a:buNone/>
            </a:pPr>
            <a:r>
              <a:rPr lang="fr-FR" sz="1100" b="1" dirty="0">
                <a:solidFill>
                  <a:srgbClr val="1E293B"/>
                </a:solidFill>
                <a:latin typeface="Calibri" pitchFamily="34" charset="0"/>
              </a:rPr>
              <a:t>Dans un e-mail ou SMS piégé</a:t>
            </a:r>
          </a:p>
        </p:txBody>
      </p:sp>
      <p:sp>
        <p:nvSpPr>
          <p:cNvPr id="12" name="LocDsc0"/>
          <p:cNvSpPr/>
          <p:nvPr/>
        </p:nvSpPr>
        <p:spPr>
          <a:xfrm>
            <a:off x="960120" y="2249424"/>
            <a:ext cx="6949440" cy="237744"/>
          </a:xfrm>
          <a:prstGeom prst="rect">
            <a:avLst/>
          </a:prstGeom>
          <a:noFill/>
          <a:ln/>
        </p:spPr>
        <p:txBody>
          <a:bodyPr wrap="square" lIns="91440" tIns="45720" rIns="91440" bIns="45720" rtlCol="0" anchor="ctr"/>
          <a:lstStyle/>
          <a:p>
            <a:pPr marL="0" indent="0">
              <a:buNone/>
            </a:pPr>
            <a:r>
              <a:rPr lang="fr-FR" sz="950" b="0" dirty="0">
                <a:solidFill>
                  <a:srgbClr val="262638"/>
                </a:solidFill>
                <a:latin typeface="Calibri" pitchFamily="34" charset="0"/>
              </a:rPr>
              <a:t>Le plus courant — renvoie vers un faux site pour payer ou saisir des données.</a:t>
            </a:r>
          </a:p>
        </p:txBody>
      </p:sp>
      <p:sp>
        <p:nvSpPr>
          <p:cNvPr id="27" name="LocBG1"/>
          <p:cNvSpPr/>
          <p:nvPr/>
        </p:nvSpPr>
        <p:spPr>
          <a:xfrm>
            <a:off x="274320" y="2633472"/>
            <a:ext cx="7808975" cy="621792"/>
          </a:xfrm>
          <a:prstGeom prst="rect">
            <a:avLst/>
          </a:prstGeom>
          <a:solidFill>
            <a:srgbClr val="E1E8F7"/>
          </a:solidFill>
          <a:ln w="9525">
            <a:solidFill>
              <a:srgbClr val="C7D0DC"/>
            </a:solidFill>
            <a:prstDash val="solid"/>
          </a:ln>
        </p:spPr>
        <p:txBody>
          <a:bodyPr/>
          <a:lstStyle/>
          <a:p>
            <a:endParaRPr/>
          </a:p>
        </p:txBody>
      </p:sp>
      <p:sp>
        <p:nvSpPr>
          <p:cNvPr id="13" name="LocAcc1"/>
          <p:cNvSpPr/>
          <p:nvPr/>
        </p:nvSpPr>
        <p:spPr>
          <a:xfrm>
            <a:off x="274320" y="2633472"/>
            <a:ext cx="73152" cy="621792"/>
          </a:xfrm>
          <a:prstGeom prst="rect">
            <a:avLst/>
          </a:prstGeom>
          <a:solidFill>
            <a:srgbClr val="E67E22"/>
          </a:solidFill>
          <a:ln/>
        </p:spPr>
        <p:txBody>
          <a:bodyPr/>
          <a:lstStyle/>
          <a:p>
            <a:endParaRPr/>
          </a:p>
        </p:txBody>
      </p:sp>
      <p:sp>
        <p:nvSpPr>
          <p:cNvPr id="14" name="LocIco1"/>
          <p:cNvSpPr/>
          <p:nvPr/>
        </p:nvSpPr>
        <p:spPr>
          <a:xfrm>
            <a:off x="384048" y="2633472"/>
            <a:ext cx="502920" cy="621792"/>
          </a:xfrm>
          <a:prstGeom prst="rect">
            <a:avLst/>
          </a:prstGeom>
          <a:noFill/>
          <a:ln/>
        </p:spPr>
        <p:txBody>
          <a:bodyPr wrap="square" lIns="91440" tIns="45720" rIns="91440" bIns="45720" rtlCol="0" anchor="ctr"/>
          <a:lstStyle/>
          <a:p>
            <a:pPr marL="0" indent="0">
              <a:buNone/>
            </a:pPr>
            <a:r>
              <a:rPr lang="fr-FR" sz="1600" b="0" dirty="0">
                <a:solidFill>
                  <a:srgbClr val="1E293B"/>
                </a:solidFill>
                <a:latin typeface="Arial" pitchFamily="34" charset="0"/>
              </a:rPr>
              <a:t>🅿️</a:t>
            </a:r>
          </a:p>
        </p:txBody>
      </p:sp>
      <p:sp>
        <p:nvSpPr>
          <p:cNvPr id="15" name="LocTit1"/>
          <p:cNvSpPr/>
          <p:nvPr/>
        </p:nvSpPr>
        <p:spPr>
          <a:xfrm>
            <a:off x="960120" y="2688336"/>
            <a:ext cx="6949440" cy="256032"/>
          </a:xfrm>
          <a:prstGeom prst="rect">
            <a:avLst/>
          </a:prstGeom>
          <a:noFill/>
          <a:ln/>
        </p:spPr>
        <p:txBody>
          <a:bodyPr wrap="square" lIns="91440" tIns="45720" rIns="91440" bIns="45720" rtlCol="0" anchor="ctr"/>
          <a:lstStyle/>
          <a:p>
            <a:pPr marL="0" indent="0">
              <a:buNone/>
            </a:pPr>
            <a:r>
              <a:rPr lang="fr-FR" sz="1100" b="1" dirty="0">
                <a:solidFill>
                  <a:srgbClr val="1E293B"/>
                </a:solidFill>
                <a:latin typeface="Calibri" pitchFamily="34" charset="0"/>
              </a:rPr>
              <a:t>Sur de faux avis de parking</a:t>
            </a:r>
          </a:p>
        </p:txBody>
      </p:sp>
      <p:sp>
        <p:nvSpPr>
          <p:cNvPr id="16" name="LocDsc1"/>
          <p:cNvSpPr/>
          <p:nvPr/>
        </p:nvSpPr>
        <p:spPr>
          <a:xfrm>
            <a:off x="960120" y="2962656"/>
            <a:ext cx="6949440" cy="237744"/>
          </a:xfrm>
          <a:prstGeom prst="rect">
            <a:avLst/>
          </a:prstGeom>
          <a:noFill/>
          <a:ln/>
        </p:spPr>
        <p:txBody>
          <a:bodyPr wrap="square" lIns="91440" tIns="45720" rIns="91440" bIns="45720" rtlCol="0" anchor="ctr"/>
          <a:lstStyle/>
          <a:p>
            <a:pPr marL="0" indent="0">
              <a:buNone/>
            </a:pPr>
            <a:r>
              <a:rPr lang="fr-FR" sz="950" b="0" dirty="0">
                <a:solidFill>
                  <a:srgbClr val="262638"/>
                </a:solidFill>
                <a:latin typeface="Calibri" pitchFamily="34" charset="0"/>
              </a:rPr>
              <a:t>Étiquettes collées par-dessus les vrais QR codes. Très répandu en 2025.</a:t>
            </a:r>
          </a:p>
        </p:txBody>
      </p:sp>
      <p:sp>
        <p:nvSpPr>
          <p:cNvPr id="28" name="LocBG2"/>
          <p:cNvSpPr/>
          <p:nvPr/>
        </p:nvSpPr>
        <p:spPr>
          <a:xfrm>
            <a:off x="274320" y="3346704"/>
            <a:ext cx="7808975" cy="621792"/>
          </a:xfrm>
          <a:prstGeom prst="rect">
            <a:avLst/>
          </a:prstGeom>
          <a:solidFill>
            <a:srgbClr val="E1E8F7"/>
          </a:solidFill>
          <a:ln w="9525">
            <a:solidFill>
              <a:srgbClr val="C7D0DC"/>
            </a:solidFill>
            <a:prstDash val="solid"/>
          </a:ln>
        </p:spPr>
        <p:txBody>
          <a:bodyPr/>
          <a:lstStyle/>
          <a:p>
            <a:endParaRPr/>
          </a:p>
        </p:txBody>
      </p:sp>
      <p:sp>
        <p:nvSpPr>
          <p:cNvPr id="17" name="LocAcc2"/>
          <p:cNvSpPr/>
          <p:nvPr/>
        </p:nvSpPr>
        <p:spPr>
          <a:xfrm>
            <a:off x="274320" y="3346704"/>
            <a:ext cx="73152" cy="621792"/>
          </a:xfrm>
          <a:prstGeom prst="rect">
            <a:avLst/>
          </a:prstGeom>
          <a:solidFill>
            <a:srgbClr val="E67E22"/>
          </a:solidFill>
          <a:ln/>
        </p:spPr>
        <p:txBody>
          <a:bodyPr/>
          <a:lstStyle/>
          <a:p>
            <a:endParaRPr/>
          </a:p>
        </p:txBody>
      </p:sp>
      <p:sp>
        <p:nvSpPr>
          <p:cNvPr id="18" name="LocIco2"/>
          <p:cNvSpPr/>
          <p:nvPr/>
        </p:nvSpPr>
        <p:spPr>
          <a:xfrm>
            <a:off x="384048" y="3346704"/>
            <a:ext cx="502920" cy="621792"/>
          </a:xfrm>
          <a:prstGeom prst="rect">
            <a:avLst/>
          </a:prstGeom>
          <a:noFill/>
          <a:ln/>
        </p:spPr>
        <p:txBody>
          <a:bodyPr wrap="square" lIns="91440" tIns="45720" rIns="91440" bIns="45720" rtlCol="0" anchor="ctr"/>
          <a:lstStyle/>
          <a:p>
            <a:pPr marL="0" indent="0">
              <a:buNone/>
            </a:pPr>
            <a:r>
              <a:rPr lang="fr-FR" sz="1600" b="0" dirty="0">
                <a:solidFill>
                  <a:srgbClr val="1E293B"/>
                </a:solidFill>
                <a:latin typeface="Arial" pitchFamily="34" charset="0"/>
              </a:rPr>
              <a:t>🍽️</a:t>
            </a:r>
          </a:p>
        </p:txBody>
      </p:sp>
      <p:sp>
        <p:nvSpPr>
          <p:cNvPr id="19" name="LocTit2"/>
          <p:cNvSpPr/>
          <p:nvPr/>
        </p:nvSpPr>
        <p:spPr>
          <a:xfrm>
            <a:off x="960120" y="3401568"/>
            <a:ext cx="6949440" cy="256032"/>
          </a:xfrm>
          <a:prstGeom prst="rect">
            <a:avLst/>
          </a:prstGeom>
          <a:noFill/>
          <a:ln/>
        </p:spPr>
        <p:txBody>
          <a:bodyPr wrap="square" lIns="91440" tIns="45720" rIns="91440" bIns="45720" rtlCol="0" anchor="ctr"/>
          <a:lstStyle/>
          <a:p>
            <a:pPr marL="0" indent="0">
              <a:buNone/>
            </a:pPr>
            <a:r>
              <a:rPr lang="fr-FR" sz="1100" b="1" dirty="0">
                <a:solidFill>
                  <a:srgbClr val="1E293B"/>
                </a:solidFill>
                <a:latin typeface="Calibri" pitchFamily="34" charset="0"/>
              </a:rPr>
              <a:t>Dans des restaurants</a:t>
            </a:r>
          </a:p>
        </p:txBody>
      </p:sp>
      <p:sp>
        <p:nvSpPr>
          <p:cNvPr id="20" name="LocDsc2"/>
          <p:cNvSpPr/>
          <p:nvPr/>
        </p:nvSpPr>
        <p:spPr>
          <a:xfrm>
            <a:off x="960120" y="3675888"/>
            <a:ext cx="6949440" cy="237744"/>
          </a:xfrm>
          <a:prstGeom prst="rect">
            <a:avLst/>
          </a:prstGeom>
          <a:noFill/>
          <a:ln/>
        </p:spPr>
        <p:txBody>
          <a:bodyPr wrap="square" lIns="91440" tIns="45720" rIns="91440" bIns="45720" rtlCol="0" anchor="ctr"/>
          <a:lstStyle/>
          <a:p>
            <a:pPr marL="0" indent="0">
              <a:buNone/>
            </a:pPr>
            <a:r>
              <a:rPr lang="fr-FR" sz="950" b="0" dirty="0">
                <a:solidFill>
                  <a:srgbClr val="262638"/>
                </a:solidFill>
                <a:latin typeface="Calibri" pitchFamily="34" charset="0"/>
              </a:rPr>
              <a:t>Menus QR falsifiés ou collés sur les originaux — fausse page de commande.</a:t>
            </a:r>
          </a:p>
        </p:txBody>
      </p:sp>
      <p:sp>
        <p:nvSpPr>
          <p:cNvPr id="21" name="TipBox"/>
          <p:cNvSpPr/>
          <p:nvPr/>
        </p:nvSpPr>
        <p:spPr>
          <a:xfrm>
            <a:off x="274320" y="4114800"/>
            <a:ext cx="7808975" cy="384048"/>
          </a:xfrm>
          <a:prstGeom prst="rect">
            <a:avLst/>
          </a:prstGeom>
          <a:solidFill>
            <a:srgbClr val="E67E22"/>
          </a:solidFill>
          <a:ln w="12700">
            <a:solidFill>
              <a:srgbClr val="E67E22"/>
            </a:solidFill>
            <a:prstDash val="solid"/>
          </a:ln>
        </p:spPr>
        <p:txBody>
          <a:bodyPr/>
          <a:lstStyle/>
          <a:p>
            <a:endParaRPr/>
          </a:p>
        </p:txBody>
      </p:sp>
      <p:sp>
        <p:nvSpPr>
          <p:cNvPr id="22" name="TipTxt"/>
          <p:cNvSpPr/>
          <p:nvPr/>
        </p:nvSpPr>
        <p:spPr>
          <a:xfrm>
            <a:off x="457200" y="4133087"/>
            <a:ext cx="7498079" cy="347472"/>
          </a:xfrm>
          <a:prstGeom prst="rect">
            <a:avLst/>
          </a:prstGeom>
          <a:noFill/>
          <a:ln/>
        </p:spPr>
        <p:txBody>
          <a:bodyPr wrap="square" lIns="91440" tIns="45720" rIns="91440" bIns="45720" rtlCol="0" anchor="ctr"/>
          <a:lstStyle/>
          <a:p>
            <a:pPr marL="0" indent="0">
              <a:buNone/>
            </a:pPr>
            <a:r>
              <a:rPr lang="fr-FR" sz="1000" b="1" dirty="0">
                <a:solidFill>
                  <a:srgbClr val="0D0F1A"/>
                </a:solidFill>
                <a:latin typeface="Calibri" pitchFamily="34" charset="0"/>
              </a:rPr>
              <a:t>✓  Avant de scanner : vérifiez qu'une étiquette n'est pas collée par-dessus.   Après scan : vérifiez l'URL avant de saisir quoi que ce soit.</a:t>
            </a:r>
          </a:p>
        </p:txBody>
      </p:sp>
      <p:sp>
        <p:nvSpPr>
          <p:cNvPr id="23" name="Footer"/>
          <p:cNvSpPr/>
          <p:nvPr/>
        </p:nvSpPr>
        <p:spPr>
          <a:xfrm>
            <a:off x="0" y="4956048"/>
            <a:ext cx="7772400" cy="182880"/>
          </a:xfrm>
          <a:prstGeom prst="rect">
            <a:avLst/>
          </a:prstGeom>
          <a:noFill/>
          <a:ln/>
        </p:spPr>
        <p:txBody>
          <a:bodyPr wrap="square" lIns="91440" tIns="45720" rIns="91440" bIns="45720" rtlCol="0" anchor="ctr"/>
          <a:lstStyle/>
          <a:p>
            <a:pPr marL="0" indent="0">
              <a:buNone/>
            </a:pPr>
            <a:r>
              <a:rPr lang="fr-FR" sz="800" b="0" dirty="0">
                <a:solidFill>
                  <a:srgbClr val="444466"/>
                </a:solidFill>
                <a:latin typeface="Calibri" pitchFamily="34" charset="0"/>
              </a:rPr>
              <a:t>Cédric WALTENER — Atelier Phishing — 2026</a:t>
            </a:r>
          </a:p>
        </p:txBody>
      </p:sp>
      <p:sp>
        <p:nvSpPr>
          <p:cNvPr id="24" name="MenuBtn"/>
          <p:cNvSpPr>
            <a:spLocks noGrp="1"/>
          </p:cNvSpPr>
          <p:nvPr/>
        </p:nvSpPr>
        <p:spPr>
          <a:xfrm>
            <a:off x="7562087" y="4521355"/>
            <a:ext cx="1042415" cy="292608"/>
          </a:xfrm>
          <a:prstGeom prst="rect">
            <a:avLst/>
          </a:prstGeom>
          <a:solidFill>
            <a:srgbClr val="E5E5F7"/>
          </a:solidFill>
          <a:ln w="6350">
            <a:solidFill>
              <a:srgbClr val="444466"/>
            </a:solidFill>
            <a:prstDash val="solid"/>
          </a:ln>
        </p:spPr>
        <p:txBody>
          <a:bodyPr anchor="ctr"/>
          <a:lstStyle/>
          <a:p>
            <a:pPr algn="ctr"/>
            <a:r>
              <a:rPr lang="fr-FR" sz="900" b="0" dirty="0">
                <a:solidFill>
                  <a:srgbClr val="334155"/>
                </a:solidFill>
                <a:latin typeface="Calibri" pitchFamily="34" charset="0"/>
                <a:hlinkClick r:id="rId3" action="ppaction://hlinksldjump"/>
              </a:rPr>
              <a:t>☰  Menu</a:t>
            </a:r>
          </a:p>
        </p:txBody>
      </p:sp>
      <p:pic>
        <p:nvPicPr>
          <p:cNvPr id="29" name="Picture 28" descr="logo_sig.png"/>
          <p:cNvPicPr>
            <a:picLocks noChangeAspect="1"/>
          </p:cNvPicPr>
          <p:nvPr/>
        </p:nvPicPr>
        <p:blipFill>
          <a:blip r:embed="rId4"/>
          <a:stretch>
            <a:fillRect/>
          </a:stretch>
        </p:blipFill>
        <p:spPr>
          <a:xfrm>
            <a:off x="40143" y="40143"/>
            <a:ext cx="413491" cy="413491"/>
          </a:xfrm>
          <a:prstGeom prst="rect">
            <a:avLst/>
          </a:prstGeom>
        </p:spPr>
      </p:pic>
      <p:sp>
        <p:nvSpPr>
          <p:cNvPr id="25" name="ZoneTexte 24">
            <a:extLst>
              <a:ext uri="{FF2B5EF4-FFF2-40B4-BE49-F238E27FC236}">
                <a16:creationId xmlns:a16="http://schemas.microsoft.com/office/drawing/2014/main" id="{C9764971-BE3B-7D20-6EA8-FD4C61A59101}"/>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9144000" cy="5143500"/>
          <a:chOff x="0" y="0"/>
          <a:chExt cx="9144000" cy="5143500"/>
        </a:xfrm>
      </p:grpSpPr>
      <p:sp>
        <p:nvSpPr>
          <p:cNvPr id="2" name="HeaderBar"/>
          <p:cNvSpPr/>
          <p:nvPr/>
        </p:nvSpPr>
        <p:spPr>
          <a:xfrm>
            <a:off x="0" y="0"/>
            <a:ext cx="8357616" cy="749808"/>
          </a:xfrm>
          <a:prstGeom prst="rect">
            <a:avLst/>
          </a:prstGeom>
          <a:solidFill>
            <a:srgbClr val="E1E4F7"/>
          </a:solidFill>
          <a:ln/>
        </p:spPr>
        <p:txBody>
          <a:bodyPr/>
          <a:lstStyle/>
          <a:p>
            <a:endParaRPr/>
          </a:p>
        </p:txBody>
      </p:sp>
      <p:sp>
        <p:nvSpPr>
          <p:cNvPr id="3" name="Title"/>
          <p:cNvSpPr/>
          <p:nvPr/>
        </p:nvSpPr>
        <p:spPr>
          <a:xfrm>
            <a:off x="365760" y="45720"/>
            <a:ext cx="8412480" cy="658368"/>
          </a:xfrm>
          <a:prstGeom prst="rect">
            <a:avLst/>
          </a:prstGeom>
          <a:noFill/>
          <a:ln/>
        </p:spPr>
        <p:txBody>
          <a:bodyPr wrap="square" lIns="91440" tIns="45720" rIns="91440" bIns="45720" rtlCol="0" anchor="ctr"/>
          <a:lstStyle/>
          <a:p>
            <a:pPr marL="0" indent="0">
              <a:buNone/>
            </a:pPr>
            <a:r>
              <a:rPr lang="fr-FR" sz="2200" b="1" dirty="0">
                <a:solidFill>
                  <a:srgbClr val="1E293B"/>
                </a:solidFill>
                <a:latin typeface="Arial Black" pitchFamily="34" charset="0"/>
              </a:rPr>
              <a:t>🔑  Mots de passe — Les bons réflexes</a:t>
            </a:r>
          </a:p>
        </p:txBody>
      </p:sp>
      <p:sp>
        <p:nvSpPr>
          <p:cNvPr id="4" name="Line"/>
          <p:cNvSpPr/>
          <p:nvPr/>
        </p:nvSpPr>
        <p:spPr>
          <a:xfrm>
            <a:off x="274320" y="804672"/>
            <a:ext cx="7808975" cy="36576"/>
          </a:xfrm>
          <a:prstGeom prst="rect">
            <a:avLst/>
          </a:prstGeom>
          <a:solidFill>
            <a:srgbClr val="2980B9"/>
          </a:solidFill>
          <a:ln/>
        </p:spPr>
        <p:txBody>
          <a:bodyPr/>
          <a:lstStyle/>
          <a:p>
            <a:endParaRPr/>
          </a:p>
        </p:txBody>
      </p:sp>
      <p:sp>
        <p:nvSpPr>
          <p:cNvPr id="5" name="BadHdr"/>
          <p:cNvSpPr/>
          <p:nvPr/>
        </p:nvSpPr>
        <p:spPr>
          <a:xfrm>
            <a:off x="274320" y="896112"/>
            <a:ext cx="3813048" cy="402336"/>
          </a:xfrm>
          <a:prstGeom prst="rect">
            <a:avLst/>
          </a:prstGeom>
          <a:solidFill>
            <a:srgbClr val="C2544A"/>
          </a:solidFill>
          <a:ln/>
        </p:spPr>
        <p:txBody>
          <a:bodyPr/>
          <a:lstStyle/>
          <a:p>
            <a:endParaRPr/>
          </a:p>
        </p:txBody>
      </p:sp>
      <p:sp>
        <p:nvSpPr>
          <p:cNvPr id="6" name="BadHdrTxt"/>
          <p:cNvSpPr/>
          <p:nvPr/>
        </p:nvSpPr>
        <p:spPr>
          <a:xfrm>
            <a:off x="274320" y="896112"/>
            <a:ext cx="3813048" cy="402336"/>
          </a:xfrm>
          <a:prstGeom prst="rect">
            <a:avLst/>
          </a:prstGeom>
          <a:noFill/>
          <a:ln/>
        </p:spPr>
        <p:txBody>
          <a:bodyPr wrap="square" lIns="91440" tIns="45720" rIns="91440" bIns="45720" rtlCol="0" anchor="ctr"/>
          <a:lstStyle/>
          <a:p>
            <a:pPr marL="0" indent="0">
              <a:buNone/>
            </a:pPr>
            <a:r>
              <a:rPr lang="fr-FR" sz="1100" b="1" dirty="0">
                <a:solidFill>
                  <a:srgbClr val="FFFFFF"/>
                </a:solidFill>
                <a:latin typeface="Calibri" pitchFamily="34" charset="0"/>
              </a:rPr>
              <a:t>❌  Mot de passe FAIBLE</a:t>
            </a:r>
          </a:p>
        </p:txBody>
      </p:sp>
      <p:sp>
        <p:nvSpPr>
          <p:cNvPr id="7" name="BadBG0"/>
          <p:cNvSpPr/>
          <p:nvPr/>
        </p:nvSpPr>
        <p:spPr>
          <a:xfrm>
            <a:off x="274320" y="1371600"/>
            <a:ext cx="3813048" cy="365760"/>
          </a:xfrm>
          <a:prstGeom prst="rect">
            <a:avLst/>
          </a:prstGeom>
          <a:solidFill>
            <a:srgbClr val="F7E1E1"/>
          </a:solidFill>
          <a:ln w="9525">
            <a:solidFill>
              <a:srgbClr val="C2544A"/>
            </a:solidFill>
            <a:prstDash val="solid"/>
          </a:ln>
        </p:spPr>
        <p:txBody>
          <a:bodyPr/>
          <a:lstStyle/>
          <a:p>
            <a:endParaRPr/>
          </a:p>
        </p:txBody>
      </p:sp>
      <p:sp>
        <p:nvSpPr>
          <p:cNvPr id="8" name="BadTxt0"/>
          <p:cNvSpPr/>
          <p:nvPr/>
        </p:nvSpPr>
        <p:spPr>
          <a:xfrm>
            <a:off x="384048" y="1371600"/>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123456</a:t>
            </a:r>
          </a:p>
        </p:txBody>
      </p:sp>
      <p:sp>
        <p:nvSpPr>
          <p:cNvPr id="9" name="BadBG1"/>
          <p:cNvSpPr/>
          <p:nvPr/>
        </p:nvSpPr>
        <p:spPr>
          <a:xfrm>
            <a:off x="274320" y="1810512"/>
            <a:ext cx="3813048" cy="365760"/>
          </a:xfrm>
          <a:prstGeom prst="rect">
            <a:avLst/>
          </a:prstGeom>
          <a:solidFill>
            <a:srgbClr val="F7E1E1"/>
          </a:solidFill>
          <a:ln w="9525">
            <a:solidFill>
              <a:srgbClr val="C2544A"/>
            </a:solidFill>
            <a:prstDash val="solid"/>
          </a:ln>
        </p:spPr>
        <p:txBody>
          <a:bodyPr/>
          <a:lstStyle/>
          <a:p>
            <a:endParaRPr/>
          </a:p>
        </p:txBody>
      </p:sp>
      <p:sp>
        <p:nvSpPr>
          <p:cNvPr id="10" name="BadTxt1"/>
          <p:cNvSpPr/>
          <p:nvPr/>
        </p:nvSpPr>
        <p:spPr>
          <a:xfrm>
            <a:off x="384048" y="1810512"/>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prenom + date de naissance</a:t>
            </a:r>
          </a:p>
        </p:txBody>
      </p:sp>
      <p:sp>
        <p:nvSpPr>
          <p:cNvPr id="11" name="BadBG2"/>
          <p:cNvSpPr/>
          <p:nvPr/>
        </p:nvSpPr>
        <p:spPr>
          <a:xfrm>
            <a:off x="274320" y="2249424"/>
            <a:ext cx="3813048" cy="365760"/>
          </a:xfrm>
          <a:prstGeom prst="rect">
            <a:avLst/>
          </a:prstGeom>
          <a:solidFill>
            <a:srgbClr val="F7E1E1"/>
          </a:solidFill>
          <a:ln w="9525">
            <a:solidFill>
              <a:srgbClr val="C2544A"/>
            </a:solidFill>
            <a:prstDash val="solid"/>
          </a:ln>
        </p:spPr>
        <p:txBody>
          <a:bodyPr/>
          <a:lstStyle/>
          <a:p>
            <a:endParaRPr/>
          </a:p>
        </p:txBody>
      </p:sp>
      <p:sp>
        <p:nvSpPr>
          <p:cNvPr id="12" name="BadTxt2"/>
          <p:cNvSpPr/>
          <p:nvPr/>
        </p:nvSpPr>
        <p:spPr>
          <a:xfrm>
            <a:off x="384048" y="2249424"/>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azerty</a:t>
            </a:r>
          </a:p>
        </p:txBody>
      </p:sp>
      <p:sp>
        <p:nvSpPr>
          <p:cNvPr id="13" name="BadBG3"/>
          <p:cNvSpPr/>
          <p:nvPr/>
        </p:nvSpPr>
        <p:spPr>
          <a:xfrm>
            <a:off x="274320" y="2688336"/>
            <a:ext cx="3813048" cy="365760"/>
          </a:xfrm>
          <a:prstGeom prst="rect">
            <a:avLst/>
          </a:prstGeom>
          <a:solidFill>
            <a:srgbClr val="F7E1E1"/>
          </a:solidFill>
          <a:ln w="9525">
            <a:solidFill>
              <a:srgbClr val="C2544A"/>
            </a:solidFill>
            <a:prstDash val="solid"/>
          </a:ln>
        </p:spPr>
        <p:txBody>
          <a:bodyPr/>
          <a:lstStyle/>
          <a:p>
            <a:endParaRPr/>
          </a:p>
        </p:txBody>
      </p:sp>
      <p:sp>
        <p:nvSpPr>
          <p:cNvPr id="14" name="BadTxt3"/>
          <p:cNvSpPr/>
          <p:nvPr/>
        </p:nvSpPr>
        <p:spPr>
          <a:xfrm>
            <a:off x="384048" y="2688336"/>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motdepasse</a:t>
            </a:r>
          </a:p>
        </p:txBody>
      </p:sp>
      <p:sp>
        <p:nvSpPr>
          <p:cNvPr id="15" name="BadBG4"/>
          <p:cNvSpPr/>
          <p:nvPr/>
        </p:nvSpPr>
        <p:spPr>
          <a:xfrm>
            <a:off x="274320" y="3127248"/>
            <a:ext cx="3813048" cy="365760"/>
          </a:xfrm>
          <a:prstGeom prst="rect">
            <a:avLst/>
          </a:prstGeom>
          <a:solidFill>
            <a:srgbClr val="F7E1E1"/>
          </a:solidFill>
          <a:ln w="9525">
            <a:solidFill>
              <a:srgbClr val="C2544A"/>
            </a:solidFill>
            <a:prstDash val="solid"/>
          </a:ln>
        </p:spPr>
        <p:txBody>
          <a:bodyPr/>
          <a:lstStyle/>
          <a:p>
            <a:endParaRPr/>
          </a:p>
        </p:txBody>
      </p:sp>
      <p:sp>
        <p:nvSpPr>
          <p:cNvPr id="16" name="BadTxt4"/>
          <p:cNvSpPr/>
          <p:nvPr/>
        </p:nvSpPr>
        <p:spPr>
          <a:xfrm>
            <a:off x="384048" y="3127248"/>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1234</a:t>
            </a:r>
          </a:p>
        </p:txBody>
      </p:sp>
      <p:sp>
        <p:nvSpPr>
          <p:cNvPr id="18" name="GoodHdr"/>
          <p:cNvSpPr/>
          <p:nvPr/>
        </p:nvSpPr>
        <p:spPr>
          <a:xfrm>
            <a:off x="4178808" y="896112"/>
            <a:ext cx="3813048" cy="402336"/>
          </a:xfrm>
          <a:prstGeom prst="rect">
            <a:avLst/>
          </a:prstGeom>
          <a:solidFill>
            <a:srgbClr val="27AE60"/>
          </a:solidFill>
          <a:ln/>
        </p:spPr>
        <p:txBody>
          <a:bodyPr/>
          <a:lstStyle/>
          <a:p>
            <a:endParaRPr/>
          </a:p>
        </p:txBody>
      </p:sp>
      <p:sp>
        <p:nvSpPr>
          <p:cNvPr id="19" name="GoodHdrTxt"/>
          <p:cNvSpPr/>
          <p:nvPr/>
        </p:nvSpPr>
        <p:spPr>
          <a:xfrm>
            <a:off x="4178808" y="896112"/>
            <a:ext cx="3813048" cy="402336"/>
          </a:xfrm>
          <a:prstGeom prst="rect">
            <a:avLst/>
          </a:prstGeom>
          <a:noFill/>
          <a:ln/>
        </p:spPr>
        <p:txBody>
          <a:bodyPr wrap="square" lIns="91440" tIns="45720" rIns="91440" bIns="45720" rtlCol="0" anchor="ctr"/>
          <a:lstStyle/>
          <a:p>
            <a:pPr marL="0" indent="0">
              <a:buNone/>
            </a:pPr>
            <a:r>
              <a:rPr lang="fr-FR" sz="1100" b="1" dirty="0">
                <a:solidFill>
                  <a:srgbClr val="FFFFFF"/>
                </a:solidFill>
                <a:latin typeface="Calibri" pitchFamily="34" charset="0"/>
              </a:rPr>
              <a:t>✅  Mot de passe FORT</a:t>
            </a:r>
          </a:p>
        </p:txBody>
      </p:sp>
      <p:sp>
        <p:nvSpPr>
          <p:cNvPr id="20" name="GoodBG0"/>
          <p:cNvSpPr/>
          <p:nvPr/>
        </p:nvSpPr>
        <p:spPr>
          <a:xfrm>
            <a:off x="4178808" y="1371600"/>
            <a:ext cx="3813048" cy="365760"/>
          </a:xfrm>
          <a:prstGeom prst="rect">
            <a:avLst/>
          </a:prstGeom>
          <a:solidFill>
            <a:srgbClr val="E1F7E8"/>
          </a:solidFill>
          <a:ln w="9525">
            <a:solidFill>
              <a:srgbClr val="27AE60"/>
            </a:solidFill>
            <a:prstDash val="solid"/>
          </a:ln>
        </p:spPr>
        <p:txBody>
          <a:bodyPr/>
          <a:lstStyle/>
          <a:p>
            <a:endParaRPr/>
          </a:p>
        </p:txBody>
      </p:sp>
      <p:sp>
        <p:nvSpPr>
          <p:cNvPr id="21" name="GoodTxt0"/>
          <p:cNvSpPr/>
          <p:nvPr/>
        </p:nvSpPr>
        <p:spPr>
          <a:xfrm>
            <a:off x="4288536" y="1371600"/>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Café!Matin#2026</a:t>
            </a:r>
          </a:p>
        </p:txBody>
      </p:sp>
      <p:sp>
        <p:nvSpPr>
          <p:cNvPr id="22" name="GoodBG1"/>
          <p:cNvSpPr/>
          <p:nvPr/>
        </p:nvSpPr>
        <p:spPr>
          <a:xfrm>
            <a:off x="4178808" y="1810512"/>
            <a:ext cx="3813048" cy="365760"/>
          </a:xfrm>
          <a:prstGeom prst="rect">
            <a:avLst/>
          </a:prstGeom>
          <a:solidFill>
            <a:srgbClr val="E1F7E8"/>
          </a:solidFill>
          <a:ln w="9525">
            <a:solidFill>
              <a:srgbClr val="27AE60"/>
            </a:solidFill>
            <a:prstDash val="solid"/>
          </a:ln>
        </p:spPr>
        <p:txBody>
          <a:bodyPr/>
          <a:lstStyle/>
          <a:p>
            <a:endParaRPr/>
          </a:p>
        </p:txBody>
      </p:sp>
      <p:sp>
        <p:nvSpPr>
          <p:cNvPr id="23" name="GoodTxt1"/>
          <p:cNvSpPr/>
          <p:nvPr/>
        </p:nvSpPr>
        <p:spPr>
          <a:xfrm>
            <a:off x="4288536" y="1810512"/>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Cheval-Batterie-9</a:t>
            </a:r>
          </a:p>
        </p:txBody>
      </p:sp>
      <p:sp>
        <p:nvSpPr>
          <p:cNvPr id="24" name="GoodBG2"/>
          <p:cNvSpPr/>
          <p:nvPr/>
        </p:nvSpPr>
        <p:spPr>
          <a:xfrm>
            <a:off x="4178808" y="2249424"/>
            <a:ext cx="3813048" cy="365760"/>
          </a:xfrm>
          <a:prstGeom prst="rect">
            <a:avLst/>
          </a:prstGeom>
          <a:solidFill>
            <a:srgbClr val="E1F7E8"/>
          </a:solidFill>
          <a:ln w="9525">
            <a:solidFill>
              <a:srgbClr val="27AE60"/>
            </a:solidFill>
            <a:prstDash val="solid"/>
          </a:ln>
        </p:spPr>
        <p:txBody>
          <a:bodyPr/>
          <a:lstStyle/>
          <a:p>
            <a:endParaRPr/>
          </a:p>
        </p:txBody>
      </p:sp>
      <p:sp>
        <p:nvSpPr>
          <p:cNvPr id="25" name="GoodTxt2"/>
          <p:cNvSpPr/>
          <p:nvPr/>
        </p:nvSpPr>
        <p:spPr>
          <a:xfrm>
            <a:off x="4288536" y="2249424"/>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L@pin.Vert.12</a:t>
            </a:r>
          </a:p>
        </p:txBody>
      </p:sp>
      <p:sp>
        <p:nvSpPr>
          <p:cNvPr id="26" name="GoodBG3"/>
          <p:cNvSpPr/>
          <p:nvPr/>
        </p:nvSpPr>
        <p:spPr>
          <a:xfrm>
            <a:off x="4178808" y="2688336"/>
            <a:ext cx="3813048" cy="365760"/>
          </a:xfrm>
          <a:prstGeom prst="rect">
            <a:avLst/>
          </a:prstGeom>
          <a:solidFill>
            <a:srgbClr val="E1F7E8"/>
          </a:solidFill>
          <a:ln w="9525">
            <a:solidFill>
              <a:srgbClr val="27AE60"/>
            </a:solidFill>
            <a:prstDash val="solid"/>
          </a:ln>
        </p:spPr>
        <p:txBody>
          <a:bodyPr/>
          <a:lstStyle/>
          <a:p>
            <a:endParaRPr/>
          </a:p>
        </p:txBody>
      </p:sp>
      <p:sp>
        <p:nvSpPr>
          <p:cNvPr id="27" name="GoodTxt3"/>
          <p:cNvSpPr/>
          <p:nvPr/>
        </p:nvSpPr>
        <p:spPr>
          <a:xfrm>
            <a:off x="4288536" y="2688336"/>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Zèbre&amp;Soleil!7</a:t>
            </a:r>
          </a:p>
        </p:txBody>
      </p:sp>
      <p:sp>
        <p:nvSpPr>
          <p:cNvPr id="28" name="GoodBG4"/>
          <p:cNvSpPr/>
          <p:nvPr/>
        </p:nvSpPr>
        <p:spPr>
          <a:xfrm>
            <a:off x="4178808" y="3127248"/>
            <a:ext cx="3813048" cy="365760"/>
          </a:xfrm>
          <a:prstGeom prst="rect">
            <a:avLst/>
          </a:prstGeom>
          <a:solidFill>
            <a:srgbClr val="E1F7E8"/>
          </a:solidFill>
          <a:ln w="9525">
            <a:solidFill>
              <a:srgbClr val="27AE60"/>
            </a:solidFill>
            <a:prstDash val="solid"/>
          </a:ln>
        </p:spPr>
        <p:txBody>
          <a:bodyPr/>
          <a:lstStyle/>
          <a:p>
            <a:endParaRPr/>
          </a:p>
        </p:txBody>
      </p:sp>
      <p:sp>
        <p:nvSpPr>
          <p:cNvPr id="29" name="GoodTxt4"/>
          <p:cNvSpPr/>
          <p:nvPr/>
        </p:nvSpPr>
        <p:spPr>
          <a:xfrm>
            <a:off x="4288536" y="3127248"/>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Tr0ub4dor&amp;3</a:t>
            </a:r>
          </a:p>
        </p:txBody>
      </p:sp>
      <p:sp>
        <p:nvSpPr>
          <p:cNvPr id="31" name="RulesTit"/>
          <p:cNvSpPr/>
          <p:nvPr/>
        </p:nvSpPr>
        <p:spPr>
          <a:xfrm>
            <a:off x="274320" y="3657600"/>
            <a:ext cx="7808975" cy="292608"/>
          </a:xfrm>
          <a:prstGeom prst="rect">
            <a:avLst/>
          </a:prstGeom>
          <a:noFill/>
          <a:ln/>
        </p:spPr>
        <p:txBody>
          <a:bodyPr wrap="square" lIns="91440" tIns="45720" rIns="91440" bIns="45720" rtlCol="0" anchor="ctr"/>
          <a:lstStyle/>
          <a:p>
            <a:pPr marL="0" indent="0">
              <a:buNone/>
            </a:pPr>
            <a:r>
              <a:rPr lang="fr-FR" sz="1100" b="1" dirty="0">
                <a:solidFill>
                  <a:srgbClr val="2980B9"/>
                </a:solidFill>
                <a:latin typeface="Calibri" pitchFamily="34" charset="0"/>
              </a:rPr>
              <a:t>4 règles simples :</a:t>
            </a:r>
          </a:p>
        </p:txBody>
      </p:sp>
      <p:sp>
        <p:nvSpPr>
          <p:cNvPr id="32" name="Rule0"/>
          <p:cNvSpPr/>
          <p:nvPr/>
        </p:nvSpPr>
        <p:spPr>
          <a:xfrm>
            <a:off x="274320" y="3986784"/>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Au moins 12 caractères — mélangez majuscules, chiffres et symboles</a:t>
            </a:r>
          </a:p>
        </p:txBody>
      </p:sp>
      <p:sp>
        <p:nvSpPr>
          <p:cNvPr id="33" name="Rule1"/>
          <p:cNvSpPr/>
          <p:nvPr/>
        </p:nvSpPr>
        <p:spPr>
          <a:xfrm>
            <a:off x="274320" y="4224528"/>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Un mot de passe DIFFÉRENT par site important</a:t>
            </a:r>
          </a:p>
        </p:txBody>
      </p:sp>
      <p:sp>
        <p:nvSpPr>
          <p:cNvPr id="34" name="Rule2"/>
          <p:cNvSpPr/>
          <p:nvPr/>
        </p:nvSpPr>
        <p:spPr>
          <a:xfrm>
            <a:off x="274320" y="4462272"/>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Ne jamais le communiquer — même à un « conseiller »</a:t>
            </a:r>
          </a:p>
        </p:txBody>
      </p:sp>
      <p:sp>
        <p:nvSpPr>
          <p:cNvPr id="35" name="Rule3"/>
          <p:cNvSpPr/>
          <p:nvPr/>
        </p:nvSpPr>
        <p:spPr>
          <a:xfrm>
            <a:off x="274320" y="4700016"/>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Changez-le dès que vous suspectez un problème</a:t>
            </a:r>
          </a:p>
        </p:txBody>
      </p:sp>
      <p:sp>
        <p:nvSpPr>
          <p:cNvPr id="36" name="TipBox"/>
          <p:cNvSpPr/>
          <p:nvPr/>
        </p:nvSpPr>
        <p:spPr>
          <a:xfrm>
            <a:off x="274320" y="4956048"/>
            <a:ext cx="7808975" cy="0"/>
          </a:xfrm>
          <a:prstGeom prst="rect">
            <a:avLst/>
          </a:prstGeom>
          <a:solidFill>
            <a:srgbClr val="E1E8F7"/>
          </a:solidFill>
          <a:ln w="9525">
            <a:solidFill>
              <a:srgbClr val="444466"/>
            </a:solidFill>
            <a:prstDash val="solid"/>
          </a:ln>
        </p:spPr>
        <p:txBody>
          <a:bodyPr/>
          <a:lstStyle/>
          <a:p>
            <a:endParaRPr/>
          </a:p>
        </p:txBody>
      </p:sp>
      <p:sp>
        <p:nvSpPr>
          <p:cNvPr id="17" name="Footer"/>
          <p:cNvSpPr/>
          <p:nvPr/>
        </p:nvSpPr>
        <p:spPr>
          <a:xfrm>
            <a:off x="0" y="4956048"/>
            <a:ext cx="7772400" cy="182880"/>
          </a:xfrm>
          <a:prstGeom prst="rect">
            <a:avLst/>
          </a:prstGeom>
          <a:noFill/>
          <a:ln/>
        </p:spPr>
        <p:txBody>
          <a:bodyPr wrap="square" lIns="91440" tIns="45720" rIns="91440" bIns="45720" rtlCol="0" anchor="ctr"/>
          <a:lstStyle/>
          <a:p>
            <a:pPr marL="0" indent="0">
              <a:buNone/>
            </a:pPr>
            <a:r>
              <a:rPr lang="fr-FR" sz="800" b="0" dirty="0">
                <a:solidFill>
                  <a:srgbClr val="444466"/>
                </a:solidFill>
                <a:latin typeface="Calibri" pitchFamily="34" charset="0"/>
              </a:rPr>
              <a:t>Cédric WALTENER — Atelier Phishing — 2026</a:t>
            </a:r>
          </a:p>
        </p:txBody>
      </p:sp>
      <p:sp>
        <p:nvSpPr>
          <p:cNvPr id="37" name="MenuBtn"/>
          <p:cNvSpPr>
            <a:spLocks noGrp="1"/>
          </p:cNvSpPr>
          <p:nvPr/>
        </p:nvSpPr>
        <p:spPr>
          <a:xfrm>
            <a:off x="7187184" y="4343400"/>
            <a:ext cx="1042415" cy="292608"/>
          </a:xfrm>
          <a:prstGeom prst="rect">
            <a:avLst/>
          </a:prstGeom>
          <a:solidFill>
            <a:srgbClr val="E5E5F7"/>
          </a:solidFill>
          <a:ln w="6350">
            <a:solidFill>
              <a:srgbClr val="444466"/>
            </a:solidFill>
            <a:prstDash val="solid"/>
          </a:ln>
        </p:spPr>
        <p:txBody>
          <a:bodyPr anchor="ctr"/>
          <a:lstStyle/>
          <a:p>
            <a:pPr algn="ctr"/>
            <a:r>
              <a:rPr lang="fr-FR" sz="900" b="0" dirty="0">
                <a:solidFill>
                  <a:srgbClr val="334155"/>
                </a:solidFill>
                <a:latin typeface="Calibri" pitchFamily="34" charset="0"/>
                <a:hlinkClick r:id="rId3" action="ppaction://hlinksldjump"/>
              </a:rPr>
              <a:t>☰  Menu</a:t>
            </a:r>
          </a:p>
        </p:txBody>
      </p:sp>
      <p:pic>
        <p:nvPicPr>
          <p:cNvPr id="40" name="Picture 39" descr="logo_sig.png"/>
          <p:cNvPicPr>
            <a:picLocks noChangeAspect="1"/>
          </p:cNvPicPr>
          <p:nvPr/>
        </p:nvPicPr>
        <p:blipFill>
          <a:blip r:embed="rId4"/>
          <a:stretch>
            <a:fillRect/>
          </a:stretch>
        </p:blipFill>
        <p:spPr>
          <a:xfrm>
            <a:off x="40143" y="40143"/>
            <a:ext cx="413491" cy="413491"/>
          </a:xfrm>
          <a:prstGeom prst="rect">
            <a:avLst/>
          </a:prstGeom>
        </p:spPr>
      </p:pic>
      <p:sp>
        <p:nvSpPr>
          <p:cNvPr id="30" name="ZoneTexte 29">
            <a:extLst>
              <a:ext uri="{FF2B5EF4-FFF2-40B4-BE49-F238E27FC236}">
                <a16:creationId xmlns:a16="http://schemas.microsoft.com/office/drawing/2014/main" id="{29FE3E45-1884-CB5E-6703-58D5CA98C5A2}"/>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header"/>
          <p:cNvSpPr/>
          <p:nvPr/>
        </p:nvSpPr>
        <p:spPr>
          <a:xfrm>
            <a:off x="0" y="0"/>
            <a:ext cx="8357616" cy="749808"/>
          </a:xfrm>
          <a:prstGeom prst="rect">
            <a:avLst/>
          </a:prstGeom>
          <a:solidFill>
            <a:srgbClr val="E1E4F7"/>
          </a:solidFill>
          <a:ln>
            <a:noFill/>
          </a:ln>
        </p:spPr>
        <p:txBody>
          <a:bodyPr/>
          <a:lstStyle/>
          <a:p>
            <a:endParaRPr lang="fr-FR"/>
          </a:p>
        </p:txBody>
      </p:sp>
      <p:sp>
        <p:nvSpPr>
          <p:cNvPr id="3" name="titre"/>
          <p:cNvSpPr/>
          <p:nvPr/>
        </p:nvSpPr>
        <p:spPr>
          <a:xfrm>
            <a:off x="540000" y="45720"/>
            <a:ext cx="7600000" cy="658368"/>
          </a:xfrm>
          <a:prstGeom prst="rect">
            <a:avLst/>
          </a:prstGeom>
        </p:spPr>
        <p:txBody>
          <a:bodyPr anchor="ctr"/>
          <a:lstStyle/>
          <a:p>
            <a:r>
              <a:rPr lang="fr-FR" sz="2400" b="1" dirty="0">
                <a:solidFill>
                  <a:srgbClr val="1A3D6D"/>
                </a:solidFill>
              </a:rPr>
              <a:t>🛟  Et si je me fais pirater ? Les bons réflexes</a:t>
            </a:r>
          </a:p>
        </p:txBody>
      </p:sp>
      <p:sp>
        <p:nvSpPr>
          <p:cNvPr id="4" name="barre"/>
          <p:cNvSpPr/>
          <p:nvPr/>
        </p:nvSpPr>
        <p:spPr>
          <a:xfrm>
            <a:off x="274320" y="804672"/>
            <a:ext cx="7808975" cy="36576"/>
          </a:xfrm>
          <a:prstGeom prst="rect">
            <a:avLst/>
          </a:prstGeom>
          <a:solidFill>
            <a:srgbClr val="2980B9"/>
          </a:solidFill>
          <a:ln>
            <a:noFill/>
          </a:ln>
        </p:spPr>
        <p:txBody>
          <a:bodyPr/>
          <a:lstStyle/>
          <a:p>
            <a:endParaRPr lang="fr-FR"/>
          </a:p>
        </p:txBody>
      </p:sp>
      <p:sp>
        <p:nvSpPr>
          <p:cNvPr id="5" name="soustitre"/>
          <p:cNvSpPr/>
          <p:nvPr/>
        </p:nvSpPr>
        <p:spPr>
          <a:xfrm>
            <a:off x="274320" y="950000"/>
            <a:ext cx="7808975" cy="300000"/>
          </a:xfrm>
          <a:prstGeom prst="rect">
            <a:avLst/>
          </a:prstGeom>
        </p:spPr>
        <p:txBody>
          <a:bodyPr anchor="ctr"/>
          <a:lstStyle/>
          <a:p>
            <a:r>
              <a:rPr lang="fr-FR" sz="1400" i="1" dirty="0">
                <a:solidFill>
                  <a:srgbClr val="475569"/>
                </a:solidFill>
              </a:rPr>
              <a:t>Pas de panique : si ça arrive, voici les 3 gestes simples à faire dans l'ordre.</a:t>
            </a:r>
          </a:p>
        </p:txBody>
      </p:sp>
      <p:sp>
        <p:nvSpPr>
          <p:cNvPr id="10" name="carte1head"/>
          <p:cNvSpPr/>
          <p:nvPr/>
        </p:nvSpPr>
        <p:spPr>
          <a:xfrm>
            <a:off x="274320" y="1400000"/>
            <a:ext cx="2540000" cy="520000"/>
          </a:xfrm>
          <a:prstGeom prst="roundRect">
            <a:avLst>
              <a:gd name="adj" fmla="val 12000"/>
            </a:avLst>
          </a:prstGeom>
          <a:solidFill>
            <a:srgbClr val="1C7293"/>
          </a:solidFill>
          <a:ln>
            <a:noFill/>
          </a:ln>
        </p:spPr>
        <p:txBody>
          <a:bodyPr anchor="ctr"/>
          <a:lstStyle/>
          <a:p>
            <a:pPr algn="ctr"/>
            <a:r>
              <a:rPr lang="fr-FR" sz="1600" b="1" dirty="0">
                <a:solidFill>
                  <a:srgbClr val="FFFFFF"/>
                </a:solidFill>
              </a:rPr>
              <a:t>1️⃣  Je débranche</a:t>
            </a:r>
          </a:p>
        </p:txBody>
      </p:sp>
      <p:sp>
        <p:nvSpPr>
          <p:cNvPr id="11" name="carte1body"/>
          <p:cNvSpPr/>
          <p:nvPr/>
        </p:nvSpPr>
        <p:spPr>
          <a:xfrm>
            <a:off x="274320" y="1960000"/>
            <a:ext cx="2540000" cy="2050000"/>
          </a:xfrm>
          <a:prstGeom prst="roundRect">
            <a:avLst>
              <a:gd name="adj" fmla="val 6000"/>
            </a:avLst>
          </a:prstGeom>
          <a:solidFill>
            <a:srgbClr val="EAF2F6"/>
          </a:solidFill>
          <a:ln w="12700">
            <a:solidFill>
              <a:srgbClr val="1C7293"/>
            </a:solidFill>
          </a:ln>
        </p:spPr>
        <p:txBody>
          <a:bodyPr lIns="91440" tIns="91440" rIns="91440" anchor="t"/>
          <a:lstStyle/>
          <a:p>
            <a:r>
              <a:rPr lang="fr-FR" sz="1300" dirty="0">
                <a:solidFill>
                  <a:srgbClr val="1E293B"/>
                </a:solidFill>
              </a:rPr>
              <a:t>Je coupe Internet : Wi-Fi ou câble débranché.</a:t>
            </a:r>
          </a:p>
          <a:p>
            <a:endParaRPr lang="fr-FR" sz="700"/>
          </a:p>
          <a:p>
            <a:r>
              <a:rPr lang="fr-FR" sz="1200" dirty="0">
                <a:solidFill>
                  <a:srgbClr val="475569"/>
                </a:solidFill>
              </a:rPr>
              <a:t>Ça empêche le pirate de continuer à agir sur l'appareil.</a:t>
            </a:r>
          </a:p>
        </p:txBody>
      </p:sp>
      <p:sp>
        <p:nvSpPr>
          <p:cNvPr id="20" name="carte2head"/>
          <p:cNvSpPr/>
          <p:nvPr/>
        </p:nvSpPr>
        <p:spPr>
          <a:xfrm>
            <a:off x="2908680" y="1400000"/>
            <a:ext cx="2540000" cy="520000"/>
          </a:xfrm>
          <a:prstGeom prst="roundRect">
            <a:avLst>
              <a:gd name="adj" fmla="val 12000"/>
            </a:avLst>
          </a:prstGeom>
          <a:solidFill>
            <a:srgbClr val="2D6A4F"/>
          </a:solidFill>
          <a:ln>
            <a:noFill/>
          </a:ln>
        </p:spPr>
        <p:txBody>
          <a:bodyPr anchor="ctr"/>
          <a:lstStyle/>
          <a:p>
            <a:pPr algn="ctr"/>
            <a:r>
              <a:rPr lang="fr-FR" sz="1600" b="1" dirty="0">
                <a:solidFill>
                  <a:srgbClr val="FFFFFF"/>
                </a:solidFill>
              </a:rPr>
              <a:t>2️⃣  Je change mes mots de passe</a:t>
            </a:r>
          </a:p>
        </p:txBody>
      </p:sp>
      <p:sp>
        <p:nvSpPr>
          <p:cNvPr id="21" name="carte2body"/>
          <p:cNvSpPr/>
          <p:nvPr/>
        </p:nvSpPr>
        <p:spPr>
          <a:xfrm>
            <a:off x="2908680" y="1960000"/>
            <a:ext cx="2540000" cy="2050000"/>
          </a:xfrm>
          <a:prstGeom prst="roundRect">
            <a:avLst>
              <a:gd name="adj" fmla="val 6000"/>
            </a:avLst>
          </a:prstGeom>
          <a:solidFill>
            <a:srgbClr val="E8F4EC"/>
          </a:solidFill>
          <a:ln w="12700">
            <a:solidFill>
              <a:srgbClr val="2D6A4F"/>
            </a:solidFill>
          </a:ln>
        </p:spPr>
        <p:txBody>
          <a:bodyPr lIns="91440" tIns="91440" rIns="91440" anchor="t"/>
          <a:lstStyle/>
          <a:p>
            <a:r>
              <a:rPr lang="fr-FR" sz="1300" dirty="0">
                <a:solidFill>
                  <a:srgbClr val="1E293B"/>
                </a:solidFill>
              </a:rPr>
              <a:t>Depuis un AUTRE appareil sain (téléphone, tablette).</a:t>
            </a:r>
          </a:p>
          <a:p>
            <a:endParaRPr lang="fr-FR" sz="700"/>
          </a:p>
          <a:p>
            <a:r>
              <a:rPr lang="fr-FR" sz="1200" dirty="0">
                <a:solidFill>
                  <a:srgbClr val="475569"/>
                </a:solidFill>
              </a:rPr>
              <a:t>En priorité : messagerie et banque.</a:t>
            </a:r>
          </a:p>
        </p:txBody>
      </p:sp>
      <p:sp>
        <p:nvSpPr>
          <p:cNvPr id="30" name="carte3head"/>
          <p:cNvSpPr/>
          <p:nvPr/>
        </p:nvSpPr>
        <p:spPr>
          <a:xfrm>
            <a:off x="5543040" y="1400000"/>
            <a:ext cx="2540000" cy="520000"/>
          </a:xfrm>
          <a:prstGeom prst="roundRect">
            <a:avLst>
              <a:gd name="adj" fmla="val 12000"/>
            </a:avLst>
          </a:prstGeom>
          <a:solidFill>
            <a:srgbClr val="C77F0A"/>
          </a:solidFill>
          <a:ln>
            <a:noFill/>
          </a:ln>
        </p:spPr>
        <p:txBody>
          <a:bodyPr anchor="ctr"/>
          <a:lstStyle/>
          <a:p>
            <a:pPr algn="ctr"/>
            <a:r>
              <a:rPr lang="fr-FR" sz="1600" b="1" dirty="0">
                <a:solidFill>
                  <a:srgbClr val="FFFFFF"/>
                </a:solidFill>
              </a:rPr>
              <a:t>3️⃣  Je demande de l'aide</a:t>
            </a:r>
          </a:p>
        </p:txBody>
      </p:sp>
      <p:sp>
        <p:nvSpPr>
          <p:cNvPr id="31" name="carte3body"/>
          <p:cNvSpPr/>
          <p:nvPr/>
        </p:nvSpPr>
        <p:spPr>
          <a:xfrm>
            <a:off x="5543040" y="1960000"/>
            <a:ext cx="2540000" cy="2050000"/>
          </a:xfrm>
          <a:prstGeom prst="roundRect">
            <a:avLst>
              <a:gd name="adj" fmla="val 6000"/>
            </a:avLst>
          </a:prstGeom>
          <a:solidFill>
            <a:srgbClr val="FBF1DE"/>
          </a:solidFill>
          <a:ln w="12700">
            <a:solidFill>
              <a:srgbClr val="C77F0A"/>
            </a:solidFill>
          </a:ln>
        </p:spPr>
        <p:txBody>
          <a:bodyPr lIns="91440" tIns="82296" rIns="91440" anchor="t"/>
          <a:lstStyle/>
          <a:p>
            <a:r>
              <a:rPr lang="fr-FR" sz="1300" dirty="0">
                <a:solidFill>
                  <a:srgbClr val="1E293B"/>
                </a:solidFill>
              </a:rPr>
              <a:t>Je ne reste pas seul(e). J'appelle un proche de confiance.</a:t>
            </a:r>
          </a:p>
          <a:p>
            <a:endParaRPr lang="fr-FR" sz="500"/>
          </a:p>
          <a:p>
            <a:r>
              <a:rPr lang="fr-FR" sz="1200" b="1" dirty="0">
                <a:solidFill>
                  <a:srgbClr val="8A5A00"/>
                </a:solidFill>
              </a:rPr>
              <a:t>📞 Aide gratuite : 17Cyber</a:t>
            </a:r>
          </a:p>
          <a:p>
            <a:r>
              <a:rPr lang="fr-FR" sz="1050" dirty="0">
                <a:solidFill>
                  <a:srgbClr val="475569"/>
                </a:solidFill>
              </a:rPr>
              <a:t>sur cybermalveillance.gouv.fr</a:t>
            </a:r>
          </a:p>
          <a:p>
            <a:pPr>
              <a:spcBef>
                <a:spcPts val="600"/>
              </a:spcBef>
            </a:pPr>
            <a:r>
              <a:rPr lang="fr-FR" sz="1100" dirty="0">
                <a:solidFill>
                  <a:srgbClr val="C2C7CF"/>
                </a:solidFill>
              </a:rPr>
              <a:t>──────────</a:t>
            </a:r>
          </a:p>
          <a:p>
            <a:r>
              <a:rPr lang="fr-FR" sz="1200" b="1" dirty="0">
                <a:solidFill>
                  <a:srgbClr val="8A5A00"/>
                </a:solidFill>
              </a:rPr>
              <a:t>💻 Pour s'entraîner : SensCyber</a:t>
            </a:r>
          </a:p>
          <a:p>
            <a:r>
              <a:rPr lang="fr-FR" sz="1050" dirty="0">
                <a:solidFill>
                  <a:srgbClr val="475569"/>
                </a:solidFill>
              </a:rPr>
              <a:t>exercices gratuits, même site</a:t>
            </a:r>
          </a:p>
        </p:txBody>
      </p:sp>
      <p:sp>
        <p:nvSpPr>
          <p:cNvPr id="40" name="bonus"/>
          <p:cNvSpPr/>
          <p:nvPr/>
        </p:nvSpPr>
        <p:spPr>
          <a:xfrm>
            <a:off x="272459" y="4067296"/>
            <a:ext cx="7808975" cy="480000"/>
          </a:xfrm>
          <a:prstGeom prst="roundRect">
            <a:avLst>
              <a:gd name="adj" fmla="val 8000"/>
            </a:avLst>
          </a:prstGeom>
          <a:solidFill>
            <a:srgbClr val="EAF0F7"/>
          </a:solidFill>
          <a:ln w="12700">
            <a:solidFill>
              <a:srgbClr val="1A3D6D"/>
            </a:solidFill>
          </a:ln>
        </p:spPr>
        <p:txBody>
          <a:bodyPr lIns="182880" rIns="182880" anchor="ctr"/>
          <a:lstStyle/>
          <a:p>
            <a:r>
              <a:rPr lang="fr-FR" sz="1250" b="1" dirty="0">
                <a:solidFill>
                  <a:srgbClr val="1A3D6D"/>
                </a:solidFill>
              </a:rPr>
              <a:t>💾  Le meilleur réflexe, c'est AVANT : sauvegardez vos photos et documents </a:t>
            </a:r>
            <a:r>
              <a:rPr lang="fr-FR" sz="1250" dirty="0">
                <a:solidFill>
                  <a:srgbClr val="334155"/>
                </a:solidFill>
              </a:rPr>
              <a:t>(clé USB ou disque externe). Si tout est bloqué un jour, vous ne perdez rien.</a:t>
            </a:r>
          </a:p>
        </p:txBody>
      </p:sp>
      <p:sp>
        <p:nvSpPr>
          <p:cNvPr id="50" name="pied"/>
          <p:cNvSpPr/>
          <p:nvPr/>
        </p:nvSpPr>
        <p:spPr>
          <a:xfrm>
            <a:off x="0" y="4956048"/>
            <a:ext cx="7772400" cy="182880"/>
          </a:xfrm>
          <a:prstGeom prst="rect">
            <a:avLst/>
          </a:prstGeom>
        </p:spPr>
        <p:txBody>
          <a:bodyPr anchor="ctr"/>
          <a:lstStyle/>
          <a:p>
            <a:pPr algn="ctr"/>
            <a:r>
              <a:rPr lang="fr-FR" sz="900" dirty="0">
                <a:solidFill>
                  <a:srgbClr val="64748B"/>
                </a:solidFill>
              </a:rPr>
              <a:t>Cédric WALTENER — Atelier Phishing — 2026</a:t>
            </a:r>
          </a:p>
        </p:txBody>
      </p:sp>
      <p:pic>
        <p:nvPicPr>
          <p:cNvPr id="60" name="logo" descr="logo.png"/>
          <p:cNvPicPr>
            <a:picLocks noChangeAspect="1"/>
          </p:cNvPicPr>
          <p:nvPr/>
        </p:nvPicPr>
        <p:blipFill>
          <a:blip r:embed="rId3"/>
          <a:stretch>
            <a:fillRect/>
          </a:stretch>
        </p:blipFill>
        <p:spPr>
          <a:xfrm>
            <a:off x="40143" y="40143"/>
            <a:ext cx="491853" cy="491853"/>
          </a:xfrm>
          <a:prstGeom prst="rect">
            <a:avLst/>
          </a:prstGeom>
        </p:spPr>
      </p:pic>
      <p:sp>
        <p:nvSpPr>
          <p:cNvPr id="72" name="menu"/>
          <p:cNvSpPr/>
          <p:nvPr/>
        </p:nvSpPr>
        <p:spPr>
          <a:xfrm>
            <a:off x="7675063" y="4617634"/>
            <a:ext cx="1042415" cy="292608"/>
          </a:xfrm>
          <a:prstGeom prst="roundRect">
            <a:avLst/>
          </a:prstGeom>
          <a:solidFill>
            <a:srgbClr val="E5E5F7"/>
          </a:solidFill>
          <a:ln>
            <a:noFill/>
          </a:ln>
        </p:spPr>
        <p:txBody>
          <a:bodyPr anchor="ctr"/>
          <a:lstStyle/>
          <a:p>
            <a:pPr algn="ctr"/>
            <a:r>
              <a:rPr lang="fr-FR" sz="1100" b="1" dirty="0">
                <a:solidFill>
                  <a:srgbClr val="1A3D6D"/>
                </a:solidFill>
                <a:hlinkClick r:id="rId4" action="ppaction://hlinksldjump"/>
              </a:rPr>
              <a:t>☰  Menu</a:t>
            </a:r>
          </a:p>
        </p:txBody>
      </p:sp>
      <p:sp>
        <p:nvSpPr>
          <p:cNvPr id="6" name="ZoneTexte 5">
            <a:extLst>
              <a:ext uri="{FF2B5EF4-FFF2-40B4-BE49-F238E27FC236}">
                <a16:creationId xmlns:a16="http://schemas.microsoft.com/office/drawing/2014/main" id="{85486E65-5D21-ACC7-E3AB-EAF2EDC16661}"/>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name="Slide 40">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D6A4F"/>
          </a:solidFill>
          <a:ln w="12700">
            <a:solidFill>
              <a:srgbClr val="2D6A4F"/>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Ma boîte à outils anti-arnaque</a:t>
            </a:r>
            <a:endParaRPr lang="en-US" sz="2200" dirty="0"/>
          </a:p>
        </p:txBody>
      </p:sp>
      <p:sp>
        <p:nvSpPr>
          <p:cNvPr id="4" name="Text 2"/>
          <p:cNvSpPr/>
          <p:nvPr/>
        </p:nvSpPr>
        <p:spPr>
          <a:xfrm>
            <a:off x="1045028" y="841248"/>
            <a:ext cx="7824651" cy="347472"/>
          </a:xfrm>
          <a:prstGeom prst="rect">
            <a:avLst/>
          </a:prstGeom>
          <a:noFill/>
          <a:ln/>
        </p:spPr>
        <p:txBody>
          <a:bodyPr wrap="square" lIns="0" tIns="0" rIns="0" bIns="0" rtlCol="0" anchor="ctr"/>
          <a:lstStyle/>
          <a:p>
            <a:pPr marL="0" indent="0">
              <a:buNone/>
            </a:pPr>
            <a:r>
              <a:rPr lang="en-US" sz="1200" i="1" dirty="0">
                <a:solidFill>
                  <a:srgbClr val="272F38"/>
                </a:solidFill>
                <a:latin typeface="Calibri" pitchFamily="34" charset="0"/>
                <a:ea typeface="Calibri" pitchFamily="34" charset="-122"/>
                <a:cs typeface="Calibri" pitchFamily="34" charset="-120"/>
              </a:rPr>
              <a:t>Les bons outils, installés une fois, vous protègent tous les jours — sans être expert.</a:t>
            </a:r>
            <a:endParaRPr lang="en-US" sz="1200" dirty="0"/>
          </a:p>
        </p:txBody>
      </p:sp>
      <p:sp>
        <p:nvSpPr>
          <p:cNvPr id="5" name="Shape 3"/>
          <p:cNvSpPr/>
          <p:nvPr/>
        </p:nvSpPr>
        <p:spPr>
          <a:xfrm>
            <a:off x="228600" y="1298448"/>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228600" y="1298448"/>
            <a:ext cx="2743200" cy="91440"/>
          </a:xfrm>
          <a:prstGeom prst="rect">
            <a:avLst/>
          </a:prstGeom>
          <a:solidFill>
            <a:srgbClr val="2D6A4F"/>
          </a:solidFill>
          <a:ln w="12700">
            <a:solidFill>
              <a:srgbClr val="2D6A4F"/>
            </a:solidFill>
            <a:prstDash val="solid"/>
          </a:ln>
        </p:spPr>
        <p:txBody>
          <a:bodyPr/>
          <a:lstStyle/>
          <a:p>
            <a:endParaRPr lang="fr-FR"/>
          </a:p>
        </p:txBody>
      </p:sp>
      <p:sp>
        <p:nvSpPr>
          <p:cNvPr id="7" name="Text 5"/>
          <p:cNvSpPr/>
          <p:nvPr/>
        </p:nvSpPr>
        <p:spPr>
          <a:xfrm>
            <a:off x="320040"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868680"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Antivirus à jour</a:t>
            </a:r>
            <a:endParaRPr lang="en-US" sz="1100" dirty="0"/>
          </a:p>
        </p:txBody>
      </p:sp>
      <p:sp>
        <p:nvSpPr>
          <p:cNvPr id="9" name="Text 7"/>
          <p:cNvSpPr/>
          <p:nvPr/>
        </p:nvSpPr>
        <p:spPr>
          <a:xfrm>
            <a:off x="338328"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Windows Defender ou Malwarebytes : il détecte et bloque les programmes dangereux.</a:t>
            </a:r>
            <a:endParaRPr lang="en-US" sz="950" dirty="0"/>
          </a:p>
        </p:txBody>
      </p:sp>
      <p:sp>
        <p:nvSpPr>
          <p:cNvPr id="10" name="Shape 8"/>
          <p:cNvSpPr/>
          <p:nvPr/>
        </p:nvSpPr>
        <p:spPr>
          <a:xfrm>
            <a:off x="3127248" y="1298448"/>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11" name="Shape 9"/>
          <p:cNvSpPr/>
          <p:nvPr/>
        </p:nvSpPr>
        <p:spPr>
          <a:xfrm>
            <a:off x="3127248" y="1298448"/>
            <a:ext cx="2743200" cy="91440"/>
          </a:xfrm>
          <a:prstGeom prst="rect">
            <a:avLst/>
          </a:prstGeom>
          <a:solidFill>
            <a:srgbClr val="2D6A4F"/>
          </a:solidFill>
          <a:ln w="12700">
            <a:solidFill>
              <a:srgbClr val="2D6A4F"/>
            </a:solidFill>
            <a:prstDash val="solid"/>
          </a:ln>
        </p:spPr>
        <p:txBody>
          <a:bodyPr/>
          <a:lstStyle/>
          <a:p>
            <a:endParaRPr lang="fr-FR"/>
          </a:p>
        </p:txBody>
      </p:sp>
      <p:sp>
        <p:nvSpPr>
          <p:cNvPr id="12" name="Text 10"/>
          <p:cNvSpPr/>
          <p:nvPr/>
        </p:nvSpPr>
        <p:spPr>
          <a:xfrm>
            <a:off x="3218688"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767328"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Gestionnaire de mots de passe</a:t>
            </a:r>
            <a:endParaRPr lang="en-US" sz="1100" dirty="0"/>
          </a:p>
        </p:txBody>
      </p:sp>
      <p:sp>
        <p:nvSpPr>
          <p:cNvPr id="14" name="Text 12"/>
          <p:cNvSpPr/>
          <p:nvPr/>
        </p:nvSpPr>
        <p:spPr>
          <a:xfrm>
            <a:off x="3236976"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KeePass ou Bitwarden : un mot de passe fort et différent partout, sans les retenir.</a:t>
            </a:r>
            <a:endParaRPr lang="en-US" sz="950" dirty="0"/>
          </a:p>
        </p:txBody>
      </p:sp>
      <p:sp>
        <p:nvSpPr>
          <p:cNvPr id="15" name="Shape 13"/>
          <p:cNvSpPr/>
          <p:nvPr/>
        </p:nvSpPr>
        <p:spPr>
          <a:xfrm>
            <a:off x="6025896" y="1298448"/>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16" name="Shape 14"/>
          <p:cNvSpPr/>
          <p:nvPr/>
        </p:nvSpPr>
        <p:spPr>
          <a:xfrm>
            <a:off x="6025896" y="1298448"/>
            <a:ext cx="2743200" cy="91440"/>
          </a:xfrm>
          <a:prstGeom prst="rect">
            <a:avLst/>
          </a:prstGeom>
          <a:solidFill>
            <a:srgbClr val="2D6A4F"/>
          </a:solidFill>
          <a:ln w="12700">
            <a:solidFill>
              <a:srgbClr val="2D6A4F"/>
            </a:solidFill>
            <a:prstDash val="solid"/>
          </a:ln>
        </p:spPr>
        <p:txBody>
          <a:bodyPr/>
          <a:lstStyle/>
          <a:p>
            <a:endParaRPr lang="fr-FR"/>
          </a:p>
        </p:txBody>
      </p:sp>
      <p:sp>
        <p:nvSpPr>
          <p:cNvPr id="17" name="Text 15"/>
          <p:cNvSpPr/>
          <p:nvPr/>
        </p:nvSpPr>
        <p:spPr>
          <a:xfrm>
            <a:off x="6117336"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665976"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Double authentification</a:t>
            </a:r>
            <a:endParaRPr lang="en-US" sz="1100" dirty="0"/>
          </a:p>
        </p:txBody>
      </p:sp>
      <p:sp>
        <p:nvSpPr>
          <p:cNvPr id="19" name="Text 17"/>
          <p:cNvSpPr/>
          <p:nvPr/>
        </p:nvSpPr>
        <p:spPr>
          <a:xfrm>
            <a:off x="6135624"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Un code reçu en plus du mot de passe : le compte reste protégé même s'il est volé.</a:t>
            </a:r>
            <a:endParaRPr lang="en-US" sz="950" dirty="0"/>
          </a:p>
        </p:txBody>
      </p:sp>
      <p:sp>
        <p:nvSpPr>
          <p:cNvPr id="20" name="Shape 18"/>
          <p:cNvSpPr/>
          <p:nvPr/>
        </p:nvSpPr>
        <p:spPr>
          <a:xfrm>
            <a:off x="228600" y="2834640"/>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2834640"/>
            <a:ext cx="2743200" cy="91440"/>
          </a:xfrm>
          <a:prstGeom prst="rect">
            <a:avLst/>
          </a:prstGeom>
          <a:solidFill>
            <a:srgbClr val="2D6A4F"/>
          </a:solidFill>
          <a:ln w="12700">
            <a:solidFill>
              <a:srgbClr val="2D6A4F"/>
            </a:solidFill>
            <a:prstDash val="solid"/>
          </a:ln>
        </p:spPr>
        <p:txBody>
          <a:bodyPr/>
          <a:lstStyle/>
          <a:p>
            <a:endParaRPr lang="fr-FR"/>
          </a:p>
        </p:txBody>
      </p:sp>
      <p:sp>
        <p:nvSpPr>
          <p:cNvPr id="22" name="Text 20"/>
          <p:cNvSpPr/>
          <p:nvPr/>
        </p:nvSpPr>
        <p:spPr>
          <a:xfrm>
            <a:off x="320040"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868680"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Mises à jour automatiques</a:t>
            </a:r>
            <a:endParaRPr lang="en-US" sz="1100" dirty="0"/>
          </a:p>
        </p:txBody>
      </p:sp>
      <p:sp>
        <p:nvSpPr>
          <p:cNvPr id="24" name="Text 22"/>
          <p:cNvSpPr/>
          <p:nvPr/>
        </p:nvSpPr>
        <p:spPr>
          <a:xfrm>
            <a:off x="338328"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Sur le téléphone, l'ordinateur et les applis : elles ferment les failles des pirates.</a:t>
            </a:r>
            <a:endParaRPr lang="en-US" sz="950" dirty="0"/>
          </a:p>
        </p:txBody>
      </p:sp>
      <p:sp>
        <p:nvSpPr>
          <p:cNvPr id="25" name="Shape 23"/>
          <p:cNvSpPr/>
          <p:nvPr/>
        </p:nvSpPr>
        <p:spPr>
          <a:xfrm>
            <a:off x="3127248" y="2834640"/>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26" name="Shape 24"/>
          <p:cNvSpPr/>
          <p:nvPr/>
        </p:nvSpPr>
        <p:spPr>
          <a:xfrm>
            <a:off x="3127248" y="2834640"/>
            <a:ext cx="2743200" cy="91440"/>
          </a:xfrm>
          <a:prstGeom prst="rect">
            <a:avLst/>
          </a:prstGeom>
          <a:solidFill>
            <a:srgbClr val="2D6A4F"/>
          </a:solidFill>
          <a:ln w="12700">
            <a:solidFill>
              <a:srgbClr val="2D6A4F"/>
            </a:solidFill>
            <a:prstDash val="solid"/>
          </a:ln>
        </p:spPr>
        <p:txBody>
          <a:bodyPr/>
          <a:lstStyle/>
          <a:p>
            <a:endParaRPr lang="fr-FR"/>
          </a:p>
        </p:txBody>
      </p:sp>
      <p:sp>
        <p:nvSpPr>
          <p:cNvPr id="27" name="Text 25"/>
          <p:cNvSpPr/>
          <p:nvPr/>
        </p:nvSpPr>
        <p:spPr>
          <a:xfrm>
            <a:off x="3218688"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3767328"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Navigateur à jour</a:t>
            </a:r>
            <a:endParaRPr lang="en-US" sz="1100" dirty="0"/>
          </a:p>
        </p:txBody>
      </p:sp>
      <p:sp>
        <p:nvSpPr>
          <p:cNvPr id="29" name="Text 27"/>
          <p:cNvSpPr/>
          <p:nvPr/>
        </p:nvSpPr>
        <p:spPr>
          <a:xfrm>
            <a:off x="3236976"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Chrome, Firefox ou Edge récents : ils alertent sur les sites frauduleux connus.</a:t>
            </a:r>
            <a:endParaRPr lang="en-US" sz="950" dirty="0"/>
          </a:p>
        </p:txBody>
      </p:sp>
      <p:sp>
        <p:nvSpPr>
          <p:cNvPr id="30" name="Shape 28"/>
          <p:cNvSpPr/>
          <p:nvPr/>
        </p:nvSpPr>
        <p:spPr>
          <a:xfrm>
            <a:off x="6025896" y="2834640"/>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31" name="Shape 29"/>
          <p:cNvSpPr/>
          <p:nvPr/>
        </p:nvSpPr>
        <p:spPr>
          <a:xfrm>
            <a:off x="6025896" y="2834640"/>
            <a:ext cx="2743200" cy="91440"/>
          </a:xfrm>
          <a:prstGeom prst="rect">
            <a:avLst/>
          </a:prstGeom>
          <a:solidFill>
            <a:srgbClr val="2D6A4F"/>
          </a:solidFill>
          <a:ln w="12700">
            <a:solidFill>
              <a:srgbClr val="2D6A4F"/>
            </a:solidFill>
            <a:prstDash val="solid"/>
          </a:ln>
        </p:spPr>
        <p:txBody>
          <a:bodyPr/>
          <a:lstStyle/>
          <a:p>
            <a:endParaRPr lang="fr-FR"/>
          </a:p>
        </p:txBody>
      </p:sp>
      <p:sp>
        <p:nvSpPr>
          <p:cNvPr id="32" name="Text 30"/>
          <p:cNvSpPr/>
          <p:nvPr/>
        </p:nvSpPr>
        <p:spPr>
          <a:xfrm>
            <a:off x="6117336"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6665976"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Sauvegardes régulières</a:t>
            </a:r>
            <a:endParaRPr lang="en-US" sz="1100" dirty="0"/>
          </a:p>
        </p:txBody>
      </p:sp>
      <p:sp>
        <p:nvSpPr>
          <p:cNvPr id="34" name="Text 32"/>
          <p:cNvSpPr/>
          <p:nvPr/>
        </p:nvSpPr>
        <p:spPr>
          <a:xfrm>
            <a:off x="6135624"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Sur un disque externe ou le cloud : vous récupérez tout après un piratage.</a:t>
            </a:r>
            <a:endParaRPr lang="en-US" sz="950" dirty="0"/>
          </a:p>
        </p:txBody>
      </p:sp>
      <p:sp>
        <p:nvSpPr>
          <p:cNvPr id="35" name="Text 33"/>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2"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2" action="ppaction://hlinksldjump">
                  <a:extLst>
                    <a:ext uri="{A12FA001-AC4F-418D-AE19-62706E023703}">
                      <ahyp:hlinkClr xmlns:ahyp="http://schemas.microsoft.com/office/drawing/2018/hyperlinkcolor" val="tx"/>
                    </a:ext>
                  </a:extLst>
                </a:hlinkClick>
              </a:rPr>
              <a:t>☰  Menu</a:t>
            </a:r>
            <a:endParaRPr lang="en-US" sz="950" dirty="0"/>
          </a:p>
        </p:txBody>
      </p:sp>
      <p:pic>
        <p:nvPicPr>
          <p:cNvPr id="59" name="Picture 58" descr="logo_sig.png"/>
          <p:cNvPicPr>
            <a:picLocks noChangeAspect="1"/>
          </p:cNvPicPr>
          <p:nvPr/>
        </p:nvPicPr>
        <p:blipFill>
          <a:blip r:embed="rId3"/>
          <a:stretch>
            <a:fillRect/>
          </a:stretch>
        </p:blipFill>
        <p:spPr>
          <a:xfrm>
            <a:off x="40143" y="40143"/>
            <a:ext cx="413491" cy="413491"/>
          </a:xfrm>
          <a:prstGeom prst="rect">
            <a:avLst/>
          </a:prstGeom>
        </p:spPr>
      </p:pic>
      <p:sp>
        <p:nvSpPr>
          <p:cNvPr id="38" name="ZoneTexte 37">
            <a:extLst>
              <a:ext uri="{FF2B5EF4-FFF2-40B4-BE49-F238E27FC236}">
                <a16:creationId xmlns:a16="http://schemas.microsoft.com/office/drawing/2014/main" id="{F9AE4151-85DC-F82D-F1AF-4A211209FC9E}"/>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Conclusion">
    <p:bg>
      <p:bgPr>
        <a:solidFill>
          <a:srgbClr val="E1F7EC"/>
        </a:solidFill>
        <a:effectLst/>
      </p:bgPr>
    </p:bg>
    <p:spTree>
      <p:nvGrpSpPr>
        <p:cNvPr id="1" name=""/>
        <p:cNvGrpSpPr/>
        <p:nvPr/>
      </p:nvGrpSpPr>
      <p:grpSpPr>
        <a:xfrm>
          <a:off x="0" y="0"/>
          <a:ext cx="9144000" cy="5143500"/>
          <a:chOff x="0" y="0"/>
          <a:chExt cx="9144000" cy="5143500"/>
        </a:xfrm>
      </p:grpSpPr>
      <p:sp>
        <p:nvSpPr>
          <p:cNvPr id="2" name="Title"/>
          <p:cNvSpPr>
            <a:spLocks noGrp="1"/>
          </p:cNvSpPr>
          <p:nvPr/>
        </p:nvSpPr>
        <p:spPr>
          <a:xfrm>
            <a:off x="228600" y="160000"/>
            <a:ext cx="8686800" cy="520000"/>
          </a:xfrm>
          <a:prstGeom prst="rect">
            <a:avLst/>
          </a:prstGeom>
          <a:noFill/>
        </p:spPr>
        <p:txBody>
          <a:bodyPr anchor="ctr"/>
          <a:lstStyle/>
          <a:p>
            <a:pPr algn="ctr"/>
            <a:r>
              <a:rPr lang="fr-FR" sz="1600" b="0" i="1" dirty="0">
                <a:solidFill>
                  <a:srgbClr val="193824"/>
                </a:solidFill>
                <a:latin typeface="Calibri"/>
              </a:rPr>
              <a:t>Vous êtes maintenant</a:t>
            </a:r>
          </a:p>
        </p:txBody>
      </p:sp>
      <p:sp>
        <p:nvSpPr>
          <p:cNvPr id="3" name="BigTitle"/>
          <p:cNvSpPr>
            <a:spLocks noGrp="1"/>
          </p:cNvSpPr>
          <p:nvPr/>
        </p:nvSpPr>
        <p:spPr>
          <a:xfrm>
            <a:off x="228600" y="640000"/>
            <a:ext cx="8686800" cy="760000"/>
          </a:xfrm>
          <a:prstGeom prst="rect">
            <a:avLst/>
          </a:prstGeom>
          <a:noFill/>
        </p:spPr>
        <p:txBody>
          <a:bodyPr anchor="ctr"/>
          <a:lstStyle/>
          <a:p>
            <a:pPr algn="ctr"/>
            <a:r>
              <a:rPr lang="fr-FR" sz="4400" b="1" dirty="0">
                <a:solidFill>
                  <a:srgbClr val="1E293B"/>
                </a:solidFill>
                <a:latin typeface="Calibri"/>
              </a:rPr>
              <a:t>des vigies numériques.</a:t>
            </a:r>
          </a:p>
        </p:txBody>
      </p:sp>
      <p:sp>
        <p:nvSpPr>
          <p:cNvPr id="4" name="Engagements"/>
          <p:cNvSpPr>
            <a:spLocks noGrp="1"/>
          </p:cNvSpPr>
          <p:nvPr/>
        </p:nvSpPr>
        <p:spPr>
          <a:xfrm>
            <a:off x="228600" y="1550000"/>
            <a:ext cx="5200000" cy="2400000"/>
          </a:xfrm>
          <a:prstGeom prst="roundRect">
            <a:avLst>
              <a:gd name="adj" fmla="val 5000"/>
            </a:avLst>
          </a:prstGeom>
          <a:solidFill>
            <a:srgbClr val="E1F7EA"/>
          </a:solidFill>
          <a:ln w="19050">
            <a:solidFill>
              <a:srgbClr val="22C55E"/>
            </a:solidFill>
          </a:ln>
        </p:spPr>
        <p:txBody>
          <a:bodyPr lIns="150000" tIns="120000" anchor="t"/>
          <a:lstStyle/>
          <a:p>
            <a:pPr algn="l"/>
            <a:r>
              <a:rPr lang="fr-FR" sz="1100" b="0" dirty="0">
                <a:solidFill>
                  <a:srgbClr val="1E7D45"/>
                </a:solidFill>
                <a:latin typeface="Calibri"/>
              </a:rPr>
              <a:t>✓  Je reconnais les 5 signes d'un message frauduleux</a:t>
            </a:r>
          </a:p>
          <a:p>
            <a:pPr algn="l"/>
            <a:r>
              <a:rPr lang="fr-FR" sz="1100" b="0" dirty="0">
                <a:solidFill>
                  <a:srgbClr val="1E7D45"/>
                </a:solidFill>
                <a:latin typeface="Calibri"/>
              </a:rPr>
              <a:t>✓  Je vérifie l'adresse et je survole les liens sans cliquer</a:t>
            </a:r>
          </a:p>
          <a:p>
            <a:pPr algn="l"/>
            <a:r>
              <a:rPr lang="fr-FR" sz="1100" b="0" dirty="0">
                <a:solidFill>
                  <a:srgbClr val="1E7D45"/>
                </a:solidFill>
                <a:latin typeface="Calibri"/>
              </a:rPr>
              <a:t>✓  Je résiste à l'urgence — je prends 30 secondes</a:t>
            </a:r>
          </a:p>
          <a:p>
            <a:pPr algn="l"/>
            <a:r>
              <a:rPr lang="fr-FR" sz="1100" b="0" dirty="0">
                <a:solidFill>
                  <a:srgbClr val="1E7D45"/>
                </a:solidFill>
                <a:latin typeface="Calibri"/>
              </a:rPr>
              <a:t>✓  Je ne communique jamais mes données par message</a:t>
            </a:r>
          </a:p>
          <a:p>
            <a:pPr algn="l"/>
            <a:r>
              <a:rPr lang="fr-FR" sz="1100" b="0" dirty="0">
                <a:solidFill>
                  <a:srgbClr val="1E7D45"/>
                </a:solidFill>
                <a:latin typeface="Calibri"/>
              </a:rPr>
              <a:t>✓  Je sais signaler et protéger mes proches</a:t>
            </a:r>
          </a:p>
        </p:txBody>
      </p:sp>
      <p:sp>
        <p:nvSpPr>
          <p:cNvPr id="5" name="QuizResults"/>
          <p:cNvSpPr>
            <a:spLocks noGrp="1"/>
          </p:cNvSpPr>
          <p:nvPr/>
        </p:nvSpPr>
        <p:spPr>
          <a:xfrm>
            <a:off x="5628600" y="1550000"/>
            <a:ext cx="3286800" cy="2400000"/>
          </a:xfrm>
          <a:prstGeom prst="roundRect">
            <a:avLst>
              <a:gd name="adj" fmla="val 5000"/>
            </a:avLst>
          </a:prstGeom>
          <a:solidFill>
            <a:srgbClr val="F7F2E1"/>
          </a:solidFill>
          <a:ln w="19050">
            <a:solidFill>
              <a:srgbClr val="F59E0B"/>
            </a:solidFill>
          </a:ln>
        </p:spPr>
        <p:txBody>
          <a:bodyPr lIns="150000" tIns="120000" anchor="t"/>
          <a:lstStyle/>
          <a:p>
            <a:pPr algn="l"/>
            <a:r>
              <a:rPr lang="fr-FR" sz="1200" b="1" dirty="0">
                <a:solidFill>
                  <a:srgbClr val="A02820"/>
                </a:solidFill>
                <a:latin typeface="Calibri"/>
              </a:rPr>
              <a:t>🏆 Résultats du quiz</a:t>
            </a:r>
          </a:p>
          <a:p>
            <a:pPr algn="l"/>
            <a:r>
              <a:rPr lang="fr-FR" sz="1000" b="1" dirty="0">
                <a:solidFill>
                  <a:srgbClr val="A02820"/>
                </a:solidFill>
                <a:latin typeface="Calibri"/>
              </a:rPr>
              <a:t>5/5  EXPERT</a:t>
            </a:r>
          </a:p>
          <a:p>
            <a:pPr algn="l"/>
            <a:r>
              <a:rPr lang="fr-FR" sz="900" b="0" dirty="0">
                <a:solidFill>
                  <a:srgbClr val="334155"/>
                </a:solidFill>
                <a:latin typeface="Calibri"/>
              </a:rPr>
              <a:t>Référence pour votre entourage</a:t>
            </a:r>
          </a:p>
          <a:p>
            <a:endParaRPr lang="fr-FR" dirty="0"/>
          </a:p>
          <a:p>
            <a:pPr algn="l"/>
            <a:r>
              <a:rPr lang="fr-FR" sz="1000" b="1" dirty="0">
                <a:solidFill>
                  <a:srgbClr val="334155"/>
                </a:solidFill>
                <a:latin typeface="Calibri"/>
              </a:rPr>
              <a:t>3-4/5  CONFIRMÉ</a:t>
            </a:r>
          </a:p>
          <a:p>
            <a:pPr algn="l"/>
            <a:r>
              <a:rPr lang="fr-FR" sz="900" b="0" dirty="0">
                <a:solidFill>
                  <a:srgbClr val="334155"/>
                </a:solidFill>
                <a:latin typeface="Calibri"/>
              </a:rPr>
              <a:t>Très bien, quelques hésitations normales</a:t>
            </a:r>
          </a:p>
          <a:p>
            <a:endParaRPr lang="fr-FR" dirty="0"/>
          </a:p>
          <a:p>
            <a:pPr algn="l"/>
            <a:r>
              <a:rPr lang="fr-FR" sz="1000" b="1" dirty="0">
                <a:solidFill>
                  <a:srgbClr val="1E7D45"/>
                </a:solidFill>
                <a:latin typeface="Calibri"/>
              </a:rPr>
              <a:t>0-2/5  EN APPRENTISSAGE</a:t>
            </a:r>
          </a:p>
          <a:p>
            <a:pPr algn="l"/>
            <a:r>
              <a:rPr lang="fr-FR" sz="900" b="0" dirty="0">
                <a:solidFill>
                  <a:srgbClr val="334155"/>
                </a:solidFill>
                <a:latin typeface="Calibri"/>
              </a:rPr>
              <a:t>Les 5 signes vous protègeront</a:t>
            </a:r>
          </a:p>
        </p:txBody>
      </p:sp>
      <p:sp>
        <p:nvSpPr>
          <p:cNvPr id="6" name="Resources"/>
          <p:cNvSpPr>
            <a:spLocks noGrp="1"/>
          </p:cNvSpPr>
          <p:nvPr/>
        </p:nvSpPr>
        <p:spPr>
          <a:xfrm>
            <a:off x="0" y="4700000"/>
            <a:ext cx="9144000" cy="443500"/>
          </a:xfrm>
          <a:prstGeom prst="rect">
            <a:avLst/>
          </a:prstGeom>
          <a:solidFill>
            <a:srgbClr val="14532D"/>
          </a:solidFill>
          <a:ln w="0">
            <a:noFill/>
          </a:ln>
        </p:spPr>
        <p:txBody>
          <a:bodyPr anchor="ctr"/>
          <a:lstStyle/>
          <a:p>
            <a:pPr algn="ctr"/>
            <a:r>
              <a:rPr lang="fr-FR" sz="1100" b="1" dirty="0">
                <a:solidFill>
                  <a:srgbClr val="FFFFFF"/>
                </a:solidFill>
                <a:latin typeface="Calibri"/>
              </a:rPr>
              <a:t>🌐  cybermalveillance.gouv.fr  ·  SMS arnaque → 33700  ·  E-mail arnaque → signal-spam.fr</a:t>
            </a:r>
          </a:p>
        </p:txBody>
      </p:sp>
      <p:pic>
        <p:nvPicPr>
          <p:cNvPr id="7" name="Picture 6" descr="logo_sig.png"/>
          <p:cNvPicPr>
            <a:picLocks noChangeAspect="1"/>
          </p:cNvPicPr>
          <p:nvPr/>
        </p:nvPicPr>
        <p:blipFill>
          <a:blip r:embed="rId3"/>
          <a:stretch>
            <a:fillRect/>
          </a:stretch>
        </p:blipFill>
        <p:spPr>
          <a:xfrm>
            <a:off x="40143" y="40143"/>
            <a:ext cx="413491" cy="413491"/>
          </a:xfrm>
          <a:prstGeom prst="rect">
            <a:avLst/>
          </a:prstGeom>
        </p:spPr>
      </p:pic>
      <p:sp>
        <p:nvSpPr>
          <p:cNvPr id="8001" name="NavMenu21">
            <a:hlinkClick r:id="rId4" action="ppaction://hlinksldjump"/>
          </p:cNvPr>
          <p:cNvSpPr/>
          <p:nvPr/>
        </p:nvSpPr>
        <p:spPr>
          <a:xfrm>
            <a:off x="7863840" y="4392000"/>
            <a:ext cx="1143000" cy="320040"/>
          </a:xfrm>
          <a:prstGeom prst="rect">
            <a:avLst/>
          </a:prstGeom>
          <a:noFill/>
          <a:ln/>
        </p:spPr>
        <p:txBody>
          <a:bodyPr wrap="square" lIns="0" tIns="0" rIns="0" bIns="0" rtlCol="0" anchor="ctr"/>
          <a:lstStyle/>
          <a:p>
            <a:pPr marL="0" indent="0" algn="ctr">
              <a:buNone/>
            </a:pPr>
            <a:r>
              <a:rPr lang="fr-FR" sz="950" u="sng" dirty="0">
                <a:solidFill>
                  <a:srgbClr val="262638"/>
                </a:solidFill>
                <a:latin typeface="Calibri"/>
                <a:hlinkClick r:id="rId4" action="ppaction://hlinksldjump"/>
              </a:rPr>
              <a:t>☰  Menu</a:t>
            </a:r>
          </a:p>
        </p:txBody>
      </p:sp>
      <p:sp>
        <p:nvSpPr>
          <p:cNvPr id="8" name="ZoneTexte 7">
            <a:extLst>
              <a:ext uri="{FF2B5EF4-FFF2-40B4-BE49-F238E27FC236}">
                <a16:creationId xmlns:a16="http://schemas.microsoft.com/office/drawing/2014/main" id="{5C9AE51A-750B-E2F9-E114-26C0C6B4FA6F}"/>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MerciTitre"/>
          <p:cNvSpPr>
            <a:spLocks noGrp="1"/>
          </p:cNvSpPr>
          <p:nvPr/>
        </p:nvSpPr>
        <p:spPr>
          <a:xfrm>
            <a:off x="0" y="1150000"/>
            <a:ext cx="9144000" cy="1300000"/>
          </a:xfrm>
          <a:prstGeom prst="rect">
            <a:avLst/>
          </a:prstGeom>
          <a:noFill/>
        </p:spPr>
        <p:txBody>
          <a:bodyPr wrap="square" lIns="0" tIns="0" rIns="0" bIns="0" anchor="ctr"/>
          <a:lstStyle/>
          <a:p>
            <a:pPr algn="ctr"/>
            <a:r>
              <a:rPr lang="fr-FR" sz="7200" b="1" dirty="0">
                <a:solidFill>
                  <a:srgbClr val="1E293B"/>
                </a:solidFill>
                <a:latin typeface="Calibri"/>
              </a:rPr>
              <a:t>MERCI</a:t>
            </a:r>
          </a:p>
        </p:txBody>
      </p:sp>
      <p:sp>
        <p:nvSpPr>
          <p:cNvPr id="31" name="MerciSub"/>
          <p:cNvSpPr>
            <a:spLocks noGrp="1"/>
          </p:cNvSpPr>
          <p:nvPr/>
        </p:nvSpPr>
        <p:spPr>
          <a:xfrm>
            <a:off x="0" y="2650000"/>
            <a:ext cx="9144000" cy="500000"/>
          </a:xfrm>
          <a:prstGeom prst="rect">
            <a:avLst/>
          </a:prstGeom>
          <a:noFill/>
        </p:spPr>
        <p:txBody>
          <a:bodyPr wrap="square" lIns="0" tIns="0" rIns="0" bIns="0" anchor="ctr"/>
          <a:lstStyle/>
          <a:p>
            <a:pPr algn="ctr"/>
            <a:r>
              <a:rPr lang="fr-FR" sz="2000" b="1" dirty="0">
                <a:solidFill>
                  <a:srgbClr val="193824"/>
                </a:solidFill>
                <a:latin typeface="Calibri"/>
              </a:rPr>
              <a:t>Bravo — vous êtes maintenant des vigies numériques.</a:t>
            </a:r>
          </a:p>
        </p:txBody>
      </p:sp>
      <p:sp>
        <p:nvSpPr>
          <p:cNvPr id="32" name="MerciBody"/>
          <p:cNvSpPr>
            <a:spLocks noGrp="1"/>
          </p:cNvSpPr>
          <p:nvPr/>
        </p:nvSpPr>
        <p:spPr>
          <a:xfrm>
            <a:off x="1372000" y="3300000"/>
            <a:ext cx="6400000" cy="700000"/>
          </a:xfrm>
          <a:prstGeom prst="rect">
            <a:avLst/>
          </a:prstGeom>
          <a:noFill/>
        </p:spPr>
        <p:txBody>
          <a:bodyPr wrap="square" lIns="0" tIns="0" rIns="0" bIns="0" anchor="ctr"/>
          <a:lstStyle/>
          <a:p>
            <a:pPr algn="ctr"/>
            <a:r>
              <a:rPr lang="fr-FR" sz="1400" b="0" dirty="0">
                <a:solidFill>
                  <a:srgbClr val="2B2B38"/>
                </a:solidFill>
                <a:latin typeface="Calibri"/>
              </a:rPr>
              <a:t>Vous savez repérer un message frauduleux, résister à l'urgence</a:t>
            </a:r>
          </a:p>
          <a:p>
            <a:pPr algn="ctr"/>
            <a:r>
              <a:rPr lang="fr-FR" sz="1400" b="0" dirty="0">
                <a:solidFill>
                  <a:srgbClr val="2B2B38"/>
                </a:solidFill>
                <a:latin typeface="Calibri"/>
              </a:rPr>
              <a:t>et protéger vos proches. Dans le doute : on ne clique pas, on vérifie.</a:t>
            </a:r>
          </a:p>
        </p:txBody>
      </p:sp>
      <p:sp>
        <p:nvSpPr>
          <p:cNvPr id="33" name="MerciRes"/>
          <p:cNvSpPr>
            <a:spLocks noGrp="1"/>
          </p:cNvSpPr>
          <p:nvPr/>
        </p:nvSpPr>
        <p:spPr>
          <a:xfrm>
            <a:off x="0" y="4180000"/>
            <a:ext cx="9144000" cy="400000"/>
          </a:xfrm>
          <a:prstGeom prst="rect">
            <a:avLst/>
          </a:prstGeom>
          <a:noFill/>
        </p:spPr>
        <p:txBody>
          <a:bodyPr wrap="square" lIns="0" tIns="0" rIns="0" bIns="0" anchor="ctr"/>
          <a:lstStyle/>
          <a:p>
            <a:pPr algn="ctr"/>
            <a:r>
              <a:rPr lang="fr-FR" sz="1100" b="0" dirty="0">
                <a:solidFill>
                  <a:srgbClr val="262638"/>
                </a:solidFill>
                <a:latin typeface="Calibri"/>
              </a:rPr>
              <a:t>🌐 cybermalveillance.gouv.fr   ·   SMS arnaque → 33700   ·   E-mail arnaque → signal-spam.fr</a:t>
            </a:r>
          </a:p>
        </p:txBody>
      </p:sp>
      <p:sp>
        <p:nvSpPr>
          <p:cNvPr id="8001" name="NavMenu26">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2" name="ZoneTexte 1">
            <a:extLst>
              <a:ext uri="{FF2B5EF4-FFF2-40B4-BE49-F238E27FC236}">
                <a16:creationId xmlns:a16="http://schemas.microsoft.com/office/drawing/2014/main" id="{BB0CB01F-BB2F-68FB-150D-D693CFFD8AE0}"/>
              </a:ext>
            </a:extLst>
          </p:cNvPr>
          <p:cNvSpPr txBox="1"/>
          <p:nvPr/>
        </p:nvSpPr>
        <p:spPr>
          <a:xfrm>
            <a:off x="0" y="4864100"/>
            <a:ext cx="9144000" cy="230832"/>
          </a:xfrm>
          <a:prstGeom prst="rect">
            <a:avLst/>
          </a:prstGeom>
          <a:noFill/>
        </p:spPr>
        <p:txBody>
          <a:bodyPr vert="horz" rtlCol="0">
            <a:spAutoFit/>
          </a:bodyPr>
          <a:lstStyle/>
          <a:p>
            <a:pPr algn="ctr"/>
            <a:r>
              <a:rPr lang="fr-FR" sz="900">
                <a:solidFill>
                  <a:srgbClr val="B4B4B4"/>
                </a:solidFill>
              </a:rPr>
              <a:t>(c) titi_23 - mediateur-numerique.github.io - Reproduction interdite sans autorisation</a:t>
            </a:r>
          </a:p>
        </p:txBody>
      </p:sp>
    </p:spTree>
  </p:cSld>
  <p:clrMapOvr>
    <a:masterClrMapping/>
  </p:clrMapOvr>
</p:sld>
</file>

<file path=ppt/theme/theme1.xml><?xml version="1.0" encoding="utf-8"?>
<a:theme xmlns:a="http://schemas.openxmlformats.org/drawingml/2006/main" name="Traînée de condensation">
  <a:themeElements>
    <a:clrScheme name="Traînée de condensatio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Traînée de condensatio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înée de condensatio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TM04033937[[fn=Traînée de condensation]]</Template>
  <TotalTime>222</TotalTime>
  <Words>8195</Words>
  <Application>Microsoft Office PowerPoint</Application>
  <PresentationFormat>Affichage à l'écran (16:9)</PresentationFormat>
  <Paragraphs>1035</Paragraphs>
  <Slides>34</Slides>
  <Notes>33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34</vt:i4>
      </vt:variant>
    </vt:vector>
  </HeadingPairs>
  <TitlesOfParts>
    <vt:vector size="39" baseType="lpstr">
      <vt:lpstr>Arial</vt:lpstr>
      <vt:lpstr>Arial Black</vt:lpstr>
      <vt:lpstr>Calibri</vt:lpstr>
      <vt:lpstr>Century Gothic</vt:lpstr>
      <vt:lpstr>Traînée de condensation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 Reconnaître &amp; Se protéger</dc:title>
  <dc:subject>PptxGenJS Presentation</dc:subject>
  <dc:creator>Cédric WALTENER</dc:creator>
  <cp:lastModifiedBy>titi 23</cp:lastModifiedBy>
  <cp:revision>12</cp:revision>
  <dcterms:created xsi:type="dcterms:W3CDTF">2026-05-03T06:55:22Z</dcterms:created>
  <dcterms:modified xsi:type="dcterms:W3CDTF">2026-09-08T11:33:07Z</dcterms:modified>
</cp:coreProperties>
</file>