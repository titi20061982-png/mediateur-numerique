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331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d'accueil. Souriez, parlez doucement. Dire : « Aujourd'hui on apprend à se protéger des voleurs au téléphone et sur l'ordinateur. C'est simple, et on le fait ensemble.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Rassurer +++. Dire : « Se faire piéger, ça arrive à tout le monde, même à des médecins, des ingénieurs. Ce n'est pas une honte. Posez toutes vos questions.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simplement : des gens malhonnêtes envoient des appels et des messages pour voler de l'argent. Ils font semblant d'être la banque, les impôts, ou un proche.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les 3 portes d'entrée : un appel téléphonique, un SMS/message, ou l'ordinateur (mail). Toujours la même méthode : on fait semblant et on demande de l'argent ou un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Règle n°1. Le code reçu sur le téléphone, le mot de passe : JAMAIS donné, à personne, même à un « conseiller » très gentil. La vraie banque ne le demande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Règle n°2. Un vrai service (impôts, La Poste, banque) ne demande JAMAIS de payer des petits frais par SMS ou par mail. Si on demande de payer → c'est un piège.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Règle n°3. Le piège veut vous faire peur et vous presser (« dans 24h », « tout de suite »). Un vrai organisme laisse le temps. Si ça presse → on s'arrête, on respire.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Règle n°4. La plus importante : on ne décide jamais seul sous pression. On s'arrête et on demande à quelqu'un de confiance (famille, voisin, médiateur).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Jeu : lire le message à voix haute, demander « piège ou pas ? » Réponse : PIÈGE. Un escroc se fait passer pour votre fils/fille avec un nouveau numéro. On appelle le VRAI numéro du proche avant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Jeu : « piège ou pas ? » Réponse : PIÈGE. La banque n'appelle jamais pour demander un code. On raccroche et on rappelle le numéro au dos de la carte.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Arnaque la plus courante. La carte Vitale n'expire pas et ne se refait pas par internet ni par téléphone. Si on vous le dit → piège.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Astuce simple et puissante : choisir en famille un mot secret. Au téléphone, si la personne ne connaît pas le mot, c'est un imposteur. Fonctionne sans rien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les règles : en cas de doute, ne restez pas seul. Une personne de confiance (proche, médiateur) peut regarder le message avec vous. Numéro utile pour signaler un SMS : 33700.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Récapituler les 4 réflexes en montrant chaque ligne. Faire répéter à voix haute si le groupe est partant.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Féliciter chaleureusement. Rappeler la phrase clé : « Dans le doute, on ne clique pas, on ne donne rien, on demande de l'aide.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051560"/>
            <a:ext cx="1828800" cy="1828800"/>
          </a:xfrm>
          <a:prstGeom prst="ellipse">
            <a:avLst/>
          </a:prstGeom>
          <a:solidFill>
            <a:srgbClr val="C62828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371600"/>
            <a:ext cx="1133856" cy="1133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5468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AUX PIÈGES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57200" y="4206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F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téléphone et par message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D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apprend ensemble — à votre rythme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640080"/>
            <a:ext cx="2103120" cy="2103120"/>
          </a:xfrm>
          <a:prstGeom prst="ellipse">
            <a:avLst/>
          </a:prstGeom>
          <a:solidFill>
            <a:srgbClr val="2E7D32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0972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971800"/>
            <a:ext cx="1143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 arrive à</a:t>
            </a:r>
            <a:endParaRPr lang="en-US" sz="6000" dirty="0"/>
          </a:p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le monde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Ici, pas de jugement. On apprend ensemble.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640080"/>
            <a:ext cx="2103120" cy="2103120"/>
          </a:xfrm>
          <a:prstGeom prst="ellipse">
            <a:avLst/>
          </a:prstGeom>
          <a:solidFill>
            <a:srgbClr val="C62828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0972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971800"/>
            <a:ext cx="1143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voleurs</a:t>
            </a:r>
            <a:endParaRPr lang="en-US" sz="6000" dirty="0"/>
          </a:p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veulent votre argent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Ils mentent pour vous tromper.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Ils arrivent par…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2697480" y="2194560"/>
            <a:ext cx="1828800" cy="1828800"/>
          </a:xfrm>
          <a:prstGeom prst="ellipse">
            <a:avLst/>
          </a:prstGeom>
          <a:solidFill>
            <a:srgbClr val="12305E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2542032"/>
            <a:ext cx="1133856" cy="11338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23160" y="4206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appel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166360" y="2194560"/>
            <a:ext cx="1828800" cy="1828800"/>
          </a:xfrm>
          <a:prstGeom prst="ellipse">
            <a:avLst/>
          </a:prstGeom>
          <a:solidFill>
            <a:srgbClr val="12305E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2542032"/>
            <a:ext cx="1133856" cy="11338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92040" y="4206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message</a:t>
            </a:r>
            <a:endParaRPr lang="en-US" sz="2800" dirty="0"/>
          </a:p>
        </p:txBody>
      </p:sp>
      <p:sp>
        <p:nvSpPr>
          <p:cNvPr id="9" name="Shape 5"/>
          <p:cNvSpPr/>
          <p:nvPr/>
        </p:nvSpPr>
        <p:spPr>
          <a:xfrm>
            <a:off x="7635240" y="2194560"/>
            <a:ext cx="1828800" cy="1828800"/>
          </a:xfrm>
          <a:prstGeom prst="ellipse">
            <a:avLst/>
          </a:prstGeom>
          <a:solidFill>
            <a:srgbClr val="12305E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712" y="2542032"/>
            <a:ext cx="1133856" cy="11338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60920" y="4206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L'ordinateur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1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0" y="1188720"/>
            <a:ext cx="2103120" cy="2103120"/>
          </a:xfrm>
          <a:prstGeom prst="ellipse">
            <a:avLst/>
          </a:prstGeom>
          <a:solidFill>
            <a:srgbClr val="C62828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459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520440"/>
            <a:ext cx="1143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JAMAIS votre code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code est secret. À personne.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0" y="1188720"/>
            <a:ext cx="2103120" cy="2103120"/>
          </a:xfrm>
          <a:prstGeom prst="ellipse">
            <a:avLst/>
          </a:prstGeom>
          <a:solidFill>
            <a:srgbClr val="C62828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459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520440"/>
            <a:ext cx="1143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JAMAIS payer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ne paie pas des frais par message.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3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0" y="1188720"/>
            <a:ext cx="2103120" cy="2103120"/>
          </a:xfrm>
          <a:prstGeom prst="ellipse">
            <a:avLst/>
          </a:prstGeom>
          <a:solidFill>
            <a:srgbClr val="E8A100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459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520440"/>
            <a:ext cx="1143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Vite ! Vite ! »</a:t>
            </a:r>
            <a:endParaRPr lang="en-US" sz="6000" dirty="0"/>
          </a:p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piège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on vous presse, arrêtez-vous.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4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0" y="1188720"/>
            <a:ext cx="2103120" cy="2103120"/>
          </a:xfrm>
          <a:prstGeom prst="ellipse">
            <a:avLst/>
          </a:prstGeom>
          <a:solidFill>
            <a:srgbClr val="2E7D32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459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520440"/>
            <a:ext cx="1143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le doute :</a:t>
            </a:r>
            <a:endParaRPr lang="en-US" sz="6000" dirty="0"/>
          </a:p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Demandez à une personne de confiance.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0" y="1188720"/>
            <a:ext cx="2103120" cy="2103120"/>
          </a:xfrm>
          <a:prstGeom prst="ellipse">
            <a:avLst/>
          </a:prstGeom>
          <a:solidFill>
            <a:srgbClr val="C62828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459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520440"/>
            <a:ext cx="1143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Maman, donne-moi</a:t>
            </a:r>
            <a:endParaRPr lang="en-US" sz="6000" dirty="0"/>
          </a:p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l'argent »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Piège. Appelez votre enfant pour vérifier.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0" y="1188720"/>
            <a:ext cx="2103120" cy="2103120"/>
          </a:xfrm>
          <a:prstGeom prst="ellipse">
            <a:avLst/>
          </a:prstGeom>
          <a:solidFill>
            <a:srgbClr val="C62828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459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520440"/>
            <a:ext cx="1143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Je suis la banque.</a:t>
            </a:r>
            <a:endParaRPr lang="en-US" sz="6000" dirty="0"/>
          </a:p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Donnez le code »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NON. Raccrochez et rappelez votre banque.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640080"/>
            <a:ext cx="2103120" cy="2103120"/>
          </a:xfrm>
          <a:prstGeom prst="ellipse">
            <a:avLst/>
          </a:prstGeom>
          <a:solidFill>
            <a:srgbClr val="2E7D32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0972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971800"/>
            <a:ext cx="1143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carte Vitale</a:t>
            </a:r>
            <a:endParaRPr lang="en-US" sz="6000" dirty="0"/>
          </a:p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s'arrête jamais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vous dit de la refaire ? → Piège.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640080"/>
            <a:ext cx="2103120" cy="2103120"/>
          </a:xfrm>
          <a:prstGeom prst="ellipse">
            <a:avLst/>
          </a:prstGeom>
          <a:solidFill>
            <a:srgbClr val="12305E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0972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971800"/>
            <a:ext cx="1143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mot secret</a:t>
            </a:r>
            <a:endParaRPr lang="en-US" sz="6000" dirty="0"/>
          </a:p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famille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mot connu de vous seuls. Pas le mot = piège.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640080"/>
            <a:ext cx="2103120" cy="2103120"/>
          </a:xfrm>
          <a:prstGeom prst="ellipse">
            <a:avLst/>
          </a:prstGeom>
          <a:solidFill>
            <a:srgbClr val="2E7D32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0972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971800"/>
            <a:ext cx="1143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cas de doute,</a:t>
            </a:r>
            <a:endParaRPr lang="en-US" sz="6000" dirty="0"/>
          </a:p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demande de l'aide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personne de confiance peut vérifier avec vous.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retiens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691640" y="1691640"/>
            <a:ext cx="8778240" cy="868680"/>
          </a:xfrm>
          <a:prstGeom prst="roundRect">
            <a:avLst>
              <a:gd name="adj" fmla="val 12632"/>
            </a:avLst>
          </a:prstGeom>
          <a:solidFill>
            <a:srgbClr val="FBE9E9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833372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80360" y="16916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JAMAIS mon code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691640" y="2852928"/>
            <a:ext cx="8778240" cy="868680"/>
          </a:xfrm>
          <a:prstGeom prst="roundRect">
            <a:avLst>
              <a:gd name="adj" fmla="val 12632"/>
            </a:avLst>
          </a:prstGeom>
          <a:solidFill>
            <a:srgbClr val="FBE9E9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2994660"/>
            <a:ext cx="585216" cy="5852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80360" y="2852928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JAMAIS payer par message</a:t>
            </a:r>
            <a:endParaRPr lang="en-US" sz="2800" dirty="0"/>
          </a:p>
        </p:txBody>
      </p:sp>
      <p:sp>
        <p:nvSpPr>
          <p:cNvPr id="9" name="Shape 5"/>
          <p:cNvSpPr/>
          <p:nvPr/>
        </p:nvSpPr>
        <p:spPr>
          <a:xfrm>
            <a:off x="1691640" y="4014216"/>
            <a:ext cx="8778240" cy="868680"/>
          </a:xfrm>
          <a:prstGeom prst="roundRect">
            <a:avLst>
              <a:gd name="adj" fmla="val 12632"/>
            </a:avLst>
          </a:prstGeom>
          <a:solidFill>
            <a:srgbClr val="FBE9E9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4155948"/>
            <a:ext cx="585216" cy="5852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80360" y="4014216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Vite ! » = piège</a:t>
            </a:r>
            <a:endParaRPr lang="en-US" sz="2800" dirty="0"/>
          </a:p>
        </p:txBody>
      </p:sp>
      <p:sp>
        <p:nvSpPr>
          <p:cNvPr id="12" name="Shape 7"/>
          <p:cNvSpPr/>
          <p:nvPr/>
        </p:nvSpPr>
        <p:spPr>
          <a:xfrm>
            <a:off x="1691640" y="5175504"/>
            <a:ext cx="8778240" cy="868680"/>
          </a:xfrm>
          <a:prstGeom prst="roundRect">
            <a:avLst>
              <a:gd name="adj" fmla="val 12632"/>
            </a:avLst>
          </a:prstGeom>
          <a:solidFill>
            <a:srgbClr val="E8F3E9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0" y="5317236"/>
            <a:ext cx="585216" cy="58521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880360" y="5175504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le doute, je demande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188720"/>
            <a:ext cx="1828800" cy="1828800"/>
          </a:xfrm>
          <a:prstGeom prst="ellipse">
            <a:avLst/>
          </a:prstGeom>
          <a:solidFill>
            <a:srgbClr val="2E7D32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508760"/>
            <a:ext cx="1133856" cy="1133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BRAVO !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457200" y="44348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F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Maintenant, vous savez vous protéger.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763</Words>
  <Application>Microsoft Office PowerPoint</Application>
  <PresentationFormat>Grand écran</PresentationFormat>
  <Paragraphs>81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pièges — version très simple</dc:title>
  <dc:subject>PptxGenJS Presentation</dc:subject>
  <dc:creator>Atelier médiation numérique</dc:creator>
  <cp:lastModifiedBy>23010-40-10</cp:lastModifiedBy>
  <cp:revision>1</cp:revision>
  <dcterms:created xsi:type="dcterms:W3CDTF">2026-06-11T14:32:03Z</dcterms:created>
  <dcterms:modified xsi:type="dcterms:W3CDTF">2026-06-11T14:34:39Z</dcterms:modified>
</cp:coreProperties>
</file>