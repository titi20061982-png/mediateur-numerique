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00" r:id="rId40"/>
    <p:sldId id="301" r:id="rId41"/>
    <p:sldId id="302" r:id="rId42"/>
    <p:sldId id="303" r:id="rId43"/>
    <p:sldId id="304" r:id="rId44"/>
    <p:sldId id="305" r:id="rId45"/>
    <p:sldId id="306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036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9.xml"/><Relationship Id="rId18" Type="http://schemas.openxmlformats.org/officeDocument/2006/relationships/slide" Target="slide42.xml"/><Relationship Id="rId3" Type="http://schemas.openxmlformats.org/officeDocument/2006/relationships/slide" Target="slide39.xml"/><Relationship Id="rId21" Type="http://schemas.openxmlformats.org/officeDocument/2006/relationships/slide" Target="slide45.xml"/><Relationship Id="rId7" Type="http://schemas.openxmlformats.org/officeDocument/2006/relationships/slide" Target="slide8.xml"/><Relationship Id="rId12" Type="http://schemas.openxmlformats.org/officeDocument/2006/relationships/slide" Target="slide18.xml"/><Relationship Id="rId17" Type="http://schemas.openxmlformats.org/officeDocument/2006/relationships/slide" Target="slide40.xml"/><Relationship Id="rId2" Type="http://schemas.openxmlformats.org/officeDocument/2006/relationships/notesSlide" Target="../notesSlides/notesSlide2.xml"/><Relationship Id="rId16" Type="http://schemas.openxmlformats.org/officeDocument/2006/relationships/slide" Target="slide38.xml"/><Relationship Id="rId20" Type="http://schemas.openxmlformats.org/officeDocument/2006/relationships/slide" Target="slide4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6.xml"/><Relationship Id="rId5" Type="http://schemas.openxmlformats.org/officeDocument/2006/relationships/slide" Target="slide5.xml"/><Relationship Id="rId15" Type="http://schemas.openxmlformats.org/officeDocument/2006/relationships/slide" Target="slide37.xml"/><Relationship Id="rId10" Type="http://schemas.openxmlformats.org/officeDocument/2006/relationships/slide" Target="slide14.xml"/><Relationship Id="rId19" Type="http://schemas.openxmlformats.org/officeDocument/2006/relationships/slide" Target="slide43.xml"/><Relationship Id="rId4" Type="http://schemas.openxmlformats.org/officeDocument/2006/relationships/slide" Target="slide4.xml"/><Relationship Id="rId9" Type="http://schemas.openxmlformats.org/officeDocument/2006/relationships/slide" Target="slide12.xml"/><Relationship Id="rId1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28.xml"/><Relationship Id="rId4" Type="http://schemas.openxmlformats.org/officeDocument/2006/relationships/slide" Target="slide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2.xml"/><Relationship Id="rId4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6.xml"/><Relationship Id="rId4" Type="http://schemas.openxmlformats.org/officeDocument/2006/relationships/slide" Target="slide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1303021"/>
            <a:ext cx="4572000" cy="2743200"/>
          </a:xfrm>
          <a:prstGeom prst="ellipse">
            <a:avLst/>
          </a:prstGeom>
          <a:solidFill>
            <a:srgbClr val="001833"/>
          </a:solidFill>
          <a:ln w="12700">
            <a:solidFill>
              <a:srgbClr val="001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840480" y="2308861"/>
            <a:ext cx="4572000" cy="2743200"/>
          </a:xfrm>
          <a:prstGeom prst="ellipse">
            <a:avLst/>
          </a:prstGeom>
          <a:solidFill>
            <a:srgbClr val="1A0E00"/>
          </a:solidFill>
          <a:ln w="12700">
            <a:solidFill>
              <a:srgbClr val="1A0E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988700" y="740664"/>
            <a:ext cx="4114800" cy="22860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04495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44952" y="0"/>
            <a:ext cx="3054096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099048" y="0"/>
            <a:ext cx="3044952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977640" y="457200"/>
            <a:ext cx="1188720" cy="1188720"/>
          </a:xfrm>
          <a:prstGeom prst="ellipse">
            <a:avLst/>
          </a:prstGeom>
          <a:solidFill>
            <a:srgbClr val="AA0000"/>
          </a:solidFill>
          <a:ln w="12700">
            <a:solidFill>
              <a:srgbClr val="FF22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97764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228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🪟</a:t>
            </a:r>
            <a:endParaRPr lang="en-US" sz="550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🐧</a:t>
            </a:r>
            <a:endParaRPr lang="en-US" sz="5500" dirty="0"/>
          </a:p>
        </p:txBody>
      </p:sp>
      <p:sp>
        <p:nvSpPr>
          <p:cNvPr id="12" name="Text 10"/>
          <p:cNvSpPr/>
          <p:nvPr/>
        </p:nvSpPr>
        <p:spPr>
          <a:xfrm>
            <a:off x="5669280" y="228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solidFill>
                  <a:srgbClr val="000000"/>
                </a:solidFill>
              </a:rPr>
              <a:t>🍎</a:t>
            </a:r>
            <a:endParaRPr lang="en-US" sz="5500" dirty="0"/>
          </a:p>
        </p:txBody>
      </p:sp>
      <p:sp>
        <p:nvSpPr>
          <p:cNvPr id="13" name="Text 11"/>
          <p:cNvSpPr/>
          <p:nvPr/>
        </p:nvSpPr>
        <p:spPr>
          <a:xfrm>
            <a:off x="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kern="0" spc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91440" y="23957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17520" y="2395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A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69280" y="239572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A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239572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286000" y="3090672"/>
            <a:ext cx="457200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2186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système d'exploitation est fait pour vous 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822192"/>
            <a:ext cx="2286000" cy="621792"/>
          </a:xfrm>
          <a:prstGeom prst="rect">
            <a:avLst/>
          </a:prstGeom>
          <a:solidFill>
            <a:srgbClr val="004E8C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914400" y="38221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Windows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29000" y="3822192"/>
            <a:ext cx="2286000" cy="621792"/>
          </a:xfrm>
          <a:prstGeom prst="rect">
            <a:avLst/>
          </a:prstGeom>
          <a:solidFill>
            <a:srgbClr val="B8701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hlinkClick r:id="rId3" action="ppaction://hlinksldjump"/>
          </p:cNvPr>
          <p:cNvSpPr/>
          <p:nvPr/>
        </p:nvSpPr>
        <p:spPr>
          <a:xfrm>
            <a:off x="3429000" y="38221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Linux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3822192"/>
            <a:ext cx="2286000" cy="621792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>
            <a:hlinkClick r:id="rId3" action="ppaction://hlinksldjump"/>
          </p:cNvPr>
          <p:cNvSpPr/>
          <p:nvPr/>
        </p:nvSpPr>
        <p:spPr>
          <a:xfrm>
            <a:off x="5943600" y="38221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macOS</a:t>
            </a:r>
            <a:endParaRPr lang="en-US" sz="1400" dirty="0"/>
          </a:p>
        </p:txBody>
      </p:sp>
      <p:sp>
        <p:nvSpPr>
          <p:cNvPr id="27" name="Text 25">
            <a:hlinkClick r:id="rId3" action="ppaction://hlinksldjump"/>
          </p:cNvPr>
          <p:cNvSpPr/>
          <p:nvPr/>
        </p:nvSpPr>
        <p:spPr>
          <a:xfrm>
            <a:off x="2743200" y="45537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D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ENTRER DANS L'ARÈNE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Par Cédric WALTENER — Médiateur Numérique — AFPA Guéret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0" y="9144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 OS — Navigation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45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4864" cy="42062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402336" y="822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🥊  Les 3 combattants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316736"/>
            <a:ext cx="54864" cy="4206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hlinkClick r:id="rId4" action="ppaction://hlinksldjump"/>
          </p:cNvPr>
          <p:cNvSpPr/>
          <p:nvPr/>
        </p:nvSpPr>
        <p:spPr>
          <a:xfrm>
            <a:off x="402336" y="131673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 — fonctions idéales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810512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54864" cy="4206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5" action="ppaction://hlinksldjump"/>
          </p:cNvPr>
          <p:cNvSpPr/>
          <p:nvPr/>
        </p:nvSpPr>
        <p:spPr>
          <a:xfrm>
            <a:off x="402336" y="181051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 — fonctions idéales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54864" cy="42062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>
            <a:hlinkClick r:id="rId6" action="ppaction://hlinksldjump"/>
          </p:cNvPr>
          <p:cNvSpPr/>
          <p:nvPr/>
        </p:nvSpPr>
        <p:spPr>
          <a:xfrm>
            <a:off x="402336" y="23042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 — fonctions idéales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98064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798064"/>
            <a:ext cx="54864" cy="4206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>
            <a:hlinkClick r:id="rId7" action="ppaction://hlinksldjump"/>
          </p:cNvPr>
          <p:cNvSpPr/>
          <p:nvPr/>
        </p:nvSpPr>
        <p:spPr>
          <a:xfrm>
            <a:off x="402336" y="279806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⚡  Round 01 — Facilité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822960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46120" y="822960"/>
            <a:ext cx="54864" cy="4206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hlinkClick r:id="rId8" action="ppaction://hlinksldjump"/>
          </p:cNvPr>
          <p:cNvSpPr/>
          <p:nvPr/>
        </p:nvSpPr>
        <p:spPr>
          <a:xfrm>
            <a:off x="3374136" y="822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🔒  Round 02 — Sécurité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1316736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46120" y="1316736"/>
            <a:ext cx="54864" cy="4206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>
            <a:hlinkClick r:id="rId9" action="ppaction://hlinksldjump"/>
          </p:cNvPr>
          <p:cNvSpPr/>
          <p:nvPr/>
        </p:nvSpPr>
        <p:spPr>
          <a:xfrm>
            <a:off x="3374136" y="131673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💶  Round 03 — Prix &amp; budget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1810512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46120" y="1810512"/>
            <a:ext cx="54864" cy="42062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>
            <a:hlinkClick r:id="rId10" action="ppaction://hlinksldjump"/>
          </p:cNvPr>
          <p:cNvSpPr/>
          <p:nvPr/>
        </p:nvSpPr>
        <p:spPr>
          <a:xfrm>
            <a:off x="3374136" y="181051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🎮  Round 04 — Gaming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2304288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46120" y="2304288"/>
            <a:ext cx="54864" cy="42062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11" action="ppaction://hlinksldjump"/>
          </p:cNvPr>
          <p:cNvSpPr/>
          <p:nvPr/>
        </p:nvSpPr>
        <p:spPr>
          <a:xfrm>
            <a:off x="3374136" y="23042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🎨  Round 05 — Création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2798064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46120" y="2798064"/>
            <a:ext cx="54864" cy="42062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>
            <a:hlinkClick r:id="rId12" action="ppaction://hlinksldjump"/>
          </p:cNvPr>
          <p:cNvSpPr/>
          <p:nvPr/>
        </p:nvSpPr>
        <p:spPr>
          <a:xfrm>
            <a:off x="3374136" y="279806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♻️  Round 06 — Reconditionnement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822960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217920" y="822960"/>
            <a:ext cx="54864" cy="42062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>
            <a:hlinkClick r:id="rId13" action="ppaction://hlinksldjump"/>
          </p:cNvPr>
          <p:cNvSpPr/>
          <p:nvPr/>
        </p:nvSpPr>
        <p:spPr>
          <a:xfrm>
            <a:off x="6345936" y="82296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🏆  Tableau des scores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1316736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FF66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217920" y="1316736"/>
            <a:ext cx="54864" cy="420624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>
            <a:hlinkClick r:id="rId14" action="ppaction://hlinksldjump"/>
          </p:cNvPr>
          <p:cNvSpPr/>
          <p:nvPr/>
        </p:nvSpPr>
        <p:spPr>
          <a:xfrm>
            <a:off x="6345936" y="131673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🧭  Quiz — Quel OS êtes-vous ?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1810512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FF66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217920" y="1810512"/>
            <a:ext cx="54864" cy="420624"/>
          </a:xfrm>
          <a:prstGeom prst="rect">
            <a:avLst/>
          </a:prstGeom>
          <a:solidFill>
            <a:srgbClr val="FF6644"/>
          </a:solidFill>
          <a:ln w="12700">
            <a:solidFill>
              <a:srgbClr val="FF66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>
            <a:hlinkClick r:id="rId15" action="ppaction://hlinksldjump"/>
          </p:cNvPr>
          <p:cNvSpPr/>
          <p:nvPr/>
        </p:nvSpPr>
        <p:spPr>
          <a:xfrm>
            <a:off x="6345936" y="181051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🎯  Verdict final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2304288"/>
            <a:ext cx="2743200" cy="420624"/>
          </a:xfrm>
          <a:prstGeom prst="rect">
            <a:avLst/>
          </a:prstGeom>
          <a:solidFill>
            <a:srgbClr val="1A1A2E"/>
          </a:solidFill>
          <a:ln w="10160">
            <a:solidFill>
              <a:srgbClr val="66B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6217920" y="2304288"/>
            <a:ext cx="54864" cy="420624"/>
          </a:xfrm>
          <a:prstGeom prst="rect">
            <a:avLst/>
          </a:prstGeom>
          <a:solidFill>
            <a:srgbClr val="66BB66"/>
          </a:solidFill>
          <a:ln w="12700">
            <a:solidFill>
              <a:srgbClr val="66B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>
            <a:hlinkClick r:id="rId16" action="ppaction://hlinksldjump"/>
          </p:cNvPr>
          <p:cNvSpPr/>
          <p:nvPr/>
        </p:nvSpPr>
        <p:spPr>
          <a:xfrm>
            <a:off x="6345936" y="23042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🏁  Conclusion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une section pour y accéder directement</a:t>
            </a:r>
            <a:endParaRPr lang="en-US" sz="900" dirty="0"/>
          </a:p>
        </p:txBody>
      </p:sp>
      <p:sp>
        <p:nvSpPr>
          <p:cNvPr id="50" name="BonusHeader"/>
          <p:cNvSpPr/>
          <p:nvPr/>
        </p:nvSpPr>
        <p:spPr>
          <a:xfrm>
            <a:off x="402336" y="3291840"/>
            <a:ext cx="8558784" cy="30000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800" b="1" dirty="0">
                <a:solidFill>
                  <a:srgbClr val="FFB300"/>
                </a:solidFill>
                <a:latin typeface="Calibri"/>
              </a:rPr>
              <a:t>⭐  Bonus &amp; Ressources</a:t>
            </a:r>
          </a:p>
        </p:txBody>
      </p:sp>
      <p:sp>
        <p:nvSpPr>
          <p:cNvPr id="51" name="BonusBtn0">
            <a:hlinkClick r:id="rId17" action="ppaction://hlinksldjump"/>
          </p:cNvPr>
          <p:cNvSpPr/>
          <p:nvPr/>
        </p:nvSpPr>
        <p:spPr>
          <a:xfrm>
            <a:off x="402336" y="364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📊  Comparatif technique</a:t>
            </a:r>
          </a:p>
        </p:txBody>
      </p:sp>
      <p:sp>
        <p:nvSpPr>
          <p:cNvPr id="52" name="BonusBtn1">
            <a:hlinkClick r:id="rId18" action="ppaction://hlinksldjump"/>
          </p:cNvPr>
          <p:cNvSpPr/>
          <p:nvPr/>
        </p:nvSpPr>
        <p:spPr>
          <a:xfrm>
            <a:off x="3374136" y="364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💾  Essayer Linux sans risque</a:t>
            </a:r>
          </a:p>
        </p:txBody>
      </p:sp>
      <p:sp>
        <p:nvSpPr>
          <p:cNvPr id="53" name="BonusBtn2">
            <a:hlinkClick r:id="rId19" action="ppaction://hlinksldjump"/>
          </p:cNvPr>
          <p:cNvSpPr/>
          <p:nvPr/>
        </p:nvSpPr>
        <p:spPr>
          <a:xfrm>
            <a:off x="6345936" y="364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🔧  Outils gratuits</a:t>
            </a:r>
          </a:p>
        </p:txBody>
      </p:sp>
      <p:sp>
        <p:nvSpPr>
          <p:cNvPr id="54" name="BonusBtn3">
            <a:hlinkClick r:id="rId20" action="ppaction://hlinksldjump"/>
          </p:cNvPr>
          <p:cNvSpPr/>
          <p:nvPr/>
        </p:nvSpPr>
        <p:spPr>
          <a:xfrm>
            <a:off x="402336" y="406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❓  FAQ</a:t>
            </a:r>
          </a:p>
        </p:txBody>
      </p:sp>
      <p:sp>
        <p:nvSpPr>
          <p:cNvPr id="55" name="BonusBtn4">
            <a:hlinkClick r:id="rId21" action="ppaction://hlinksldjump"/>
          </p:cNvPr>
          <p:cNvSpPr/>
          <p:nvPr/>
        </p:nvSpPr>
        <p:spPr>
          <a:xfrm>
            <a:off x="3374136" y="4061840"/>
            <a:ext cx="2615184" cy="360624"/>
          </a:xfrm>
          <a:prstGeom prst="rect">
            <a:avLst/>
          </a:prstGeom>
          <a:solidFill>
            <a:srgbClr val="111827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b="0" dirty="0">
                <a:solidFill>
                  <a:srgbClr val="FFB300"/>
                </a:solidFill>
                <a:latin typeface="Calibri"/>
              </a:rPr>
              <a:t>📱  QR codes ressources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🥊  Les 3 combattants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651760" cy="38404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265176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8869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🪟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2441448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84048" y="2459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54480" y="2523744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554480" y="2523744"/>
            <a:ext cx="905256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4048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54480" y="2953512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554480" y="2953512"/>
            <a:ext cx="603504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3300984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3319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54480" y="3383280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554480" y="3383280"/>
            <a:ext cx="402336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730752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84048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3813048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554480" y="3813048"/>
            <a:ext cx="1005840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84048" y="4178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54480" y="4242816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554480" y="4242816"/>
            <a:ext cx="1005840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46120" y="777240"/>
            <a:ext cx="2651760" cy="38404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46120" y="777240"/>
            <a:ext cx="265176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246120" y="8869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🐧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3337560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383280" y="2441448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447288" y="2459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2523744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617720" y="2523744"/>
            <a:ext cx="50292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383280" y="2871216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447288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2953512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617720" y="2953512"/>
            <a:ext cx="905256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383280" y="3300984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447288" y="3319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3383280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617720" y="3383280"/>
            <a:ext cx="100584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3383280" y="3730752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447288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3813048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617720" y="3813048"/>
            <a:ext cx="603504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3383280" y="4160520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447288" y="4178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4242816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617720" y="4242816"/>
            <a:ext cx="704088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6309360" y="777240"/>
            <a:ext cx="2651760" cy="38404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6309360" y="777240"/>
            <a:ext cx="2651760" cy="9144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309360" y="8869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🍎</a:t>
            </a:r>
            <a:endParaRPr lang="en-US" sz="5200" dirty="0"/>
          </a:p>
        </p:txBody>
      </p:sp>
      <p:sp>
        <p:nvSpPr>
          <p:cNvPr id="56" name="Text 54"/>
          <p:cNvSpPr/>
          <p:nvPr/>
        </p:nvSpPr>
        <p:spPr>
          <a:xfrm>
            <a:off x="6400800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6446520" y="2441448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510528" y="2459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Facilité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680960" y="2523744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7680960" y="2523744"/>
            <a:ext cx="905256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6446520" y="2871216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6510528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680960" y="2953512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7680960" y="2953512"/>
            <a:ext cx="804672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6446520" y="3300984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6510528" y="3319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680960" y="3383280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7680960" y="3383280"/>
            <a:ext cx="201168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6446520" y="3730752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6510528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680960" y="3813048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7680960" y="3813048"/>
            <a:ext cx="402336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6446520" y="4160520"/>
            <a:ext cx="237744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6510528" y="4178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680960" y="4242816"/>
            <a:ext cx="1005840" cy="182880"/>
          </a:xfrm>
          <a:prstGeom prst="rect">
            <a:avLst/>
          </a:prstGeom>
          <a:solidFill>
            <a:srgbClr val="222233"/>
          </a:solidFill>
          <a:ln w="1270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7680960" y="4242816"/>
            <a:ext cx="603504" cy="18288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80" name="NavSuiv">
            <a:hlinkClick r:id="rId4" action="ppaction://hlinksldjump"/>
          </p:cNvPr>
          <p:cNvSpPr/>
          <p:nvPr/>
        </p:nvSpPr>
        <p:spPr>
          <a:xfrm>
            <a:off x="594360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Suiv  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1833"/>
          </a:solidFill>
          <a:ln w="12700">
            <a:solidFill>
              <a:srgbClr val="001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5486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48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 — Idéal pour &amp; fonctions clés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14800" cy="4041648"/>
          </a:xfrm>
          <a:prstGeom prst="rect">
            <a:avLst/>
          </a:prstGeom>
          <a:solidFill>
            <a:srgbClr val="001020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11480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813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IDÉAL POUR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débutants et seniors — interface connue de tous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8928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gamers — Steam, EA, Xbox, 95% des jeux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4597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en entreprise — Office, Teams, SAP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02666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compatibilité matérielle — imprimantes, scanners, tout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593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21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multimédia — Netflix, streaming, VOD sans problème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achats en ligne et banques — tout est optimisé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389120" cy="4041648"/>
          </a:xfrm>
          <a:prstGeom prst="rect">
            <a:avLst/>
          </a:prstGeom>
          <a:solidFill>
            <a:srgbClr val="001020"/>
          </a:solidFill>
          <a:ln w="1016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804672"/>
            <a:ext cx="4389120" cy="438912"/>
          </a:xfrm>
          <a:prstGeom prst="rect">
            <a:avLst/>
          </a:prstGeom>
          <a:solidFill>
            <a:srgbClr val="004E8C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81381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FONCTIONS CLÉS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36592" y="135331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Office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15727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 — standard mondial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892808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36592" y="19202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Defender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213969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intégré, mis à jour automatiquement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459736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36592" y="24871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Store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7066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officielles en un clic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26664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36592" y="305409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DirectX / Xbox Game Bar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27355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gaming exclusive, optimisée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593592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36592" y="362102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Hello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84048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par empreinte ou reconnaissance faciale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16052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36592" y="418795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Cortana + Copilot IA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36592" y="440740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vocal et intelligence artificielle intégrés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45" name="NavPrec">
            <a:hlinkClick r:id="rId4" action="ppaction://hlinksldjump"/>
          </p:cNvPr>
          <p:cNvSpPr/>
          <p:nvPr/>
        </p:nvSpPr>
        <p:spPr>
          <a:xfrm>
            <a:off x="18288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◀  Préc</a:t>
            </a:r>
          </a:p>
        </p:txBody>
      </p:sp>
      <p:sp>
        <p:nvSpPr>
          <p:cNvPr id="46" name="NavSuiv">
            <a:hlinkClick r:id="rId5" action="ppaction://hlinksldjump"/>
          </p:cNvPr>
          <p:cNvSpPr/>
          <p:nvPr/>
        </p:nvSpPr>
        <p:spPr>
          <a:xfrm>
            <a:off x="594360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Suiv  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E00"/>
          </a:solidFill>
          <a:ln w="12700">
            <a:solidFill>
              <a:srgbClr val="1A0E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5486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48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 — Idéal pour &amp; fonctions clés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14800" cy="4041648"/>
          </a:xfrm>
          <a:prstGeom prst="rect">
            <a:avLst/>
          </a:prstGeom>
          <a:solidFill>
            <a:srgbClr val="100800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11480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813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IDÉAL POUR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Redonner vie à un vieux PC reconditionné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8928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développeurs et programmeurs (Python, web...)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4597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Ceux qui tiennent à leur vie privée et sécurité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02666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étudiants — tout est gratuit, LibreOffice inclus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593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21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serveurs — 90% d'internet tourne sous Linux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curieux qui veulent comprendre leur machine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389120" cy="4041648"/>
          </a:xfrm>
          <a:prstGeom prst="rect">
            <a:avLst/>
          </a:prstGeom>
          <a:solidFill>
            <a:srgbClr val="100800"/>
          </a:solidFill>
          <a:ln w="1016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804672"/>
            <a:ext cx="4389120" cy="438912"/>
          </a:xfrm>
          <a:prstGeom prst="rect">
            <a:avLst/>
          </a:prstGeom>
          <a:solidFill>
            <a:srgbClr val="B8701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81381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FONCTIONS CLÉS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36592" y="135331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LibreOffice (gratuit)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15727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bureautique complète, compatible .docx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892808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36592" y="19202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Gestionnaire de paquets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213969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des logiciels en une commande, sans virus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459736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36592" y="24871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7066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 de la machine, puissant et rapide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26664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36592" y="305409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GIMP / Inkscape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27355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Retouche photo et dessin vectoriel — 100% gratuit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593592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36592" y="362102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VirtualBox intégré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84048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tourner d'autres OS dans une fenêtre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16052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1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36592" y="418795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/ Flatpak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36592" y="440740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modernes sécurisées, mises à jour auto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45" name="NavPrec">
            <a:hlinkClick r:id="rId4" action="ppaction://hlinksldjump"/>
          </p:cNvPr>
          <p:cNvSpPr/>
          <p:nvPr/>
        </p:nvSpPr>
        <p:spPr>
          <a:xfrm>
            <a:off x="18288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◀  Préc</a:t>
            </a:r>
          </a:p>
        </p:txBody>
      </p:sp>
      <p:sp>
        <p:nvSpPr>
          <p:cNvPr id="46" name="NavSuiv">
            <a:hlinkClick r:id="rId5" action="ppaction://hlinksldjump"/>
          </p:cNvPr>
          <p:cNvSpPr/>
          <p:nvPr/>
        </p:nvSpPr>
        <p:spPr>
          <a:xfrm>
            <a:off x="594360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Suiv  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5486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48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 — Idéal pour &amp; fonctions clés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14800" cy="4041648"/>
          </a:xfrm>
          <a:prstGeom prst="rect">
            <a:avLst/>
          </a:prstGeom>
          <a:solidFill>
            <a:srgbClr val="0A0A0A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114800" cy="438912"/>
          </a:xfrm>
          <a:prstGeom prst="rect">
            <a:avLst/>
          </a:prstGeom>
          <a:solidFill>
            <a:srgbClr val="666666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813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IDÉAL POUR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353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musiciens — GarageBand et Logic Pro imbattables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8928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vidéastes — Final Cut Pro, iMovie, DaVinci Resolve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4597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4871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graphistes — Affinity, Sketch, Figma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02666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 iOS/iPhone — Xcode exclusif macOS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593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210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L'écosystème Apple — iPhone + iPad + Mac en harmonie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longévité — un Mac dure 7 à 10 ans facilement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389120" cy="4041648"/>
          </a:xfrm>
          <a:prstGeom prst="rect">
            <a:avLst/>
          </a:prstGeom>
          <a:solidFill>
            <a:srgbClr val="0A0A0A"/>
          </a:solidFill>
          <a:ln w="1016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0" y="804672"/>
            <a:ext cx="4389120" cy="438912"/>
          </a:xfrm>
          <a:prstGeom prst="rect">
            <a:avLst/>
          </a:prstGeom>
          <a:solidFill>
            <a:srgbClr val="666666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81381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 FONCTIONS CLÉS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36592" y="135331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Cut Pro / Logic Pro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15727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mondiale montage vidéo et musique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892808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36592" y="19202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&amp; AirDrop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213969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 sur iPhone ce qu'on fait sur Mac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459736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36592" y="24871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Machine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7066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automatique et restauration facile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26664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36592" y="305409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27355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ultra-rapide de tout sur la machine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593592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36592" y="362102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intégré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384048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vocal natif, bien intégré à l'OS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160520"/>
            <a:ext cx="42062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36592" y="418795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 &amp; Mission Control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36592" y="440740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multi-bureau très fluide et visuelle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45" name="NavPrec">
            <a:hlinkClick r:id="rId4" action="ppaction://hlinksldjump"/>
          </p:cNvPr>
          <p:cNvSpPr/>
          <p:nvPr/>
        </p:nvSpPr>
        <p:spPr>
          <a:xfrm>
            <a:off x="182880" y="4877040"/>
            <a:ext cx="18288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FFB30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AAAACC"/>
                </a:solidFill>
                <a:latin typeface="Calibri" pitchFamily="34" charset="0"/>
              </a:rPr>
              <a:t>◀  Préc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Facilité d'utilisation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Facilité d'utilisation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2296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familière, menu Démarrer intuitif, compatible avec tout. Idéal pour les débutants.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distributions comme Ubuntu sont accessibles, mais nécessite un temps d'adaptation.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élégante et cohérente, facile à prendre en main — mais il faut acheter un Mac.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Windows gagne haut la main pour la facilité — c'est ce que tout le monde connaît déjà.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⚡ Round suivant  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&amp; vie privée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Sécurité &amp; vie privée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principale des virus et malwares. Nécessite un antivirus. Collecte de données par Microsoft.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auditable par tous, peu de virus, aucune donnée envoyée sans consentement.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sécurité, mais Apple collecte des données. Moins ciblé que Windows.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Linux s'impose — open source, auditable, zéro collecte de données. La vie privée a un champion.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💶 Round suivant  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Prix &amp; budget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Prix &amp; budget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coûte 145€. Souvent préinstallé mais payant sur les machines neuves.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gratuit. Aucune licence. Idéal pour donner une seconde vie à un PC reconditionné.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en mise à jour, mais uniquement sur Mac. Un Mac d'entrée de gamme coûte 1 299€.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Linux gagne encore — gratuit à 100%, parfait pour redonner vie à un PC sans dépenser un centime.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🎮 Round suivant  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Gaming &amp; jeux vidéo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Gaming &amp; jeux vidéo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2296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roi du jeu vidéo. Steam, EA, Ubisoft, Xbox — 95% des jeux sortent d'abord sur Windows.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+ Proton permet de jouer à de nombreux jeux Windows. En progression rapide.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jeux disponibles, Apple Silicon change les choses lentement. Pas la priorité des éditeurs.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Windows domine le gaming — pas de débat possible ici.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🎨 Round suivant  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Création &amp; travail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Création &amp; travail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Office native, compatible partout. Très bon pour le travail en entreprise.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pour le développement et la programmation. LibreOffice gratuit mais moins compatible.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67512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67512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pour la création : Final Cut Pro, Logic Pro, Affinity. Apprécié des graphistes et musiciens.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macOS remporte la création haut la main — Final Cut Pro, Logic Pro, l'écosystème créatif est imbattable.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♻️ Round suivant  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000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123444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1828800" y="3310128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Reconditionnement &amp; vieux PC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solidFill>
            <a:srgbClr val="111122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74904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Commencer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548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Reconditionnement &amp; vieux PC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🪟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exige TPM 2.0 et processeur récent. Les vieux PC sont exclus officiellement.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3200400"/>
          </a:xfrm>
          <a:prstGeom prst="rect">
            <a:avLst/>
          </a:prstGeom>
          <a:solidFill>
            <a:srgbClr val="1A1A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7432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749040" y="566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VAINQUEUR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🐧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9184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60520" y="1993392"/>
            <a:ext cx="822960" cy="8229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6052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1012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Respirera sur n'importe quel vieux PC. Linux Mint ou Ubuntu LTS = seconde vie garantie.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743200" cy="3200400"/>
          </a:xfrm>
          <a:prstGeom prst="rect">
            <a:avLst/>
          </a:prstGeom>
          <a:solidFill>
            <a:srgbClr val="1A1A2E"/>
          </a:solidFill>
          <a:ln w="6350">
            <a:solidFill>
              <a:srgbClr val="22223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126480" y="804672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8778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🍎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1993392"/>
            <a:ext cx="822960" cy="822960"/>
          </a:xfrm>
          <a:prstGeom prst="ellipse">
            <a:avLst/>
          </a:prstGeom>
          <a:solidFill>
            <a:srgbClr val="222233"/>
          </a:solidFill>
          <a:ln w="12700">
            <a:solidFill>
              <a:srgbClr val="3333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086600" y="1993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523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sur PC — uniquement sur matériel Apple. Hors jeu pour le reconditionnement.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502920"/>
          </a:xfrm>
          <a:prstGeom prst="rect">
            <a:avLst/>
          </a:prstGeom>
          <a:solidFill>
            <a:srgbClr val="0A0A1A"/>
          </a:solidFill>
          <a:ln w="6350">
            <a:solidFill>
              <a:srgbClr val="2222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Linux sauve les vieux PC — Mint ou Ubuntu LTS ressuscitent des machines que Windows 11 refuse d'installer.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  <p:sp>
        <p:nvSpPr>
          <p:cNvPr id="34" name="NextRound">
            <a:hlinkClick r:id="rId4" action="ppaction://hlinksldjump"/>
          </p:cNvPr>
          <p:cNvSpPr/>
          <p:nvPr/>
        </p:nvSpPr>
        <p:spPr>
          <a:xfrm>
            <a:off x="5486400" y="4877040"/>
            <a:ext cx="2057400" cy="320040"/>
          </a:xfrm>
          <a:prstGeom prst="rect">
            <a:avLst/>
          </a:prstGeom>
          <a:solidFill>
            <a:srgbClr val="FFB300"/>
          </a:solidFill>
          <a:ln>
            <a:solidFill>
              <a:srgbClr val="FFB30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0D1B3E"/>
                </a:solidFill>
                <a:latin typeface="Calibri" pitchFamily="34" charset="0"/>
              </a:rPr>
              <a:t>🏆 Voir les scores  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Tableau des scores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502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🥇 CHAMPION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🐧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084832"/>
            <a:ext cx="1097280" cy="109728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97280" y="20848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🥈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785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86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🥈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🥈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5902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743200" cy="4023360"/>
          </a:xfrm>
          <a:prstGeom prst="rect">
            <a:avLst/>
          </a:prstGeom>
          <a:solidFill>
            <a:srgbClr val="1A1A2E"/>
          </a:solidFill>
          <a:ln w="635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0040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🪟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91840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023360" y="2084832"/>
            <a:ext cx="1097280" cy="109728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023360" y="20848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02336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584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🏆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3785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3986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🏆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3756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🥈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37560" y="45902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822960"/>
            <a:ext cx="2743200" cy="4023360"/>
          </a:xfrm>
          <a:prstGeom prst="rect">
            <a:avLst/>
          </a:prstGeom>
          <a:solidFill>
            <a:srgbClr val="1A1A2E"/>
          </a:solidFill>
          <a:ln w="635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126480" y="914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🍎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217920" y="16276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949440" y="2084832"/>
            <a:ext cx="1097280" cy="1097280"/>
          </a:xfrm>
          <a:prstGeom prst="ellipse">
            <a:avLst/>
          </a:prstGeom>
          <a:solidFill>
            <a:srgbClr val="1A2235"/>
          </a:solidFill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949440" y="20848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94944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5844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🥈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3640" y="3785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🥈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63640" y="39867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🥉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🏆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63640" y="45902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💀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0" y="2743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🧭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0" y="15087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ÊTES-VOUS ?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286000" y="2359152"/>
            <a:ext cx="4572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 pour découvrir votre système idéal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question, choisissez la réponse qui vous ressemble le plus.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3520440"/>
            <a:ext cx="3108960" cy="658368"/>
          </a:xfrm>
          <a:prstGeom prst="rect">
            <a:avLst/>
          </a:prstGeom>
          <a:solidFill>
            <a:srgbClr val="AA0000"/>
          </a:solidFill>
          <a:ln w="12700">
            <a:solidFill>
              <a:srgbClr val="FF22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3" action="ppaction://hlinksldjump"/>
          </p:cNvPr>
          <p:cNvSpPr/>
          <p:nvPr/>
        </p:nvSpPr>
        <p:spPr>
          <a:xfrm>
            <a:off x="3017520" y="35204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C'est parti !  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1 /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5486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vous correspond le mieux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avez un problème avec votre ordinateur. Que faites-vous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message d'erreur apparaît, votre PC rame...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5" action="ppaction://hlinksldjump"/>
          </p:cNvPr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Windows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aimez la simplicité et l'assistance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est fait pour vous ! Interface connue, centre de support, tutoriels partout. Vous n'avez pas besoin de tout comprendre — juste que ça marche.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2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🐧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Linux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aimez comprendre et résoudre par vous-même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vous correspond ! Vous n'avez pas peur de chercher, de lire, d'expérimenter. La communauté Linux est très active et les forums regorgent de solutions.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2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macOS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voulez appeler quelqu'un de confiance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est fait pour vous ! Apple propose des Apple Store, des Genius Bar, un support premium. L'écosystème est très cohérent et rassurant.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2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2 /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5486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vous correspond le mieux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est votre usage principal de l'ordinateur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faites le plus souvent...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5" action="ppaction://hlinksldjump"/>
          </p:cNvPr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Windows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avez des besoins polyvalents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couvre tout — bureautique, internet, jeux, streaming. C'est le couteau suisse du PC. Vous trouverez toujours votre logiciel préféré.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3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🐧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Linux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utilisez votre PC pour des choses précises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excelle dans les usages spécialisés — développement, serveur, sécurité, mais aussi bureautique simple et légère sur des machines modestes.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3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macOS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créez du contenu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est la référence créative — photo, vidéo, musique, design. Si vous produisez du contenu de qualité, l'écosystème Apple est imbattable.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3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3 /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5486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vous correspond le mieux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est votre rapport au budget informatique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Parlons argent franchement...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5" action="ppaction://hlinksldjump"/>
          </p:cNvPr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Windows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voulez du choix à tous les prix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tourne sur des PC à 300€ comme sur des machines à 3000€. Vous avez le plus grand choix de matériel du marché.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4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🐧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Linux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malin avec votre argent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est gratuit, les logiciels sont gratuits, et il fait tourner des PC qui seraient à la poubelle sous Windows 11. Le meilleur rapport qualité/prix.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4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macOS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investissez dans la qualité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ne tourne que sur Mac — comptez minimum 1 299€. Mais la machine dure longtemps, est bien construite et conserve sa valeur à la revente.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 4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4 /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5486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 OS vous correspond le mieux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10972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Comment vous sentez-vous face à la technologie 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Soyez honnête avec vous-même 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2743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🪟  Windows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32461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🐧  Linux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solidFill>
            <a:srgbClr val="0D1520"/>
          </a:solidFill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>
            <a:hlinkClick r:id="rId5" action="ppaction://hlinksldjump"/>
          </p:cNvPr>
          <p:cNvSpPr/>
          <p:nvPr/>
        </p:nvSpPr>
        <p:spPr>
          <a:xfrm>
            <a:off x="6217920" y="199339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u="sng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🍎  macOS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🪟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Windows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Votre résultat final : Windows 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pragmatique. Vous voulez que ça marche, point. Windows est partout, tout le monde peut vous aider, et vous connaissez déjà l'interface.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verdict final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🐧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Linux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Votre résultat final : Linux 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curieux et autonome. Linux vous récompensera par la liberté totale, la sécurité, les performances — et la fierté de maîtriser votre machine.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verdict final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🍎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plutôt macOS 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548640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Votre résultat final : macOS 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valorisez le confort et l'esthétique. macOS vous offre une expérience premium, cohérente et élégante — si votre budget le permet.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hlinkClick r:id="rId3" action="ppaction://hlinksldjump"/>
          </p:cNvPr>
          <p:cNvSpPr/>
          <p:nvPr/>
        </p:nvSpPr>
        <p:spPr>
          <a:xfrm>
            <a:off x="320040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le verdict final  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>
            <a:hlinkClick r:id="rId4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Verdict final — Qui gagne pour qui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61872"/>
          </a:xfrm>
          <a:prstGeom prst="rect">
            <a:avLst/>
          </a:prstGeom>
          <a:solidFill>
            <a:srgbClr val="1A1A2E"/>
          </a:solidFill>
          <a:ln w="1016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4864" cy="12618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692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34440" y="8778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307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Idéal pour : Le grand public, les gamers, les entreprises, ceux qui veulent la simplicité et la compatibilité maximale.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Moins adapté : Ceux qui tiennent à leur vie privée ou qui ont un vieux PC.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8595360" cy="1261872"/>
          </a:xfrm>
          <a:prstGeom prst="rect">
            <a:avLst/>
          </a:prstGeom>
          <a:solidFill>
            <a:srgbClr val="1A1A2E"/>
          </a:solidFill>
          <a:ln w="1016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54864" cy="12618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238658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🐧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34440" y="22951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7249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Idéal pour : Les curieux, les économes, les professionnels IT, ceux qui reconditionnent du matériel ou veulent la liberté totale.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30632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Moins adapté : Les gamers hardcore ou ceux qui ont besoin de logiciels spécifiques Windows.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39312"/>
            <a:ext cx="8595360" cy="1261872"/>
          </a:xfrm>
          <a:prstGeom prst="rect">
            <a:avLst/>
          </a:prstGeom>
          <a:solidFill>
            <a:srgbClr val="1A1A2E"/>
          </a:solidFill>
          <a:ln w="1016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54864" cy="126187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380390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🍎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234440" y="37124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41422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Idéal pour : Les créatifs (musiciens, graphistes, vidéastes), les personnes dans l'écosystème Apple, ceux qui veulent de la qualité premium.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Moins adapté : Ceux avec un budget serré ou qui veulent un PC gaming.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Cédric WALTENER — Battle OS — AFPA Guéret 2026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350"/>
            <a:ext cx="7315200" cy="4114800"/>
          </a:xfrm>
          <a:prstGeom prst="ellipse">
            <a:avLst/>
          </a:prstGeom>
          <a:solidFill>
            <a:srgbClr val="002040"/>
          </a:solidFill>
          <a:ln w="12700">
            <a:solidFill>
              <a:srgbClr val="002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00200" y="900113"/>
            <a:ext cx="5943600" cy="3343275"/>
          </a:xfrm>
          <a:prstGeom prst="ellipse">
            <a:avLst/>
          </a:prstGeom>
          <a:solidFill>
            <a:srgbClr val="001830"/>
          </a:solidFill>
          <a:ln w="12700">
            <a:solidFill>
              <a:srgbClr val="00183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286000" y="1285875"/>
            <a:ext cx="4572000" cy="2571750"/>
          </a:xfrm>
          <a:prstGeom prst="ellipse">
            <a:avLst/>
          </a:prstGeom>
          <a:solidFill>
            <a:srgbClr val="001020"/>
          </a:solidFill>
          <a:ln w="12700">
            <a:solidFill>
              <a:srgbClr val="001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04495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044952" y="0"/>
            <a:ext cx="3054096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099048" y="0"/>
            <a:ext cx="304495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pas 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meilleur OS.</a:t>
            </a:r>
            <a:endParaRPr lang="en-US" sz="62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36576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y a l'OS fait pour vous.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5786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si vous voulez la simplicité et la compatibilité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0540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0815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— si vous voulez la liberté, la sécurité et l'économie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295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55701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— si vous voulez le premium et la création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0" y="4553712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Par Cédric WALTENER — Médiateur Numérique — Agent de Reconditionnement Numérique — AFPA Guéret 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Num"/>
          <p:cNvSpPr/>
          <p:nvPr/>
        </p:nvSpPr>
        <p:spPr>
          <a:xfrm>
            <a:off x="228600" y="228600"/>
            <a:ext cx="868680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600" b="0" dirty="0">
                <a:solidFill>
                  <a:srgbClr val="888888"/>
                </a:solidFill>
                <a:latin typeface="Calibri"/>
              </a:rPr>
              <a:t>PARTIE</a:t>
            </a:r>
          </a:p>
          <a:p>
            <a:pPr marL="0" indent="0" algn="ctr">
              <a:buNone/>
            </a:pPr>
            <a:r>
              <a:rPr lang="fr-FR" sz="9600" b="1" dirty="0">
                <a:solidFill>
                  <a:srgbClr val="FFB300"/>
                </a:solidFill>
                <a:latin typeface="Calibri"/>
              </a:rPr>
              <a:t>01</a:t>
            </a:r>
          </a:p>
        </p:txBody>
      </p:sp>
      <p:sp>
        <p:nvSpPr>
          <p:cNvPr id="4" name="Title"/>
          <p:cNvSpPr/>
          <p:nvPr/>
        </p:nvSpPr>
        <p:spPr>
          <a:xfrm>
            <a:off x="228600" y="2971800"/>
            <a:ext cx="8686800" cy="685800"/>
          </a:xfrm>
          <a:prstGeom prst="rect">
            <a:avLst/>
          </a:prstGeom>
          <a:noFill/>
          <a:ln/>
        </p:spPr>
        <p:txBody>
          <a:bodyPr wrap="square" lIns="91440" tIns="0" rIns="91440" bIns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FFFFFF"/>
                </a:solidFill>
                <a:latin typeface="Calibri"/>
              </a:rPr>
              <a:t>🥊  Les 3 combattants</a:t>
            </a:r>
          </a:p>
        </p:txBody>
      </p:sp>
      <p:sp>
        <p:nvSpPr>
          <p:cNvPr id="5" name="StartBtn">
            <a:hlinkClick r:id="rId2" action="ppaction://hlinksldjump"/>
          </p:cNvPr>
          <p:cNvSpPr/>
          <p:nvPr/>
        </p:nvSpPr>
        <p:spPr>
          <a:xfrm>
            <a:off x="3200400" y="3886200"/>
            <a:ext cx="2743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200" b="1" dirty="0">
                <a:solidFill>
                  <a:srgbClr val="0D1117"/>
                </a:solidFill>
                <a:latin typeface="Calibri"/>
              </a:rPr>
              <a:t>▶  Découvrir</a:t>
            </a:r>
          </a:p>
        </p:txBody>
      </p:sp>
      <p:sp>
        <p:nvSpPr>
          <p:cNvPr id="900" name="MenuBtn">
            <a:hlinkClick r:id="rId3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📊  Comparatif technique rapide</a:t>
            </a:r>
          </a:p>
        </p:txBody>
      </p:sp>
      <p:sp>
        <p:nvSpPr>
          <p:cNvPr id="10" name="cell0_0"/>
          <p:cNvSpPr/>
          <p:nvPr/>
        </p:nvSpPr>
        <p:spPr>
          <a:xfrm>
            <a:off x="182880" y="720000"/>
            <a:ext cx="2200000" cy="449000"/>
          </a:xfrm>
          <a:prstGeom prst="rect">
            <a:avLst/>
          </a:prstGeom>
          <a:solidFill>
            <a:srgbClr val="1A1A3E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Critère</a:t>
            </a:r>
          </a:p>
        </p:txBody>
      </p:sp>
      <p:sp>
        <p:nvSpPr>
          <p:cNvPr id="11" name="cell0_1"/>
          <p:cNvSpPr/>
          <p:nvPr/>
        </p:nvSpPr>
        <p:spPr>
          <a:xfrm>
            <a:off x="2382880" y="720000"/>
            <a:ext cx="1730000" cy="449000"/>
          </a:xfrm>
          <a:prstGeom prst="rect">
            <a:avLst/>
          </a:prstGeom>
          <a:solidFill>
            <a:srgbClr val="1565C0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4DB6AC"/>
                </a:solidFill>
                <a:latin typeface="Calibri"/>
              </a:rPr>
              <a:t>🪟 Windows</a:t>
            </a:r>
          </a:p>
        </p:txBody>
      </p:sp>
      <p:sp>
        <p:nvSpPr>
          <p:cNvPr id="12" name="cell0_2"/>
          <p:cNvSpPr/>
          <p:nvPr/>
        </p:nvSpPr>
        <p:spPr>
          <a:xfrm>
            <a:off x="4112880" y="720000"/>
            <a:ext cx="1730000" cy="449000"/>
          </a:xfrm>
          <a:prstGeom prst="rect">
            <a:avLst/>
          </a:prstGeom>
          <a:solidFill>
            <a:srgbClr val="2E7D32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81C784"/>
                </a:solidFill>
                <a:latin typeface="Calibri"/>
              </a:rPr>
              <a:t>🐧 Linux</a:t>
            </a:r>
          </a:p>
        </p:txBody>
      </p:sp>
      <p:sp>
        <p:nvSpPr>
          <p:cNvPr id="13" name="cell0_3"/>
          <p:cNvSpPr/>
          <p:nvPr/>
        </p:nvSpPr>
        <p:spPr>
          <a:xfrm>
            <a:off x="5842880" y="720000"/>
            <a:ext cx="1730000" cy="449000"/>
          </a:xfrm>
          <a:prstGeom prst="rect">
            <a:avLst/>
          </a:prstGeom>
          <a:solidFill>
            <a:srgbClr val="555555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AAAAAA"/>
                </a:solidFill>
                <a:latin typeface="Calibri"/>
              </a:rPr>
              <a:t>🍎 macOS</a:t>
            </a:r>
          </a:p>
        </p:txBody>
      </p:sp>
      <p:sp>
        <p:nvSpPr>
          <p:cNvPr id="14" name="cell1_0"/>
          <p:cNvSpPr/>
          <p:nvPr/>
        </p:nvSpPr>
        <p:spPr>
          <a:xfrm>
            <a:off x="182880" y="1187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RAM minimale</a:t>
            </a:r>
          </a:p>
        </p:txBody>
      </p:sp>
      <p:sp>
        <p:nvSpPr>
          <p:cNvPr id="15" name="cell1_1"/>
          <p:cNvSpPr/>
          <p:nvPr/>
        </p:nvSpPr>
        <p:spPr>
          <a:xfrm>
            <a:off x="2382880" y="1187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4 Go (8 Go recommandé)</a:t>
            </a:r>
          </a:p>
        </p:txBody>
      </p:sp>
      <p:sp>
        <p:nvSpPr>
          <p:cNvPr id="16" name="cell1_2"/>
          <p:cNvSpPr/>
          <p:nvPr/>
        </p:nvSpPr>
        <p:spPr>
          <a:xfrm>
            <a:off x="4112880" y="1187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512 Mo (1 Go recommandé)</a:t>
            </a:r>
          </a:p>
        </p:txBody>
      </p:sp>
      <p:sp>
        <p:nvSpPr>
          <p:cNvPr id="17" name="cell1_3"/>
          <p:cNvSpPr/>
          <p:nvPr/>
        </p:nvSpPr>
        <p:spPr>
          <a:xfrm>
            <a:off x="5842880" y="1187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8 Go (16 Go recommandé)</a:t>
            </a:r>
          </a:p>
        </p:txBody>
      </p:sp>
      <p:sp>
        <p:nvSpPr>
          <p:cNvPr id="18" name="cell2_0"/>
          <p:cNvSpPr/>
          <p:nvPr/>
        </p:nvSpPr>
        <p:spPr>
          <a:xfrm>
            <a:off x="182880" y="1654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Espace disque</a:t>
            </a:r>
          </a:p>
        </p:txBody>
      </p:sp>
      <p:sp>
        <p:nvSpPr>
          <p:cNvPr id="19" name="cell2_1"/>
          <p:cNvSpPr/>
          <p:nvPr/>
        </p:nvSpPr>
        <p:spPr>
          <a:xfrm>
            <a:off x="2382880" y="1654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64 Go minimum</a:t>
            </a:r>
          </a:p>
        </p:txBody>
      </p:sp>
      <p:sp>
        <p:nvSpPr>
          <p:cNvPr id="20" name="cell2_2"/>
          <p:cNvSpPr/>
          <p:nvPr/>
        </p:nvSpPr>
        <p:spPr>
          <a:xfrm>
            <a:off x="4112880" y="1654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10 Go minimum</a:t>
            </a:r>
          </a:p>
        </p:txBody>
      </p:sp>
      <p:sp>
        <p:nvSpPr>
          <p:cNvPr id="21" name="cell2_3"/>
          <p:cNvSpPr/>
          <p:nvPr/>
        </p:nvSpPr>
        <p:spPr>
          <a:xfrm>
            <a:off x="5842880" y="1654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35 Go minimum</a:t>
            </a:r>
          </a:p>
        </p:txBody>
      </p:sp>
      <p:sp>
        <p:nvSpPr>
          <p:cNvPr id="22" name="cell3_0"/>
          <p:cNvSpPr/>
          <p:nvPr/>
        </p:nvSpPr>
        <p:spPr>
          <a:xfrm>
            <a:off x="182880" y="2121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Durée de support</a:t>
            </a:r>
          </a:p>
        </p:txBody>
      </p:sp>
      <p:sp>
        <p:nvSpPr>
          <p:cNvPr id="23" name="cell3_1"/>
          <p:cNvSpPr/>
          <p:nvPr/>
        </p:nvSpPr>
        <p:spPr>
          <a:xfrm>
            <a:off x="2382880" y="2121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10 ans (Win 10 → 2025)</a:t>
            </a:r>
          </a:p>
        </p:txBody>
      </p:sp>
      <p:sp>
        <p:nvSpPr>
          <p:cNvPr id="24" name="cell3_2"/>
          <p:cNvSpPr/>
          <p:nvPr/>
        </p:nvSpPr>
        <p:spPr>
          <a:xfrm>
            <a:off x="4112880" y="2121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Illimitée (LTS = 5 ans)</a:t>
            </a:r>
          </a:p>
        </p:txBody>
      </p:sp>
      <p:sp>
        <p:nvSpPr>
          <p:cNvPr id="25" name="cell3_3"/>
          <p:cNvSpPr/>
          <p:nvPr/>
        </p:nvSpPr>
        <p:spPr>
          <a:xfrm>
            <a:off x="5842880" y="2121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Dépend du matériel Apple</a:t>
            </a:r>
          </a:p>
        </p:txBody>
      </p:sp>
      <p:sp>
        <p:nvSpPr>
          <p:cNvPr id="26" name="cell4_0"/>
          <p:cNvSpPr/>
          <p:nvPr/>
        </p:nvSpPr>
        <p:spPr>
          <a:xfrm>
            <a:off x="182880" y="2588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Mises à jour</a:t>
            </a:r>
          </a:p>
        </p:txBody>
      </p:sp>
      <p:sp>
        <p:nvSpPr>
          <p:cNvPr id="27" name="cell4_1"/>
          <p:cNvSpPr/>
          <p:nvPr/>
        </p:nvSpPr>
        <p:spPr>
          <a:xfrm>
            <a:off x="2382880" y="2588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Automatiques, parfois forcées</a:t>
            </a:r>
          </a:p>
        </p:txBody>
      </p:sp>
      <p:sp>
        <p:nvSpPr>
          <p:cNvPr id="28" name="cell4_2"/>
          <p:cNvSpPr/>
          <p:nvPr/>
        </p:nvSpPr>
        <p:spPr>
          <a:xfrm>
            <a:off x="4112880" y="2588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À la demande, légères</a:t>
            </a:r>
          </a:p>
        </p:txBody>
      </p:sp>
      <p:sp>
        <p:nvSpPr>
          <p:cNvPr id="29" name="cell4_3"/>
          <p:cNvSpPr/>
          <p:nvPr/>
        </p:nvSpPr>
        <p:spPr>
          <a:xfrm>
            <a:off x="5842880" y="2588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Automatiques, fluides</a:t>
            </a:r>
          </a:p>
        </p:txBody>
      </p:sp>
      <p:sp>
        <p:nvSpPr>
          <p:cNvPr id="30" name="cell5_0"/>
          <p:cNvSpPr/>
          <p:nvPr/>
        </p:nvSpPr>
        <p:spPr>
          <a:xfrm>
            <a:off x="182880" y="3055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Virus / malwares</a:t>
            </a:r>
          </a:p>
        </p:txBody>
      </p:sp>
      <p:sp>
        <p:nvSpPr>
          <p:cNvPr id="31" name="cell5_1"/>
          <p:cNvSpPr/>
          <p:nvPr/>
        </p:nvSpPr>
        <p:spPr>
          <a:xfrm>
            <a:off x="2382880" y="3055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Cible principale</a:t>
            </a:r>
          </a:p>
        </p:txBody>
      </p:sp>
      <p:sp>
        <p:nvSpPr>
          <p:cNvPr id="32" name="cell5_2"/>
          <p:cNvSpPr/>
          <p:nvPr/>
        </p:nvSpPr>
        <p:spPr>
          <a:xfrm>
            <a:off x="4112880" y="3055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Quasi inexistants</a:t>
            </a:r>
          </a:p>
        </p:txBody>
      </p:sp>
      <p:sp>
        <p:nvSpPr>
          <p:cNvPr id="33" name="cell5_3"/>
          <p:cNvSpPr/>
          <p:nvPr/>
        </p:nvSpPr>
        <p:spPr>
          <a:xfrm>
            <a:off x="5842880" y="3055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Rares, en hausse</a:t>
            </a:r>
          </a:p>
        </p:txBody>
      </p:sp>
      <p:sp>
        <p:nvSpPr>
          <p:cNvPr id="34" name="cell6_0"/>
          <p:cNvSpPr/>
          <p:nvPr/>
        </p:nvSpPr>
        <p:spPr>
          <a:xfrm>
            <a:off x="182880" y="3522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Prix de l'OS</a:t>
            </a:r>
          </a:p>
        </p:txBody>
      </p:sp>
      <p:sp>
        <p:nvSpPr>
          <p:cNvPr id="35" name="cell6_1"/>
          <p:cNvSpPr/>
          <p:nvPr/>
        </p:nvSpPr>
        <p:spPr>
          <a:xfrm>
            <a:off x="2382880" y="3522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145 € (souvent inclus)</a:t>
            </a:r>
          </a:p>
        </p:txBody>
      </p:sp>
      <p:sp>
        <p:nvSpPr>
          <p:cNvPr id="36" name="cell6_2"/>
          <p:cNvSpPr/>
          <p:nvPr/>
        </p:nvSpPr>
        <p:spPr>
          <a:xfrm>
            <a:off x="4112880" y="3522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Gratuit</a:t>
            </a:r>
          </a:p>
        </p:txBody>
      </p:sp>
      <p:sp>
        <p:nvSpPr>
          <p:cNvPr id="37" name="cell6_3"/>
          <p:cNvSpPr/>
          <p:nvPr/>
        </p:nvSpPr>
        <p:spPr>
          <a:xfrm>
            <a:off x="5842880" y="3522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Gratuit (Mac requis)</a:t>
            </a:r>
          </a:p>
        </p:txBody>
      </p:sp>
      <p:sp>
        <p:nvSpPr>
          <p:cNvPr id="38" name="cell7_0"/>
          <p:cNvSpPr/>
          <p:nvPr/>
        </p:nvSpPr>
        <p:spPr>
          <a:xfrm>
            <a:off x="182880" y="3989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Matériel compatible</a:t>
            </a:r>
          </a:p>
        </p:txBody>
      </p:sp>
      <p:sp>
        <p:nvSpPr>
          <p:cNvPr id="39" name="cell7_1"/>
          <p:cNvSpPr/>
          <p:nvPr/>
        </p:nvSpPr>
        <p:spPr>
          <a:xfrm>
            <a:off x="2382880" y="3989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Tous les PC</a:t>
            </a:r>
          </a:p>
        </p:txBody>
      </p:sp>
      <p:sp>
        <p:nvSpPr>
          <p:cNvPr id="40" name="cell7_2"/>
          <p:cNvSpPr/>
          <p:nvPr/>
        </p:nvSpPr>
        <p:spPr>
          <a:xfrm>
            <a:off x="4112880" y="3989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Tous les PC (même vieux)</a:t>
            </a:r>
          </a:p>
        </p:txBody>
      </p:sp>
      <p:sp>
        <p:nvSpPr>
          <p:cNvPr id="41" name="cell7_3"/>
          <p:cNvSpPr/>
          <p:nvPr/>
        </p:nvSpPr>
        <p:spPr>
          <a:xfrm>
            <a:off x="5842880" y="3989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Uniquement Apple</a:t>
            </a:r>
          </a:p>
        </p:txBody>
      </p:sp>
      <p:sp>
        <p:nvSpPr>
          <p:cNvPr id="42" name="cell8_0"/>
          <p:cNvSpPr/>
          <p:nvPr/>
        </p:nvSpPr>
        <p:spPr>
          <a:xfrm>
            <a:off x="182880" y="4456000"/>
            <a:ext cx="2200000" cy="449000"/>
          </a:xfrm>
          <a:prstGeom prst="rect">
            <a:avLst/>
          </a:prstGeom>
          <a:solidFill>
            <a:srgbClr val="11182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Installation</a:t>
            </a:r>
          </a:p>
        </p:txBody>
      </p:sp>
      <p:sp>
        <p:nvSpPr>
          <p:cNvPr id="43" name="cell8_1"/>
          <p:cNvSpPr/>
          <p:nvPr/>
        </p:nvSpPr>
        <p:spPr>
          <a:xfrm>
            <a:off x="2382880" y="4456000"/>
            <a:ext cx="1730000" cy="449000"/>
          </a:xfrm>
          <a:prstGeom prst="rect">
            <a:avLst/>
          </a:prstGeom>
          <a:solidFill>
            <a:srgbClr val="0D2347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Facile (assistant graphique)</a:t>
            </a:r>
          </a:p>
        </p:txBody>
      </p:sp>
      <p:sp>
        <p:nvSpPr>
          <p:cNvPr id="44" name="cell8_2"/>
          <p:cNvSpPr/>
          <p:nvPr/>
        </p:nvSpPr>
        <p:spPr>
          <a:xfrm>
            <a:off x="4112880" y="4456000"/>
            <a:ext cx="1730000" cy="449000"/>
          </a:xfrm>
          <a:prstGeom prst="rect">
            <a:avLst/>
          </a:prstGeom>
          <a:solidFill>
            <a:srgbClr val="0D2A14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Facile (Ubuntu/Mint)</a:t>
            </a:r>
          </a:p>
        </p:txBody>
      </p:sp>
      <p:sp>
        <p:nvSpPr>
          <p:cNvPr id="45" name="cell8_3"/>
          <p:cNvSpPr/>
          <p:nvPr/>
        </p:nvSpPr>
        <p:spPr>
          <a:xfrm>
            <a:off x="5842880" y="4456000"/>
            <a:ext cx="1730000" cy="449000"/>
          </a:xfrm>
          <a:prstGeom prst="rect">
            <a:avLst/>
          </a:prstGeom>
          <a:solidFill>
            <a:srgbClr val="1A1A1A"/>
          </a:solidFill>
          <a:ln w="9525">
            <a:solidFill>
              <a:srgbClr val="222244"/>
            </a:solidFill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900" b="0" dirty="0">
                <a:solidFill>
                  <a:srgbClr val="DDDDDD"/>
                </a:solidFill>
                <a:latin typeface="Calibri"/>
              </a:rPr>
              <a:t>Non applicable sur PC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🌎  Et sur mobile ?</a:t>
            </a:r>
          </a:p>
        </p:txBody>
      </p:sp>
      <p:sp>
        <p:nvSpPr>
          <p:cNvPr id="10" name="MobileCard0"/>
          <p:cNvSpPr/>
          <p:nvPr/>
        </p:nvSpPr>
        <p:spPr>
          <a:xfrm>
            <a:off x="182880" y="730000"/>
            <a:ext cx="2743200" cy="114300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91440" tIns="91440" rIns="91440" bIns="9144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🪟
Windows
+
📱 Android</a:t>
            </a:r>
          </a:p>
        </p:txBody>
      </p:sp>
      <p:sp>
        <p:nvSpPr>
          <p:cNvPr id="20" name="MobileSub0"/>
          <p:cNvSpPr/>
          <p:nvPr/>
        </p:nvSpPr>
        <p:spPr>
          <a:xfrm>
            <a:off x="182880" y="1873000"/>
            <a:ext cx="2743200" cy="3429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i="1" dirty="0">
                <a:solidFill>
                  <a:srgbClr val="FFB300"/>
                </a:solidFill>
                <a:latin typeface="Calibri"/>
              </a:rPr>
              <a:t>L'alliance naturelle</a:t>
            </a:r>
          </a:p>
        </p:txBody>
      </p:sp>
      <p:sp>
        <p:nvSpPr>
          <p:cNvPr id="30" name="MobileItems0"/>
          <p:cNvSpPr/>
          <p:nvPr/>
        </p:nvSpPr>
        <p:spPr>
          <a:xfrm>
            <a:off x="182880" y="2215900"/>
            <a:ext cx="2743200" cy="24000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CCCCC"/>
                </a:solidFill>
                <a:latin typeface="Calibri"/>
              </a:rPr>
              <a:t>• Windows + Android = duo dominant
• Partage de fichiers facile (Your Phone)
• Microsoft 365 sur Android
• Xbox Game Pass sur mobile
• Pas de verrouillage écosystème</a:t>
            </a:r>
          </a:p>
        </p:txBody>
      </p:sp>
      <p:sp>
        <p:nvSpPr>
          <p:cNvPr id="11" name="MobileCard1"/>
          <p:cNvSpPr/>
          <p:nvPr/>
        </p:nvSpPr>
        <p:spPr>
          <a:xfrm>
            <a:off x="3154680" y="730000"/>
            <a:ext cx="2743200" cy="11430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91440" tIns="91440" rIns="91440" bIns="9144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🐧
Linux
+
📱 Android</a:t>
            </a:r>
          </a:p>
        </p:txBody>
      </p:sp>
      <p:sp>
        <p:nvSpPr>
          <p:cNvPr id="21" name="MobileSub1"/>
          <p:cNvSpPr/>
          <p:nvPr/>
        </p:nvSpPr>
        <p:spPr>
          <a:xfrm>
            <a:off x="3154680" y="1873000"/>
            <a:ext cx="2743200" cy="3429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i="1" dirty="0">
                <a:solidFill>
                  <a:srgbClr val="FFB300"/>
                </a:solidFill>
                <a:latin typeface="Calibri"/>
              </a:rPr>
              <a:t>La liberté totale</a:t>
            </a:r>
          </a:p>
        </p:txBody>
      </p:sp>
      <p:sp>
        <p:nvSpPr>
          <p:cNvPr id="31" name="MobileItems1"/>
          <p:cNvSpPr/>
          <p:nvPr/>
        </p:nvSpPr>
        <p:spPr>
          <a:xfrm>
            <a:off x="3154680" y="2215900"/>
            <a:ext cx="2743200" cy="24000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CCCCC"/>
                </a:solidFill>
                <a:latin typeface="Calibri"/>
              </a:rPr>
              <a:t>• Android est basé sur Linux !
• Partage via KDE Connect gratuit
• Aucune dépendance Google possible
• Syncthing pour synchroniser sans cloud
• LineageOS pour les puristes</a:t>
            </a:r>
          </a:p>
        </p:txBody>
      </p:sp>
      <p:sp>
        <p:nvSpPr>
          <p:cNvPr id="12" name="MobileCard2"/>
          <p:cNvSpPr/>
          <p:nvPr/>
        </p:nvSpPr>
        <p:spPr>
          <a:xfrm>
            <a:off x="6126480" y="730000"/>
            <a:ext cx="2743200" cy="1143000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lIns="91440" tIns="91440" rIns="91440" bIns="91440" anchor="ctr"/>
          <a:lstStyle/>
          <a:p>
            <a:pPr marL="0" indent="0" algn="ctr">
              <a:buNone/>
            </a:pPr>
            <a:r>
              <a:rPr lang="fr-FR" sz="1800" b="1" dirty="0">
                <a:solidFill>
                  <a:srgbClr val="FFFFFF"/>
                </a:solidFill>
                <a:latin typeface="Calibri"/>
              </a:rPr>
              <a:t>🍎
macOS
+
📱 iPhone</a:t>
            </a:r>
          </a:p>
        </p:txBody>
      </p:sp>
      <p:sp>
        <p:nvSpPr>
          <p:cNvPr id="22" name="MobileSub2"/>
          <p:cNvSpPr/>
          <p:nvPr/>
        </p:nvSpPr>
        <p:spPr>
          <a:xfrm>
            <a:off x="6126480" y="1873000"/>
            <a:ext cx="2743200" cy="3429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000" b="1" i="1" dirty="0">
                <a:solidFill>
                  <a:srgbClr val="FFB300"/>
                </a:solidFill>
                <a:latin typeface="Calibri"/>
              </a:rPr>
              <a:t>L'écosystème fermé parfait</a:t>
            </a:r>
          </a:p>
        </p:txBody>
      </p:sp>
      <p:sp>
        <p:nvSpPr>
          <p:cNvPr id="32" name="MobileItems2"/>
          <p:cNvSpPr/>
          <p:nvPr/>
        </p:nvSpPr>
        <p:spPr>
          <a:xfrm>
            <a:off x="6126480" y="2215900"/>
            <a:ext cx="2743200" cy="24000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50" dirty="0">
                <a:solidFill>
                  <a:srgbClr val="CCCCCC"/>
                </a:solidFill>
                <a:latin typeface="Calibri"/>
              </a:rPr>
              <a:t>• Handoff : continuez sur Mac ce qu'on fait sur iPhone
• AirDrop ultra rapide
• iMessage sur Mac
• Photos synchronisées instantanément
• Coûte cher mais tout est fluide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💽  Essayer Linux sans risque</a:t>
            </a:r>
          </a:p>
        </p:txBody>
      </p:sp>
      <p:sp>
        <p:nvSpPr>
          <p:cNvPr id="10" name="StepNum0"/>
          <p:cNvSpPr/>
          <p:nvPr/>
        </p:nvSpPr>
        <p:spPr>
          <a:xfrm>
            <a:off x="982880" y="800000"/>
            <a:ext cx="1143000" cy="1143000"/>
          </a:xfrm>
          <a:prstGeom prst="ellipse">
            <a:avLst/>
          </a:prstGeom>
          <a:solidFill>
            <a:srgbClr val="2E7D32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48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StepTitle0"/>
          <p:cNvSpPr/>
          <p:nvPr/>
        </p:nvSpPr>
        <p:spPr>
          <a:xfrm>
            <a:off x="182880" y="2057400"/>
            <a:ext cx="2057400" cy="4000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Télécharger une ISO</a:t>
            </a:r>
          </a:p>
        </p:txBody>
      </p:sp>
      <p:sp>
        <p:nvSpPr>
          <p:cNvPr id="30" name="StepDesc0"/>
          <p:cNvSpPr/>
          <p:nvPr/>
        </p:nvSpPr>
        <p:spPr>
          <a:xfrm>
            <a:off x="182880" y="2457400"/>
            <a:ext cx="2057400" cy="20574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Rendez-vous sur ubuntu.com ou linuxmint.com
Choisissez la version LTS (Long Term Support)
Téléchargement gratuit, fichier .iso d'environ 2 Go</a:t>
            </a:r>
          </a:p>
        </p:txBody>
      </p:sp>
      <p:sp>
        <p:nvSpPr>
          <p:cNvPr id="11" name="StepNum1"/>
          <p:cNvSpPr/>
          <p:nvPr/>
        </p:nvSpPr>
        <p:spPr>
          <a:xfrm>
            <a:off x="3182880" y="800000"/>
            <a:ext cx="1143000" cy="1143000"/>
          </a:xfrm>
          <a:prstGeom prst="ellipse">
            <a:avLst/>
          </a:prstGeom>
          <a:solidFill>
            <a:srgbClr val="1565C0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48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StepTitle1"/>
          <p:cNvSpPr/>
          <p:nvPr/>
        </p:nvSpPr>
        <p:spPr>
          <a:xfrm>
            <a:off x="2382880" y="2057400"/>
            <a:ext cx="2057400" cy="40000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Créer une clé USB Live</a:t>
            </a:r>
          </a:p>
        </p:txBody>
      </p:sp>
      <p:sp>
        <p:nvSpPr>
          <p:cNvPr id="31" name="StepDesc1"/>
          <p:cNvSpPr/>
          <p:nvPr/>
        </p:nvSpPr>
        <p:spPr>
          <a:xfrm>
            <a:off x="2382880" y="2457400"/>
            <a:ext cx="2057400" cy="20574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Utilisez Rufus (Windows) ou Balena Etcher (tous OS)
Une clé USB de 8 Go minimum suffit
Le logiciel grave l'ISO sur la clé en quelques minutes</a:t>
            </a:r>
          </a:p>
        </p:txBody>
      </p:sp>
      <p:sp>
        <p:nvSpPr>
          <p:cNvPr id="12" name="StepNum2"/>
          <p:cNvSpPr/>
          <p:nvPr/>
        </p:nvSpPr>
        <p:spPr>
          <a:xfrm>
            <a:off x="5382880" y="800000"/>
            <a:ext cx="1143000" cy="1143000"/>
          </a:xfrm>
          <a:prstGeom prst="ellipse">
            <a:avLst/>
          </a:prstGeom>
          <a:solidFill>
            <a:srgbClr val="6A1B9A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48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StepTitle2"/>
          <p:cNvSpPr/>
          <p:nvPr/>
        </p:nvSpPr>
        <p:spPr>
          <a:xfrm>
            <a:off x="4582880" y="2057400"/>
            <a:ext cx="2057400" cy="400000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Démarrer sur la clé</a:t>
            </a:r>
          </a:p>
        </p:txBody>
      </p:sp>
      <p:sp>
        <p:nvSpPr>
          <p:cNvPr id="32" name="StepDesc2"/>
          <p:cNvSpPr/>
          <p:nvPr/>
        </p:nvSpPr>
        <p:spPr>
          <a:xfrm>
            <a:off x="4582880" y="2457400"/>
            <a:ext cx="2057400" cy="20574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Redémarrez l'ordi · Appuyez sur F12 ou F2 au démarrage
Choisissez 'Boot from USB' dans le menu
Linux se lance sans rien installer — c'est le mode Live !</a:t>
            </a:r>
          </a:p>
        </p:txBody>
      </p:sp>
      <p:sp>
        <p:nvSpPr>
          <p:cNvPr id="13" name="StepNum3"/>
          <p:cNvSpPr/>
          <p:nvPr/>
        </p:nvSpPr>
        <p:spPr>
          <a:xfrm>
            <a:off x="7582880" y="800000"/>
            <a:ext cx="1143000" cy="1143000"/>
          </a:xfrm>
          <a:prstGeom prst="ellipse">
            <a:avLst/>
          </a:prstGeom>
          <a:solidFill>
            <a:srgbClr val="E65100"/>
          </a:solidFill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fr-FR" sz="48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StepTitle3"/>
          <p:cNvSpPr/>
          <p:nvPr/>
        </p:nvSpPr>
        <p:spPr>
          <a:xfrm>
            <a:off x="6782880" y="2057400"/>
            <a:ext cx="2057400" cy="40000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/>
              </a:rPr>
              <a:t>Tester librement</a:t>
            </a:r>
          </a:p>
        </p:txBody>
      </p:sp>
      <p:sp>
        <p:nvSpPr>
          <p:cNvPr id="33" name="StepDesc3"/>
          <p:cNvSpPr/>
          <p:nvPr/>
        </p:nvSpPr>
        <p:spPr>
          <a:xfrm>
            <a:off x="6782880" y="2457400"/>
            <a:ext cx="2057400" cy="20574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Naviguez, ouvrez LibreOffice, connectez-vous au Wi-Fi
Rien n'est modifié sur votre disque dur
Si ça vous plaît : cliquez 'Installer' pour garder Linux !</a:t>
            </a:r>
          </a:p>
        </p:txBody>
      </p:sp>
      <p:sp>
        <p:nvSpPr>
          <p:cNvPr id="60" name="Tip"/>
          <p:cNvSpPr/>
          <p:nvPr/>
        </p:nvSpPr>
        <p:spPr>
          <a:xfrm>
            <a:off x="182880" y="4571000"/>
            <a:ext cx="8778240" cy="320040"/>
          </a:xfrm>
          <a:prstGeom prst="rect">
            <a:avLst/>
          </a:prstGeom>
          <a:solidFill>
            <a:srgbClr val="1A2A1A"/>
          </a:solidFill>
          <a:ln>
            <a:solidFill>
              <a:srgbClr val="2E7D32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i="1" dirty="0">
                <a:solidFill>
                  <a:srgbClr val="81C784"/>
                </a:solidFill>
                <a:latin typeface="Calibri"/>
              </a:rPr>
              <a:t>💡  Distros recommandées pour débutants : Linux Mint Cinnamon (plus proche de Windows) ou Ubuntu LTS (communauté immense)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🔧  Les outils gratuits indispensables</a:t>
            </a:r>
          </a:p>
        </p:txBody>
      </p:sp>
      <p:sp>
        <p:nvSpPr>
          <p:cNvPr id="10" name="Tool0"/>
          <p:cNvSpPr/>
          <p:nvPr/>
        </p:nvSpPr>
        <p:spPr>
          <a:xfrm>
            <a:off x="182880" y="7300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2E7D32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2E7D32"/>
                </a:solidFill>
                <a:latin typeface="Calibri"/>
              </a:rPr>
              <a:t>LibreOffice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Bureautique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Writer, Calc, Impress
Compatible .docx, .xlsx, .pptx
Alternative gratuite à Microsoft Office</a:t>
            </a:r>
          </a:p>
        </p:txBody>
      </p:sp>
      <p:sp>
        <p:nvSpPr>
          <p:cNvPr id="11" name="Tool1"/>
          <p:cNvSpPr/>
          <p:nvPr/>
        </p:nvSpPr>
        <p:spPr>
          <a:xfrm>
            <a:off x="3154680" y="7300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E65100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E65100"/>
                </a:solidFill>
                <a:latin typeface="Calibri"/>
              </a:rPr>
              <a:t>VLC Media Player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Multimédia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Lit tous les formats vidéo et audio
Léger, rapide, aucun codec à installer
Le lecteur universel</a:t>
            </a:r>
          </a:p>
        </p:txBody>
      </p:sp>
      <p:sp>
        <p:nvSpPr>
          <p:cNvPr id="12" name="Tool2"/>
          <p:cNvSpPr/>
          <p:nvPr/>
        </p:nvSpPr>
        <p:spPr>
          <a:xfrm>
            <a:off x="6126480" y="7300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6A1B9A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6A1B9A"/>
                </a:solidFill>
                <a:latin typeface="Calibri"/>
              </a:rPr>
              <a:t>GIMP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Retouche photo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Édition d'images professionnelle
Alternative gratuite à Photoshop
Calques, filtres, exportation multi-formats</a:t>
            </a:r>
          </a:p>
        </p:txBody>
      </p:sp>
      <p:sp>
        <p:nvSpPr>
          <p:cNvPr id="13" name="Tool3"/>
          <p:cNvSpPr/>
          <p:nvPr/>
        </p:nvSpPr>
        <p:spPr>
          <a:xfrm>
            <a:off x="182880" y="26731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1565C0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1565C0"/>
                </a:solidFill>
                <a:latin typeface="Calibri"/>
              </a:rPr>
              <a:t>Firefox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Navigateur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Respect de la vie privée
Extensions puissantes (uBlock Origin)
Synchronisation entre appareils</a:t>
            </a:r>
          </a:p>
        </p:txBody>
      </p:sp>
      <p:sp>
        <p:nvSpPr>
          <p:cNvPr id="14" name="Tool4"/>
          <p:cNvSpPr/>
          <p:nvPr/>
        </p:nvSpPr>
        <p:spPr>
          <a:xfrm>
            <a:off x="3154680" y="26731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00838F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00838F"/>
                </a:solidFill>
                <a:latin typeface="Calibri"/>
              </a:rPr>
              <a:t>Thunderbird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Messagerie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Client mail gratuit et open source
Gère Gmail, Outlook, tout IMAP
Agenda intégré, aucune pub</a:t>
            </a:r>
          </a:p>
        </p:txBody>
      </p:sp>
      <p:sp>
        <p:nvSpPr>
          <p:cNvPr id="15" name="Tool5"/>
          <p:cNvSpPr/>
          <p:nvPr/>
        </p:nvSpPr>
        <p:spPr>
          <a:xfrm>
            <a:off x="6126480" y="2673100"/>
            <a:ext cx="2743200" cy="1828800"/>
          </a:xfrm>
          <a:prstGeom prst="rect">
            <a:avLst/>
          </a:prstGeom>
          <a:solidFill>
            <a:srgbClr val="111827"/>
          </a:solidFill>
          <a:ln>
            <a:solidFill>
              <a:srgbClr val="B45309"/>
            </a:solidFill>
            <a:prstDash val="solid"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fr-FR" sz="1300" b="1" dirty="0">
                <a:solidFill>
                  <a:srgbClr val="B45309"/>
                </a:solidFill>
                <a:latin typeface="Calibri"/>
              </a:rPr>
              <a:t>Bitwarden</a:t>
            </a:r>
          </a:p>
          <a:p>
            <a:pPr marL="0" indent="0">
              <a:buNone/>
            </a:pPr>
            <a:r>
              <a:rPr lang="fr-FR" sz="900" b="1" dirty="0">
                <a:solidFill>
                  <a:srgbClr val="FFB300"/>
                </a:solidFill>
                <a:latin typeface="Calibri"/>
              </a:rPr>
              <a:t>Mots de passe  ·  Win+Lin+Mac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AAAAAA"/>
                </a:solidFill>
                <a:latin typeface="Calibri"/>
              </a:rPr>
              <a:t>Gestionnaire de mots de passe
Chiffrement bout en bout
Gratuit, open source, multi-appareils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❓  FAQ — Les vraies questions</a:t>
            </a:r>
          </a:p>
        </p:txBody>
      </p:sp>
      <p:sp>
        <p:nvSpPr>
          <p:cNvPr id="10" name="Q0"/>
          <p:cNvSpPr/>
          <p:nvPr/>
        </p:nvSpPr>
        <p:spPr>
          <a:xfrm>
            <a:off x="182880" y="730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Mes fichiers Word marchent-ils sous Linux ?</a:t>
            </a:r>
          </a:p>
        </p:txBody>
      </p:sp>
      <p:sp>
        <p:nvSpPr>
          <p:cNvPr id="11" name="A0"/>
          <p:cNvSpPr/>
          <p:nvPr/>
        </p:nvSpPr>
        <p:spPr>
          <a:xfrm>
            <a:off x="182880" y="1072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Oui ! LibreOffice ouvre tous les formats .docx, .xlsx, .pptx. Quelques rares mises en page complexes peuvent légèrement varier, mais pour un usage courant c'est transparent.</a:t>
            </a:r>
          </a:p>
        </p:txBody>
      </p:sp>
      <p:sp>
        <p:nvSpPr>
          <p:cNvPr id="12" name="Q1"/>
          <p:cNvSpPr/>
          <p:nvPr/>
        </p:nvSpPr>
        <p:spPr>
          <a:xfrm>
            <a:off x="182880" y="1587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Mon imprimante fonctionne-t-elle sous Linux ?</a:t>
            </a:r>
          </a:p>
        </p:txBody>
      </p:sp>
      <p:sp>
        <p:nvSpPr>
          <p:cNvPr id="13" name="A1"/>
          <p:cNvSpPr/>
          <p:nvPr/>
        </p:nvSpPr>
        <p:spPr>
          <a:xfrm>
            <a:off x="182880" y="1929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Dans 90% des cas, oui automatiquement. Les grandes marques (HP, Brother, Canon, Epson) sont bien supportées. Évitez les imprimantes très anciennes ou les modèles bas de gamme sans pilotes.</a:t>
            </a:r>
          </a:p>
        </p:txBody>
      </p:sp>
      <p:sp>
        <p:nvSpPr>
          <p:cNvPr id="14" name="Q2"/>
          <p:cNvSpPr/>
          <p:nvPr/>
        </p:nvSpPr>
        <p:spPr>
          <a:xfrm>
            <a:off x="182880" y="2444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Puis-je jouer à mes jeux Steam sous Linux ?</a:t>
            </a:r>
          </a:p>
        </p:txBody>
      </p:sp>
      <p:sp>
        <p:nvSpPr>
          <p:cNvPr id="15" name="A2"/>
          <p:cNvSpPr/>
          <p:nvPr/>
        </p:nvSpPr>
        <p:spPr>
          <a:xfrm>
            <a:off x="182880" y="2786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Oui, grâce à Proton (intégré à Steam). Plus de 80% du catalogue Steam fonctionne. Certains jeux avec anti-triche (VAC, EAC) peuvent poser problème. Consultez ProtonDB.com.</a:t>
            </a:r>
          </a:p>
        </p:txBody>
      </p:sp>
      <p:sp>
        <p:nvSpPr>
          <p:cNvPr id="16" name="Q3"/>
          <p:cNvSpPr/>
          <p:nvPr/>
        </p:nvSpPr>
        <p:spPr>
          <a:xfrm>
            <a:off x="182880" y="3301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Est-ce qu'on peut avoir Linux ET Windows sur le même PC ?</a:t>
            </a:r>
          </a:p>
        </p:txBody>
      </p:sp>
      <p:sp>
        <p:nvSpPr>
          <p:cNvPr id="17" name="A3"/>
          <p:cNvSpPr/>
          <p:nvPr/>
        </p:nvSpPr>
        <p:spPr>
          <a:xfrm>
            <a:off x="182880" y="3643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Oui ! C'est ce qu'on appelle le dual boot. Au démarrage, vous choisissez quel OS lancer. Linux le propose automatiquement pendant l'installation si Windows est déjà présent.</a:t>
            </a:r>
          </a:p>
        </p:txBody>
      </p:sp>
      <p:sp>
        <p:nvSpPr>
          <p:cNvPr id="18" name="Q4"/>
          <p:cNvSpPr/>
          <p:nvPr/>
        </p:nvSpPr>
        <p:spPr>
          <a:xfrm>
            <a:off x="182880" y="4158000"/>
            <a:ext cx="8778240" cy="342900"/>
          </a:xfrm>
          <a:prstGeom prst="rect">
            <a:avLst/>
          </a:prstGeom>
          <a:solidFill>
            <a:srgbClr val="1A2233"/>
          </a:solidFill>
          <a:ln>
            <a:solidFill>
              <a:srgbClr val="FFB300"/>
            </a:solidFill>
          </a:ln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FFB300"/>
                </a:solidFill>
                <a:latin typeface="Calibri"/>
              </a:rPr>
              <a:t>❓  macOS peut-il tourner sur un PC normal ?</a:t>
            </a:r>
          </a:p>
        </p:txBody>
      </p:sp>
      <p:sp>
        <p:nvSpPr>
          <p:cNvPr id="19" name="A4"/>
          <p:cNvSpPr/>
          <p:nvPr/>
        </p:nvSpPr>
        <p:spPr>
          <a:xfrm>
            <a:off x="182880" y="4500900"/>
            <a:ext cx="8778240" cy="4572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82880" tIns="45720" rIns="182880" bIns="4572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CCCCCC"/>
                </a:solidFill>
                <a:latin typeface="Calibri"/>
              </a:rPr>
              <a:t>Officiellement non — Apple réserve macOS à ses machines. Il existe le 'Hackintosh' (macOS sur PC), mais c'est illégal selon les CGU Apple, instable et non recommandé.</a:t>
            </a:r>
          </a:p>
        </p:txBody>
      </p:sp>
      <p:sp>
        <p:nvSpPr>
          <p:cNvPr id="900" name="MenuBtn">
            <a:hlinkClick r:id="rId2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3E"/>
          </a:solidFill>
          <a:ln/>
        </p:spPr>
        <p:txBody>
          <a:bodyPr wrap="square" lIns="182880" tIns="45720" rIns="91440" bIns="4572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FFFFFF"/>
                </a:solidFill>
                <a:latin typeface="Calibri"/>
              </a:rPr>
              <a:t>📱  Ressources — Scannez avec votre téléphone</a:t>
            </a:r>
          </a:p>
        </p:txBody>
      </p:sp>
      <p:sp>
        <p:nvSpPr>
          <p:cNvPr id="10" name="QRCard0"/>
          <p:cNvSpPr/>
          <p:nvPr/>
        </p:nvSpPr>
        <p:spPr>
          <a:xfrm>
            <a:off x="182880" y="730000"/>
            <a:ext cx="2057400" cy="4070000"/>
          </a:xfrm>
          <a:prstGeom prst="rect">
            <a:avLst/>
          </a:prstGeom>
          <a:solidFill>
            <a:srgbClr val="111827"/>
          </a:solidFill>
          <a:ln>
            <a:solidFill>
              <a:srgbClr val="2E7D32"/>
            </a:solidFill>
          </a:ln>
        </p:spPr>
        <p:txBody>
          <a:bodyPr wrap="square" lIns="91440" tIns="91440" rIns="91440" bIns="91440" anchor="t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2E7D32"/>
                </a:solidFill>
                <a:latin typeface="Calibri"/>
              </a:rPr>
              <a:t>🐧 Linux Mint</a:t>
            </a:r>
          </a:p>
          <a:p>
            <a:pPr marL="0" indent="0" algn="ctr">
              <a:buNone/>
            </a:pPr>
            <a:r>
              <a:rPr lang="fr-FR" sz="800" dirty="0">
                <a:solidFill>
                  <a:srgbClr val="AAAAAA"/>
                </a:solidFill>
                <a:latin typeface="Calibri"/>
              </a:rPr>
              <a:t>La distro idéale pour débuter
Interface proche de Windows</a:t>
            </a:r>
          </a:p>
        </p:txBody>
      </p:sp>
      <p:pic>
        <p:nvPicPr>
          <p:cNvPr id="50" name="QR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000"/>
            <a:ext cx="1600200" cy="1600200"/>
          </a:xfrm>
          <a:prstGeom prst="rect">
            <a:avLst/>
          </a:prstGeom>
        </p:spPr>
      </p:pic>
      <p:sp>
        <p:nvSpPr>
          <p:cNvPr id="70" name="URL0"/>
          <p:cNvSpPr/>
          <p:nvPr/>
        </p:nvSpPr>
        <p:spPr>
          <a:xfrm>
            <a:off x="182880" y="3300000"/>
            <a:ext cx="2057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888888"/>
                </a:solidFill>
                <a:latin typeface="Calibri"/>
              </a:rPr>
              <a:t>https://www.linuxmint.com</a:t>
            </a:r>
          </a:p>
        </p:txBody>
      </p:sp>
      <p:sp>
        <p:nvSpPr>
          <p:cNvPr id="11" name="QRCard1"/>
          <p:cNvSpPr/>
          <p:nvPr/>
        </p:nvSpPr>
        <p:spPr>
          <a:xfrm>
            <a:off x="2382880" y="730000"/>
            <a:ext cx="2057400" cy="4070000"/>
          </a:xfrm>
          <a:prstGeom prst="rect">
            <a:avLst/>
          </a:prstGeom>
          <a:solidFill>
            <a:srgbClr val="111827"/>
          </a:solidFill>
          <a:ln>
            <a:solidFill>
              <a:srgbClr val="E65100"/>
            </a:solidFill>
          </a:ln>
        </p:spPr>
        <p:txBody>
          <a:bodyPr wrap="square" lIns="91440" tIns="91440" rIns="91440" bIns="91440" anchor="t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E65100"/>
                </a:solidFill>
                <a:latin typeface="Calibri"/>
              </a:rPr>
              <a:t>🐧 Ubuntu</a:t>
            </a:r>
          </a:p>
          <a:p>
            <a:pPr marL="0" indent="0" algn="ctr">
              <a:buNone/>
            </a:pPr>
            <a:r>
              <a:rPr lang="fr-FR" sz="800" dirty="0">
                <a:solidFill>
                  <a:srgbClr val="AAAAAA"/>
                </a:solidFill>
                <a:latin typeface="Calibri"/>
              </a:rPr>
              <a:t>La plus connue, documentation immense
Idéale pour les curieux</a:t>
            </a:r>
          </a:p>
        </p:txBody>
      </p:sp>
      <p:pic>
        <p:nvPicPr>
          <p:cNvPr id="51" name="QR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480" y="1600000"/>
            <a:ext cx="1600200" cy="1600200"/>
          </a:xfrm>
          <a:prstGeom prst="rect">
            <a:avLst/>
          </a:prstGeom>
        </p:spPr>
      </p:pic>
      <p:sp>
        <p:nvSpPr>
          <p:cNvPr id="71" name="URL1"/>
          <p:cNvSpPr/>
          <p:nvPr/>
        </p:nvSpPr>
        <p:spPr>
          <a:xfrm>
            <a:off x="2382880" y="3300000"/>
            <a:ext cx="2057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888888"/>
                </a:solidFill>
                <a:latin typeface="Calibri"/>
              </a:rPr>
              <a:t>https://ubuntu.com/download</a:t>
            </a:r>
          </a:p>
        </p:txBody>
      </p:sp>
      <p:sp>
        <p:nvSpPr>
          <p:cNvPr id="12" name="QRCard2"/>
          <p:cNvSpPr/>
          <p:nvPr/>
        </p:nvSpPr>
        <p:spPr>
          <a:xfrm>
            <a:off x="4582880" y="730000"/>
            <a:ext cx="2057400" cy="4070000"/>
          </a:xfrm>
          <a:prstGeom prst="rect">
            <a:avLst/>
          </a:prstGeom>
          <a:solidFill>
            <a:srgbClr val="111827"/>
          </a:solidFill>
          <a:ln>
            <a:solidFill>
              <a:srgbClr val="1565C0"/>
            </a:solidFill>
          </a:ln>
        </p:spPr>
        <p:txBody>
          <a:bodyPr wrap="square" lIns="91440" tIns="91440" rIns="91440" bIns="91440" anchor="t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1565C0"/>
                </a:solidFill>
                <a:latin typeface="Calibri"/>
              </a:rPr>
              <a:t>🪟 Windows</a:t>
            </a:r>
          </a:p>
          <a:p>
            <a:pPr marL="0" indent="0" algn="ctr">
              <a:buNone/>
            </a:pPr>
            <a:r>
              <a:rPr lang="fr-FR" sz="800" dirty="0">
                <a:solidFill>
                  <a:srgbClr val="AAAAAA"/>
                </a:solidFill>
                <a:latin typeface="Calibri"/>
              </a:rPr>
              <a:t>Site officiel Microsoft
Téléchargement légal de Windows 11</a:t>
            </a:r>
          </a:p>
        </p:txBody>
      </p:sp>
      <p:pic>
        <p:nvPicPr>
          <p:cNvPr id="52" name="QR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480" y="1600000"/>
            <a:ext cx="1600200" cy="1600200"/>
          </a:xfrm>
          <a:prstGeom prst="rect">
            <a:avLst/>
          </a:prstGeom>
        </p:spPr>
      </p:pic>
      <p:sp>
        <p:nvSpPr>
          <p:cNvPr id="72" name="URL2"/>
          <p:cNvSpPr/>
          <p:nvPr/>
        </p:nvSpPr>
        <p:spPr>
          <a:xfrm>
            <a:off x="4582880" y="3300000"/>
            <a:ext cx="2057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888888"/>
                </a:solidFill>
                <a:latin typeface="Calibri"/>
              </a:rPr>
              <a:t>https://www.microsoft.com/fr-fr/software-download/windows11</a:t>
            </a:r>
          </a:p>
        </p:txBody>
      </p:sp>
      <p:sp>
        <p:nvSpPr>
          <p:cNvPr id="13" name="QRCard3"/>
          <p:cNvSpPr/>
          <p:nvPr/>
        </p:nvSpPr>
        <p:spPr>
          <a:xfrm>
            <a:off x="6782880" y="730000"/>
            <a:ext cx="2057400" cy="4070000"/>
          </a:xfrm>
          <a:prstGeom prst="rect">
            <a:avLst/>
          </a:prstGeom>
          <a:solidFill>
            <a:srgbClr val="111827"/>
          </a:solidFill>
          <a:ln>
            <a:solidFill>
              <a:srgbClr val="6A1B9A"/>
            </a:solidFill>
          </a:ln>
        </p:spPr>
        <p:txBody>
          <a:bodyPr wrap="square" lIns="91440" tIns="91440" rIns="91440" bIns="91440" anchor="t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6A1B9A"/>
                </a:solidFill>
                <a:latin typeface="Calibri"/>
              </a:rPr>
              <a:t>🛠️ Rufus</a:t>
            </a:r>
          </a:p>
          <a:p>
            <a:pPr marL="0" indent="0" algn="ctr">
              <a:buNone/>
            </a:pPr>
            <a:r>
              <a:rPr lang="fr-FR" sz="800" dirty="0">
                <a:solidFill>
                  <a:srgbClr val="AAAAAA"/>
                </a:solidFill>
                <a:latin typeface="Calibri"/>
              </a:rPr>
              <a:t>Créer une clé USB bootable
Gratuit, léger, indispensable</a:t>
            </a:r>
          </a:p>
        </p:txBody>
      </p:sp>
      <p:pic>
        <p:nvPicPr>
          <p:cNvPr id="53" name="QR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480" y="1600000"/>
            <a:ext cx="1600200" cy="1600200"/>
          </a:xfrm>
          <a:prstGeom prst="rect">
            <a:avLst/>
          </a:prstGeom>
        </p:spPr>
      </p:pic>
      <p:sp>
        <p:nvSpPr>
          <p:cNvPr id="73" name="URL3"/>
          <p:cNvSpPr/>
          <p:nvPr/>
        </p:nvSpPr>
        <p:spPr>
          <a:xfrm>
            <a:off x="6782880" y="3300000"/>
            <a:ext cx="2057400" cy="4572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fr-FR" sz="700" dirty="0">
                <a:solidFill>
                  <a:srgbClr val="888888"/>
                </a:solidFill>
                <a:latin typeface="Calibri"/>
              </a:rPr>
              <a:t>https://rufus.ie</a:t>
            </a:r>
          </a:p>
        </p:txBody>
      </p:sp>
      <p:sp>
        <p:nvSpPr>
          <p:cNvPr id="900" name="MenuBtn">
            <a:hlinkClick r:id="rId6" action="ppaction://hlinksldjump"/>
          </p:cNvPr>
          <p:cNvSpPr/>
          <p:nvPr/>
        </p:nvSpPr>
        <p:spPr>
          <a:xfrm>
            <a:off x="7863840" y="4754880"/>
            <a:ext cx="1143000" cy="320040"/>
          </a:xfrm>
          <a:prstGeom prst="rect">
            <a:avLst/>
          </a:prstGeom>
          <a:solidFill>
            <a:srgbClr val="1A1A2E"/>
          </a:solidFill>
          <a:ln>
            <a:solidFill>
              <a:srgbClr val="444466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fr-FR" sz="900" dirty="0">
                <a:solidFill>
                  <a:srgbClr val="AAAACC"/>
                </a:solidFill>
                <a:latin typeface="Calibri"/>
              </a:rPr>
              <a:t>☰  Menu</a:t>
            </a:r>
          </a:p>
        </p:txBody>
      </p:sp>
      <p:sp>
        <p:nvSpPr>
          <p:cNvPr id="901" name="Footer"/>
          <p:cNvSpPr/>
          <p:nvPr/>
        </p:nvSpPr>
        <p:spPr>
          <a:xfrm>
            <a:off x="0" y="4956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888899"/>
                </a:solidFill>
                <a:latin typeface="Calibri"/>
              </a:rPr>
              <a:t>Cédric WALTENER — Battle OS — AFPA Guéret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3343</Words>
  <Application>Microsoft Office PowerPoint</Application>
  <PresentationFormat>Affichage à l'écran (16:9)</PresentationFormat>
  <Paragraphs>631</Paragraphs>
  <Slides>45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9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 OS — Windows vs Linux vs macOS</dc:title>
  <dc:subject>PptxGenJS Presentation</dc:subject>
  <dc:creator>Cédric WALTENER</dc:creator>
  <cp:lastModifiedBy>titi 23</cp:lastModifiedBy>
  <cp:revision>2</cp:revision>
  <dcterms:created xsi:type="dcterms:W3CDTF">2026-05-03T16:42:37Z</dcterms:created>
  <dcterms:modified xsi:type="dcterms:W3CDTF">2026-06-28T17:44:53Z</dcterms:modified>
</cp:coreProperties>
</file>