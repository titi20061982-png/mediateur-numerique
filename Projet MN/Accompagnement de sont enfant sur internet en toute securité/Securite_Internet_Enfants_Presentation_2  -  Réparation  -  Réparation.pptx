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26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22.xml"/><Relationship Id="rId3" Type="http://schemas.openxmlformats.org/officeDocument/2006/relationships/image" Target="../media/image1.png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21.xml"/><Relationship Id="rId2" Type="http://schemas.openxmlformats.org/officeDocument/2006/relationships/notesSlide" Target="../notesSlides/notesSlide3.xml"/><Relationship Id="rId16" Type="http://schemas.openxmlformats.org/officeDocument/2006/relationships/slide" Target="slide20.xml"/><Relationship Id="rId20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9.xml"/><Relationship Id="rId10" Type="http://schemas.openxmlformats.org/officeDocument/2006/relationships/slide" Target="slide10.xml"/><Relationship Id="rId19" Type="http://schemas.openxmlformats.org/officeDocument/2006/relationships/slide" Target="slide2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8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3.xml"/><Relationship Id="rId4" Type="http://schemas.openxmlformats.org/officeDocument/2006/relationships/slide" Target="slide6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3.xml"/><Relationship Id="rId4" Type="http://schemas.openxmlformats.org/officeDocument/2006/relationships/slide" Target="slide7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3.xml"/><Relationship Id="rId4" Type="http://schemas.openxmlformats.org/officeDocument/2006/relationships/slide" Target="slide8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3.xml"/><Relationship Id="rId4" Type="http://schemas.openxmlformats.org/officeDocument/2006/relationships/slide" Target="slide9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3.xml"/><Relationship Id="rId4" Type="http://schemas.openxmlformats.org/officeDocument/2006/relationships/slide" Target="slide1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3.xml"/><Relationship Id="rId4" Type="http://schemas.openxmlformats.org/officeDocument/2006/relationships/slide" Target="slide1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3.xml"/><Relationship Id="rId4" Type="http://schemas.openxmlformats.org/officeDocument/2006/relationships/slide" Target="slide1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slide" Target="slide3.xml"/><Relationship Id="rId4" Type="http://schemas.openxmlformats.org/officeDocument/2006/relationships/slide" Target="slide14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3.xml"/><Relationship Id="rId4" Type="http://schemas.openxmlformats.org/officeDocument/2006/relationships/slide" Target="slide15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18.xml"/><Relationship Id="rId4" Type="http://schemas.openxmlformats.org/officeDocument/2006/relationships/slide" Target="slide16.xml"/></Relationships>
</file>

<file path=ppt/slides/_rels/slide18.xml.rels><?xml version="1.0" encoding="UTF-8"?>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slide" Target="slide19.xml"/><Relationship Id="rId4" Type="http://schemas.openxmlformats.org/officeDocument/2006/relationships/image" Target="../media/image2.png"/><Relationship Id="rId9" Type="http://schemas.openxmlformats.org/officeDocument/2006/relationships/slide" Target="slide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slide" Target="slide3.xml"/><Relationship Id="rId4" Type="http://schemas.openxmlformats.org/officeDocument/2006/relationships/slide" Target="slide18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3.xml"/><Relationship Id="rId4" Type="http://schemas.openxmlformats.org/officeDocument/2006/relationships/slide" Target="slide19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slide" Target="slide3.xml"/><Relationship Id="rId4" Type="http://schemas.openxmlformats.org/officeDocument/2006/relationships/slide" Target="slide20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-137160"/>
            <a:ext cx="7863840" cy="4023360"/>
          </a:xfrm>
          <a:prstGeom prst="ellipse">
            <a:avLst/>
          </a:prstGeom>
          <a:solidFill>
            <a:srgbClr val="7A1A1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54480" y="320040"/>
            <a:ext cx="6035040" cy="3108960"/>
          </a:xfrm>
          <a:prstGeom prst="ellipse">
            <a:avLst/>
          </a:prstGeom>
          <a:solidFill>
            <a:srgbClr val="7A1A10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377440" y="731520"/>
            <a:ext cx="4389120" cy="2286000"/>
          </a:xfrm>
          <a:prstGeom prst="ellipse">
            <a:avLst/>
          </a:prstGeom>
          <a:solidFill>
            <a:srgbClr val="7A1A10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108960" y="1097280"/>
            <a:ext cx="2926080" cy="1554480"/>
          </a:xfrm>
          <a:prstGeom prst="ellipse">
            <a:avLst/>
          </a:prstGeom>
          <a:solidFill>
            <a:srgbClr val="7A1A10">
              <a:alpha val="36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INTERNET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ENFANTS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2468880" y="2743200"/>
            <a:ext cx="4206240" cy="4572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65760" y="2852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ACCOMPAGNER  &amp;  PROTÉGER</a:t>
            </a:r>
            <a:endParaRPr lang="en-US" sz="1800" dirty="0"/>
          </a:p>
        </p:txBody>
      </p:sp>
      <p:sp>
        <p:nvSpPr>
          <p:cNvPr id="12" name="Shape 9">
            <a:hlinkClick r:id="rId4" action="ppaction://hlinksldjump" tooltip="Démarrer"/>
          </p:cNvPr>
          <p:cNvSpPr/>
          <p:nvPr/>
        </p:nvSpPr>
        <p:spPr>
          <a:xfrm>
            <a:off x="3246120" y="3456432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hlinkClick r:id="rId4" action="ppaction://hlinksldjump" tooltip="Démarrer"/>
          </p:cNvPr>
          <p:cNvSpPr/>
          <p:nvPr/>
        </p:nvSpPr>
        <p:spPr>
          <a:xfrm>
            <a:off x="3246120" y="34564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4" action="ppaction://hlinksldjump" tooltip="Démarr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DÉMARRER L'ATELIER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8600" y="3502152"/>
            <a:ext cx="2651760" cy="457200"/>
          </a:xfrm>
          <a:prstGeom prst="rect">
            <a:avLst/>
          </a:prstGeom>
          <a:solidFill>
            <a:srgbClr val="08090E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228600" y="3502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✦  </a:t>
            </a: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Cédric WALTENER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C0D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74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7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niveaux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60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063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heure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63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médiation numérique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46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349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Guéret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49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MN — 2026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32320" y="4334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635240" y="4334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635240" y="4681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jugement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Bienvenue — cet atelier est fait pour vous !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lien avec le numérique, vous êtes au bon endroit. Ici, on apprend ensemble, sans jugement.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325880"/>
            <a:ext cx="2679192" cy="20116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25880"/>
            <a:ext cx="2679192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72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813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Posez vos questions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6072" y="1984248"/>
            <a:ext cx="2350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 question bête. Si vous vous la posez, d'autres aussi.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325880"/>
            <a:ext cx="2679192" cy="20116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73552" y="1325880"/>
            <a:ext cx="2679192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401568" y="1472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86784" y="14813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Vous n'êtes pas seul(e)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38144" y="1984248"/>
            <a:ext cx="2350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un enfant en ligne, ça s'apprend. Personne ne maîtrise tout.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35624" y="1325880"/>
            <a:ext cx="2679192" cy="20116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135624" y="1325880"/>
            <a:ext cx="2679192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63640" y="1472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48856" y="1481328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de jugement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00216" y="1984248"/>
            <a:ext cx="2350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n'est pas espionner. L'objectif : protéger sans casser la confiance.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11480" y="3611880"/>
            <a:ext cx="8321040" cy="86868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3611880"/>
            <a:ext cx="73152" cy="86868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94360" y="36118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234440" y="36118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 France, </a:t>
            </a:r>
            <a:r>
              <a:rPr lang="en-US" sz="1300" b="1" dirty="0">
                <a:solidFill>
                  <a:srgbClr val="D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5</a:t>
            </a: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déjà connecté a été contacté par un inconnu en ligne. Le meilleur filtre reste le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7" name="Shape 24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9" name="Shape 26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4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programme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déroulé de l'atelier, étape par étape.</a:t>
            </a:r>
            <a:endParaRPr lang="en-US" sz="1250" dirty="0"/>
          </a:p>
        </p:txBody>
      </p:sp>
      <p:sp>
        <p:nvSpPr>
          <p:cNvPr id="6" name="Shape 3">
            <a:hlinkClick r:id="rId4" action="ppaction://hlinksldjump" tooltip="Intro &amp; chiffres clés"/>
          </p:cNvPr>
          <p:cNvSpPr/>
          <p:nvPr/>
        </p:nvSpPr>
        <p:spPr>
          <a:xfrm>
            <a:off x="411480" y="132588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99032"/>
            <a:ext cx="54864" cy="385877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hlinkClick r:id="rId4" action="ppaction://hlinksldjump" tooltip="Intro &amp; chiffres clés"/>
          </p:cNvPr>
          <p:cNvSpPr/>
          <p:nvPr/>
        </p:nvSpPr>
        <p:spPr>
          <a:xfrm>
            <a:off x="521208" y="132588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Intro &amp; chiffres cl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🎬</a:t>
            </a:r>
            <a:endParaRPr lang="en-US" sz="1400" dirty="0"/>
          </a:p>
        </p:txBody>
      </p:sp>
      <p:sp>
        <p:nvSpPr>
          <p:cNvPr id="9" name="Text 6">
            <a:hlinkClick r:id="rId4" action="ppaction://hlinksldjump" tooltip="Intro &amp; chiffres clés"/>
          </p:cNvPr>
          <p:cNvSpPr/>
          <p:nvPr/>
        </p:nvSpPr>
        <p:spPr>
          <a:xfrm>
            <a:off x="978408" y="132588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4" action="ppaction://hlinksldjump" tooltip="Intro &amp; chiffres cl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 &amp; chiffres clés</a:t>
            </a:r>
            <a:endParaRPr lang="en-US" sz="1050" dirty="0"/>
          </a:p>
        </p:txBody>
      </p:sp>
      <p:sp>
        <p:nvSpPr>
          <p:cNvPr id="10" name="Shape 7">
            <a:hlinkClick r:id="rId5" action="ppaction://hlinksldjump" tooltip="Les dangers d'Internet"/>
          </p:cNvPr>
          <p:cNvSpPr/>
          <p:nvPr/>
        </p:nvSpPr>
        <p:spPr>
          <a:xfrm>
            <a:off x="3252216" y="132588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252216" y="1399032"/>
            <a:ext cx="54864" cy="385877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>
            <a:hlinkClick r:id="rId5" action="ppaction://hlinksldjump" tooltip="Les dangers d'Internet"/>
          </p:cNvPr>
          <p:cNvSpPr/>
          <p:nvPr/>
        </p:nvSpPr>
        <p:spPr>
          <a:xfrm>
            <a:off x="3361944" y="132588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5" action="ppaction://hlinksldjump" tooltip="Les dangers d'Inter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⚠️</a:t>
            </a:r>
            <a:endParaRPr lang="en-US" sz="1400" dirty="0"/>
          </a:p>
        </p:txBody>
      </p:sp>
      <p:sp>
        <p:nvSpPr>
          <p:cNvPr id="13" name="Text 10">
            <a:hlinkClick r:id="rId5" action="ppaction://hlinksldjump" tooltip="Les dangers d'Internet"/>
          </p:cNvPr>
          <p:cNvSpPr/>
          <p:nvPr/>
        </p:nvSpPr>
        <p:spPr>
          <a:xfrm>
            <a:off x="3819144" y="132588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5" action="ppaction://hlinksldjump" tooltip="Les dangers d'Inter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dangers d'Internet</a:t>
            </a:r>
            <a:endParaRPr lang="en-US" sz="1050" dirty="0"/>
          </a:p>
        </p:txBody>
      </p:sp>
      <p:sp>
        <p:nvSpPr>
          <p:cNvPr id="14" name="Shape 11">
            <a:hlinkClick r:id="rId6" action="ppaction://hlinksldjump" tooltip="Où ils sont exposés"/>
          </p:cNvPr>
          <p:cNvSpPr/>
          <p:nvPr/>
        </p:nvSpPr>
        <p:spPr>
          <a:xfrm>
            <a:off x="6092952" y="132588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6092952" y="1399032"/>
            <a:ext cx="54864" cy="385877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hlinkClick r:id="rId6" action="ppaction://hlinksldjump" tooltip="Où ils sont exposés"/>
          </p:cNvPr>
          <p:cNvSpPr/>
          <p:nvPr/>
        </p:nvSpPr>
        <p:spPr>
          <a:xfrm>
            <a:off x="6202680" y="132588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6" action="ppaction://hlinksldjump" tooltip="Où ils sont expos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🎮</a:t>
            </a:r>
            <a:endParaRPr lang="en-US" sz="1400" dirty="0"/>
          </a:p>
        </p:txBody>
      </p:sp>
      <p:sp>
        <p:nvSpPr>
          <p:cNvPr id="17" name="Text 14">
            <a:hlinkClick r:id="rId6" action="ppaction://hlinksldjump" tooltip="Où ils sont exposés"/>
          </p:cNvPr>
          <p:cNvSpPr/>
          <p:nvPr/>
        </p:nvSpPr>
        <p:spPr>
          <a:xfrm>
            <a:off x="6659880" y="132588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6" action="ppaction://hlinksldjump" tooltip="Où ils sont expos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Où ils sont exposés</a:t>
            </a:r>
            <a:endParaRPr lang="en-US" sz="1050" dirty="0"/>
          </a:p>
        </p:txBody>
      </p:sp>
      <p:sp>
        <p:nvSpPr>
          <p:cNvPr id="18" name="Shape 15">
            <a:hlinkClick r:id="rId7" action="ppaction://hlinksldjump" tooltip="À risque ou sans danger ?"/>
          </p:cNvPr>
          <p:cNvSpPr/>
          <p:nvPr/>
        </p:nvSpPr>
        <p:spPr>
          <a:xfrm>
            <a:off x="411480" y="2004365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11480" y="2077517"/>
            <a:ext cx="54864" cy="385877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>
            <a:hlinkClick r:id="rId7" action="ppaction://hlinksldjump" tooltip="À risque ou sans danger ?"/>
          </p:cNvPr>
          <p:cNvSpPr/>
          <p:nvPr/>
        </p:nvSpPr>
        <p:spPr>
          <a:xfrm>
            <a:off x="521208" y="2004365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7" action="ppaction://hlinksldjump" tooltip="À risque ou sans danger 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🔍</a:t>
            </a:r>
            <a:endParaRPr lang="en-US" sz="1400" dirty="0"/>
          </a:p>
        </p:txBody>
      </p:sp>
      <p:sp>
        <p:nvSpPr>
          <p:cNvPr id="21" name="Text 18">
            <a:hlinkClick r:id="rId7" action="ppaction://hlinksldjump" tooltip="À risque ou sans danger ?"/>
          </p:cNvPr>
          <p:cNvSpPr/>
          <p:nvPr/>
        </p:nvSpPr>
        <p:spPr>
          <a:xfrm>
            <a:off x="978408" y="2004365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7" action="ppaction://hlinksldjump" tooltip="À risque ou sans danger 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À risque ou sans danger ?</a:t>
            </a:r>
            <a:endParaRPr lang="en-US" sz="1050" dirty="0"/>
          </a:p>
        </p:txBody>
      </p:sp>
      <p:sp>
        <p:nvSpPr>
          <p:cNvPr id="22" name="Shape 19">
            <a:hlinkClick r:id="rId8" action="ppaction://hlinksldjump" tooltip="Inconnu dans un jeu"/>
          </p:cNvPr>
          <p:cNvSpPr/>
          <p:nvPr/>
        </p:nvSpPr>
        <p:spPr>
          <a:xfrm>
            <a:off x="3252216" y="2004365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3252216" y="2077517"/>
            <a:ext cx="54864" cy="385877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>
            <a:hlinkClick r:id="rId8" action="ppaction://hlinksldjump" tooltip="Inconnu dans un jeu"/>
          </p:cNvPr>
          <p:cNvSpPr/>
          <p:nvPr/>
        </p:nvSpPr>
        <p:spPr>
          <a:xfrm>
            <a:off x="3361944" y="2004365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8" action="ppaction://hlinksldjump" tooltip="Inconnu dans un je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👤</a:t>
            </a:r>
            <a:endParaRPr lang="en-US" sz="1400" dirty="0"/>
          </a:p>
        </p:txBody>
      </p:sp>
      <p:sp>
        <p:nvSpPr>
          <p:cNvPr id="25" name="Text 22">
            <a:hlinkClick r:id="rId8" action="ppaction://hlinksldjump" tooltip="Inconnu dans un jeu"/>
          </p:cNvPr>
          <p:cNvSpPr/>
          <p:nvPr/>
        </p:nvSpPr>
        <p:spPr>
          <a:xfrm>
            <a:off x="3819144" y="2004365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8" action="ppaction://hlinksldjump" tooltip="Inconnu dans un je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Inconnu dans un jeu</a:t>
            </a:r>
            <a:endParaRPr lang="en-US" sz="1050" dirty="0"/>
          </a:p>
        </p:txBody>
      </p:sp>
      <p:sp>
        <p:nvSpPr>
          <p:cNvPr id="26" name="Shape 23">
            <a:hlinkClick r:id="rId9" action="ppaction://hlinksldjump" tooltip="Le cyberharcèlement"/>
          </p:cNvPr>
          <p:cNvSpPr/>
          <p:nvPr/>
        </p:nvSpPr>
        <p:spPr>
          <a:xfrm>
            <a:off x="6092952" y="2004365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6092952" y="2077517"/>
            <a:ext cx="54864" cy="385877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rId9" action="ppaction://hlinksldjump" tooltip="Le cyberharcèlement"/>
          </p:cNvPr>
          <p:cNvSpPr/>
          <p:nvPr/>
        </p:nvSpPr>
        <p:spPr>
          <a:xfrm>
            <a:off x="6202680" y="2004365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9" action="ppaction://hlinksldjump" tooltip="Le cyberharcèl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😢</a:t>
            </a:r>
            <a:endParaRPr lang="en-US" sz="1400" dirty="0"/>
          </a:p>
        </p:txBody>
      </p:sp>
      <p:sp>
        <p:nvSpPr>
          <p:cNvPr id="29" name="Text 26">
            <a:hlinkClick r:id="rId9" action="ppaction://hlinksldjump" tooltip="Le cyberharcèlement"/>
          </p:cNvPr>
          <p:cNvSpPr/>
          <p:nvPr/>
        </p:nvSpPr>
        <p:spPr>
          <a:xfrm>
            <a:off x="6659880" y="2004365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9" action="ppaction://hlinksldjump" tooltip="Le cyberharcèl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cyberharcèlement</a:t>
            </a:r>
            <a:endParaRPr lang="en-US" sz="1050" dirty="0"/>
          </a:p>
        </p:txBody>
      </p:sp>
      <p:sp>
        <p:nvSpPr>
          <p:cNvPr id="30" name="Shape 27">
            <a:hlinkClick r:id="rId10" action="ppaction://hlinksldjump" tooltip="Faux cadeaux &amp; arnaques"/>
          </p:cNvPr>
          <p:cNvSpPr/>
          <p:nvPr/>
        </p:nvSpPr>
        <p:spPr>
          <a:xfrm>
            <a:off x="411480" y="268285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411480" y="2756002"/>
            <a:ext cx="54864" cy="385877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10" action="ppaction://hlinksldjump" tooltip="Faux cadeaux &amp; arnaques"/>
          </p:cNvPr>
          <p:cNvSpPr/>
          <p:nvPr/>
        </p:nvSpPr>
        <p:spPr>
          <a:xfrm>
            <a:off x="521208" y="268285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0" action="ppaction://hlinksldjump" tooltip="Faux cadeaux &amp; arnaq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🎁</a:t>
            </a:r>
            <a:endParaRPr lang="en-US" sz="1400" dirty="0"/>
          </a:p>
        </p:txBody>
      </p:sp>
      <p:sp>
        <p:nvSpPr>
          <p:cNvPr id="33" name="Text 30">
            <a:hlinkClick r:id="rId10" action="ppaction://hlinksldjump" tooltip="Faux cadeaux &amp; arnaques"/>
          </p:cNvPr>
          <p:cNvSpPr/>
          <p:nvPr/>
        </p:nvSpPr>
        <p:spPr>
          <a:xfrm>
            <a:off x="978408" y="268285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0" action="ppaction://hlinksldjump" tooltip="Faux cadeaux &amp; arnaq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Faux cadeaux &amp; arnaques</a:t>
            </a:r>
            <a:endParaRPr lang="en-US" sz="1050" dirty="0"/>
          </a:p>
        </p:txBody>
      </p:sp>
      <p:sp>
        <p:nvSpPr>
          <p:cNvPr id="34" name="Shape 31">
            <a:hlinkClick r:id="rId11" action="ppaction://hlinksldjump" tooltip="Le contrôle parental"/>
          </p:cNvPr>
          <p:cNvSpPr/>
          <p:nvPr/>
        </p:nvSpPr>
        <p:spPr>
          <a:xfrm>
            <a:off x="3252216" y="268285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3252216" y="2756002"/>
            <a:ext cx="54864" cy="385877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rId11" action="ppaction://hlinksldjump" tooltip="Le contrôle parental"/>
          </p:cNvPr>
          <p:cNvSpPr/>
          <p:nvPr/>
        </p:nvSpPr>
        <p:spPr>
          <a:xfrm>
            <a:off x="3361944" y="268285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1" action="ppaction://hlinksldjump" tooltip="Le contrôle paren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🛡️</a:t>
            </a:r>
            <a:endParaRPr lang="en-US" sz="1400" dirty="0"/>
          </a:p>
        </p:txBody>
      </p:sp>
      <p:sp>
        <p:nvSpPr>
          <p:cNvPr id="37" name="Text 34">
            <a:hlinkClick r:id="rId11" action="ppaction://hlinksldjump" tooltip="Le contrôle parental"/>
          </p:cNvPr>
          <p:cNvSpPr/>
          <p:nvPr/>
        </p:nvSpPr>
        <p:spPr>
          <a:xfrm>
            <a:off x="3819144" y="268285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1" action="ppaction://hlinksldjump" tooltip="Le contrôle paren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contrôle parental</a:t>
            </a:r>
            <a:endParaRPr lang="en-US" sz="1050" dirty="0"/>
          </a:p>
        </p:txBody>
      </p:sp>
      <p:sp>
        <p:nvSpPr>
          <p:cNvPr id="38" name="Shape 35">
            <a:hlinkClick r:id="rId12" action="ppaction://hlinksldjump" tooltip="Les signaux d'alerte"/>
          </p:cNvPr>
          <p:cNvSpPr/>
          <p:nvPr/>
        </p:nvSpPr>
        <p:spPr>
          <a:xfrm>
            <a:off x="6092952" y="2682850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6092952" y="2756002"/>
            <a:ext cx="54864" cy="385877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>
            <a:hlinkClick r:id="rId12" action="ppaction://hlinksldjump" tooltip="Les signaux d'alerte"/>
          </p:cNvPr>
          <p:cNvSpPr/>
          <p:nvPr/>
        </p:nvSpPr>
        <p:spPr>
          <a:xfrm>
            <a:off x="6202680" y="2682850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2" action="ppaction://hlinksldjump" tooltip="Les signaux d'aler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🚩</a:t>
            </a:r>
            <a:endParaRPr lang="en-US" sz="1400" dirty="0"/>
          </a:p>
        </p:txBody>
      </p:sp>
      <p:sp>
        <p:nvSpPr>
          <p:cNvPr id="41" name="Text 38">
            <a:hlinkClick r:id="rId12" action="ppaction://hlinksldjump" tooltip="Les signaux d'alerte"/>
          </p:cNvPr>
          <p:cNvSpPr/>
          <p:nvPr/>
        </p:nvSpPr>
        <p:spPr>
          <a:xfrm>
            <a:off x="6659880" y="2682850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2" action="ppaction://hlinksldjump" tooltip="Les signaux d'aler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signaux d'alerte</a:t>
            </a:r>
            <a:endParaRPr lang="en-US" sz="1050" dirty="0"/>
          </a:p>
        </p:txBody>
      </p:sp>
      <p:sp>
        <p:nvSpPr>
          <p:cNvPr id="42" name="Shape 39">
            <a:hlinkClick r:id="rId13" action="ppaction://hlinksldjump" tooltip="Quiz interactif"/>
          </p:cNvPr>
          <p:cNvSpPr/>
          <p:nvPr/>
        </p:nvSpPr>
        <p:spPr>
          <a:xfrm>
            <a:off x="411480" y="3361334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411480" y="3434486"/>
            <a:ext cx="54864" cy="385877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1">
            <a:hlinkClick r:id="rId13" action="ppaction://hlinksldjump" tooltip="Quiz interactif"/>
          </p:cNvPr>
          <p:cNvSpPr/>
          <p:nvPr/>
        </p:nvSpPr>
        <p:spPr>
          <a:xfrm>
            <a:off x="521208" y="3361334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3" action="ppaction://hlinksldjump" tooltip="Quiz interac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🎯</a:t>
            </a:r>
            <a:endParaRPr lang="en-US" sz="1400" dirty="0"/>
          </a:p>
        </p:txBody>
      </p:sp>
      <p:sp>
        <p:nvSpPr>
          <p:cNvPr id="45" name="Text 42">
            <a:hlinkClick r:id="rId13" action="ppaction://hlinksldjump" tooltip="Quiz interactif"/>
          </p:cNvPr>
          <p:cNvSpPr/>
          <p:nvPr/>
        </p:nvSpPr>
        <p:spPr>
          <a:xfrm>
            <a:off x="978408" y="3361334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3" action="ppaction://hlinksldjump" tooltip="Quiz interac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 interactif</a:t>
            </a:r>
            <a:endParaRPr lang="en-US" sz="1050" dirty="0"/>
          </a:p>
        </p:txBody>
      </p:sp>
      <p:sp>
        <p:nvSpPr>
          <p:cNvPr id="46" name="Shape 43">
            <a:hlinkClick r:id="rId14" action="ppaction://hlinksldjump" tooltip="Signaler &amp; se faire aider"/>
          </p:cNvPr>
          <p:cNvSpPr/>
          <p:nvPr/>
        </p:nvSpPr>
        <p:spPr>
          <a:xfrm>
            <a:off x="3252216" y="3361334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4"/>
          <p:cNvSpPr/>
          <p:nvPr/>
        </p:nvSpPr>
        <p:spPr>
          <a:xfrm>
            <a:off x="3252216" y="3434486"/>
            <a:ext cx="54864" cy="385877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5">
            <a:hlinkClick r:id="rId14" action="ppaction://hlinksldjump" tooltip="Signaler &amp; se faire aider"/>
          </p:cNvPr>
          <p:cNvSpPr/>
          <p:nvPr/>
        </p:nvSpPr>
        <p:spPr>
          <a:xfrm>
            <a:off x="3361944" y="3361334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4" action="ppaction://hlinksldjump" tooltip="Signaler &amp; se faire aid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📞</a:t>
            </a:r>
            <a:endParaRPr lang="en-US" sz="1400" dirty="0"/>
          </a:p>
        </p:txBody>
      </p:sp>
      <p:sp>
        <p:nvSpPr>
          <p:cNvPr id="49" name="Text 46">
            <a:hlinkClick r:id="rId14" action="ppaction://hlinksldjump" tooltip="Signaler &amp; se faire aider"/>
          </p:cNvPr>
          <p:cNvSpPr/>
          <p:nvPr/>
        </p:nvSpPr>
        <p:spPr>
          <a:xfrm>
            <a:off x="3819144" y="3361334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4" action="ppaction://hlinksldjump" tooltip="Signaler &amp; se faire aid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Signaler &amp; se faire aider</a:t>
            </a:r>
            <a:endParaRPr lang="en-US" sz="1050" dirty="0"/>
          </a:p>
        </p:txBody>
      </p:sp>
      <p:sp>
        <p:nvSpPr>
          <p:cNvPr id="50" name="Shape 47">
            <a:hlinkClick r:id="rId15" action="ppaction://hlinksldjump" tooltip="La charte familiale"/>
          </p:cNvPr>
          <p:cNvSpPr/>
          <p:nvPr/>
        </p:nvSpPr>
        <p:spPr>
          <a:xfrm>
            <a:off x="6092952" y="3361334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8"/>
          <p:cNvSpPr/>
          <p:nvPr/>
        </p:nvSpPr>
        <p:spPr>
          <a:xfrm>
            <a:off x="6092952" y="3434486"/>
            <a:ext cx="54864" cy="385877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9">
            <a:hlinkClick r:id="rId15" action="ppaction://hlinksldjump" tooltip="La charte familiale"/>
          </p:cNvPr>
          <p:cNvSpPr/>
          <p:nvPr/>
        </p:nvSpPr>
        <p:spPr>
          <a:xfrm>
            <a:off x="6202680" y="3361334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5" action="ppaction://hlinksldjump" tooltip="La charte famili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📜</a:t>
            </a:r>
            <a:endParaRPr lang="en-US" sz="1400" dirty="0"/>
          </a:p>
        </p:txBody>
      </p:sp>
      <p:sp>
        <p:nvSpPr>
          <p:cNvPr id="53" name="Text 50">
            <a:hlinkClick r:id="rId15" action="ppaction://hlinksldjump" tooltip="La charte familiale"/>
          </p:cNvPr>
          <p:cNvSpPr/>
          <p:nvPr/>
        </p:nvSpPr>
        <p:spPr>
          <a:xfrm>
            <a:off x="6659880" y="3361334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5" action="ppaction://hlinksldjump" tooltip="La charte famili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 charte familiale</a:t>
            </a:r>
            <a:endParaRPr lang="en-US" sz="1050" dirty="0"/>
          </a:p>
        </p:txBody>
      </p:sp>
      <p:sp>
        <p:nvSpPr>
          <p:cNvPr id="54" name="Shape 51">
            <a:hlinkClick r:id="rId16" action="ppaction://hlinksldjump" tooltip="Parler avec son enfant"/>
          </p:cNvPr>
          <p:cNvSpPr/>
          <p:nvPr/>
        </p:nvSpPr>
        <p:spPr>
          <a:xfrm>
            <a:off x="411480" y="4039819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2"/>
          <p:cNvSpPr/>
          <p:nvPr/>
        </p:nvSpPr>
        <p:spPr>
          <a:xfrm>
            <a:off x="411480" y="4112971"/>
            <a:ext cx="54864" cy="385877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3">
            <a:hlinkClick r:id="rId16" action="ppaction://hlinksldjump" tooltip="Parler avec son enfant"/>
          </p:cNvPr>
          <p:cNvSpPr/>
          <p:nvPr/>
        </p:nvSpPr>
        <p:spPr>
          <a:xfrm>
            <a:off x="521208" y="4039819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6" action="ppaction://hlinksldjump" tooltip="Parler avec son enf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💬</a:t>
            </a:r>
            <a:endParaRPr lang="en-US" sz="1400" dirty="0"/>
          </a:p>
        </p:txBody>
      </p:sp>
      <p:sp>
        <p:nvSpPr>
          <p:cNvPr id="57" name="Text 54">
            <a:hlinkClick r:id="rId16" action="ppaction://hlinksldjump" tooltip="Parler avec son enfant"/>
          </p:cNvPr>
          <p:cNvSpPr/>
          <p:nvPr/>
        </p:nvSpPr>
        <p:spPr>
          <a:xfrm>
            <a:off x="978408" y="4039819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6" action="ppaction://hlinksldjump" tooltip="Parler avec son enf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Parler avec son enfant</a:t>
            </a:r>
            <a:endParaRPr lang="en-US" sz="1050" dirty="0"/>
          </a:p>
        </p:txBody>
      </p:sp>
      <p:sp>
        <p:nvSpPr>
          <p:cNvPr id="58" name="Shape 55">
            <a:hlinkClick r:id="rId17" action="ppaction://hlinksldjump" tooltip="Mémo récapitulatif"/>
          </p:cNvPr>
          <p:cNvSpPr/>
          <p:nvPr/>
        </p:nvSpPr>
        <p:spPr>
          <a:xfrm>
            <a:off x="3252216" y="4039819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6"/>
          <p:cNvSpPr/>
          <p:nvPr/>
        </p:nvSpPr>
        <p:spPr>
          <a:xfrm>
            <a:off x="3252216" y="4112971"/>
            <a:ext cx="54864" cy="385877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7">
            <a:hlinkClick r:id="rId17" action="ppaction://hlinksldjump" tooltip="Mémo récapitulatif"/>
          </p:cNvPr>
          <p:cNvSpPr/>
          <p:nvPr/>
        </p:nvSpPr>
        <p:spPr>
          <a:xfrm>
            <a:off x="3361944" y="4039819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7" action="ppaction://hlinksldjump" tooltip="Mémo récapitula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</a:t>
            </a:r>
            <a:endParaRPr lang="en-US" sz="1400" dirty="0"/>
          </a:p>
        </p:txBody>
      </p:sp>
      <p:sp>
        <p:nvSpPr>
          <p:cNvPr id="61" name="Text 58">
            <a:hlinkClick r:id="rId17" action="ppaction://hlinksldjump" tooltip="Mémo récapitulatif"/>
          </p:cNvPr>
          <p:cNvSpPr/>
          <p:nvPr/>
        </p:nvSpPr>
        <p:spPr>
          <a:xfrm>
            <a:off x="3819144" y="4039819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7" action="ppaction://hlinksldjump" tooltip="Mémo récapitulat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Mémo récapitulatif</a:t>
            </a:r>
            <a:endParaRPr lang="en-US" sz="1050" dirty="0"/>
          </a:p>
        </p:txBody>
      </p:sp>
      <p:sp>
        <p:nvSpPr>
          <p:cNvPr id="62" name="Shape 59">
            <a:hlinkClick r:id="rId18" action="ppaction://hlinksldjump" tooltip="Conclusion"/>
          </p:cNvPr>
          <p:cNvSpPr/>
          <p:nvPr/>
        </p:nvSpPr>
        <p:spPr>
          <a:xfrm>
            <a:off x="6092952" y="4039819"/>
            <a:ext cx="2639568" cy="532181"/>
          </a:xfrm>
          <a:prstGeom prst="roundRect">
            <a:avLst>
              <a:gd name="adj" fmla="val 8591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0"/>
          <p:cNvSpPr/>
          <p:nvPr/>
        </p:nvSpPr>
        <p:spPr>
          <a:xfrm>
            <a:off x="6092952" y="4112971"/>
            <a:ext cx="54864" cy="385877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1">
            <a:hlinkClick r:id="rId18" action="ppaction://hlinksldjump" tooltip="Conclusion"/>
          </p:cNvPr>
          <p:cNvSpPr/>
          <p:nvPr/>
        </p:nvSpPr>
        <p:spPr>
          <a:xfrm>
            <a:off x="6202680" y="4039819"/>
            <a:ext cx="457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18" action="ppaction://hlinksldjump" tooltip="Conclu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🤝</a:t>
            </a:r>
            <a:endParaRPr lang="en-US" sz="1400" dirty="0"/>
          </a:p>
        </p:txBody>
      </p:sp>
      <p:sp>
        <p:nvSpPr>
          <p:cNvPr id="65" name="Text 62">
            <a:hlinkClick r:id="rId18" action="ppaction://hlinksldjump" tooltip="Conclusion"/>
          </p:cNvPr>
          <p:cNvSpPr/>
          <p:nvPr/>
        </p:nvSpPr>
        <p:spPr>
          <a:xfrm>
            <a:off x="6659880" y="4039819"/>
            <a:ext cx="198120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8" action="ppaction://hlinksldjump" tooltip="Conclu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4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68" name="Shape 65">
            <a:hlinkClick r:id="rId19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6">
            <a:hlinkClick r:id="rId10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70" name="Shape 67">
            <a:hlinkClick r:id="rId4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8">
            <a:hlinkClick r:id="rId18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72" name="Shape 69">
            <a:hlinkClick r:id="rId20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0">
            <a:hlinkClick r:id="rId20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saviez-vous 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chiffres clés sur les enfants et Internet en France.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659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94360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enfants de 10 ans ont déjà un smartphone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587752" y="1417320"/>
            <a:ext cx="19659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587752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587752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sur 5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2724912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enfants en ligne a été contacté par un inconnu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18304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18304" y="1417320"/>
            <a:ext cx="19659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718304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💢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718304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855464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jeunes ont vécu du cyberharcèlement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48856" y="1417320"/>
            <a:ext cx="1965960" cy="24688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848856" y="1417320"/>
            <a:ext cx="19659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848856" y="1618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848856" y="21305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3h+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6986016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jour en moyenne passées sur écrans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ARCOM · e-Enfance · CNIL · enquêtes 2024-2025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4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3" name="Shape 30">
            <a:hlinkClick r:id="rId4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4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dangers d'Internet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n'est pas l'ennemi — mais ces risques existent et se reconnaissent.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Cyberprédateurs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6072" y="1956816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adultes mal intentionnés cherchent le contact via les jeux, réseaux et messageries.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7413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5935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Cyberharcèlement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10712" y="1956816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Insultes, moqueries et menaces répétées en ligne, aux lourdes conséquences psychologiques.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298448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0760" y="1298448"/>
            <a:ext cx="26517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0877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🔞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9399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Contenus inappropriés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45352" y="1956816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Violence, pornographie, haine ou dérives accessibles facilement, même sans les chercher.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2980944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2980944"/>
            <a:ext cx="26517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🎣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24712" y="31363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Arnaques &amp; phishing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76072" y="3639312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concours, liens piégés, demandes de données ciblant des enfants peu méfiants.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46120" y="2980944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2980944"/>
            <a:ext cx="2651760" cy="6400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374136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959352" y="31363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Addiction aux écrans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3410712" y="3639312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excessif des réseaux, jeux et vidéos perturbant le sommeil et la vie sociale.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2980944"/>
            <a:ext cx="2651760" cy="148132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080760" y="2980944"/>
            <a:ext cx="2651760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208776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793992" y="31363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Usurpation d'identité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245352" y="3639312"/>
            <a:ext cx="23225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et infos personnelles publiées puis exploitées à des fins malveillantes.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8" name="Shape 35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0" name="Shape 37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42" name="Shape 39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Où les enfants sont-ils exposés 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n'arrivent pas que « sur Internet » en général — voici les principaux canaux.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201168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5216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70432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Jeux en ligne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intégrés (Roblox, Fortnite, Minecraft) où des inconnus engagent la conversation.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633472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633472" y="1417320"/>
            <a:ext cx="201168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761488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346704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 sociaux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798064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Snapchat, Instagram : contacts, comparaison, harcèlement, contenus non filtrés.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809744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809744" y="1417320"/>
            <a:ext cx="201168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937760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22976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Messageries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974336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Discord, DM privés : là où la conversation quitte l'espace visible.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986016" y="1417320"/>
            <a:ext cx="2011680" cy="214884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986016" y="1417320"/>
            <a:ext cx="201168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7114032" y="1563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99248" y="15727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Vidéos &amp; streaming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150608" y="207568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lives : suggestions imprévisibles et contenus inadaptés à l'âge.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57200" y="3822192"/>
            <a:ext cx="8229600" cy="64008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457200" y="3822192"/>
            <a:ext cx="73152" cy="640080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685800" y="38221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 Le point commun : </a:t>
            </a:r>
            <a:r>
              <a:rPr lang="en-US" sz="12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grandit quand l'échange devient privé et invisible. Gardez les écrans dans les espaces communs.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1" name="Shape 28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3" name="Shape 30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5" name="Shape 32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risque vs sans danger — savoir faire la différence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143000"/>
            <a:ext cx="2679192" cy="274320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1143000"/>
            <a:ext cx="2679192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76072" y="1344168"/>
            <a:ext cx="2350008" cy="38404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1344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SANS DANGER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80136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Vidéos dans le salon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22199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Appli/profil enfant activé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Écran dans un espace commun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Temps d'écran défini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Aucun inconnu ne le contacte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143000"/>
            <a:ext cx="2679192" cy="274320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73552" y="1143000"/>
            <a:ext cx="2679192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438144" y="1344168"/>
            <a:ext cx="2350008" cy="3840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438144" y="1344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À RISQUE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56432" y="180136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Inconnu dans un jeu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56432" y="222199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On continue en privé ?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une photo / l'adresse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N'en parle pas à tes parents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Promet des cadeaux dans le jeu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35624" y="1143000"/>
            <a:ext cx="2679192" cy="274320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135624" y="1143000"/>
            <a:ext cx="2679192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6300216" y="1344168"/>
            <a:ext cx="2350008" cy="3840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300216" y="134416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À RISQUE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18504" y="180136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Faux cadeau / concours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18504" y="222199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Tu as gagné un téléphone !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la carte bancaire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« Clique vite, offre limitée »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Urgence pour empêcher de réfléchir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1480" y="4041648"/>
            <a:ext cx="8321040" cy="54864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40080" y="40416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Règle d'or : </a:t>
            </a:r>
            <a:r>
              <a:rPr lang="en-US" sz="12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situation saine reste visible et partagée. Dès qu'on demande le secret, une photo ou de l'argent → on en parle.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7" name="Shape 24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9" name="Shape 26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 01 — Un inconnu dans un jeu en ligne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120640" cy="324612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51206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Tchat du jeu — joueur inconnu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6072" y="132588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Inconnu (rencontré dans la partie)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1709928"/>
            <a:ext cx="4791456" cy="0"/>
          </a:xfrm>
          <a:prstGeom prst="line">
            <a:avLst/>
          </a:prstGeom>
          <a:noFill/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6072" y="1801368"/>
            <a:ext cx="4791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Salut ! Tu joues trop bien. On continue en privé sur Discord ? Envoie-moi une photo de toi et ton adresse, je t'enverrai des cadeaux dans le jeu. Surtout n'en parle pas à tes parents, c'est notre secret. »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GROOMING — DANGER, ne jamais répondre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868680"/>
            <a:ext cx="301752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715000" y="868680"/>
            <a:ext cx="3017520" cy="42062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4728" y="8686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Indices à repérer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88152" y="1289304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1289304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Veut basculer en privé, hors du jeu (Discord)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824728" y="1995678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88152" y="1995678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📷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81928" y="1995678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une photo et l'adresse de l'enfant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824728" y="2702052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88152" y="2702052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🤫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81928" y="2702052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N'en parle pas à tes parents » = secret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24728" y="3408426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788152" y="3408426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🎁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81928" y="3408426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 des cadeaux pour gagner la confiance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3" name="Shape 3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 02 — Le cyberharcèlement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120640" cy="324612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51206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social — messages reçus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6072" y="132588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un camarade de classe (chaque soir)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1709928"/>
            <a:ext cx="4791456" cy="0"/>
          </a:xfrm>
          <a:prstGeom prst="line">
            <a:avLst/>
          </a:prstGeom>
          <a:noFill/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6072" y="1801368"/>
            <a:ext cx="4791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T'es nul, personne ne t'aime, retourne te cacher. »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Insultes et moqueries répétées chaque soir. L'enfant devient triste, dort mal et ne veut plus aller à l'école.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CYBERHARCÈLEMENT — conserver les preuves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868680"/>
            <a:ext cx="301752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715000" y="868680"/>
            <a:ext cx="3017520" cy="42062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4728" y="8686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Indices à repérer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88152" y="1289304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1289304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répétés, blessants ou menaçants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824728" y="1995678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88152" y="1995678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😞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81928" y="1995678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d'humeur, repli, refus de l'école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824728" y="2702052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88152" y="2702052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81928" y="2702052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preuves (captures d'écran)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24728" y="3408426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788152" y="3408426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📞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81928" y="3408426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parler : 3018, et l'établissement scolaire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3" name="Shape 3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 03 — Faux cadeau / concours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120640" cy="324612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51206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868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surgissante pendant le jeu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6072" y="132588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pop-up « Félicitations ! »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1709928"/>
            <a:ext cx="4791456" cy="0"/>
          </a:xfrm>
          <a:prstGeom prst="line">
            <a:avLst/>
          </a:prstGeom>
          <a:noFill/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6072" y="1801368"/>
            <a:ext cx="4791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BRAVO ! Tu es le 1000e visiteur, tu as gagné un téléphone et 1000 V-Bucks ! Clique ici et entre vite l'adresse et la carte bancaire de tes parents pour recevoir ton cadeau. »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76072" y="36118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ARNAQUE — ne jamais cliquer ni saisir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868680"/>
            <a:ext cx="301752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715000" y="868680"/>
            <a:ext cx="3017520" cy="42062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824728" y="8686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Indices à repérer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88152" y="1289304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81928" y="1289304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 un gain énorme pour attirer le clic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824728" y="1995678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88152" y="1995678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81928" y="1995678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Réclame des données bancaires / personnelles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824728" y="2702052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788152" y="2702052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⏱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81928" y="2702052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: « clique vite » pour court-circuiter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824728" y="3408426"/>
            <a:ext cx="2798064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788152" y="3408426"/>
            <a:ext cx="5029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🚫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81928" y="3408426"/>
            <a:ext cx="2340864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cadeau n'exige jamais la carte bancaire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3" name="Shape 3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contrôle parental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outil, pas un mur : il accompagne, il ne remplace pas le dialogue.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325880"/>
            <a:ext cx="406908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25880"/>
            <a:ext cx="4069080" cy="420624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Outils recommandés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746504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" y="1746504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Google Family Link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Apps, temps d'écran et localisation (Android)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11603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2311603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5528" y="2311603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Temps d'écran (Apple)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Limiter apps et sites sur iPhone / iPad / Mac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876702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876702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5528" y="2876702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Microsoft Family Safety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Contrôle complet sur Windows et Xbox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441802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02920" y="3441802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5528" y="3441802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Qustodio / Net Nanny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Solutions multi-plateformes avec rapports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006901"/>
            <a:ext cx="3794760" cy="0"/>
          </a:xfrm>
          <a:prstGeom prst="line">
            <a:avLst/>
          </a:prstGeom>
          <a:noFill/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02920" y="4006901"/>
            <a:ext cx="27432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4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5528" y="4006901"/>
            <a:ext cx="3566160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Filtres de la box  </a:t>
            </a: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Bloquer des catégories de sites sur le routeur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325880"/>
            <a:ext cx="4069080" cy="32461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663440" y="1325880"/>
            <a:ext cx="4069080" cy="420624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800600" y="132588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Bonnes pratiques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92040" y="189280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Installez-le dès le 1er appareil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Expliquez à l'enfant POURQUOI ces règles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Placez les écrans dans les espaces communs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bloquez pas sans discussion — dialoguez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Révisez les paramètres régulièrement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la confidentialité des réseaux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9" name="Shape 26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1" name="Shape 28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3" name="Shape 30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signaux d'alerte à surveiller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signe isolé ne prouve un problème — c'est l'accumulation qui doit alerter.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🙈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son écran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" y="1956816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ou masque l'écran dès qu'un adulte s'approche.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7413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5935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S'isole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1956816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replie, s'éloigne de sa famille et de ses amis habituels.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080760" y="1298448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0760" y="1298448"/>
            <a:ext cx="26517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0877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😟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9399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Humeur qui change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45352" y="1956816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Nerveux, triste ou agité après avoir été en ligne.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411480" y="2779776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2779776"/>
            <a:ext cx="26517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2471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 d'inconnus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" y="3438144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des messages, photos ou cadeaux de personnes inconnues.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3246120" y="2779776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2779776"/>
            <a:ext cx="2651760" cy="6400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374136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95935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lève la nuit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410712" y="3438144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les appareils en cachette, son humeur dépend de l'accès.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6080760" y="2779776"/>
            <a:ext cx="2651760" cy="12984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080760" y="2779776"/>
            <a:ext cx="2651760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208776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🧑‍💻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793992" y="29352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Ami » en ligne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45352" y="3438144"/>
            <a:ext cx="2322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 d'un(e) ami(e) rencontré(e) uniquement sur Internet.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solidFill>
            <a:srgbClr val="1723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 En cas de doute : </a:t>
            </a:r>
            <a:r>
              <a:rPr lang="en-US" sz="12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parlez-en sans attendre à votre enfant — sans colère, avec bienveillance.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40" name="Shape 37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2" name="Shape 39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44" name="Shape 41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2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de l'enfant — SMS reçu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enfant reçoit ce SMS sur son téléphone.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TikTok : ton compte va être supprimé dans 24h ! Confirme vite ton mot de passe ici : tiktok-verif-compte.net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✔ Réponse : À RISQUE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imitant un réseau social.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Domaine inventé (.net) — ce n'est pas le vrai site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Urgence artificielle (24h) pour empêcher de réfléchir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Aucun réseau ne demande le mot de passe par SMS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Réflexe : ne pas cliquer, en parler à un adulte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 — appli vidéos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enfant (8 ans) regarde des vidéos dans le salon.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enfant activé, contrôle parental en place, 30 minutes définies à l'avance — et il vous montre ce qu'il regarde.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✔ Réponse : SANS DANGER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sain et encadré.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Application adaptée à son âge (profil enfant)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Écran dans un espace commun, à votre vue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Temps d'écran défini à l'avance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 inconnu n'entre en contact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en ligne — message privé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ami » rencontré dans un jeu écrit à votre enfant.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se parle en privé ? Envoie une photo de toi, je t'enverrai des skins gratuits. Surtout n'en parle pas à tes parents.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✔ Réponse : À RISQUE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tentative de grooming par un inconnu.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Veut un échange privé, hors du jeu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une photo de l'enfant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Exige le secret vis-à-vis des parents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Promet des cadeaux pour gagner la confiance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 — recherche scolaire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enfant prépare un exposé sur les volcans.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sa recherche sur un moteur pour enfants (Qwant Junior), le contrôle parental est activé, et il vient vous montrer ce qu'il a trouvé.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✔ Réponse : SANS DANGER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activité adaptée et partagée.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Outil de recherche conçu pour les enfants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Contrôle parental activé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Partage librement son activité avec vous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Aucune donnée personnelle demandée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26" name="Shape 2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09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5 /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26080" y="109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À risque ou sans danger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777240"/>
            <a:ext cx="8321040" cy="1783080"/>
          </a:xfrm>
          <a:prstGeom prst="rect">
            <a:avLst/>
          </a:prstGeom>
          <a:solidFill>
            <a:srgbClr val="141B2B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76072" y="777240"/>
            <a:ext cx="7991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— message d'un inconnu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1978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Contexte : </a:t>
            </a:r>
            <a:r>
              <a:rPr lang="en-US" sz="11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inconnu envoie un message privé à votre enfant.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27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Tu es trop mignon(ne) 😍 Envoie-moi une photo et je t'ajoute dans mon groupe VIP. C'est notre secret, hein ?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À RISQUE — C'est dangereux !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9050">
            <a:solidFill>
              <a:srgbClr val="26AF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25780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SANS DANGER — C'est OK 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77640" y="27660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A2410"/>
          </a:solidFill>
          <a:ln w="12700">
            <a:solidFill>
              <a:srgbClr val="E8B6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977640" y="27660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Indice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337560"/>
            <a:ext cx="8321040" cy="1298448"/>
          </a:xfrm>
          <a:prstGeom prst="rect">
            <a:avLst/>
          </a:prstGeom>
          <a:solidFill>
            <a:srgbClr val="141B2B"/>
          </a:solidFill>
          <a:ln w="15875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" y="339242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✔ Réponse : À RISQUE — </a:t>
            </a: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approche typique d'un prédateur.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8010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Flatterie d'un inconnu pour mettre en confiance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Demande une photo personnelle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Promesse d'un « groupe VIP » comme appât</a:t>
            </a:r>
            <a:endParaRPr lang="en-US" sz="9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Exige le secret — signal d'alerte majeur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22" name="Shape 1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24" name="Shape 21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26" name="Shape 23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hlinkClick r:id="rId6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Signaler &amp; se faire aider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rapide et confidentiel. Conservez toujours les preuves.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2011680" cy="54864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14984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cybermalveillance.gouv.fr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1208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Aide, signalement, prestataires. Gratuit.</a:t>
            </a:r>
            <a:endParaRPr lang="en-US" sz="880" dirty="0"/>
          </a:p>
        </p:txBody>
      </p:sp>
      <p:pic>
        <p:nvPicPr>
          <p:cNvPr id="11" name="Image 1" descr="qr_cy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912" y="2221992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78608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2578608" y="1280160"/>
            <a:ext cx="2011680" cy="54864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2670048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182112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3018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688336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Cyberharcèlement : écoute &amp; aide. 7j/7.</a:t>
            </a:r>
            <a:endParaRPr lang="en-US" sz="880" dirty="0"/>
          </a:p>
        </p:txBody>
      </p:sp>
      <p:pic>
        <p:nvPicPr>
          <p:cNvPr id="17" name="Image 2" descr="qr_3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221992"/>
            <a:ext cx="731520" cy="7315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45736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745736" y="1280160"/>
            <a:ext cx="2011680" cy="54864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4837176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349240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internet-signalement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55464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illégal (PHAROS).</a:t>
            </a:r>
            <a:endParaRPr lang="en-US" sz="880" dirty="0"/>
          </a:p>
        </p:txBody>
      </p:sp>
      <p:pic>
        <p:nvPicPr>
          <p:cNvPr id="23" name="Image 3" descr="qr_phar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2221992"/>
            <a:ext cx="731520" cy="7315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912864" y="1280160"/>
            <a:ext cx="2011680" cy="17830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6912864" y="1280160"/>
            <a:ext cx="2011680" cy="54864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7004304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🧒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516368" y="138988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e-enfance.org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022592" y="186537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 l'enfance en ligne.</a:t>
            </a:r>
            <a:endParaRPr lang="en-US" sz="880" dirty="0"/>
          </a:p>
        </p:txBody>
      </p:sp>
      <p:pic>
        <p:nvPicPr>
          <p:cNvPr id="29" name="Image 4" descr="qr_eenf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2221992"/>
            <a:ext cx="731520" cy="7315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11480" y="3200400"/>
            <a:ext cx="4114800" cy="960120"/>
          </a:xfrm>
          <a:prstGeom prst="rect">
            <a:avLst/>
          </a:prstGeom>
          <a:solidFill>
            <a:srgbClr val="2A1512"/>
          </a:solidFill>
          <a:ln w="12700">
            <a:solidFill>
              <a:srgbClr val="D841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4"/>
          <p:cNvSpPr/>
          <p:nvPr/>
        </p:nvSpPr>
        <p:spPr>
          <a:xfrm>
            <a:off x="548640" y="3264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4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🛑  Mon enfant a un problème — que faire ?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48640" y="36027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Rester calme  •  2. Conserver les preuves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Bloquer &amp; signaler  •  4. Appeler le 3018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617720" y="3200400"/>
            <a:ext cx="4114800" cy="960120"/>
          </a:xfrm>
          <a:prstGeom prst="rect">
            <a:avLst/>
          </a:prstGeom>
          <a:solidFill>
            <a:srgbClr val="172339"/>
          </a:solidFill>
          <a:ln w="12700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4754880" y="3264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Porter plainte &amp; protéger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754880" y="36027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: masecurite.interieur.gouv.fr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Gendarmerie + captures  •  ne rien supprimer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411480" y="4279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Scannez les QR codes avec votre téléphone pour ouvrir les sites officiels.   Enfance en danger : 119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1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9" name="Shape 32">
            <a:hlinkClick r:id="rId8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3">
            <a:hlinkClick r:id="rId9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1" name="Shape 34">
            <a:hlinkClick r:id="rId10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5">
            <a:hlinkClick r:id="rId10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43" name="Shape 36">
            <a:hlinkClick r:id="rId9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>
            <a:hlinkClick r:id="rId9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charte familiale numérique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des règles claires AVEC votre enfant — pas contre lui.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2651760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949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471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Temps d'écran défini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" y="19568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1h en semaine, 2h le week-end. Rien avant l'école ni avant le coucher.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37413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5935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Zones sans écran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19568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et table du repas. L'écran reste dans les espaces communs.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080760" y="12984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0760" y="1298448"/>
            <a:ext cx="2651760" cy="6400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08776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93992" y="14538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 &amp; mots de passe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45352" y="19568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connaissent les identifiants. Aucun compte sans accord.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411480" y="28986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11480" y="2898648"/>
            <a:ext cx="2651760" cy="6400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24712" y="30540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" y="35570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accepte une vérification des échanges en cas de doute.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3246120" y="28986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2898648"/>
            <a:ext cx="2651760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374136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💚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959352" y="30540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 en ligne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410712" y="35570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publie rien de blessant, d'intime ou de vexant pour autrui.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6080760" y="2898648"/>
            <a:ext cx="2651760" cy="141732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080760" y="2898648"/>
            <a:ext cx="2651760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208776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793992" y="305409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Alerte immédiate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45352" y="35570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3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quelque chose gêne ou fait peur, on en parle — SANS punition.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8" name="Shape 35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40" name="Shape 37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42" name="Shape 39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Parler avec votre enfant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ouvertes pour installer le dialogue, sans interroger.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371600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64008" cy="8412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05840" y="1371600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tu fais en ligne quand je ne suis pas là 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86300" y="1371600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86300" y="1371600"/>
            <a:ext cx="64008" cy="84124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823460" y="14173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280660" y="1371600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As-tu des amis que tu connais uniquement sur Internet 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2395728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11480" y="2395728"/>
            <a:ext cx="64008" cy="84124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48640" y="244144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005840" y="2395728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t'a-t-il déjà mis mal à l'aise en ligne 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86300" y="2395728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686300" y="2395728"/>
            <a:ext cx="64008" cy="841248"/>
          </a:xfrm>
          <a:prstGeom prst="rect">
            <a:avLst/>
          </a:prstGeom>
          <a:solidFill>
            <a:srgbClr val="E97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23460" y="244144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97F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280660" y="2395728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ferais-tu si on te demandait une photo de toi 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419856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11480" y="3419856"/>
            <a:ext cx="64008" cy="841248"/>
          </a:xfrm>
          <a:prstGeom prst="rect">
            <a:avLst/>
          </a:prstGeom>
          <a:solidFill>
            <a:srgbClr val="9A4B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48640" y="34655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9A4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005840" y="3419856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choses en ligne qui t'inquiètent ?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86300" y="3419856"/>
            <a:ext cx="4046220" cy="841248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4686300" y="3419856"/>
            <a:ext cx="64008" cy="841248"/>
          </a:xfrm>
          <a:prstGeom prst="rect">
            <a:avLst/>
          </a:prstGeom>
          <a:solidFill>
            <a:srgbClr val="17A2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823460" y="34655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7A2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❝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5280660" y="3419856"/>
            <a:ext cx="33147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pourrais-tu parler si quelque chose de bizarre arrivait ?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2" name="Shape 29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4" name="Shape 31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6" name="Shape 3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97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Ce que je retiens de cet atelier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679192" cy="33832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11480" y="1051560"/>
            <a:ext cx="2679192" cy="6400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6072" y="11978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41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🚩 SIGNAUX D'ALERTE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Cache son écran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qu'on approche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594360" y="2203704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S'isole / change d'humeur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les écrans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4360" y="2761488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Inconnu insistant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cadeaux, secret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594360" y="3319272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Usage nocturne caché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lève la nuit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594360" y="3877056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Demande de photo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d'argent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73552" y="1051560"/>
            <a:ext cx="2679192" cy="33832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273552" y="1051560"/>
            <a:ext cx="2679192" cy="64008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3438144" y="11978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BONS RÉFLEXES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56432" y="1645920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Écrans dans le salon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communs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3456432" y="2203704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Contrôle parental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 1er appareil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3456432" y="2761488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Charte familiale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d'écran défini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3456432" y="3319272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Dialogue ouvert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qu'interdire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3456432" y="3877056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Conserver les preuves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d'écran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135624" y="1051560"/>
            <a:ext cx="2679192" cy="338328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135624" y="1051560"/>
            <a:ext cx="2679192" cy="64008"/>
          </a:xfrm>
          <a:prstGeom prst="rect">
            <a:avLst/>
          </a:prstGeom>
          <a:solidFill>
            <a:srgbClr val="2E86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300216" y="11978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EN CAS DE DOUTE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18504" y="1645920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Cyberharcèlement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3018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6318504" y="2203704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Contenu illégal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PHAROS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6318504" y="2761488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Aide &amp; conseils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cybermalveillance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6318504" y="3319272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Enfance en danger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119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318504" y="3877056"/>
            <a:ext cx="2313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Toujours  </a:t>
            </a:r>
            <a:r>
              <a:rPr lang="en-US" sz="980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parler, sans punir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  <p:sp>
        <p:nvSpPr>
          <p:cNvPr id="31" name="Shape 28">
            <a:hlinkClick r:id="rId4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hlinkClick r:id="rId5" action="ppaction://hlinksldjump" tooltip="Précédent"/>
          </p:cNvPr>
          <p:cNvSpPr/>
          <p:nvPr/>
        </p:nvSpPr>
        <p:spPr>
          <a:xfrm>
            <a:off x="22860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◀ </a:t>
            </a: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Précéd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Préc</a:t>
            </a:r>
            <a:endParaRPr lang="en-US" sz="900" dirty="0"/>
          </a:p>
        </p:txBody>
      </p:sp>
      <p:sp>
        <p:nvSpPr>
          <p:cNvPr id="33" name="Shape 30">
            <a:hlinkClick r:id="rId6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C2A3A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>
            <a:hlinkClick r:id="rId5" action="ppaction://hlinksldjump" tooltip="Suivant"/>
          </p:cNvPr>
          <p:cNvSpPr/>
          <p:nvPr/>
        </p:nvSpPr>
        <p:spPr>
          <a:xfrm>
            <a:off x="7360920" y="47411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Suiv</a:t>
            </a:r>
            <a:r>
              <a:rPr lang="en-US" sz="900" u="sng" dirty="0">
                <a:solidFill>
                  <a:srgbClr val="E97F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Suiv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 ▶</a:t>
            </a:r>
            <a:endParaRPr lang="en-US" sz="900" dirty="0"/>
          </a:p>
        </p:txBody>
      </p:sp>
      <p:sp>
        <p:nvSpPr>
          <p:cNvPr id="35" name="Shape 32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41B2B"/>
          </a:solidFill>
          <a:ln w="9525">
            <a:solidFill>
              <a:srgbClr val="2C3A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>
            <a:hlinkClick r:id="rId5" action="ppaction://hlinksldjump" tooltip="Au programme"/>
          </p:cNvPr>
          <p:cNvSpPr/>
          <p:nvPr/>
        </p:nvSpPr>
        <p:spPr>
          <a:xfrm>
            <a:off x="8275320" y="47411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u="sng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Au program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841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" y="91440"/>
            <a:ext cx="7498080" cy="3657600"/>
          </a:xfrm>
          <a:prstGeom prst="ellipse">
            <a:avLst/>
          </a:prstGeom>
          <a:solidFill>
            <a:srgbClr val="0C2A2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828800" y="548640"/>
            <a:ext cx="5486400" cy="2743200"/>
          </a:xfrm>
          <a:prstGeom prst="ellipse">
            <a:avLst/>
          </a:prstGeom>
          <a:solidFill>
            <a:srgbClr val="0C2A22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1828800"/>
          </a:xfrm>
          <a:prstGeom prst="ellipse">
            <a:avLst/>
          </a:prstGeom>
          <a:solidFill>
            <a:srgbClr val="0C2A22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DAA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clé, c'est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confiance.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D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n'est pas l'ennemi — l'ignorance, si. Accompagnez plutôt que surveiller, éduquez plutôt qu'interdire.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2788920"/>
            <a:ext cx="6217920" cy="1508760"/>
          </a:xfrm>
          <a:prstGeom prst="rect">
            <a:avLst/>
          </a:prstGeom>
          <a:solidFill>
            <a:srgbClr val="1C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463040" y="2788920"/>
            <a:ext cx="64008" cy="1508760"/>
          </a:xfrm>
          <a:prstGeom prst="rect">
            <a:avLst/>
          </a:prstGeom>
          <a:solidFill>
            <a:srgbClr val="26AF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783080" y="2907792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les principaux dangers et les signaux d'alerte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garde les écrans visibles et je mets un contrôle parental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posé une charte familiale claire, AVEC mon enfant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dialogue sans punir — mon enfant peut tout me dire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signaler : 3018, PHAROS, cybermalveillance, 119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AF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Restez la personne de confiance de votre enfant.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8090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194560" y="47228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WALTENER — Atelier Securite Internet des enfants —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2707</Words>
  <Application>Microsoft Office PowerPoint</Application>
  <PresentationFormat>Affichage à l'écran (16:9)</PresentationFormat>
  <Paragraphs>468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Securite Internet des enfants</dc:title>
  <dc:subject>PptxGenJS Presentation</dc:subject>
  <dc:creator>Cedric WALTENER</dc:creator>
  <cp:lastModifiedBy>titi 23</cp:lastModifiedBy>
  <cp:revision>3</cp:revision>
  <dcterms:created xsi:type="dcterms:W3CDTF">2026-06-03T09:55:59Z</dcterms:created>
  <dcterms:modified xsi:type="dcterms:W3CDTF">2026-06-17T08:24:02Z</dcterms:modified>
</cp:coreProperties>
</file>