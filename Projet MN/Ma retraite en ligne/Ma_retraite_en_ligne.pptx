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551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4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9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image" Target="../media/image27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3.png"/><Relationship Id="rId4" Type="http://schemas.openxmlformats.org/officeDocument/2006/relationships/image" Target="../media/image3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23.png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27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820" y="45720"/>
            <a:ext cx="5486400" cy="5486400"/>
          </a:xfrm>
          <a:prstGeom prst="ellipse">
            <a:avLst/>
          </a:prstGeom>
          <a:solidFill>
            <a:srgbClr val="16285A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267450" y="1161661"/>
            <a:ext cx="5669280" cy="5669280"/>
          </a:xfrm>
          <a:prstGeom prst="ellipse">
            <a:avLst/>
          </a:prstGeom>
          <a:solidFill>
            <a:srgbClr val="0E8C8C">
              <a:alpha val="20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685800"/>
            <a:ext cx="1920240" cy="1920240"/>
          </a:xfrm>
          <a:prstGeom prst="rect">
            <a:avLst/>
          </a:prstGeom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0" y="278892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3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ATELIER NUMÉRIQUE · DÉBUTANTS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0" y="3154680"/>
            <a:ext cx="12161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retraite en ligne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1371600" y="411480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Demander sa retraite sur Internet, pas à pas — et les papiers à fournir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794760" y="4983480"/>
            <a:ext cx="4572000" cy="603504"/>
          </a:xfrm>
          <a:prstGeom prst="roundRect">
            <a:avLst>
              <a:gd name="adj" fmla="val 50000"/>
            </a:avLst>
          </a:prstGeom>
          <a:solidFill>
            <a:srgbClr val="2FA66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3794760" y="4983480"/>
            <a:ext cx="45720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site · une seule demande · pour tous vos régimes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0" y="6172200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 — Médiation numérique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 PROGRAMME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 que vous saurez faire ce soir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96112" y="201168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2167128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83080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Trouver le bon site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14400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officiel, un seul pour toutes vos caisses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453128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4709160" y="201168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167128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96128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 connecter en sécurité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27448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Avec FranceConnect, sans créer un nouveau mot de passe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266176" y="173736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8522208" y="201168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7656" y="2167128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09176" y="20116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et estimer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8540496" y="2743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carrière, mon âge de départ, le montant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40080" y="3840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896112" y="411480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1560" y="4270248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83080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Faire ma demande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914400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Cliquer au bon endroit, étape par étape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4453128" y="3840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4709160" y="411480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64608" y="4270248"/>
            <a:ext cx="402336" cy="40233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96128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Préparer mes papiers</a:t>
            </a:r>
            <a:endParaRPr lang="en-US" sz="1600" dirty="0"/>
          </a:p>
        </p:txBody>
      </p:sp>
      <p:sp>
        <p:nvSpPr>
          <p:cNvPr id="29" name="Text 21"/>
          <p:cNvSpPr/>
          <p:nvPr/>
        </p:nvSpPr>
        <p:spPr>
          <a:xfrm>
            <a:off x="4727448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des justificatifs à fournir</a:t>
            </a:r>
            <a:endParaRPr lang="en-US" sz="1250" dirty="0"/>
          </a:p>
        </p:txBody>
      </p:sp>
      <p:sp>
        <p:nvSpPr>
          <p:cNvPr id="30" name="Shape 22"/>
          <p:cNvSpPr/>
          <p:nvPr/>
        </p:nvSpPr>
        <p:spPr>
          <a:xfrm>
            <a:off x="8266176" y="384048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8522208" y="411480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4270248"/>
            <a:ext cx="402336" cy="40233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9409176" y="41148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Connaître l'option papier</a:t>
            </a:r>
            <a:endParaRPr lang="en-US" sz="1600" dirty="0"/>
          </a:p>
        </p:txBody>
      </p:sp>
      <p:sp>
        <p:nvSpPr>
          <p:cNvPr id="34" name="Text 25"/>
          <p:cNvSpPr/>
          <p:nvPr/>
        </p:nvSpPr>
        <p:spPr>
          <a:xfrm>
            <a:off x="8540496" y="4846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je n'ai pas Internet ou si je préfère</a:t>
            </a:r>
            <a:endParaRPr lang="en-US" sz="1250" dirty="0"/>
          </a:p>
        </p:txBody>
      </p:sp>
      <p:sp>
        <p:nvSpPr>
          <p:cNvPr id="36" name="Text 2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7720" y="128016"/>
            <a:ext cx="6400800" cy="6400800"/>
          </a:xfrm>
          <a:prstGeom prst="ellipse">
            <a:avLst/>
          </a:prstGeom>
          <a:solidFill>
            <a:srgbClr val="0E8C8C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POINT DE DÉPART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1430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retraite, il faut la demander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6766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9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 vous arrivez à l'âge de la retraite, l'argent </a:t>
            </a:r>
            <a:r>
              <a:rPr lang="en-US" sz="190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n'arrive pas automatiquement</a:t>
            </a:r>
            <a:r>
              <a:rPr lang="en-US" sz="19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sur votre compte.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3200400"/>
            <a:ext cx="6766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devez faire une démarche pour la déclencher. Bonne nouvelle : aujourd'hui, tout peut se faire depuis chez vous, sur Internet.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228600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0" y="2596896"/>
            <a:ext cx="603504" cy="60350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006840" y="248716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mois avant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006840" y="292608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le bon moment pour déposer votre demande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55280" y="3703320"/>
            <a:ext cx="3566160" cy="1234440"/>
          </a:xfrm>
          <a:prstGeom prst="roundRect">
            <a:avLst>
              <a:gd name="adj" fmla="val 7407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4014216"/>
            <a:ext cx="603504" cy="6035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006840" y="390448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Depuis chez vous</a:t>
            </a:r>
            <a:endParaRPr lang="en-US" sz="1700" dirty="0"/>
          </a:p>
        </p:txBody>
      </p:sp>
      <p:sp>
        <p:nvSpPr>
          <p:cNvPr id="14" name="Text 10"/>
          <p:cNvSpPr/>
          <p:nvPr/>
        </p:nvSpPr>
        <p:spPr>
          <a:xfrm>
            <a:off x="9006840" y="43434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EB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Ordinateur, tablette ou smartphone suffisent</a:t>
            </a:r>
            <a:endParaRPr lang="en-US" sz="1150" dirty="0"/>
          </a:p>
        </p:txBody>
      </p:sp>
      <p:pic>
        <p:nvPicPr>
          <p:cNvPr id="15" name="Image 2" descr="yggdrasil_favic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614476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0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bon site : un seul pour tout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240280"/>
            <a:ext cx="777240" cy="7772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920240" y="2148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info-retraite.fr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1920240" y="26974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Mon compte retraite »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60120" y="31272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officiel et gratuit du service public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49224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celui-là ?</a:t>
            </a:r>
            <a:endParaRPr lang="en-US" sz="19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233172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086600" y="227685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regroupe TOUS vos régimes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086600" y="26426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Salarié, agricole, indépendant, fonction publique…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35584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086600" y="33009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demande pour tous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7086600" y="36667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besoin d'écrire à chaque caisse séparément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0" y="4379976"/>
            <a:ext cx="457200" cy="4572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086600" y="43251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Sécurisé et gratuit</a:t>
            </a:r>
            <a:endParaRPr lang="en-US" sz="1450" dirty="0"/>
          </a:p>
        </p:txBody>
      </p:sp>
      <p:sp>
        <p:nvSpPr>
          <p:cNvPr id="19" name="Text 12"/>
          <p:cNvSpPr/>
          <p:nvPr/>
        </p:nvSpPr>
        <p:spPr>
          <a:xfrm>
            <a:off x="7086600" y="469087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Jamais de paiement demandé pour faire sa retraite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40080" y="3977640"/>
            <a:ext cx="5486400" cy="1325880"/>
          </a:xfrm>
          <a:prstGeom prst="roundRect">
            <a:avLst>
              <a:gd name="adj" fmla="val 6897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4297680"/>
            <a:ext cx="566928" cy="56692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45920" y="4114800"/>
            <a:ext cx="42976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aux faux sites. </a:t>
            </a: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vous-même info-retraite.fr. Méfiez-vous des sites qui demandent de l'argent ou qui promettent de « tout faire à votre place ».</a:t>
            </a:r>
            <a:endParaRPr lang="en-US" sz="1250" dirty="0"/>
          </a:p>
        </p:txBody>
      </p:sp>
      <p:sp>
        <p:nvSpPr>
          <p:cNvPr id="24" name="Text 15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5A6B86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6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CHEMINS POSSIBLES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ligne ou sur papier ?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60120" y="2103120"/>
            <a:ext cx="868680" cy="868680"/>
          </a:xfrm>
          <a:prstGeom prst="ellipse">
            <a:avLst/>
          </a:prstGeom>
          <a:solidFill>
            <a:srgbClr val="16285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0432" y="2313432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01168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ligne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201168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plus simple aujourd'hui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291840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63040" y="3227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info-retraite.fr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3794760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63040" y="37307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seule demande pour tous les régimes</a:t>
            </a:r>
            <a:endParaRPr lang="en-US" sz="13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297680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63040" y="42336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déjà pré-rempli</a:t>
            </a:r>
            <a:endParaRPr lang="en-US" sz="13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800600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463040" y="47365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en direct de votre dossier</a:t>
            </a:r>
            <a:endParaRPr lang="en-US" sz="1300" dirty="0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5303520"/>
            <a:ext cx="256032" cy="256032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1463040" y="52395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joints en photo / scan</a:t>
            </a:r>
            <a:endParaRPr lang="en-US" sz="1300" dirty="0"/>
          </a:p>
        </p:txBody>
      </p:sp>
      <p:sp>
        <p:nvSpPr>
          <p:cNvPr id="20" name="Shape 11"/>
          <p:cNvSpPr/>
          <p:nvPr/>
        </p:nvSpPr>
        <p:spPr>
          <a:xfrm>
            <a:off x="6217920" y="1783080"/>
            <a:ext cx="52120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2"/>
          <p:cNvSpPr/>
          <p:nvPr/>
        </p:nvSpPr>
        <p:spPr>
          <a:xfrm>
            <a:off x="6537960" y="2103120"/>
            <a:ext cx="868680" cy="86868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8272" y="2313432"/>
            <a:ext cx="457200" cy="45720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7589520" y="212140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papier</a:t>
            </a:r>
            <a:endParaRPr lang="en-US" sz="2400" dirty="0"/>
          </a:p>
        </p:txBody>
      </p:sp>
      <p:sp>
        <p:nvSpPr>
          <p:cNvPr id="24" name="Text 14"/>
          <p:cNvSpPr/>
          <p:nvPr/>
        </p:nvSpPr>
        <p:spPr>
          <a:xfrm>
            <a:off x="758952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n'avez pas Internet</a:t>
            </a:r>
            <a:endParaRPr lang="en-US" sz="13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291840"/>
            <a:ext cx="256032" cy="256032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7040880" y="322783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Formulaire « Cerfa » à remplir à la main</a:t>
            </a:r>
            <a:endParaRPr lang="en-US" sz="1300" dirty="0"/>
          </a:p>
        </p:txBody>
      </p:sp>
      <p:pic>
        <p:nvPicPr>
          <p:cNvPr id="27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3794760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7040880" y="373075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retirer à la Carsat ou France services</a:t>
            </a:r>
            <a:endParaRPr lang="en-US" sz="1300" dirty="0"/>
          </a:p>
        </p:txBody>
      </p:sp>
      <p:pic>
        <p:nvPicPr>
          <p:cNvPr id="29" name="Image 10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297680"/>
            <a:ext cx="256032" cy="256032"/>
          </a:xfrm>
          <a:prstGeom prst="rect">
            <a:avLst/>
          </a:prstGeom>
        </p:spPr>
      </p:pic>
      <p:sp>
        <p:nvSpPr>
          <p:cNvPr id="30" name="Text 17"/>
          <p:cNvSpPr/>
          <p:nvPr/>
        </p:nvSpPr>
        <p:spPr>
          <a:xfrm>
            <a:off x="7040880" y="423367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demande par régime concerné</a:t>
            </a:r>
            <a:endParaRPr lang="en-US" sz="13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4800600"/>
            <a:ext cx="256032" cy="256032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7040880" y="473659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 par courrier avec les copies</a:t>
            </a:r>
            <a:endParaRPr lang="en-US" sz="1300" dirty="0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9400" y="5303520"/>
            <a:ext cx="256032" cy="256032"/>
          </a:xfrm>
          <a:prstGeom prst="rect">
            <a:avLst/>
          </a:prstGeom>
        </p:spPr>
      </p:pic>
      <p:sp>
        <p:nvSpPr>
          <p:cNvPr id="34" name="Text 19"/>
          <p:cNvSpPr/>
          <p:nvPr/>
        </p:nvSpPr>
        <p:spPr>
          <a:xfrm>
            <a:off x="7040880" y="5239512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peu plus long à traiter</a:t>
            </a:r>
            <a:endParaRPr lang="en-US" sz="1300" dirty="0"/>
          </a:p>
        </p:txBody>
      </p:sp>
      <p:sp>
        <p:nvSpPr>
          <p:cNvPr id="36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M'INSTALLE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 de commencer : ce qu'il faut sous la main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373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96112" y="20116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2148840"/>
            <a:ext cx="329184" cy="3291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64208" y="19019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appareil connecté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664208" y="23042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Ordinateur, tablette ou téléphone avec Internet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17373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19672" y="20116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2148840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87768" y="19019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adresse e-mail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287768" y="23042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mon mot de passe de messagerie (pour les codes)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1089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896112" y="33832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3272" y="3520440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64208" y="32735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téléphone portable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664208" y="36758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recevoir un code de sécurité par SMS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31089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19672" y="33832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6832" y="3520440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87768" y="32735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 identifiants FranceConnect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287768" y="36758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Impôts, Ameli, La Poste… un compte que vous avez déjà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44805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896112" y="47548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3272" y="489204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64208" y="46451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RIB</a:t>
            </a:r>
            <a:endParaRPr lang="en-US" sz="1450" dirty="0"/>
          </a:p>
        </p:txBody>
      </p:sp>
      <p:sp>
        <p:nvSpPr>
          <p:cNvPr id="29" name="Text 21"/>
          <p:cNvSpPr/>
          <p:nvPr/>
        </p:nvSpPr>
        <p:spPr>
          <a:xfrm>
            <a:off x="1664208" y="50474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relevé qui donne le numéro de mon compte bancaire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6263640" y="4480560"/>
            <a:ext cx="5349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6519672" y="4754880"/>
            <a:ext cx="603504" cy="603504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56832" y="4892040"/>
            <a:ext cx="329184" cy="32918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87768" y="4645152"/>
            <a:ext cx="4160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peu de temps au calme</a:t>
            </a:r>
            <a:endParaRPr lang="en-US" sz="1450" dirty="0"/>
          </a:p>
        </p:txBody>
      </p:sp>
      <p:sp>
        <p:nvSpPr>
          <p:cNvPr id="34" name="Text 25"/>
          <p:cNvSpPr/>
          <p:nvPr/>
        </p:nvSpPr>
        <p:spPr>
          <a:xfrm>
            <a:off x="7287768" y="50474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Comptez 20 à 30 minutes, sans être pressé</a:t>
            </a:r>
            <a:endParaRPr lang="en-US" sz="1200" dirty="0"/>
          </a:p>
        </p:txBody>
      </p:sp>
      <p:sp>
        <p:nvSpPr>
          <p:cNvPr id="36" name="Text 2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connecter avec FranceConnect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029200" cy="3520440"/>
          </a:xfrm>
          <a:prstGeom prst="roundRect">
            <a:avLst>
              <a:gd name="adj" fmla="val 3117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0312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0" y="21488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FranceConnect, c'est quoi ?</a:t>
            </a:r>
            <a:endParaRPr lang="en-US" sz="1900" dirty="0"/>
          </a:p>
        </p:txBody>
      </p:sp>
      <p:sp>
        <p:nvSpPr>
          <p:cNvPr id="8" name="Text 4"/>
          <p:cNvSpPr/>
          <p:nvPr/>
        </p:nvSpPr>
        <p:spPr>
          <a:xfrm>
            <a:off x="960120" y="29718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bouton qui vous permet de vous connecter </a:t>
            </a:r>
            <a:r>
              <a:rPr lang="en-US" sz="150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créer de nouveau mot de passe</a:t>
            </a:r>
            <a:r>
              <a:rPr lang="en-US" sz="15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60120" y="38862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réutilisez un compte que vous avez déjà :</a:t>
            </a:r>
            <a:endParaRPr lang="en-US" sz="13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315968"/>
            <a:ext cx="201168" cy="20116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25880" y="4261104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Impôts (impots.gouv.fr)</a:t>
            </a:r>
            <a:endParaRPr lang="en-US" sz="12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562856"/>
            <a:ext cx="201168" cy="20116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5880" y="450799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l'Assurance Maladie (Ameli)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809744"/>
            <a:ext cx="201168" cy="2011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325880" y="47548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Poste / L'Identité Numérique</a:t>
            </a:r>
            <a:endParaRPr lang="en-US" sz="12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5056632"/>
            <a:ext cx="201168" cy="20116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325880" y="50017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MSA, Yris…</a:t>
            </a:r>
            <a:endParaRPr lang="en-US" sz="1250" dirty="0"/>
          </a:p>
        </p:txBody>
      </p:sp>
      <p:sp>
        <p:nvSpPr>
          <p:cNvPr id="18" name="Text 10"/>
          <p:cNvSpPr/>
          <p:nvPr/>
        </p:nvSpPr>
        <p:spPr>
          <a:xfrm>
            <a:off x="6035040" y="182880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Pourquoi c'est pratique</a:t>
            </a:r>
            <a:endParaRPr lang="en-US" sz="1900" dirty="0"/>
          </a:p>
        </p:txBody>
      </p:sp>
      <p:sp>
        <p:nvSpPr>
          <p:cNvPr id="19" name="Shape 11"/>
          <p:cNvSpPr/>
          <p:nvPr/>
        </p:nvSpPr>
        <p:spPr>
          <a:xfrm>
            <a:off x="6035040" y="2423160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2615184"/>
            <a:ext cx="457200" cy="4572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858000" y="251460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sûr</a:t>
            </a:r>
            <a:endParaRPr lang="en-US" sz="1450" dirty="0"/>
          </a:p>
        </p:txBody>
      </p:sp>
      <p:sp>
        <p:nvSpPr>
          <p:cNvPr id="22" name="Text 13"/>
          <p:cNvSpPr/>
          <p:nvPr/>
        </p:nvSpPr>
        <p:spPr>
          <a:xfrm>
            <a:off x="6858000" y="284378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données sont protégées par l'État</a:t>
            </a:r>
            <a:endParaRPr lang="en-US" sz="1250" dirty="0"/>
          </a:p>
        </p:txBody>
      </p:sp>
      <p:sp>
        <p:nvSpPr>
          <p:cNvPr id="23" name="Shape 14"/>
          <p:cNvSpPr/>
          <p:nvPr/>
        </p:nvSpPr>
        <p:spPr>
          <a:xfrm>
            <a:off x="6035040" y="3383280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3575304"/>
            <a:ext cx="457200" cy="45720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6858000" y="3474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compte</a:t>
            </a:r>
            <a:endParaRPr lang="en-US" sz="1450" dirty="0"/>
          </a:p>
        </p:txBody>
      </p:sp>
      <p:sp>
        <p:nvSpPr>
          <p:cNvPr id="26" name="Text 16"/>
          <p:cNvSpPr/>
          <p:nvPr/>
        </p:nvSpPr>
        <p:spPr>
          <a:xfrm>
            <a:off x="6858000" y="38039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mot de passe de plus à retenir</a:t>
            </a:r>
            <a:endParaRPr lang="en-US" sz="1250" dirty="0"/>
          </a:p>
        </p:txBody>
      </p:sp>
      <p:sp>
        <p:nvSpPr>
          <p:cNvPr id="27" name="Shape 17"/>
          <p:cNvSpPr/>
          <p:nvPr/>
        </p:nvSpPr>
        <p:spPr>
          <a:xfrm>
            <a:off x="6035040" y="4343400"/>
            <a:ext cx="548640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535424"/>
            <a:ext cx="457200" cy="457200"/>
          </a:xfrm>
          <a:prstGeom prst="rect">
            <a:avLst/>
          </a:prstGeom>
        </p:spPr>
      </p:pic>
      <p:sp>
        <p:nvSpPr>
          <p:cNvPr id="29" name="Text 18"/>
          <p:cNvSpPr/>
          <p:nvPr/>
        </p:nvSpPr>
        <p:spPr>
          <a:xfrm>
            <a:off x="6858000" y="44348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Reconnu partout</a:t>
            </a:r>
            <a:endParaRPr lang="en-US" sz="1450" dirty="0"/>
          </a:p>
        </p:txBody>
      </p:sp>
      <p:sp>
        <p:nvSpPr>
          <p:cNvPr id="30" name="Text 19"/>
          <p:cNvSpPr/>
          <p:nvPr/>
        </p:nvSpPr>
        <p:spPr>
          <a:xfrm>
            <a:off x="6858000" y="476402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même bouton sur de nombreux sites publics</a:t>
            </a:r>
            <a:endParaRPr lang="en-US" sz="1250" dirty="0"/>
          </a:p>
        </p:txBody>
      </p:sp>
      <p:sp>
        <p:nvSpPr>
          <p:cNvPr id="32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5A6B86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 · PAS À PAS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cliquer pour se connecter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41248" y="1865376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41248" y="186537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627632" y="1856232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Allez sur le site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669280" y="1856232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Tapez info-retraite.fr dans la barre du navigateur, puis Entrée.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2624328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841248" y="2706624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841248" y="270662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627632" y="2697480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Cliquez sur « Mon compte »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669280" y="2697480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est en haut à droite de la page d'accueil.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40080" y="3465576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841248" y="3547872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841248" y="354787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627632" y="3538728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Choisissez « S'identifier avec FranceConnect »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669280" y="3538728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bleu avec le logo FranceConnect.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40080" y="4306824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841248" y="438912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841248" y="43891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3" name="Text 20"/>
          <p:cNvSpPr/>
          <p:nvPr/>
        </p:nvSpPr>
        <p:spPr>
          <a:xfrm>
            <a:off x="1627632" y="4379976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Sélectionnez votre compte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669280" y="4379976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ex. « Impôts ». Entrez l'identifiant que vous connaissez déjà.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0080" y="5148072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841248" y="5230368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841248" y="52303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8" name="Text 25"/>
          <p:cNvSpPr/>
          <p:nvPr/>
        </p:nvSpPr>
        <p:spPr>
          <a:xfrm>
            <a:off x="1627632" y="5221224"/>
            <a:ext cx="402336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Validez le code reçu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669280" y="5221224"/>
            <a:ext cx="56692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Recopiez le code envoyé par SMS ou par e-mail. C'est fait, vous êtes connecté !</a:t>
            </a:r>
            <a:endParaRPr lang="en-US" sz="1300" dirty="0"/>
          </a:p>
        </p:txBody>
      </p:sp>
      <p:sp>
        <p:nvSpPr>
          <p:cNvPr id="31" name="Text 27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Vérifier ma carrière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874520"/>
            <a:ext cx="868680" cy="86868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37360" y="18745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Service « Ma carrière »</a:t>
            </a:r>
            <a:endParaRPr lang="en-US" sz="2300" dirty="0"/>
          </a:p>
        </p:txBody>
      </p:sp>
      <p:sp>
        <p:nvSpPr>
          <p:cNvPr id="7" name="Text 3"/>
          <p:cNvSpPr/>
          <p:nvPr/>
        </p:nvSpPr>
        <p:spPr>
          <a:xfrm>
            <a:off x="1737360" y="2423160"/>
            <a:ext cx="9692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 tout ce que vous avez travaillé, année par année. C'est ce relevé qui sert à calculer votre âge de départ et le montant de votre retraite.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640080" y="3474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5"/>
          <p:cNvSpPr/>
          <p:nvPr/>
        </p:nvSpPr>
        <p:spPr>
          <a:xfrm>
            <a:off x="914400" y="374904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9848" y="3904488"/>
            <a:ext cx="402336" cy="40233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4400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Regardez chaque ligne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914400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Vérifiez que toutes vos périodes de travail apparaissent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4453128" y="3474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9"/>
          <p:cNvSpPr/>
          <p:nvPr/>
        </p:nvSpPr>
        <p:spPr>
          <a:xfrm>
            <a:off x="4727448" y="374904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82896" y="3904488"/>
            <a:ext cx="402336" cy="40233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727448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Repérez un oubli ?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4727448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trimestre manquant, un employeur absent… notez-le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8266176" y="3474720"/>
            <a:ext cx="352044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3"/>
          <p:cNvSpPr/>
          <p:nvPr/>
        </p:nvSpPr>
        <p:spPr>
          <a:xfrm>
            <a:off x="8540496" y="3749040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944" y="3904488"/>
            <a:ext cx="402336" cy="40233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540496" y="452628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 une correction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8540496" y="4846320"/>
            <a:ext cx="2971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Dès 55 ans, vous pouvez demander à corriger votre carrière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Estimer mon âge et mon montant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5486400" cy="3383280"/>
          </a:xfrm>
          <a:prstGeom prst="roundRect">
            <a:avLst>
              <a:gd name="adj" fmla="val 3243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48840"/>
            <a:ext cx="731520" cy="7315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783080" y="2194560"/>
            <a:ext cx="4114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Mon estimation retraite »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960120" y="301752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simulateur qui vous montre, selon l'âge où vous partez :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3657600"/>
            <a:ext cx="292608" cy="29260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17320" y="36118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quel âge </a:t>
            </a:r>
            <a:r>
              <a:rPr lang="en-US" sz="13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partir</a:t>
            </a:r>
            <a:endParaRPr lang="en-US" sz="13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160520"/>
            <a:ext cx="292608" cy="2926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417320" y="411480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 montant </a:t>
            </a:r>
            <a:r>
              <a:rPr lang="en-US" sz="13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toucheriez par mois</a:t>
            </a:r>
            <a:endParaRPr lang="en-US" sz="13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663440"/>
            <a:ext cx="292608" cy="29260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417320" y="46177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ça change </a:t>
            </a:r>
            <a:r>
              <a:rPr lang="en-US" sz="13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vous partez plus tard</a:t>
            </a:r>
            <a:endParaRPr lang="en-US" sz="1350" dirty="0"/>
          </a:p>
        </p:txBody>
      </p:sp>
      <p:sp>
        <p:nvSpPr>
          <p:cNvPr id="15" name="Shape 8"/>
          <p:cNvSpPr/>
          <p:nvPr/>
        </p:nvSpPr>
        <p:spPr>
          <a:xfrm>
            <a:off x="6492240" y="182880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148840"/>
            <a:ext cx="566928" cy="56692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749808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 à savoir</a:t>
            </a:r>
            <a:endParaRPr lang="en-US" sz="1500" dirty="0"/>
          </a:p>
        </p:txBody>
      </p:sp>
      <p:sp>
        <p:nvSpPr>
          <p:cNvPr id="18" name="Text 10"/>
          <p:cNvSpPr/>
          <p:nvPr/>
        </p:nvSpPr>
        <p:spPr>
          <a:xfrm>
            <a:off x="6766560" y="260604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Atteindre l'âge légal ne donne pas toujours la retraite « à taux plein ». Le simulateur aide à choisir le meilleur moment.</a:t>
            </a:r>
            <a:endParaRPr lang="en-US" sz="1250" dirty="0"/>
          </a:p>
        </p:txBody>
      </p:sp>
      <p:sp>
        <p:nvSpPr>
          <p:cNvPr id="19" name="Shape 11"/>
          <p:cNvSpPr/>
          <p:nvPr/>
        </p:nvSpPr>
        <p:spPr>
          <a:xfrm>
            <a:off x="6492240" y="3611880"/>
            <a:ext cx="50292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3931920"/>
            <a:ext cx="566928" cy="566928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7498080" y="3886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encore décidé ?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6766560" y="4389120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Inscrivez-vous à « Mon agenda retraite » : le site vous envoie des conseils par mail au bon moment avant votre départ.</a:t>
            </a:r>
            <a:endParaRPr lang="en-US" sz="1250" dirty="0"/>
          </a:p>
        </p:txBody>
      </p:sp>
      <p:sp>
        <p:nvSpPr>
          <p:cNvPr id="24" name="Text 14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i="1" dirty="0">
              <a:solidFill>
                <a:srgbClr val="5A6B86"/>
              </a:solidFill>
              <a:latin typeface="Cambria" pitchFamily="34" charset="0"/>
              <a:ea typeface="Cambria" pitchFamily="34" charset="-122"/>
            </a:endParaRPr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5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5192" y="128016"/>
            <a:ext cx="6400800" cy="6400800"/>
          </a:xfrm>
          <a:prstGeom prst="ellipse">
            <a:avLst/>
          </a:prstGeom>
          <a:solidFill>
            <a:srgbClr val="0E8C8C">
              <a:alpha val="16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 · LE BON MOMENT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13232" y="10972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 faire ma demande ?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931920" cy="2743200"/>
          </a:xfrm>
          <a:prstGeom prst="roundRect">
            <a:avLst>
              <a:gd name="adj" fmla="val 4667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3931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600" b="1" dirty="0">
                <a:solidFill>
                  <a:srgbClr val="31C7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731520" y="3794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mois avant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date de départ que vous avez choisie</a:t>
            </a:r>
            <a:endParaRPr lang="en-US" sz="13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237744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852160" y="23317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choisissez votre date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852160" y="272491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ne peut pas être avant l'âge légal de départ</a:t>
            </a:r>
            <a:endParaRPr lang="en-US" sz="13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3273552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852160" y="3227832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trop tôt, ni trop tard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5852160" y="3621024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mois avant laisse le temps de traiter votre dossier</a:t>
            </a:r>
            <a:endParaRPr lang="en-US" sz="13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2080" y="4169664"/>
            <a:ext cx="502920" cy="5029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852160" y="4123944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Garantie de versement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5852160" y="4517136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complet à temps = paiement assuré à la date choisie</a:t>
            </a:r>
            <a:endParaRPr lang="en-US" sz="1300" dirty="0"/>
          </a:p>
        </p:txBody>
      </p:sp>
      <p:pic>
        <p:nvPicPr>
          <p:cNvPr id="18" name="Image 3" descr="yggdrasil_favic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480" y="6144768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 Demander ma retraite » : la démarche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connecté, cliquez sur le service « Demander ma retraite ». Le formulaire est déjà pré-rempli et se fait en 6 étapes guidées.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4231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896112" y="265176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896112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600200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informations personnelles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453128" y="24231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4709160" y="265176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4709160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5413248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coordonnées et votre RIB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266176" y="242316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8522208" y="265176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Text 13"/>
          <p:cNvSpPr/>
          <p:nvPr/>
        </p:nvSpPr>
        <p:spPr>
          <a:xfrm>
            <a:off x="8522208" y="26517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9226296" y="26060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date de départ choisie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39776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896112" y="420624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896112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600200" y="4160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régimes (cochés automatiquement)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4453128" y="39776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4709160" y="420624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Text 21"/>
          <p:cNvSpPr/>
          <p:nvPr/>
        </p:nvSpPr>
        <p:spPr>
          <a:xfrm>
            <a:off x="4709160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5413248" y="4160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justificatifs à joindre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266176" y="397764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8522208" y="4206240"/>
            <a:ext cx="566928" cy="566928"/>
          </a:xfrm>
          <a:prstGeom prst="ellipse">
            <a:avLst/>
          </a:prstGeom>
          <a:solidFill>
            <a:srgbClr val="0E8C8C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8522208" y="42062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9226296" y="41605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et validation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40080" y="54406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960120" y="5440680"/>
            <a:ext cx="10332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le temps de finir ?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pouvez enregistrer et revenir plus tard : votre demande est conservée 90 jours.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4" name="Text 30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PAPIERS À FOURNIR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socle commun : à préparer dans tous les cas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77824" y="202996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167128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27632" y="1947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pièce d'identité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1627632" y="2331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d'identité ou passeport (ou titre de séjour)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01384" y="202996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8544" y="2167128"/>
            <a:ext cx="310896" cy="31089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251192" y="194767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RIB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7251192" y="233172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votre nom — le compte où sera versée la pension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4008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877824" y="335584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3493008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27632" y="32735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avis d'impôt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1627632" y="3657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2 derniers avis d'impôt sur le revenu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626364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01384" y="335584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8544" y="3493008"/>
            <a:ext cx="310896" cy="31089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251192" y="327355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justificatif d'état civil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7251192" y="365760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Acte de naissance récent ou livret de famille</a:t>
            </a:r>
            <a:endParaRPr lang="en-US" sz="1150" dirty="0"/>
          </a:p>
        </p:txBody>
      </p:sp>
      <p:sp>
        <p:nvSpPr>
          <p:cNvPr id="25" name="Shape 18"/>
          <p:cNvSpPr/>
          <p:nvPr/>
        </p:nvSpPr>
        <p:spPr>
          <a:xfrm>
            <a:off x="64008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877824" y="468172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4984" y="4818888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627632" y="45994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justificatif de domicile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1627632" y="4983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Selon votre situation (facture, attestation…)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26364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3"/>
          <p:cNvSpPr/>
          <p:nvPr/>
        </p:nvSpPr>
        <p:spPr>
          <a:xfrm>
            <a:off x="6501384" y="4681728"/>
            <a:ext cx="585216" cy="585216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38544" y="4818888"/>
            <a:ext cx="310896" cy="31089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251192" y="4599432"/>
            <a:ext cx="4206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relevé de carrière</a:t>
            </a:r>
            <a:endParaRPr lang="en-US" sz="1400" dirty="0"/>
          </a:p>
        </p:txBody>
      </p:sp>
      <p:sp>
        <p:nvSpPr>
          <p:cNvPr id="34" name="Text 25"/>
          <p:cNvSpPr/>
          <p:nvPr/>
        </p:nvSpPr>
        <p:spPr>
          <a:xfrm>
            <a:off x="7251192" y="4983480"/>
            <a:ext cx="4206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RIS » que vous avez vérifié à l'étape 2</a:t>
            </a:r>
            <a:endParaRPr lang="en-US" sz="1150" dirty="0"/>
          </a:p>
        </p:txBody>
      </p:sp>
      <p:sp>
        <p:nvSpPr>
          <p:cNvPr id="36" name="Text 2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7" name="Text 2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PAPIERS À FOURNIR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plus, selon votre situation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14400" y="2075688"/>
            <a:ext cx="731520" cy="73152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224028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2880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J'ai eu des enfants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1828800" y="2496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Livret de famille ou actes de naissance des enfants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37960" y="2075688"/>
            <a:ext cx="731520" cy="73152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02552" y="2240280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52360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J'ai connu le chômage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7452360" y="249631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Attestation France Travail (ex-Pôle emploi), même ancienne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14400" y="3767328"/>
            <a:ext cx="731520" cy="73152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8992" y="393192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28800" y="37490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suis fonctionnaire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1828800" y="41879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de radiation des cadres ; finalisation sur ensap.gouv.fr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474720"/>
            <a:ext cx="534924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37960" y="3767328"/>
            <a:ext cx="731520" cy="73152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552" y="393192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52360" y="374904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suis indépendant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7452360" y="4187952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 de cessation d'activité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40080" y="52120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680" y="5321808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1325880" y="5212080"/>
            <a:ext cx="99669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</a:t>
            </a: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site, l'outil « Justificatifs à fournir » vous donne la liste exacte adaptée à VOTRE situation.</a:t>
            </a:r>
            <a:endParaRPr lang="en-US" sz="1300" dirty="0"/>
          </a:p>
        </p:txBody>
      </p:sp>
      <p:sp>
        <p:nvSpPr>
          <p:cNvPr id="29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DÉBUTANTS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Mettre mes papiers « dans » l'ordinateur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6916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joindre un document en ligne, il faut d'abord en faire une photo ou un scan. Voici comment, simplement.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3774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1897380" y="269748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6836" y="2916936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· Photographier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960120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Posez le papier à plat, bien éclairé. Prenez la photo bien droite, sans ombre.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453128" y="23774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Shape 8"/>
          <p:cNvSpPr/>
          <p:nvPr/>
        </p:nvSpPr>
        <p:spPr>
          <a:xfrm>
            <a:off x="5710428" y="269748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9884" y="2916936"/>
            <a:ext cx="566928" cy="5669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· Vérifier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4773168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document doit être net et entièrement lisible, jusque dans les coins.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8266176" y="2377440"/>
            <a:ext cx="352044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2"/>
          <p:cNvSpPr/>
          <p:nvPr/>
        </p:nvSpPr>
        <p:spPr>
          <a:xfrm>
            <a:off x="9523476" y="2697480"/>
            <a:ext cx="1005840" cy="10058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2932" y="2916936"/>
            <a:ext cx="566928" cy="56692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94776" y="37947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· Téléverser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8586216" y="416052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le site, cliquez « Ajouter un document », puis choisissez votre photo.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640080" y="498348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175504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463040" y="498348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acceptés : </a:t>
            </a:r>
            <a:r>
              <a:rPr lang="en-US" sz="13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(JPG / PNG) ou PDF. Un fichier trop lourd ? Une simple photo de smartphone suffit la plupart du temps.</a:t>
            </a:r>
            <a:endParaRPr lang="en-US" sz="1300" dirty="0"/>
          </a:p>
        </p:txBody>
      </p:sp>
      <p:sp>
        <p:nvSpPr>
          <p:cNvPr id="25" name="Text 17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6" name="Text 18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6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Joindre mes justificatifs et valider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68680" y="1993392"/>
            <a:ext cx="530352" cy="530352"/>
          </a:xfrm>
          <a:prstGeom prst="ellipse">
            <a:avLst/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2139696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600200" y="195681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joins mes documents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5303520" y="1956816"/>
            <a:ext cx="6035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pièce demandée, j'ajoute la photo ou le scan correspondant.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40080" y="278892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868680" y="2953512"/>
            <a:ext cx="530352" cy="530352"/>
          </a:xfrm>
          <a:prstGeom prst="ellipse">
            <a:avLst/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3099816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00200" y="291693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relis tout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303520" y="2916936"/>
            <a:ext cx="6035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vérifie ma date de départ, mon RIB et que rien ne manque.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37490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868680" y="3913632"/>
            <a:ext cx="530352" cy="530352"/>
          </a:xfrm>
          <a:prstGeom prst="ellipse">
            <a:avLst/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40599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600200" y="387705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valide ma demande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5303520" y="3877056"/>
            <a:ext cx="6035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clic sur « Valider » : ma demande part vers tous mes régimes.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40080" y="470916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868680" y="4873752"/>
            <a:ext cx="530352" cy="530352"/>
          </a:xfrm>
          <a:prstGeom prst="ellipse">
            <a:avLst/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4984" y="5020056"/>
            <a:ext cx="237744" cy="23774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600200" y="4837176"/>
            <a:ext cx="3657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reçois une confirmation</a:t>
            </a:r>
            <a:endParaRPr lang="en-US" sz="1500" dirty="0"/>
          </a:p>
        </p:txBody>
      </p:sp>
      <p:sp>
        <p:nvSpPr>
          <p:cNvPr id="24" name="Text 17"/>
          <p:cNvSpPr/>
          <p:nvPr/>
        </p:nvSpPr>
        <p:spPr>
          <a:xfrm>
            <a:off x="5303520" y="4837176"/>
            <a:ext cx="60350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accusé de réception arrive ; je peux le conserver.</a:t>
            </a:r>
            <a:endParaRPr lang="en-US" sz="1300" dirty="0"/>
          </a:p>
        </p:txBody>
      </p:sp>
      <p:sp>
        <p:nvSpPr>
          <p:cNvPr id="26" name="Text 18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 APRÈS ?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Suivre ma demande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32688" y="2112264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286000"/>
            <a:ext cx="429768" cy="429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093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suis l'avancement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920240" y="262432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Dans « Suivi de mes demandes », je vois où en est mon dossier.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56248" y="2112264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286000"/>
            <a:ext cx="429768" cy="429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209397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peut me contacter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543800" y="262432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conseiller peut m'appeler si une pièce manque ou pour préciser.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749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32688" y="4078224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4251960"/>
            <a:ext cx="429768" cy="429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40599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Je reçois ma notification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920240" y="45902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courrier officiel m'indique le montant de ma retraite.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749040"/>
            <a:ext cx="53492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56248" y="4078224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251960"/>
            <a:ext cx="429768" cy="4297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4059936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Paiement garanti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543800" y="4590288"/>
            <a:ext cx="3886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complet à temps : versement assuré à la date choisie.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 INTERNET OU PAR PRÉFÉRENCE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chemin papier, en clair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14400" y="2075688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240280"/>
            <a:ext cx="402336" cy="40233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10512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Retirer le formulaire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810512" y="24780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 Cerfa » de demande de retraite : à la Carsat, en France services ou à télécharger.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37960" y="2075688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2240280"/>
            <a:ext cx="402336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34072" y="20574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Le remplir à la main</a:t>
            </a:r>
            <a:endParaRPr lang="en-US" sz="1450" dirty="0"/>
          </a:p>
        </p:txBody>
      </p:sp>
      <p:sp>
        <p:nvSpPr>
          <p:cNvPr id="14" name="Text 9"/>
          <p:cNvSpPr/>
          <p:nvPr/>
        </p:nvSpPr>
        <p:spPr>
          <a:xfrm>
            <a:off x="7434072" y="24780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Calmement, avec un stylo noir. En cas de doute, faites-vous aider.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40080" y="36118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14400" y="3904488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9848" y="406908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810512" y="38862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Joindre les copies</a:t>
            </a:r>
            <a:endParaRPr lang="en-US" sz="1450" dirty="0"/>
          </a:p>
        </p:txBody>
      </p:sp>
      <p:sp>
        <p:nvSpPr>
          <p:cNvPr id="19" name="Text 13"/>
          <p:cNvSpPr/>
          <p:nvPr/>
        </p:nvSpPr>
        <p:spPr>
          <a:xfrm>
            <a:off x="1810512" y="43068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mêmes papiers qu'en ligne : identité, RIB, avis d'impôt…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263640" y="3611880"/>
            <a:ext cx="53492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37960" y="3904488"/>
            <a:ext cx="713232" cy="713232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4069080"/>
            <a:ext cx="402336" cy="40233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434072" y="3886200"/>
            <a:ext cx="3977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Envoyer par courrier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7434072" y="4306824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caisse concernée. Gardez une copie de tout votre dossier.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640080" y="5212080"/>
            <a:ext cx="10881360" cy="566928"/>
          </a:xfrm>
          <a:prstGeom prst="roundRect">
            <a:avLst>
              <a:gd name="adj" fmla="val 16129"/>
            </a:avLst>
          </a:prstGeom>
          <a:solidFill>
            <a:srgbClr val="0E1B3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Text 19"/>
          <p:cNvSpPr/>
          <p:nvPr/>
        </p:nvSpPr>
        <p:spPr>
          <a:xfrm>
            <a:off x="914400" y="5212080"/>
            <a:ext cx="10424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noter : </a:t>
            </a:r>
            <a:r>
              <a:rPr lang="en-US" sz="130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papier, il faut une demande par régime. En ligne, une seule suffit pour tous.</a:t>
            </a:r>
            <a:endParaRPr lang="en-US" sz="1300" dirty="0"/>
          </a:p>
        </p:txBody>
      </p:sp>
      <p:sp>
        <p:nvSpPr>
          <p:cNvPr id="28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PIÈGES FRÉQUENTS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erreurs qui retardent le paiement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1897380" y="2194560"/>
            <a:ext cx="1005840" cy="1005840"/>
          </a:xfrm>
          <a:prstGeom prst="ellipse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7692" y="2404872"/>
            <a:ext cx="585216" cy="5852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Acte de naissance périmé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932688" y="3749040"/>
            <a:ext cx="2935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Demandez-en un récent à votre mairie de naissance (gratuit, en ligne).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453128" y="187452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5710428" y="2194560"/>
            <a:ext cx="1005840" cy="1005840"/>
          </a:xfrm>
          <a:prstGeom prst="ellipse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0740" y="2404872"/>
            <a:ext cx="585216" cy="585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681728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 au nom du conjoint</a:t>
            </a:r>
            <a:endParaRPr lang="en-US" sz="1550" dirty="0"/>
          </a:p>
        </p:txBody>
      </p:sp>
      <p:sp>
        <p:nvSpPr>
          <p:cNvPr id="14" name="Text 9"/>
          <p:cNvSpPr/>
          <p:nvPr/>
        </p:nvSpPr>
        <p:spPr>
          <a:xfrm>
            <a:off x="4745736" y="3749040"/>
            <a:ext cx="2935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pension se verse sur un compte à VOTRE nom. Pas celui du conjoint.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8266176" y="1874520"/>
            <a:ext cx="35204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523476" y="2194560"/>
            <a:ext cx="1005840" cy="1005840"/>
          </a:xfrm>
          <a:prstGeom prst="ellipse">
            <a:avLst/>
          </a:prstGeom>
          <a:solidFill>
            <a:srgbClr val="FBF1D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33788" y="2404872"/>
            <a:ext cx="585216" cy="58521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94776" y="3291840"/>
            <a:ext cx="3063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Attestation chômage oubliée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8558784" y="3749040"/>
            <a:ext cx="29352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période de chômage doit être justifiée, même très ancienne.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640080" y="461772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554480" y="4617720"/>
            <a:ext cx="9692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papier manquant peut repousser votre premier versement de plusieurs semaines. Préparez tout AVANT de valider : c'est le meilleur moyen d'être payé à temps.</a:t>
            </a:r>
            <a:endParaRPr lang="en-US" sz="1350" dirty="0"/>
          </a:p>
        </p:txBody>
      </p:sp>
      <p:sp>
        <p:nvSpPr>
          <p:cNvPr id="24" name="Text 1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1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66360" y="182880"/>
            <a:ext cx="6400800" cy="6400800"/>
          </a:xfrm>
          <a:prstGeom prst="ellipse">
            <a:avLst/>
          </a:prstGeom>
          <a:solidFill>
            <a:srgbClr val="0E8C8C">
              <a:alpha val="16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777240"/>
            <a:ext cx="640080" cy="6400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0876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1C7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RESTER EN SÉCURITÉ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713232" y="1280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protéger des arnaques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31520" y="22860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128" y="2697480"/>
            <a:ext cx="548640" cy="5486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37360" y="25420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site officiel se termine en .fr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737360" y="30358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info-retraite.fr ou lassuranceretraite.fr. Tapez-le vous-même.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355080" y="228600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7688" y="2697480"/>
            <a:ext cx="548640" cy="548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7360920" y="25420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ne paie JAMAIS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7360920" y="303580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 sa retraite est gratuit. Un site qui réclame de l'argent est un piège.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31520" y="3977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4389120"/>
            <a:ext cx="548640" cy="54864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737360" y="4233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 codes restent secrets</a:t>
            </a:r>
            <a:endParaRPr lang="en-US" sz="1450" dirty="0"/>
          </a:p>
        </p:txBody>
      </p:sp>
      <p:sp>
        <p:nvSpPr>
          <p:cNvPr id="17" name="Text 11"/>
          <p:cNvSpPr/>
          <p:nvPr/>
        </p:nvSpPr>
        <p:spPr>
          <a:xfrm>
            <a:off x="1737360" y="47274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organisme officiel ne demande votre mot de passe par téléphone.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6355080" y="3977640"/>
            <a:ext cx="5349240" cy="1417320"/>
          </a:xfrm>
          <a:prstGeom prst="roundRect">
            <a:avLst>
              <a:gd name="adj" fmla="val 7742"/>
            </a:avLst>
          </a:prstGeom>
          <a:solidFill>
            <a:srgbClr val="16285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4389120"/>
            <a:ext cx="548640" cy="5486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360920" y="423367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doute ? Demandez de l'aide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7360920" y="4727448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120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proche, France services, ou votre médiateur numérique.</a:t>
            </a:r>
            <a:endParaRPr lang="en-US" sz="1200" dirty="0"/>
          </a:p>
        </p:txBody>
      </p:sp>
      <p:pic>
        <p:nvPicPr>
          <p:cNvPr id="22" name="Image 5" descr="yggdrasil_favic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480" y="6144768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FC4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GARDER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mémo en 6 points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896112" y="205740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896112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627632" y="192024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vais sur info-retraite.fr et je clique « Mon compte »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6519672" y="205740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6519672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7251192" y="192024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 connecte avec FranceConnect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4008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896112" y="338328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896112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1627632" y="324612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vérifie ma carrière et j'estime mon montant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26364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519672" y="338328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6519672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251192" y="324612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clique « Demander ma retraite » (4 mois avant)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64008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896112" y="470916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896112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1627632" y="457200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prépare et je joins mes justificatifs</a:t>
            </a:r>
            <a:endParaRPr lang="en-US" sz="1350" dirty="0"/>
          </a:p>
        </p:txBody>
      </p:sp>
      <p:sp>
        <p:nvSpPr>
          <p:cNvPr id="25" name="Shape 22"/>
          <p:cNvSpPr/>
          <p:nvPr/>
        </p:nvSpPr>
        <p:spPr>
          <a:xfrm>
            <a:off x="626364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6519672" y="4709160"/>
            <a:ext cx="548640" cy="548640"/>
          </a:xfrm>
          <a:prstGeom prst="ellipse">
            <a:avLst/>
          </a:prstGeom>
          <a:solidFill>
            <a:srgbClr val="2FA66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6519672" y="47091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28" name="Text 25"/>
          <p:cNvSpPr/>
          <p:nvPr/>
        </p:nvSpPr>
        <p:spPr>
          <a:xfrm>
            <a:off x="7251192" y="4572000"/>
            <a:ext cx="41788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3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valide, puis je suis mon dossier en ligne</a:t>
            </a:r>
            <a:endParaRPr lang="en-US" sz="1350" dirty="0"/>
          </a:p>
        </p:txBody>
      </p:sp>
      <p:sp>
        <p:nvSpPr>
          <p:cNvPr id="30" name="Text 26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VOUS DE JOUER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 exercice ensemble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6766560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48840"/>
            <a:ext cx="566928" cy="56692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45920" y="219456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 le site, retrouvez :</a:t>
            </a:r>
            <a:endParaRPr lang="en-US" sz="1800" dirty="0"/>
          </a:p>
        </p:txBody>
      </p:sp>
      <p:sp>
        <p:nvSpPr>
          <p:cNvPr id="8" name="Shape 4"/>
          <p:cNvSpPr/>
          <p:nvPr/>
        </p:nvSpPr>
        <p:spPr>
          <a:xfrm>
            <a:off x="1005840" y="2926080"/>
            <a:ext cx="310896" cy="310896"/>
          </a:xfrm>
          <a:prstGeom prst="ellipse">
            <a:avLst/>
          </a:prstGeom>
          <a:solidFill>
            <a:srgbClr val="EAF3F8"/>
          </a:solidFill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5"/>
          <p:cNvSpPr/>
          <p:nvPr/>
        </p:nvSpPr>
        <p:spPr>
          <a:xfrm>
            <a:off x="1508760" y="2834640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« Mon compte » en haut à droite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1005840" y="3493008"/>
            <a:ext cx="310896" cy="310896"/>
          </a:xfrm>
          <a:prstGeom prst="ellipse">
            <a:avLst/>
          </a:prstGeom>
          <a:solidFill>
            <a:srgbClr val="EAF3F8"/>
          </a:solidFill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7"/>
          <p:cNvSpPr/>
          <p:nvPr/>
        </p:nvSpPr>
        <p:spPr>
          <a:xfrm>
            <a:off x="1508760" y="3401568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bleu « FranceConnect »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05840" y="4059936"/>
            <a:ext cx="310896" cy="310896"/>
          </a:xfrm>
          <a:prstGeom prst="ellipse">
            <a:avLst/>
          </a:prstGeom>
          <a:solidFill>
            <a:srgbClr val="EAF3F8"/>
          </a:solidFill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9"/>
          <p:cNvSpPr/>
          <p:nvPr/>
        </p:nvSpPr>
        <p:spPr>
          <a:xfrm>
            <a:off x="1508760" y="3968496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« Ma carrière »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1005840" y="4626864"/>
            <a:ext cx="310896" cy="310896"/>
          </a:xfrm>
          <a:prstGeom prst="ellipse">
            <a:avLst/>
          </a:prstGeom>
          <a:solidFill>
            <a:srgbClr val="EAF3F8"/>
          </a:solidFill>
          <a:ln w="15875">
            <a:solidFill>
              <a:srgbClr val="0E8C8C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1"/>
          <p:cNvSpPr/>
          <p:nvPr/>
        </p:nvSpPr>
        <p:spPr>
          <a:xfrm>
            <a:off x="1508760" y="4535424"/>
            <a:ext cx="5669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« Justificatifs à fournir »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7680960" y="1828800"/>
            <a:ext cx="3840480" cy="3566160"/>
          </a:xfrm>
          <a:prstGeom prst="roundRect">
            <a:avLst>
              <a:gd name="adj" fmla="val 3077"/>
            </a:avLst>
          </a:prstGeom>
          <a:solidFill>
            <a:srgbClr val="0E1B3A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148840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219456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 check-list maison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001000" y="278892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BCC9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Cochez les papiers déjà prêts :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8046720" y="3246120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6"/>
          <p:cNvSpPr/>
          <p:nvPr/>
        </p:nvSpPr>
        <p:spPr>
          <a:xfrm>
            <a:off x="8458200" y="317296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 d'identité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8046720" y="3666744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18"/>
          <p:cNvSpPr/>
          <p:nvPr/>
        </p:nvSpPr>
        <p:spPr>
          <a:xfrm>
            <a:off x="8458200" y="35935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RIB à mon nom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8046720" y="4087368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/>
          <p:nvPr/>
        </p:nvSpPr>
        <p:spPr>
          <a:xfrm>
            <a:off x="8458200" y="401421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 d'impôt</a:t>
            </a:r>
            <a:endParaRPr lang="en-US" sz="1250" dirty="0"/>
          </a:p>
        </p:txBody>
      </p:sp>
      <p:sp>
        <p:nvSpPr>
          <p:cNvPr id="26" name="Shape 21"/>
          <p:cNvSpPr/>
          <p:nvPr/>
        </p:nvSpPr>
        <p:spPr>
          <a:xfrm>
            <a:off x="8046720" y="4507992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2"/>
          <p:cNvSpPr/>
          <p:nvPr/>
        </p:nvSpPr>
        <p:spPr>
          <a:xfrm>
            <a:off x="8458200" y="443484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État civil / livret</a:t>
            </a:r>
            <a:endParaRPr lang="en-US" sz="1250" dirty="0"/>
          </a:p>
        </p:txBody>
      </p:sp>
      <p:sp>
        <p:nvSpPr>
          <p:cNvPr id="28" name="Shape 23"/>
          <p:cNvSpPr/>
          <p:nvPr/>
        </p:nvSpPr>
        <p:spPr>
          <a:xfrm>
            <a:off x="8046720" y="4928616"/>
            <a:ext cx="274320" cy="274320"/>
          </a:xfrm>
          <a:prstGeom prst="rect">
            <a:avLst/>
          </a:prstGeom>
          <a:solidFill>
            <a:srgbClr val="16285A"/>
          </a:solidFill>
          <a:ln w="15875">
            <a:solidFill>
              <a:srgbClr val="31C7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4"/>
          <p:cNvSpPr/>
          <p:nvPr/>
        </p:nvSpPr>
        <p:spPr>
          <a:xfrm>
            <a:off x="8458200" y="485546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DE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Justif. selon situation</a:t>
            </a:r>
            <a:endParaRPr lang="en-US" sz="1250" dirty="0"/>
          </a:p>
        </p:txBody>
      </p:sp>
      <p:sp>
        <p:nvSpPr>
          <p:cNvPr id="31" name="Text 25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N'ÊTES PAS SEUL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Où trouver de l'aide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3"/>
          <p:cNvSpPr/>
          <p:nvPr/>
        </p:nvSpPr>
        <p:spPr>
          <a:xfrm>
            <a:off x="932688" y="2093976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267712"/>
            <a:ext cx="429768" cy="4297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0756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 services</a:t>
            </a:r>
            <a:endParaRPr lang="en-US" sz="1650" dirty="0"/>
          </a:p>
        </p:txBody>
      </p:sp>
      <p:sp>
        <p:nvSpPr>
          <p:cNvPr id="9" name="Text 5"/>
          <p:cNvSpPr/>
          <p:nvPr/>
        </p:nvSpPr>
        <p:spPr>
          <a:xfrm>
            <a:off x="1920240" y="26060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accueil près de chez vous pour être accompagné dans vos démarches.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6263640" y="178308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7"/>
          <p:cNvSpPr/>
          <p:nvPr/>
        </p:nvSpPr>
        <p:spPr>
          <a:xfrm>
            <a:off x="6556248" y="2093976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267712"/>
            <a:ext cx="429768" cy="42976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43800" y="207568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3960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7543800" y="260604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ligne de l'Assurance retraite (prix d'un appel local).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370332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1"/>
          <p:cNvSpPr/>
          <p:nvPr/>
        </p:nvSpPr>
        <p:spPr>
          <a:xfrm>
            <a:off x="932688" y="4014216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4187952"/>
            <a:ext cx="429768" cy="4297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920240" y="3995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Votre médiateur numérique</a:t>
            </a:r>
            <a:endParaRPr lang="en-US" sz="1650" dirty="0"/>
          </a:p>
        </p:txBody>
      </p:sp>
      <p:sp>
        <p:nvSpPr>
          <p:cNvPr id="19" name="Text 13"/>
          <p:cNvSpPr/>
          <p:nvPr/>
        </p:nvSpPr>
        <p:spPr>
          <a:xfrm>
            <a:off x="1920240" y="45262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atelier, un rendez-vous, un coup de main au moment de cliquer.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63640" y="3703320"/>
            <a:ext cx="534924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5"/>
          <p:cNvSpPr/>
          <p:nvPr/>
        </p:nvSpPr>
        <p:spPr>
          <a:xfrm>
            <a:off x="6556248" y="4014216"/>
            <a:ext cx="777240" cy="777240"/>
          </a:xfrm>
          <a:prstGeom prst="ellipse">
            <a:avLst/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187952"/>
            <a:ext cx="429768" cy="4297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43800" y="3995928"/>
            <a:ext cx="3886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services en ligne</a:t>
            </a:r>
            <a:endParaRPr lang="en-US" sz="1650" dirty="0"/>
          </a:p>
        </p:txBody>
      </p:sp>
      <p:sp>
        <p:nvSpPr>
          <p:cNvPr id="24" name="Text 17"/>
          <p:cNvSpPr/>
          <p:nvPr/>
        </p:nvSpPr>
        <p:spPr>
          <a:xfrm>
            <a:off x="7543800" y="452628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info-retraite.fr, des vidéos et un mode d'emploi pas à pas.</a:t>
            </a:r>
            <a:endParaRPr lang="en-US" sz="1250" dirty="0"/>
          </a:p>
        </p:txBody>
      </p:sp>
      <p:sp>
        <p:nvSpPr>
          <p:cNvPr id="26" name="Text 18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7" name="Text 19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3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E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COIN DES MOTS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21792" y="64008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4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Petit lexique pour débutants</a:t>
            </a:r>
            <a:endParaRPr lang="en-US" sz="3000" dirty="0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92840" y="384048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914400" y="192938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FranceConnect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914400" y="23134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bouton bleu pour se connecter avec un compte qu'on a déjà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78308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537960" y="192938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 compte retraite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37960" y="231343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espace personnel sur info-retraite.fr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2" name="Text 9"/>
          <p:cNvSpPr/>
          <p:nvPr/>
        </p:nvSpPr>
        <p:spPr>
          <a:xfrm>
            <a:off x="914400" y="325526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Relevé de carrière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4400" y="363931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liste de tout ce que vous avez travaillé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63640" y="310896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6537960" y="325526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RIB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37960" y="363931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papier qui donne le numéro de votre compte bancaire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88900" dist="25400" dir="5400000" algn="bl" rotWithShape="0">
              <a:srgbClr val="0E1B3A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914400" y="458114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Cerfa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914400" y="496519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formulaire officiel de l'administration (version papier)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4434840"/>
            <a:ext cx="5349240" cy="1097280"/>
          </a:xfrm>
          <a:prstGeom prst="roundRect">
            <a:avLst>
              <a:gd name="adj" fmla="val 8333"/>
            </a:avLst>
          </a:prstGeom>
          <a:solidFill>
            <a:srgbClr val="EAF3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6537960" y="4581144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Téléverser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6537960" y="4965192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1B24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Envoyer un fichier depuis votre appareil vers le site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868680" y="61813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11292840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B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0970" y="77724"/>
            <a:ext cx="5486400" cy="5486400"/>
          </a:xfrm>
          <a:prstGeom prst="ellipse">
            <a:avLst/>
          </a:prstGeom>
          <a:solidFill>
            <a:srgbClr val="16285A">
              <a:alpha val="45000"/>
            </a:srgbClr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6309360" y="893873"/>
            <a:ext cx="5852160" cy="5852160"/>
          </a:xfrm>
          <a:prstGeom prst="ellipse">
            <a:avLst/>
          </a:prstGeom>
          <a:solidFill>
            <a:srgbClr val="0E8C8C">
              <a:alpha val="18000"/>
            </a:srgbClr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4" name="Image 0" descr="yggdrasil_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0" y="777240"/>
            <a:ext cx="1737360" cy="1737360"/>
          </a:xfrm>
          <a:prstGeom prst="rect">
            <a:avLst/>
          </a:prstGeom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1097280" y="2697480"/>
            <a:ext cx="9966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Vous savez désormais demander votre retraite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463040" y="3703320"/>
            <a:ext cx="9235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7D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site, une demande, à votre rythme — et de l'aide à chaque étape si besoin.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91840" y="4526280"/>
            <a:ext cx="5577840" cy="658368"/>
          </a:xfrm>
          <a:prstGeom prst="roundRect">
            <a:avLst>
              <a:gd name="adj" fmla="val 50000"/>
            </a:avLst>
          </a:prstGeom>
          <a:solidFill>
            <a:srgbClr val="2FA66A"/>
          </a:solidFill>
          <a:ln/>
          <a:effectLst>
            <a:outerShdw blurRad="114300" dist="38100" dir="5400000" algn="bl" rotWithShape="0">
              <a:srgbClr val="1A2440">
                <a:alpha val="16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3291840" y="4526280"/>
            <a:ext cx="55778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info-retraite.fr  ·  « Mon compte retraite »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594360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8FA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Yggdrasil — Médiation numérique  ·  Ateliers pour débutants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2082</Words>
  <Application>Microsoft Office PowerPoint</Application>
  <PresentationFormat>Grand écran</PresentationFormat>
  <Paragraphs>343</Paragraphs>
  <Slides>25</Slides>
  <Notes>25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Cambria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 retraite en ligne</dc:title>
  <dc:subject>PptxGenJS Presentation</dc:subject>
  <dc:creator>Yggdrasil – Médiation numérique</dc:creator>
  <cp:lastModifiedBy>titi 23</cp:lastModifiedBy>
  <cp:revision>2</cp:revision>
  <dcterms:created xsi:type="dcterms:W3CDTF">2026-06-19T07:23:32Z</dcterms:created>
  <dcterms:modified xsi:type="dcterms:W3CDTF">2026-06-19T07:54:09Z</dcterms:modified>
</cp:coreProperties>
</file>