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75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d'accueil. Présenter l'atelier : objectif = savoir reconnaître le cyberharcèlement, se protéger et savoir vers qui se tourner. Atelier pour tous publics, jeunes comme adultes.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Sommaire cliquable. En présentiel, suivre l'ordre ; en libre-service, laisser naviguer. Chaque diapo a un bouton Menu en bas à droite pour revenir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3 critères : répétition, intention de nuire, déséquilibre. C'est ce qui distingue le cyberharcèlement d'une simple dispute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cyberharcèlement n'est pas qu'un mot : montrer la diversité des formes. Le revenge porn et la sextorsion sont des infractions spécifiques, à traiter sans honte pour la victime.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pour un public adulte (AFPA) : le cyberharcèlement concerne aussi les adultes — couple, ex, travail. Ne pas réduire le sujet aux 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pour marquer les esprits. 1 ado sur 4, 40% qui n'en parlent à personne = le silence est le vrai danger. C'est tout l'enjeu de l'atelier : libérer la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harcèlement est un phénomène de groupe. Insister sur le rôle des témoins : ne pas rester spectateur passif. On y revient en détail à la rubrique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signes, isolés, ne prouvent rien — mais leur accumulation doit alerter, surtout un changement brutal de comportement. Pour les proches : ouvrir le dialogue sans forcer.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Sujet sensible. La loi prévoit jusqu'à 10 ans de prison si le harcèlement conduit au suicide ou à une tentative. Rappeler le 3114 (prévention suicide) en fin d'atelier.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5 réflexes dans l'ordre. Le n°2 (preuves) est crucial AVANT de bloquer : on perd parfois l'accès aux messages une fois l'auteur bloqué. On détaille preuves et signalement aux diapos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conserver les preuves AVANT de bloquer. L'historique daté des attaques compte autant que leur contenu pour prouver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possible en atelier sur un téléphone. Rappeler que signaler ≠ accuser : c'est demander à la plateforme de vérifier et retirer un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MÉMO ANIMATEUR — PHAROS (à garder sous les yeux, non projeté)</a:t>
            </a:r>
          </a:p>
          <a:p>
            <a:endParaRPr/>
          </a:p>
          <a:p>
            <a:r>
              <a:t>EN UNE PHRASE : le site officiel de l'État pour signaler un contenu illégal vu sur internet. Adresse : internet-signalement.gouv.fr. PHAROS = Plateforme d'Harmonisation, d'Analyse, de Recoupement et d'Orientation des Signalements (créée en 2009).</a:t>
            </a:r>
          </a:p>
          <a:p>
            <a:endParaRPr/>
          </a:p>
          <a:p>
            <a:r>
              <a:t>QUI EST DERRIÈRE : des policiers et des gendarmes (pas une asso ni une plateforme privée). Service rattaché à l'Office Anti-Cybercriminalité (OFAC), Police judiciaire / ministère de l'Intérieur. Ancien nom sur les vieux docs : OCLCTIC — c'est le même service.</a:t>
            </a:r>
          </a:p>
          <a:p>
            <a:endParaRPr/>
          </a:p>
          <a:p>
            <a:r>
              <a:t>CE QU'ON PEUT SIGNALER : tout contenu illégal PUBLIC — cyberharcèlement, haine en ligne, revenge porn, escroqueries, pédopornographie, terrorisme, provocation au suicide...</a:t>
            </a:r>
          </a:p>
          <a:p>
            <a:endParaRPr/>
          </a:p>
          <a:p>
            <a:r>
              <a:t>LES 2 CONDITIONS : (1) le contenu doit être PUBLIC ; (2) il doit être illicite (ou jugé tel). → Un message PRIVÉ entre 2 personnes ne se signale pas sur Pharos : dans ce cas, plutôt le 3018 ou une plainte.</a:t>
            </a:r>
          </a:p>
          <a:p>
            <a:endParaRPr/>
          </a:p>
          <a:p>
            <a:r>
              <a:t>POINT À MARTELER — SIGNALER ≠ PORTER PLAINTE : Pharos est un signalement, pas un dépôt de plainte. Les agents vérifient l'infraction puis alertent les services compétents ; une enquête peut être ouverte sous l'autorité du Procureur. Si on est victime, il faut AUSSI porter plainte (commissariat / gendarmerie).</a:t>
            </a:r>
          </a:p>
          <a:p>
            <a:endParaRPr/>
          </a:p>
          <a:p>
            <a:r>
              <a:t>QUESTIONS FRÉQUENTES :</a:t>
            </a:r>
          </a:p>
          <a:p>
            <a:r>
              <a:t>- « C'est encore en ligne après mon signalement ? » → L'enquête prend du temps, le contenu peut rester visible ; inutile de re-signaler, un seul signalement suffit.</a:t>
            </a:r>
          </a:p>
          <a:p>
            <a:r>
              <a:t>- « C'est anonyme ? » → On peut signaler sans porter plainte, mais ce n'est pas un service d'écoute/soutien — pour ça, c'est le 3018.</a:t>
            </a:r>
          </a:p>
          <a:p>
            <a:r>
              <a:t>- « Pharos ou 3018 ? » → 3018 = être écouté, conseillé, faire retirer vite un contenu. Pharos = alerter la justice sur un contenu illégal public. Les deux sont complémentaires.</a:t>
            </a:r>
          </a:p>
          <a:p>
            <a:r>
              <a:t>- « Et en cas d'urgence vitale ? » → On compose le 17, pas Pharos.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Code pénal, art. 222-33-2-2 et 226-2-1 (Légifrance). Message clé : ce n'est pas « juste des mots sur internet », c'est un délit. Utile aussi pour responsabiliser les auteurs.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levier le plus efficace contre le harcèlement, c'est le témoin qui réagit. Valoriser les petits gestes : ne pas relayer, soutenir en privé,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meilleure protection = paramétrer ses comptes + garder le réflexe d'en parler. Faire le lien avec un atelier « confidentialité / paramètres » si tu en proposes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Volet parents. Message central : le dialogue prime sur la surveillance. Un enfant doit savoir qu'il peut parler sans être puni ni privé de son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ludique. Laisser les participants répondre à voix haute ou à main levée avant d'afficher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B. Répondre aggrave souvent ; supprimer fait perdre les preuves.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rappeler l'ordre : preuves → bloquer → signaler → en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B. Le 3020 n'est plus en service depuis le 1er janvier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correction par rapport à beaucoup de supports anciens encore en circulation.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C. Le témoin a un rôle décisif.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 pouvoir du témoin — transition vers la fin de l'atelier.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Numéros à retenir : 3018 (cyber), 3114 (suicide), 119 (enfance en danger), Pharos (signalement). Idéal pour la diapo à photographier ou le mémo à emporter.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Clôture. Rappeler le 3018 et inviter aux questions. Distribuer le mémo si tu en as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7.xml"/><Relationship Id="rId3" Type="http://schemas.openxmlformats.org/officeDocument/2006/relationships/image" Target="../media/image1.png"/><Relationship Id="rId21" Type="http://schemas.openxmlformats.org/officeDocument/2006/relationships/slide" Target="slide26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6.xml"/><Relationship Id="rId2" Type="http://schemas.openxmlformats.org/officeDocument/2006/relationships/notesSlide" Target="../notesSlides/notesSlide2.xml"/><Relationship Id="rId16" Type="http://schemas.openxmlformats.org/officeDocument/2006/relationships/slide" Target="slide15.xml"/><Relationship Id="rId20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5" Type="http://schemas.openxmlformats.org/officeDocument/2006/relationships/slide" Target="slide14.xml"/><Relationship Id="rId10" Type="http://schemas.openxmlformats.org/officeDocument/2006/relationships/slide" Target="slide9.xml"/><Relationship Id="rId19" Type="http://schemas.openxmlformats.org/officeDocument/2006/relationships/slide" Target="slide18.xml"/><Relationship Id="rId4" Type="http://schemas.openxmlformats.org/officeDocument/2006/relationships/slide" Target="slide3.xml"/><Relationship Id="rId9" Type="http://schemas.openxmlformats.org/officeDocument/2006/relationships/slide" Target="slide8.xml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1321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8580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CYBERHARCÈLEMENT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reconnaître, s'en protéger, agir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480560" y="4846320"/>
            <a:ext cx="3227832" cy="548640"/>
          </a:xfrm>
          <a:prstGeom prst="roundRect">
            <a:avLst>
              <a:gd name="adj" fmla="val 50000"/>
            </a:avLst>
          </a:prstGeom>
          <a:solidFill>
            <a:srgbClr val="13213A"/>
          </a:solidFill>
          <a:ln w="12700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480560" y="4846320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Médiation Numérique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interactif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sur une rubrique pour y accéder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457200" y="15544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3FC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hlinkClick r:id="" action="ppaction://hlinksldjump"/>
          </p:cNvPr>
          <p:cNvSpPr/>
          <p:nvPr/>
        </p:nvSpPr>
        <p:spPr>
          <a:xfrm>
            <a:off x="566928" y="155448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C'est quoi ?</a:t>
            </a:r>
            <a:endParaRPr lang="en-US" sz="1500" dirty="0"/>
          </a:p>
        </p:txBody>
      </p:sp>
      <p:sp>
        <p:nvSpPr>
          <p:cNvPr id="7" name="Shape 4">
            <a:hlinkClick r:id="rId5" action="ppaction://hlinksldjump"/>
          </p:cNvPr>
          <p:cNvSpPr/>
          <p:nvPr/>
        </p:nvSpPr>
        <p:spPr>
          <a:xfrm>
            <a:off x="2770632" y="15544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hlinkClick r:id="" action="ppaction://hlinksldjump"/>
          </p:cNvPr>
          <p:cNvSpPr/>
          <p:nvPr/>
        </p:nvSpPr>
        <p:spPr>
          <a:xfrm>
            <a:off x="2880360" y="155448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formes</a:t>
            </a:r>
            <a:endParaRPr lang="en-US" sz="1500" dirty="0"/>
          </a:p>
        </p:txBody>
      </p:sp>
      <p:sp>
        <p:nvSpPr>
          <p:cNvPr id="9" name="Shape 6">
            <a:hlinkClick r:id="rId6" action="ppaction://hlinksldjump"/>
          </p:cNvPr>
          <p:cNvSpPr/>
          <p:nvPr/>
        </p:nvSpPr>
        <p:spPr>
          <a:xfrm>
            <a:off x="5084064" y="15544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>
            <a:hlinkClick r:id="" action="ppaction://hlinksldjump"/>
          </p:cNvPr>
          <p:cNvSpPr/>
          <p:nvPr/>
        </p:nvSpPr>
        <p:spPr>
          <a:xfrm>
            <a:off x="5193792" y="155448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 que les jeunes</a:t>
            </a:r>
            <a:endParaRPr lang="en-US" sz="1500" dirty="0"/>
          </a:p>
        </p:txBody>
      </p:sp>
      <p:sp>
        <p:nvSpPr>
          <p:cNvPr id="11" name="Shape 8">
            <a:hlinkClick r:id="rId7" action="ppaction://hlinksldjump"/>
          </p:cNvPr>
          <p:cNvSpPr/>
          <p:nvPr/>
        </p:nvSpPr>
        <p:spPr>
          <a:xfrm>
            <a:off x="7397496" y="15544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3FC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>
            <a:hlinkClick r:id="" action="ppaction://hlinksldjump"/>
          </p:cNvPr>
          <p:cNvSpPr/>
          <p:nvPr/>
        </p:nvSpPr>
        <p:spPr>
          <a:xfrm>
            <a:off x="7507224" y="155448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chiffres</a:t>
            </a:r>
            <a:endParaRPr lang="en-US" sz="1500" dirty="0"/>
          </a:p>
        </p:txBody>
      </p:sp>
      <p:sp>
        <p:nvSpPr>
          <p:cNvPr id="13" name="Shape 10">
            <a:hlinkClick r:id="rId8" action="ppaction://hlinksldjump"/>
          </p:cNvPr>
          <p:cNvSpPr/>
          <p:nvPr/>
        </p:nvSpPr>
        <p:spPr>
          <a:xfrm>
            <a:off x="9710928" y="15544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hlinkClick r:id="" action="ppaction://hlinksldjump"/>
          </p:cNvPr>
          <p:cNvSpPr/>
          <p:nvPr/>
        </p:nvSpPr>
        <p:spPr>
          <a:xfrm>
            <a:off x="9820656" y="155448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Victime · auteur · témoin</a:t>
            </a:r>
            <a:endParaRPr lang="en-US" sz="1500" dirty="0"/>
          </a:p>
        </p:txBody>
      </p:sp>
      <p:sp>
        <p:nvSpPr>
          <p:cNvPr id="15" name="Shape 12">
            <a:hlinkClick r:id="rId9" action="ppaction://hlinksldjump"/>
          </p:cNvPr>
          <p:cNvSpPr/>
          <p:nvPr/>
        </p:nvSpPr>
        <p:spPr>
          <a:xfrm>
            <a:off x="457200" y="26517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E865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hlinkClick r:id="" action="ppaction://hlinksldjump"/>
          </p:cNvPr>
          <p:cNvSpPr/>
          <p:nvPr/>
        </p:nvSpPr>
        <p:spPr>
          <a:xfrm>
            <a:off x="566928" y="265176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Signes d'alerte</a:t>
            </a:r>
            <a:endParaRPr lang="en-US" sz="1500" dirty="0"/>
          </a:p>
        </p:txBody>
      </p:sp>
      <p:sp>
        <p:nvSpPr>
          <p:cNvPr id="17" name="Shape 14">
            <a:hlinkClick r:id="rId10" action="ppaction://hlinksldjump"/>
          </p:cNvPr>
          <p:cNvSpPr/>
          <p:nvPr/>
        </p:nvSpPr>
        <p:spPr>
          <a:xfrm>
            <a:off x="2770632" y="26517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E865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>
            <a:hlinkClick r:id="" action="ppaction://hlinksldjump"/>
          </p:cNvPr>
          <p:cNvSpPr/>
          <p:nvPr/>
        </p:nvSpPr>
        <p:spPr>
          <a:xfrm>
            <a:off x="2880360" y="265176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conséquences</a:t>
            </a:r>
            <a:endParaRPr lang="en-US" sz="1500" dirty="0"/>
          </a:p>
        </p:txBody>
      </p:sp>
      <p:sp>
        <p:nvSpPr>
          <p:cNvPr id="19" name="Shape 16">
            <a:hlinkClick r:id="rId11" action="ppaction://hlinksldjump"/>
          </p:cNvPr>
          <p:cNvSpPr/>
          <p:nvPr/>
        </p:nvSpPr>
        <p:spPr>
          <a:xfrm>
            <a:off x="5084064" y="26517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>
            <a:hlinkClick r:id="" action="ppaction://hlinksldjump"/>
          </p:cNvPr>
          <p:cNvSpPr/>
          <p:nvPr/>
        </p:nvSpPr>
        <p:spPr>
          <a:xfrm>
            <a:off x="5193792" y="265176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 je suis victime</a:t>
            </a:r>
            <a:endParaRPr lang="en-US" sz="1500" dirty="0"/>
          </a:p>
        </p:txBody>
      </p:sp>
      <p:sp>
        <p:nvSpPr>
          <p:cNvPr id="21" name="Shape 18">
            <a:hlinkClick r:id="rId12" action="ppaction://hlinksldjump"/>
          </p:cNvPr>
          <p:cNvSpPr/>
          <p:nvPr/>
        </p:nvSpPr>
        <p:spPr>
          <a:xfrm>
            <a:off x="7397496" y="26517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3FC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>
            <a:hlinkClick r:id="" action="ppaction://hlinksldjump"/>
          </p:cNvPr>
          <p:cNvSpPr/>
          <p:nvPr/>
        </p:nvSpPr>
        <p:spPr>
          <a:xfrm>
            <a:off x="7507224" y="265176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Conserver les preuves</a:t>
            </a:r>
            <a:endParaRPr lang="en-US" sz="1500" dirty="0"/>
          </a:p>
        </p:txBody>
      </p:sp>
      <p:sp>
        <p:nvSpPr>
          <p:cNvPr id="23" name="Shape 20">
            <a:hlinkClick r:id="rId13" action="ppaction://hlinksldjump"/>
          </p:cNvPr>
          <p:cNvSpPr/>
          <p:nvPr/>
        </p:nvSpPr>
        <p:spPr>
          <a:xfrm>
            <a:off x="9710928" y="26517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>
            <a:hlinkClick r:id="" action="ppaction://hlinksldjump"/>
          </p:cNvPr>
          <p:cNvSpPr/>
          <p:nvPr/>
        </p:nvSpPr>
        <p:spPr>
          <a:xfrm>
            <a:off x="9820656" y="265176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Signaler en ligne</a:t>
            </a:r>
            <a:endParaRPr lang="en-US" sz="1500" dirty="0"/>
          </a:p>
        </p:txBody>
      </p:sp>
      <p:sp>
        <p:nvSpPr>
          <p:cNvPr id="25" name="Shape 22">
            <a:hlinkClick r:id="rId14" action="ppaction://hlinksldjump"/>
          </p:cNvPr>
          <p:cNvSpPr/>
          <p:nvPr/>
        </p:nvSpPr>
        <p:spPr>
          <a:xfrm>
            <a:off x="457200" y="37490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3FC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>
            <a:hlinkClick r:id="" action="ppaction://hlinksldjump"/>
          </p:cNvPr>
          <p:cNvSpPr/>
          <p:nvPr/>
        </p:nvSpPr>
        <p:spPr>
          <a:xfrm>
            <a:off x="566928" y="374904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Pharos &amp; 3018</a:t>
            </a:r>
            <a:endParaRPr lang="en-US" sz="1500" dirty="0"/>
          </a:p>
        </p:txBody>
      </p:sp>
      <p:sp>
        <p:nvSpPr>
          <p:cNvPr id="27" name="Shape 24">
            <a:hlinkClick r:id="rId15" action="ppaction://hlinksldjump"/>
          </p:cNvPr>
          <p:cNvSpPr/>
          <p:nvPr/>
        </p:nvSpPr>
        <p:spPr>
          <a:xfrm>
            <a:off x="2770632" y="37490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E865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" action="ppaction://hlinksldjump"/>
          </p:cNvPr>
          <p:cNvSpPr/>
          <p:nvPr/>
        </p:nvSpPr>
        <p:spPr>
          <a:xfrm>
            <a:off x="2880360" y="374904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cadre légal</a:t>
            </a:r>
            <a:endParaRPr lang="en-US" sz="1500" dirty="0"/>
          </a:p>
        </p:txBody>
      </p:sp>
      <p:sp>
        <p:nvSpPr>
          <p:cNvPr id="29" name="Shape 26">
            <a:hlinkClick r:id="rId16" action="ppaction://hlinksldjump"/>
          </p:cNvPr>
          <p:cNvSpPr/>
          <p:nvPr/>
        </p:nvSpPr>
        <p:spPr>
          <a:xfrm>
            <a:off x="5084064" y="37490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" action="ppaction://hlinksldjump"/>
          </p:cNvPr>
          <p:cNvSpPr/>
          <p:nvPr/>
        </p:nvSpPr>
        <p:spPr>
          <a:xfrm>
            <a:off x="5193792" y="374904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 je suis témoin</a:t>
            </a:r>
            <a:endParaRPr lang="en-US" sz="1500" dirty="0"/>
          </a:p>
        </p:txBody>
      </p:sp>
      <p:sp>
        <p:nvSpPr>
          <p:cNvPr id="31" name="Shape 28">
            <a:hlinkClick r:id="rId17" action="ppaction://hlinksldjump"/>
          </p:cNvPr>
          <p:cNvSpPr/>
          <p:nvPr/>
        </p:nvSpPr>
        <p:spPr>
          <a:xfrm>
            <a:off x="7397496" y="37490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" action="ppaction://hlinksldjump"/>
          </p:cNvPr>
          <p:cNvSpPr/>
          <p:nvPr/>
        </p:nvSpPr>
        <p:spPr>
          <a:xfrm>
            <a:off x="7507224" y="374904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protéger</a:t>
            </a:r>
            <a:endParaRPr lang="en-US" sz="1500" dirty="0"/>
          </a:p>
        </p:txBody>
      </p:sp>
      <p:sp>
        <p:nvSpPr>
          <p:cNvPr id="33" name="Shape 30">
            <a:hlinkClick r:id="rId18" action="ppaction://hlinksldjump"/>
          </p:cNvPr>
          <p:cNvSpPr/>
          <p:nvPr/>
        </p:nvSpPr>
        <p:spPr>
          <a:xfrm>
            <a:off x="9710928" y="37490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" action="ppaction://hlinksldjump"/>
          </p:cNvPr>
          <p:cNvSpPr/>
          <p:nvPr/>
        </p:nvSpPr>
        <p:spPr>
          <a:xfrm>
            <a:off x="9820656" y="374904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Protéger ses enfants</a:t>
            </a:r>
            <a:endParaRPr lang="en-US" sz="1500" dirty="0"/>
          </a:p>
        </p:txBody>
      </p:sp>
      <p:sp>
        <p:nvSpPr>
          <p:cNvPr id="35" name="Shape 32">
            <a:hlinkClick r:id="rId19" action="ppaction://hlinksldjump"/>
          </p:cNvPr>
          <p:cNvSpPr/>
          <p:nvPr/>
        </p:nvSpPr>
        <p:spPr>
          <a:xfrm>
            <a:off x="457200" y="4846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3FC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" action="ppaction://hlinksldjump"/>
          </p:cNvPr>
          <p:cNvSpPr/>
          <p:nvPr/>
        </p:nvSpPr>
        <p:spPr>
          <a:xfrm>
            <a:off x="566928" y="484632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endParaRPr lang="en-US" sz="1500" dirty="0"/>
          </a:p>
        </p:txBody>
      </p:sp>
      <p:sp>
        <p:nvSpPr>
          <p:cNvPr id="37" name="Shape 34">
            <a:hlinkClick r:id="rId20" action="ppaction://hlinksldjump"/>
          </p:cNvPr>
          <p:cNvSpPr/>
          <p:nvPr/>
        </p:nvSpPr>
        <p:spPr>
          <a:xfrm>
            <a:off x="2770632" y="4846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>
            <a:hlinkClick r:id="" action="ppaction://hlinksldjump"/>
          </p:cNvPr>
          <p:cNvSpPr/>
          <p:nvPr/>
        </p:nvSpPr>
        <p:spPr>
          <a:xfrm>
            <a:off x="2880360" y="484632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Où trouver de l'aide</a:t>
            </a:r>
            <a:endParaRPr lang="en-US" sz="1500" dirty="0"/>
          </a:p>
        </p:txBody>
      </p:sp>
      <p:sp>
        <p:nvSpPr>
          <p:cNvPr id="39" name="Shape 36">
            <a:hlinkClick r:id="rId21" action="ppaction://hlinksldjump"/>
          </p:cNvPr>
          <p:cNvSpPr/>
          <p:nvPr/>
        </p:nvSpPr>
        <p:spPr>
          <a:xfrm>
            <a:off x="5084064" y="4846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5875">
            <a:solidFill>
              <a:srgbClr val="7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>
            <a:hlinkClick r:id="" action="ppaction://hlinksldjump"/>
          </p:cNvPr>
          <p:cNvSpPr/>
          <p:nvPr/>
        </p:nvSpPr>
        <p:spPr>
          <a:xfrm>
            <a:off x="5193792" y="484632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u="sng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 le cyberharcèlement ?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32588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77240" y="14173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actes agressifs, RÉPÉTÉS et INTENTIONNELS, commis via des outils numériques (téléphone, internet, réseaux sociaux) contre une personne qui ne peut pas facilement se défendre.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1691640" y="3063240"/>
            <a:ext cx="1005840" cy="100584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691640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</a:rPr>
              <a:t>🔁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57200" y="4206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Répété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3152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dérapage isolé : les attaques reviennent, jour après jour.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261104" y="28346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5495544" y="3063240"/>
            <a:ext cx="1005840" cy="100584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5495544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</a:rPr>
              <a:t>🎯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4261104" y="4206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Intentionnel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535424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volonté de blesser, d'humilier ou d'exclure la personne.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65008" y="28346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9299448" y="3063240"/>
            <a:ext cx="1005840" cy="1005840"/>
          </a:xfrm>
          <a:prstGeom prst="ellipse">
            <a:avLst/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9299448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</a:rPr>
              <a:t>⚖️</a:t>
            </a:r>
            <a:endParaRPr lang="en-US" sz="3400" dirty="0"/>
          </a:p>
        </p:txBody>
      </p:sp>
      <p:sp>
        <p:nvSpPr>
          <p:cNvPr id="24" name="Text 20"/>
          <p:cNvSpPr/>
          <p:nvPr/>
        </p:nvSpPr>
        <p:spPr>
          <a:xfrm>
            <a:off x="8065008" y="42062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8339328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victime ne peut pas facilement se défendre ou faire cesser.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formes du cyberharcèlement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713232" y="1691640"/>
            <a:ext cx="868680" cy="86868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713232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💬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691640" y="170992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blessants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Insultes, moqueries, menaces répétées par SMS ou messagerie.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61104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17136" y="1691640"/>
            <a:ext cx="868680" cy="86868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17136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🚫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5495544" y="170992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/ rumeurs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17136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l'écart de groupes, rumeurs propagées en ligne.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65008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321040" y="1691640"/>
            <a:ext cx="868680" cy="86868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832104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📸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9299448" y="170992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d'images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321040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ou vidéos privées partagées sans consentement (« revenge porn »).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13232" y="4023360"/>
            <a:ext cx="868680" cy="86868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13232" y="4023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🎭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1691640" y="4041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Usurpation d'identité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13232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comptes créés au nom de la victime pour lui nuire.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261104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4517136" y="4023360"/>
            <a:ext cx="868680" cy="86868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4517136" y="4023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💢</a:t>
            </a:r>
            <a:endParaRPr lang="en-US" sz="2800" dirty="0"/>
          </a:p>
        </p:txBody>
      </p:sp>
      <p:sp>
        <p:nvSpPr>
          <p:cNvPr id="32" name="Text 28"/>
          <p:cNvSpPr/>
          <p:nvPr/>
        </p:nvSpPr>
        <p:spPr>
          <a:xfrm>
            <a:off x="5495544" y="4041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Haine en ligne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517136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Raids » de commentaires haineux, sexistes ou racistes coordonnés.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8065008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8321040" y="4023360"/>
            <a:ext cx="868680" cy="86868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8321040" y="4023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💻</a:t>
            </a:r>
            <a:endParaRPr lang="en-US" sz="2800" dirty="0"/>
          </a:p>
        </p:txBody>
      </p:sp>
      <p:sp>
        <p:nvSpPr>
          <p:cNvPr id="37" name="Text 33"/>
          <p:cNvSpPr/>
          <p:nvPr/>
        </p:nvSpPr>
        <p:spPr>
          <a:xfrm>
            <a:off x="9299448" y="4041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Chantage / sextorsion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321040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 de diffuser des contenus intimes pour obtenir argent ou images.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 ne touche pas que les jeunes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40080" y="14173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 Les jeunes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1520" y="25603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sociaux, jeux en ligne, groupes de classe.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invisible des adultes.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harcèlement scolaire peut continuer 24h/24 en ligne.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61104" y="141732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4261104" y="141732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443984" y="14173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❤️‍🩹  Le couple / l'ex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35424" y="25603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Surveillance, messages incessants, menaces.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de photos intimes après une rupture.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via la géolocalisation ou les mots de passe.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65008" y="141732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8065008" y="141732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8247888" y="14173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Le travail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339328" y="25603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humiliants, mises à l'écart de groupes pro.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Rumeurs sur les réseaux ou la messagerie d'entreprise.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 comme harcèlement moral par la loi.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chiffres en France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7373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457200" y="1737360"/>
            <a:ext cx="2606040" cy="164592"/>
          </a:xfrm>
          <a:prstGeom prst="roundRect">
            <a:avLst>
              <a:gd name="adj" fmla="val 50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457200" y="21488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F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sur 4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457200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déclarent avoir déjà été victimes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310128" y="17373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310128" y="1737360"/>
            <a:ext cx="2606040" cy="164592"/>
          </a:xfrm>
          <a:prstGeom prst="roundRect">
            <a:avLst>
              <a:gd name="adj" fmla="val 50000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310128" y="21488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B6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3310128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93008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lieu sur les réseaux sociaux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163056" y="17373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163056" y="1737360"/>
            <a:ext cx="2606040" cy="164592"/>
          </a:xfrm>
          <a:prstGeom prst="roundRect">
            <a:avLst>
              <a:gd name="adj" fmla="val 50000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163056" y="21488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40 %</a:t>
            </a:r>
            <a:endParaRPr lang="en-US" sz="4400" dirty="0"/>
          </a:p>
        </p:txBody>
      </p:sp>
      <p:sp>
        <p:nvSpPr>
          <p:cNvPr id="22" name="Text 18"/>
          <p:cNvSpPr/>
          <p:nvPr/>
        </p:nvSpPr>
        <p:spPr>
          <a:xfrm>
            <a:off x="6163056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victimes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345936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n'en parlent à personne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9015984" y="17373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9015984" y="1737360"/>
            <a:ext cx="2606040" cy="164592"/>
          </a:xfrm>
          <a:prstGeom prst="roundRect">
            <a:avLst>
              <a:gd name="adj" fmla="val 50000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9015984" y="21488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B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ans</a:t>
            </a:r>
            <a:endParaRPr lang="en-US" sz="4400" dirty="0"/>
          </a:p>
        </p:txBody>
      </p:sp>
      <p:sp>
        <p:nvSpPr>
          <p:cNvPr id="27" name="Text 23"/>
          <p:cNvSpPr/>
          <p:nvPr/>
        </p:nvSpPr>
        <p:spPr>
          <a:xfrm>
            <a:off x="9015984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9198864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appareil numérique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57200" y="5577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e-Enfance / Association 3018, ministère de l'Éducation nationale.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rôles : victime, auteur, témoin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5544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1691640" y="1783080"/>
            <a:ext cx="1051560" cy="105156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1691640" y="1783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😟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457200" y="2971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victime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1520" y="34747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 les attaques. Souvent isolée, elle culpabilise et n'ose pas en parler.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61104" y="15544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495544" y="1783080"/>
            <a:ext cx="1051560" cy="105156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5495544" y="1783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😈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261104" y="2971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L'auteur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35424" y="34747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Harcèle, parfois en groupe. Se cache derrière l'écran et l'anonymat.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65008" y="15544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9299448" y="1783080"/>
            <a:ext cx="1051560" cy="10515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9299448" y="1783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👀</a:t>
            </a:r>
            <a:endParaRPr lang="en-US" sz="3600" dirty="0"/>
          </a:p>
        </p:txBody>
      </p:sp>
      <p:sp>
        <p:nvSpPr>
          <p:cNvPr id="22" name="Text 18"/>
          <p:cNvSpPr/>
          <p:nvPr/>
        </p:nvSpPr>
        <p:spPr>
          <a:xfrm>
            <a:off x="8065008" y="2971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témoin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339328" y="34747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ou reçoit le contenu. Son attitude peut tout changer.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Le silence des témoins entretient le harcèlement. Un seul témoin qui réagit peut suffire à l'arrêter.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Reconnaître les signes d'alerte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63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685800" y="170992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85800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😰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645920" y="14630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 ou tristesse après l'usage du téléphone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89904" y="1463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318504" y="170992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318504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📵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278624" y="14630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l'école, le travail ou ses amis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85800" y="317296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85800" y="3172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😴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645920" y="2926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du sommeil, cauchemars, isolement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089904" y="2926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318504" y="317296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6318504" y="3172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📉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278624" y="2926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des résultats scolaires ou professionnels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57200" y="4389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685800" y="463600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685800" y="4636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🔕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1645920" y="4389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ou coupe son téléphone devant les autres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089904" y="4389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6318504" y="4636008"/>
            <a:ext cx="731520" cy="7315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6318504" y="4636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😡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7278624" y="4389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Réactions émotionnelles intenses après un message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c'est grave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77240" y="1463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harcèlement en ligne ne s'arrête pas à la porte de la maison : il suit la victime 24h/24, dans sa poche. Les conséquences sont réelles et parfois durables.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1691640" y="2971800"/>
            <a:ext cx="960120" cy="9601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691640" y="2971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🧠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57200" y="4069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mentale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1520" y="4572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Anxiété, perte de confiance, dépression.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261104" y="2743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5495544" y="2971800"/>
            <a:ext cx="960120" cy="9601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5495544" y="2971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🏫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4261104" y="4069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Décrochage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535424" y="4572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Absentéisme, chute des résultats, isolement social.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65008" y="2743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9299448" y="2971800"/>
            <a:ext cx="960120" cy="9601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9299448" y="2971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💔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8065008" y="4069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Mal-être profond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8339328" y="4572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sur soi, idées noires — ne jamais minimiser.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faire si on est victime ?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46304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répondre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14173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peut aggraver la situation. Garder son calme.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463040" y="2377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preuves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63440" y="23774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d'écran de tout : messages, photos, dates, pseudos.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33756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85800" y="3474720"/>
            <a:ext cx="548640" cy="54864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858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463040" y="3337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&amp; signaler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663440" y="33375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l'auteur et signaler le compte sur la plateforme.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429768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85800" y="4434840"/>
            <a:ext cx="548640" cy="54864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8580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1463040" y="4297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parler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4663440" y="42976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un proche, un adulte ou un professionnel de confiance.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57200" y="525780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685800" y="5394960"/>
            <a:ext cx="548640" cy="54864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68580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1463040" y="5257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autorités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4663440" y="5257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3018, Pharos, ou porter plainte : c'est un délit.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Conserver les preuves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Comment faire une capture d'écran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31520" y="21945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: </a:t>
            </a: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bas + bouton Marche, en même temps.
</a:t>
            </a: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: </a:t>
            </a: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haut + bouton latéral.
</a:t>
            </a: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: </a:t>
            </a:r>
            <a:r>
              <a:rPr lang="en-US" sz="15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 « Impr. écran » ou Win + Maj + 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4754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la capture garde la date et l'heure — c'est précieux pour un dépôt de plainte.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63640" y="1417320"/>
            <a:ext cx="5468112" cy="4434840"/>
          </a:xfrm>
          <a:prstGeom prst="roundRect">
            <a:avLst>
              <a:gd name="adj" fmla="val 2062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conserver ?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2940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messages, commentaires et photos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pseudos et liens des comptes auteurs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dates et heures de chaque attaque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L'URL de la page ou de la publication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montre la répétition des faits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Signaler sur les plateformes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77240" y="1463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réseau social a un bouton « Signaler ». Trois petits points ⋯ à côté du message ou du profil → Signaler → choisir le motif (harcèlement, haine…).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1737360" y="2880360"/>
            <a:ext cx="960120" cy="96012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737360" y="28803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📱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7200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message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1520" y="4480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les ⋯ ou maintenir le message → Signaler.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61104" y="26517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5541264" y="2880360"/>
            <a:ext cx="960120" cy="96012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5541264" y="28803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👤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261104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profil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535424" y="4480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le compte → ⋯ → Signaler le compte, puis Bloquer.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065008" y="26517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9345168" y="2880360"/>
            <a:ext cx="960120" cy="96012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9345168" y="28803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⏱️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8065008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8339328" y="4480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peuvent retirer le contenu ; le 3018 accélère la suppression.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Signaler aux autorités : Pharos &amp; 3018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630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457200" y="1691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3F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3018</a:t>
            </a:r>
            <a:endParaRPr lang="en-US" sz="5000" dirty="0"/>
          </a:p>
        </p:txBody>
      </p:sp>
      <p:sp>
        <p:nvSpPr>
          <p:cNvPr id="11" name="Text 7"/>
          <p:cNvSpPr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contre les violences numériques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7240" y="32004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anonyme, confidentiel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7j/7 de 9h à 23h — tél., tchat, WhatsApp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« 3018 »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Trusted flagger » : fait supprimer un contenu en quelques heures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63640" y="1463040"/>
            <a:ext cx="5468112" cy="4389120"/>
          </a:xfrm>
          <a:prstGeom prst="roundRect">
            <a:avLst>
              <a:gd name="adj" fmla="val 2083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53796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PHAROS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537960" y="2331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officielle de signalement de l'État (internet-signalement.gouv.fr).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2940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contenus illégaux : menaces, haine, images interdites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 aux forces de l'ordre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remplace pas un dépôt de plainte, mais le complète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un délit puni par la loi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cyberharcèlement est défini par l'article 222-33-2-2 du Code pénal. Le faire « derrière un écran » n'enlève rien à la responsabilité — l'anonymat peut être levé.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6974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457200" y="28803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Jusqu'à 2 ans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57200" y="3611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prison + 30 000 €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85800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victime de plus de 15 ans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61104" y="26974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261104" y="28803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Jusqu'à 3 ans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261104" y="3611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prison + 45 000 €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489704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victime de moins de 15 ans / aggravé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65008" y="26974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8065008" y="28803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Jusqu'à 10 ans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8065008" y="3611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prison + 150 000 €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293608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victime tente de se suicider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52120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diffusion d'images intimes sans consentement (« revenge porn », art. 226-2-1) est punie jusqu'à 2 ans de prison et 60 000 € d'amende.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je suis témoin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et ne rien faire, c'est laisser faire. Le témoin a un vrai pouvoir : ses gestes peuvent isoler l'auteur plutôt que la victime.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713232" y="2880360"/>
            <a:ext cx="822960" cy="82296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713232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🚫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737360" y="2770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relayer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73736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liker, partager ni commenter le contenu blessant.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9904" y="26060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345936" y="288036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345936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7370064" y="2770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la victime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370064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 privé de soutien rompt son isolement.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42062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713232" y="4480560"/>
            <a:ext cx="822960" cy="822960"/>
          </a:xfrm>
          <a:prstGeom prst="ellipse">
            <a:avLst/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713232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🚩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1737360" y="4370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737360" y="4846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le contenu à la plateforme, au 3018 ou à un adulte.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089904" y="42062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6345936" y="4480560"/>
            <a:ext cx="822960" cy="82296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6345936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🗣️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7370064" y="4370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parler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370064" y="4846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une personne de confiance ou un référent.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protéger au quotidien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713232" y="173736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713232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691640" y="17190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en privé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qui voit ses publications.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61104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17136" y="173736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17136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🤔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495544" y="17190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Réfléchir avant de publier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17136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photo en ligne échappe vite à son contrôle.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65008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321040" y="173736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83210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🔑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299448" y="17190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ses mots de passe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les partager, même avec un proche.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37033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13232" y="397764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13232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✅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1691640" y="3959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ses contacts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713232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N'accepter que des personnes réellement connues.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261104" y="37033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4517136" y="397764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4517136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🚩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5495544" y="3959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tôt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4517136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moindre contenu blessant ou inapproprié.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8065008" y="37033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8321040" y="3977640"/>
            <a:ext cx="822960" cy="8229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8321040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💬</a:t>
            </a:r>
            <a:endParaRPr lang="en-US" sz="2600" dirty="0"/>
          </a:p>
        </p:txBody>
      </p:sp>
      <p:sp>
        <p:nvSpPr>
          <p:cNvPr id="37" name="Text 33"/>
          <p:cNvSpPr/>
          <p:nvPr/>
        </p:nvSpPr>
        <p:spPr>
          <a:xfrm>
            <a:off x="9299448" y="3959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parler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832104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rester seul face au doute.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ses enfants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Garder le dialogue ouvert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724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 régulièrement de sa vie en ligne, sans juger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Rassurer : il ne sera jamais puni d'avoir parlé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les changements d'humeur ou de sommeil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confisquer le téléphone en premier réflexe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63640" y="1417320"/>
            <a:ext cx="5468112" cy="4434840"/>
          </a:xfrm>
          <a:prstGeom prst="roundRect">
            <a:avLst>
              <a:gd name="adj" fmla="val 2062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Outils &amp; repères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2940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parental (gratuit sur la plupart des box et téléphones)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appareil numérique : en moyenne vers 10 ans — accompagner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3018 conseille aussi les parents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jeprotegemonenfant.gouv.fr : ressources officielles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4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37160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6517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F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pour tester ce qu'on a retenu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mauvaise réponse : on en discute ensemble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4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57200" y="4572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457200" y="457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12801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est le premier réflexe à avoir quand on reçoit des messages de harcèlement ?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31520" y="283464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960120" y="301752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5920" y="28346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pour se défendre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8404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960120" y="402336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45920" y="38404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preuves avant de bloquer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31520" y="484632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9601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645920" y="48463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tout de suite la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4572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280160" cy="12801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✓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103120" y="1920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Conserver les preuves avant de bloquer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fait des captures d'écran datées AVANT de bloquer l'auteur. Sans preuves, le signalement et la plainte sont plus difficiles. Répondre, lui, alimente souvent le harcèlement.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4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57200" y="4572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457200" y="457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12801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3020, ancien numéro « Non au Harcèlement », est-il toujours le bon numéro ?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31520" y="283464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960120" y="301752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5920" y="28346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c'est toujours lui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8404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960120" y="402336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45920" y="38404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il a été remplacé par le 3018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31520" y="484632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9601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645920" y="48463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jamais existé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4572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280160" cy="12801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✓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103120" y="1920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Non : c'est désormais le 3018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1er janvier 2024, le 3018 est le numéro national unique pour le harcèlement scolaire et le cyberharcèlement. Gratuit, anonyme, 7j/7 de 9h à 23h — par téléphone, tchat, WhatsApp et appli.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4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57200" y="4572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457200" y="457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12801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vois passer un message qui se moque méchamment d'un camarade. Que faire ?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31520" y="283464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960120" y="301752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5920" y="28346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 ou partager pour « voir »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8404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960120" y="402336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45920" y="38404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rien faire, ça ne me regarde pas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31520" y="484632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9601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645920" y="48463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la victime et signaler le contenu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3" name="Text 0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4572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280160" cy="1280160"/>
          </a:xfrm>
          <a:prstGeom prst="ellipse">
            <a:avLst/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✓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103120" y="1920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Soutenir la victime et signaler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13213A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 ou partager amplifie le harcèlement. Rester passif le laisse continuer. Un témoin qui soutient la victime en privé et signale le contenu peut suffire à briser la spirale.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trouver de l'aide</a:t>
            </a:r>
            <a:endParaRPr lang="en-US" sz="30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566928" cy="566928"/>
          </a:xfrm>
          <a:prstGeom prst="rect">
            <a:avLst/>
          </a:prstGeom>
        </p:spPr>
      </p:pic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10195560" y="6327648"/>
            <a:ext cx="1691640" cy="365760"/>
          </a:xfrm>
          <a:prstGeom prst="rect">
            <a:avLst/>
          </a:prstGeom>
          <a:solidFill>
            <a:srgbClr val="1321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63276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· Médiateur Numérique · Guéret 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4630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1828800" cy="2057400"/>
          </a:xfrm>
          <a:prstGeom prst="roundRect">
            <a:avLst>
              <a:gd name="adj" fmla="val 5000"/>
            </a:avLst>
          </a:prstGeom>
          <a:solidFill>
            <a:srgbClr val="3FC9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3018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6888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Violences numériques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468880" y="2331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anonyme · 7j/7 9h-23h · tél, tchat, WhatsApp, appli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9904" y="14630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089904" y="1463040"/>
            <a:ext cx="1828800" cy="2057400"/>
          </a:xfrm>
          <a:prstGeom prst="roundRect">
            <a:avLst>
              <a:gd name="adj" fmla="val 5000"/>
            </a:avLst>
          </a:prstGeom>
          <a:solidFill>
            <a:srgbClr val="E865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089904" y="146304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3114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8101584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du suicide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101584" y="2331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24h/24, 7j/7 · si on se sent en danger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370332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57200" y="3703320"/>
            <a:ext cx="1828800" cy="2057400"/>
          </a:xfrm>
          <a:prstGeom prst="roundRect">
            <a:avLst>
              <a:gd name="adj" fmla="val 5000"/>
            </a:avLst>
          </a:prstGeom>
          <a:solidFill>
            <a:srgbClr val="7B6F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57200" y="370332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246888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Enfance en danger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2468880" y="45720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Mineurs en danger · gratuit et anonyme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089904" y="370332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76200" dist="25400" dir="5400000" algn="bl" rotWithShape="0">
              <a:srgbClr val="C9D3E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089904" y="3703320"/>
            <a:ext cx="1828800" cy="2057400"/>
          </a:xfrm>
          <a:prstGeom prst="roundRect">
            <a:avLst>
              <a:gd name="adj" fmla="val 5000"/>
            </a:avLst>
          </a:prstGeom>
          <a:solidFill>
            <a:srgbClr val="6BBF5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089904" y="370332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Pharos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8101584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officiel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8101584" y="45720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internet-signalement.gouv.fr · contenus illégaux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pix.fr — plateforme gratuite pour développer ses compétences numériques et apprendre à se protéger.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286000"/>
            <a:ext cx="6400800" cy="6400800"/>
          </a:xfrm>
          <a:prstGeom prst="ellipse">
            <a:avLst/>
          </a:prstGeom>
          <a:solidFill>
            <a:srgbClr val="1321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8229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Ensemble, brisons le silence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cyberharcèlement n'est pas une fatalité.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Parler, signaler, agir — chaque geste compte.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23360" y="4709160"/>
            <a:ext cx="4142232" cy="640080"/>
          </a:xfrm>
          <a:prstGeom prst="roundRect">
            <a:avLst>
              <a:gd name="adj" fmla="val 50000"/>
            </a:avLst>
          </a:prstGeom>
          <a:solidFill>
            <a:srgbClr val="13213A"/>
          </a:solidFill>
          <a:ln w="15875">
            <a:solidFill>
              <a:srgbClr val="6BBF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023360" y="4709160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Échangeons ensemble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Cédric WALTENER · Médiateur Numérique · Guéret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3028</Words>
  <Application>Microsoft Office PowerPoint</Application>
  <PresentationFormat>Grand écran</PresentationFormat>
  <Paragraphs>410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titi 23</cp:lastModifiedBy>
  <cp:revision>2</cp:revision>
  <dcterms:created xsi:type="dcterms:W3CDTF">2026-06-19T14:03:56Z</dcterms:created>
  <dcterms:modified xsi:type="dcterms:W3CDTF">2026-06-19T14:22:56Z</dcterms:modified>
</cp:coreProperties>
</file>