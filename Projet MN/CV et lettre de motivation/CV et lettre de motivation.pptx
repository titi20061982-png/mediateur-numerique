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9" r:id="rId17"/>
    <p:sldId id="271" r:id="rId18"/>
    <p:sldId id="272" r:id="rId19"/>
    <p:sldId id="273" r:id="rId20"/>
    <p:sldId id="274" r:id="rId21"/>
    <p:sldId id="275" r:id="rId22"/>
    <p:sldId id="276" r:id="rId23"/>
    <p:sldId id="277" r:id="rId24"/>
    <p:sldId id="280" r:id="rId25"/>
    <p:sldId id="281" r:id="rId26"/>
    <p:sldId id="278"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10"/>
  </p:normalViewPr>
  <p:slideViewPr>
    <p:cSldViewPr snapToGrid="0" snapToObjects="1">
      <p:cViewPr varScale="1">
        <p:scale>
          <a:sx n="146" d="100"/>
          <a:sy n="146" d="100"/>
        </p:scale>
        <p:origin x="51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528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youtube.com/watch?v=KfyiBQWVbx4" TargetMode="Externa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hyperlink" Target="https://www.youtube.com/watch?v=Wjvozlbs9Rw"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youtube.com/watch?v=7okfsfKaV3I" TargetMode="Externa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hyperlink" Target="https://www.youtube.com/watch?v=8F3v6u0uGmk"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a:gsLst>
            <a:gs pos="0">
              <a:srgbClr val="0C2748"/>
            </a:gs>
            <a:gs pos="55000">
              <a:srgbClr val="081D38"/>
            </a:gs>
            <a:gs pos="100000">
              <a:srgbClr val="06152A"/>
            </a:gs>
          </a:gsLst>
          <a:lin ang="3000000" scaled="1"/>
        </a:gradFill>
        <a:effectLst/>
      </p:bgPr>
    </p:bg>
    <p:spTree>
      <p:nvGrpSpPr>
        <p:cNvPr id="1" name=""/>
        <p:cNvGrpSpPr/>
        <p:nvPr/>
      </p:nvGrpSpPr>
      <p:grpSpPr>
        <a:xfrm>
          <a:off x="0" y="0"/>
          <a:ext cx="0" cy="0"/>
          <a:chOff x="0" y="0"/>
          <a:chExt cx="0" cy="0"/>
        </a:xfrm>
      </p:grpSpPr>
      <p:pic>
        <p:nvPicPr>
          <p:cNvPr id="3" name="BgPhoto" descr="entretien"/>
          <p:cNvPicPr>
            <a:picLocks/>
          </p:cNvPicPr>
          <p:nvPr/>
        </p:nvPicPr>
        <p:blipFill>
          <a:blip r:embed="rId3"/>
          <a:srcRect t="4000" b="11600"/>
          <a:stretch>
            <a:fillRect/>
          </a:stretch>
        </p:blipFill>
        <p:spPr>
          <a:xfrm>
            <a:off x="0" y="0"/>
            <a:ext cx="9144000" cy="5143500"/>
          </a:xfrm>
          <a:prstGeom prst="rect">
            <a:avLst/>
          </a:prstGeom>
        </p:spPr>
      </p:pic>
      <p:sp>
        <p:nvSpPr>
          <p:cNvPr id="4" name="Scrim"/>
          <p:cNvSpPr/>
          <p:nvPr/>
        </p:nvSpPr>
        <p:spPr>
          <a:xfrm>
            <a:off x="0" y="0"/>
            <a:ext cx="9144000" cy="5143500"/>
          </a:xfrm>
          <a:prstGeom prst="rect">
            <a:avLst/>
          </a:prstGeom>
          <a:gradFill>
            <a:gsLst>
              <a:gs pos="0">
                <a:srgbClr val="061325">
                  <a:alpha val="74000"/>
                </a:srgbClr>
              </a:gs>
              <a:gs pos="30000">
                <a:srgbClr val="081A33">
                  <a:alpha val="48000"/>
                </a:srgbClr>
              </a:gs>
              <a:gs pos="60000">
                <a:srgbClr val="0A2038">
                  <a:alpha val="20000"/>
                </a:srgbClr>
              </a:gs>
              <a:gs pos="100000">
                <a:srgbClr val="06152A">
                  <a:alpha val="6000"/>
                </a:srgbClr>
              </a:gs>
            </a:gsLst>
            <a:lin ang="0" scaled="1"/>
          </a:gradFill>
          <a:ln/>
        </p:spPr>
        <p:txBody>
          <a:bodyPr/>
          <a:lstStyle/>
          <a:p>
            <a:endParaRPr lang="fr-FR"/>
          </a:p>
        </p:txBody>
      </p:sp>
      <p:pic>
        <p:nvPicPr>
          <p:cNvPr id="5" name="Logo" descr="yggdrasil"/>
          <p:cNvPicPr>
            <a:picLocks noChangeAspect="1"/>
          </p:cNvPicPr>
          <p:nvPr/>
        </p:nvPicPr>
        <p:blipFill>
          <a:blip r:embed="rId4"/>
          <a:stretch>
            <a:fillRect/>
          </a:stretch>
        </p:blipFill>
        <p:spPr>
          <a:xfrm>
            <a:off x="457200" y="457200"/>
            <a:ext cx="1005840" cy="1005840"/>
          </a:xfrm>
          <a:prstGeom prst="rect">
            <a:avLst/>
          </a:prstGeom>
          <a:effectLst>
            <a:outerShdw blurRad="190500" rotWithShape="0">
              <a:srgbClr val="2BC4D8">
                <a:alpha val="48000"/>
              </a:srgbClr>
            </a:outerShdw>
          </a:effectLst>
        </p:spPr>
      </p:pic>
      <p:sp>
        <p:nvSpPr>
          <p:cNvPr id="6" name="Pill"/>
          <p:cNvSpPr/>
          <p:nvPr/>
        </p:nvSpPr>
        <p:spPr>
          <a:xfrm>
            <a:off x="1600200" y="731520"/>
            <a:ext cx="4525963" cy="457200"/>
          </a:xfrm>
          <a:prstGeom prst="roundRect">
            <a:avLst>
              <a:gd name="adj" fmla="val 50000"/>
            </a:avLst>
          </a:prstGeom>
          <a:solidFill>
            <a:srgbClr val="0E3457"/>
          </a:solidFill>
          <a:ln w="9525">
            <a:solidFill>
              <a:srgbClr val="2BC4D8">
                <a:alpha val="60000"/>
              </a:srgbClr>
            </a:solidFill>
          </a:ln>
        </p:spPr>
        <p:txBody>
          <a:bodyPr wrap="square" lIns="91440" tIns="0" rIns="91440" bIns="0" rtlCol="0" anchor="ctr"/>
          <a:lstStyle/>
          <a:p>
            <a:pPr marL="0" indent="0" algn="ctr">
              <a:buNone/>
            </a:pPr>
            <a:r>
              <a:rPr lang="fr-FR" sz="1000" b="1" kern="0" spc="280" dirty="0">
                <a:solidFill>
                  <a:srgbClr val="2BC4D8"/>
                </a:solidFill>
              </a:rPr>
              <a:t>GUIDE COMPLET  —  NIVEAU DÉBUTANT</a:t>
            </a:r>
          </a:p>
        </p:txBody>
      </p:sp>
      <p:sp>
        <p:nvSpPr>
          <p:cNvPr id="7" name="Title"/>
          <p:cNvSpPr/>
          <p:nvPr/>
        </p:nvSpPr>
        <p:spPr>
          <a:xfrm>
            <a:off x="457200" y="1600000"/>
            <a:ext cx="8229600" cy="1560000"/>
          </a:xfrm>
          <a:prstGeom prst="rect">
            <a:avLst/>
          </a:prstGeom>
          <a:noFill/>
          <a:effectLst>
            <a:outerShdw blurRad="63500" dist="25400" dir="5400000" rotWithShape="0">
              <a:srgbClr val="000000">
                <a:alpha val="62000"/>
              </a:srgbClr>
            </a:outerShdw>
          </a:effectLst>
        </p:spPr>
        <p:txBody>
          <a:bodyPr wrap="square" lIns="0" tIns="0" rIns="0" bIns="0" rtlCol="0" anchor="t"/>
          <a:lstStyle/>
          <a:p>
            <a:pPr marL="0" indent="0">
              <a:lnSpc>
                <a:spcPct val="112000"/>
              </a:lnSpc>
              <a:buNone/>
            </a:pPr>
            <a:r>
              <a:rPr lang="fr-FR" sz="4400" b="1" dirty="0">
                <a:solidFill>
                  <a:srgbClr val="FFFFFF"/>
                </a:solidFill>
                <a:latin typeface="Calibri" pitchFamily="34" charset="0"/>
              </a:rPr>
              <a:t>Créer son CV</a:t>
            </a:r>
          </a:p>
          <a:p>
            <a:pPr marL="0" indent="0">
              <a:lnSpc>
                <a:spcPct val="112000"/>
              </a:lnSpc>
              <a:buNone/>
            </a:pPr>
            <a:r>
              <a:rPr lang="fr-FR" sz="4400" b="1" dirty="0">
                <a:solidFill>
                  <a:srgbClr val="2BC4D8"/>
                </a:solidFill>
                <a:latin typeface="Calibri" pitchFamily="34" charset="0"/>
              </a:rPr>
              <a:t>&amp; sa Lettre de Motivation</a:t>
            </a:r>
          </a:p>
        </p:txBody>
      </p:sp>
      <p:sp>
        <p:nvSpPr>
          <p:cNvPr id="8" name="Subtitle"/>
          <p:cNvSpPr/>
          <p:nvPr/>
        </p:nvSpPr>
        <p:spPr>
          <a:xfrm>
            <a:off x="457200" y="3170000"/>
            <a:ext cx="8229600" cy="360000"/>
          </a:xfrm>
          <a:prstGeom prst="rect">
            <a:avLst/>
          </a:prstGeom>
          <a:noFill/>
          <a:effectLst>
            <a:outerShdw blurRad="63500" dist="25400" dir="5400000" rotWithShape="0">
              <a:srgbClr val="000000">
                <a:alpha val="62000"/>
              </a:srgbClr>
            </a:outerShdw>
          </a:effectLst>
        </p:spPr>
        <p:txBody>
          <a:bodyPr wrap="square" lIns="0" tIns="0" rIns="0" bIns="0" rtlCol="0" anchor="ctr"/>
          <a:lstStyle/>
          <a:p>
            <a:pPr marL="0" indent="0">
              <a:buNone/>
            </a:pPr>
            <a:r>
              <a:rPr lang="fr-FR" sz="1350" i="1" dirty="0">
                <a:solidFill>
                  <a:srgbClr val="A8C8E8"/>
                </a:solidFill>
              </a:rPr>
              <a:t>Un CV clair et une lettre qui convainc — avec des exemples concrets à chaque étape</a:t>
            </a:r>
          </a:p>
        </p:txBody>
      </p:sp>
      <p:sp>
        <p:nvSpPr>
          <p:cNvPr id="20" name="Card0"/>
          <p:cNvSpPr/>
          <p:nvPr/>
        </p:nvSpPr>
        <p:spPr>
          <a:xfrm>
            <a:off x="457200" y="3620000"/>
            <a:ext cx="2560320" cy="1170000"/>
          </a:xfrm>
          <a:prstGeom prst="roundRect">
            <a:avLst>
              <a:gd name="adj" fmla="val 9000"/>
            </a:avLst>
          </a:prstGeom>
          <a:solidFill>
            <a:srgbClr val="123257"/>
          </a:solidFill>
          <a:ln w="12700">
            <a:solidFill>
              <a:srgbClr val="2BC4D8">
                <a:alpha val="55000"/>
              </a:srgbClr>
            </a:solidFill>
          </a:ln>
          <a:effectLst>
            <a:outerShdw blurRad="152400" rotWithShape="0">
              <a:srgbClr val="2BC4D8">
                <a:alpha val="26000"/>
              </a:srgbClr>
            </a:outerShdw>
          </a:effectLst>
        </p:spPr>
        <p:txBody>
          <a:bodyPr/>
          <a:lstStyle/>
          <a:p>
            <a:endParaRPr lang="fr-FR"/>
          </a:p>
        </p:txBody>
      </p:sp>
      <p:sp>
        <p:nvSpPr>
          <p:cNvPr id="21" name="CardVal0"/>
          <p:cNvSpPr/>
          <p:nvPr/>
        </p:nvSpPr>
        <p:spPr>
          <a:xfrm>
            <a:off x="457200" y="3780000"/>
            <a:ext cx="2560320" cy="540000"/>
          </a:xfrm>
          <a:prstGeom prst="rect">
            <a:avLst/>
          </a:prstGeom>
          <a:noFill/>
        </p:spPr>
        <p:txBody>
          <a:bodyPr wrap="square" lIns="0" tIns="0" rIns="0" bIns="0" rtlCol="0" anchor="ctr"/>
          <a:lstStyle/>
          <a:p>
            <a:pPr marL="0" indent="0" algn="ctr">
              <a:buNone/>
            </a:pPr>
            <a:r>
              <a:rPr lang="fr-FR" sz="2600" b="1" dirty="0">
                <a:solidFill>
                  <a:srgbClr val="2BC4D8"/>
                </a:solidFill>
              </a:rPr>
              <a:t>25</a:t>
            </a:r>
          </a:p>
        </p:txBody>
      </p:sp>
      <p:sp>
        <p:nvSpPr>
          <p:cNvPr id="22" name="CardLbl0"/>
          <p:cNvSpPr/>
          <p:nvPr/>
        </p:nvSpPr>
        <p:spPr>
          <a:xfrm>
            <a:off x="457200" y="4330000"/>
            <a:ext cx="2560320" cy="320000"/>
          </a:xfrm>
          <a:prstGeom prst="rect">
            <a:avLst/>
          </a:prstGeom>
          <a:noFill/>
        </p:spPr>
        <p:txBody>
          <a:bodyPr wrap="square" lIns="0" tIns="0" rIns="0" bIns="0" rtlCol="0" anchor="ctr"/>
          <a:lstStyle/>
          <a:p>
            <a:pPr marL="0" indent="0" algn="ctr">
              <a:buNone/>
            </a:pPr>
            <a:r>
              <a:rPr lang="fr-FR" sz="1100" b="1" spc="200" dirty="0">
                <a:solidFill>
                  <a:srgbClr val="C4D8EF"/>
                </a:solidFill>
              </a:rPr>
              <a:t>SLIDES</a:t>
            </a:r>
          </a:p>
        </p:txBody>
      </p:sp>
      <p:sp>
        <p:nvSpPr>
          <p:cNvPr id="30" name="Card1"/>
          <p:cNvSpPr/>
          <p:nvPr/>
        </p:nvSpPr>
        <p:spPr>
          <a:xfrm>
            <a:off x="3291840" y="3620000"/>
            <a:ext cx="2560320" cy="1170000"/>
          </a:xfrm>
          <a:prstGeom prst="roundRect">
            <a:avLst>
              <a:gd name="adj" fmla="val 9000"/>
            </a:avLst>
          </a:prstGeom>
          <a:solidFill>
            <a:srgbClr val="123257"/>
          </a:solidFill>
          <a:ln w="12700">
            <a:solidFill>
              <a:srgbClr val="2BC4D8">
                <a:alpha val="55000"/>
              </a:srgbClr>
            </a:solidFill>
          </a:ln>
          <a:effectLst>
            <a:outerShdw blurRad="152400" rotWithShape="0">
              <a:srgbClr val="2BC4D8">
                <a:alpha val="26000"/>
              </a:srgbClr>
            </a:outerShdw>
          </a:effectLst>
        </p:spPr>
        <p:txBody>
          <a:bodyPr/>
          <a:lstStyle/>
          <a:p>
            <a:endParaRPr lang="fr-FR"/>
          </a:p>
        </p:txBody>
      </p:sp>
      <p:sp>
        <p:nvSpPr>
          <p:cNvPr id="31" name="CardVal1"/>
          <p:cNvSpPr/>
          <p:nvPr/>
        </p:nvSpPr>
        <p:spPr>
          <a:xfrm>
            <a:off x="3291840" y="3780000"/>
            <a:ext cx="2560320" cy="540000"/>
          </a:xfrm>
          <a:prstGeom prst="rect">
            <a:avLst/>
          </a:prstGeom>
          <a:noFill/>
        </p:spPr>
        <p:txBody>
          <a:bodyPr wrap="square" lIns="0" tIns="0" rIns="0" bIns="0" rtlCol="0" anchor="ctr"/>
          <a:lstStyle/>
          <a:p>
            <a:pPr marL="0" indent="0" algn="ctr">
              <a:buNone/>
            </a:pPr>
            <a:r>
              <a:rPr lang="fr-FR" sz="2000" b="1" dirty="0">
                <a:solidFill>
                  <a:srgbClr val="2BC4D8"/>
                </a:solidFill>
              </a:rPr>
              <a:t>Exemples</a:t>
            </a:r>
          </a:p>
        </p:txBody>
      </p:sp>
      <p:sp>
        <p:nvSpPr>
          <p:cNvPr id="32" name="CardLbl1"/>
          <p:cNvSpPr/>
          <p:nvPr/>
        </p:nvSpPr>
        <p:spPr>
          <a:xfrm>
            <a:off x="3291840" y="4330000"/>
            <a:ext cx="2560320" cy="320000"/>
          </a:xfrm>
          <a:prstGeom prst="rect">
            <a:avLst/>
          </a:prstGeom>
          <a:noFill/>
        </p:spPr>
        <p:txBody>
          <a:bodyPr wrap="square" lIns="0" tIns="0" rIns="0" bIns="0" rtlCol="0" anchor="ctr"/>
          <a:lstStyle/>
          <a:p>
            <a:pPr marL="0" indent="0" algn="ctr">
              <a:buNone/>
            </a:pPr>
            <a:r>
              <a:rPr lang="fr-FR" sz="1100" b="1" spc="200" dirty="0">
                <a:solidFill>
                  <a:srgbClr val="C4D8EF"/>
                </a:solidFill>
              </a:rPr>
              <a:t>CONCRETS</a:t>
            </a:r>
          </a:p>
        </p:txBody>
      </p:sp>
      <p:sp>
        <p:nvSpPr>
          <p:cNvPr id="40" name="Card2"/>
          <p:cNvSpPr/>
          <p:nvPr/>
        </p:nvSpPr>
        <p:spPr>
          <a:xfrm>
            <a:off x="6126480" y="3620000"/>
            <a:ext cx="2560320" cy="1170000"/>
          </a:xfrm>
          <a:prstGeom prst="roundRect">
            <a:avLst>
              <a:gd name="adj" fmla="val 9000"/>
            </a:avLst>
          </a:prstGeom>
          <a:solidFill>
            <a:srgbClr val="123257"/>
          </a:solidFill>
          <a:ln w="12700">
            <a:solidFill>
              <a:srgbClr val="2BC4D8">
                <a:alpha val="55000"/>
              </a:srgbClr>
            </a:solidFill>
          </a:ln>
          <a:effectLst>
            <a:outerShdw blurRad="152400" rotWithShape="0">
              <a:srgbClr val="2BC4D8">
                <a:alpha val="26000"/>
              </a:srgbClr>
            </a:outerShdw>
          </a:effectLst>
        </p:spPr>
        <p:txBody>
          <a:bodyPr/>
          <a:lstStyle/>
          <a:p>
            <a:endParaRPr lang="fr-FR"/>
          </a:p>
        </p:txBody>
      </p:sp>
      <p:sp>
        <p:nvSpPr>
          <p:cNvPr id="41" name="CardVal2"/>
          <p:cNvSpPr/>
          <p:nvPr/>
        </p:nvSpPr>
        <p:spPr>
          <a:xfrm>
            <a:off x="6126480" y="3780000"/>
            <a:ext cx="2560320" cy="540000"/>
          </a:xfrm>
          <a:prstGeom prst="rect">
            <a:avLst/>
          </a:prstGeom>
          <a:noFill/>
        </p:spPr>
        <p:txBody>
          <a:bodyPr wrap="square" lIns="0" tIns="0" rIns="0" bIns="0" rtlCol="0" anchor="ctr"/>
          <a:lstStyle/>
          <a:p>
            <a:pPr marL="0" indent="0" algn="ctr">
              <a:buNone/>
            </a:pPr>
            <a:r>
              <a:rPr lang="fr-FR" sz="2600" b="1" dirty="0">
                <a:solidFill>
                  <a:srgbClr val="2BC4D8"/>
                </a:solidFill>
              </a:rPr>
              <a:t>100%</a:t>
            </a:r>
          </a:p>
        </p:txBody>
      </p:sp>
      <p:sp>
        <p:nvSpPr>
          <p:cNvPr id="42" name="CardLbl2"/>
          <p:cNvSpPr/>
          <p:nvPr/>
        </p:nvSpPr>
        <p:spPr>
          <a:xfrm>
            <a:off x="6126480" y="4330000"/>
            <a:ext cx="2560320" cy="320000"/>
          </a:xfrm>
          <a:prstGeom prst="rect">
            <a:avLst/>
          </a:prstGeom>
          <a:noFill/>
        </p:spPr>
        <p:txBody>
          <a:bodyPr wrap="square" lIns="0" tIns="0" rIns="0" bIns="0" rtlCol="0" anchor="ctr"/>
          <a:lstStyle/>
          <a:p>
            <a:pPr marL="0" indent="0" algn="ctr">
              <a:buNone/>
            </a:pPr>
            <a:r>
              <a:rPr lang="fr-FR" sz="1100" b="1" spc="200" dirty="0">
                <a:solidFill>
                  <a:srgbClr val="C4D8EF"/>
                </a:solidFill>
              </a:rPr>
              <a:t>DÉBUTANT OK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7034"/>
            <a:ext cx="2743200" cy="51435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640080" y="457200"/>
            <a:ext cx="1463040" cy="1463040"/>
          </a:xfrm>
          <a:prstGeom prst="rect">
            <a:avLst/>
          </a:prstGeom>
        </p:spPr>
      </p:pic>
      <p:sp>
        <p:nvSpPr>
          <p:cNvPr id="4" name="Text 1"/>
          <p:cNvSpPr/>
          <p:nvPr/>
        </p:nvSpPr>
        <p:spPr>
          <a:xfrm>
            <a:off x="91440" y="2103120"/>
            <a:ext cx="2560320" cy="822960"/>
          </a:xfrm>
          <a:prstGeom prst="rect">
            <a:avLst/>
          </a:prstGeom>
          <a:noFill/>
          <a:ln/>
        </p:spPr>
        <p:txBody>
          <a:bodyPr wrap="square" rtlCol="0" anchor="ctr"/>
          <a:lstStyle/>
          <a:p>
            <a:pPr marL="0" indent="0" algn="ctr">
              <a:lnSpc>
                <a:spcPct val="120000"/>
              </a:lnSpc>
              <a:buNone/>
            </a:pPr>
            <a:r>
              <a:rPr lang="en-US" sz="2200" b="1" dirty="0">
                <a:solidFill>
                  <a:srgbClr val="FFFFFF"/>
                </a:solidFill>
              </a:rPr>
              <a:t>Plan du</a:t>
            </a:r>
            <a:endParaRPr lang="en-US" sz="2200" dirty="0"/>
          </a:p>
          <a:p>
            <a:pPr marL="0" indent="0" algn="ctr">
              <a:lnSpc>
                <a:spcPct val="120000"/>
              </a:lnSpc>
              <a:buNone/>
            </a:pPr>
            <a:r>
              <a:rPr lang="en-US" sz="2200" b="1" dirty="0">
                <a:solidFill>
                  <a:srgbClr val="FFFFFF"/>
                </a:solidFill>
              </a:rPr>
              <a:t>Guide</a:t>
            </a:r>
            <a:endParaRPr lang="en-US" sz="2200" dirty="0"/>
          </a:p>
        </p:txBody>
      </p:sp>
      <p:sp>
        <p:nvSpPr>
          <p:cNvPr id="5" name="Text 2"/>
          <p:cNvSpPr/>
          <p:nvPr/>
        </p:nvSpPr>
        <p:spPr>
          <a:xfrm>
            <a:off x="91440" y="3035808"/>
            <a:ext cx="2560320" cy="667512"/>
          </a:xfrm>
          <a:prstGeom prst="rect">
            <a:avLst/>
          </a:prstGeom>
          <a:noFill/>
          <a:ln/>
        </p:spPr>
        <p:txBody>
          <a:bodyPr wrap="square" rtlCol="0" anchor="ctr"/>
          <a:lstStyle/>
          <a:p>
            <a:pPr marL="0" indent="0" algn="ctr">
              <a:lnSpc>
                <a:spcPct val="140000"/>
              </a:lnSpc>
              <a:buNone/>
            </a:pPr>
            <a:endParaRPr lang="en-US" sz="1000" dirty="0"/>
          </a:p>
          <a:p>
            <a:pPr marL="0" indent="0" algn="ctr">
              <a:lnSpc>
                <a:spcPct val="140000"/>
              </a:lnSpc>
              <a:buNone/>
            </a:pPr>
            <a:r>
              <a:rPr lang="en-US" sz="1000" dirty="0">
                <a:solidFill>
                  <a:srgbClr val="A8C8E8"/>
                </a:solidFill>
              </a:rPr>
              <a:t>exemples à chaque étape</a:t>
            </a:r>
            <a:endParaRPr lang="en-US" sz="1000" dirty="0"/>
          </a:p>
        </p:txBody>
      </p:sp>
      <p:sp>
        <p:nvSpPr>
          <p:cNvPr id="6" name="Shape 3"/>
          <p:cNvSpPr/>
          <p:nvPr/>
        </p:nvSpPr>
        <p:spPr>
          <a:xfrm>
            <a:off x="2926080" y="292608"/>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7" name="Shape 4"/>
          <p:cNvSpPr/>
          <p:nvPr/>
        </p:nvSpPr>
        <p:spPr>
          <a:xfrm>
            <a:off x="2926080" y="292608"/>
            <a:ext cx="475488" cy="676656"/>
          </a:xfrm>
          <a:prstGeom prst="rect">
            <a:avLst/>
          </a:prstGeom>
          <a:solidFill>
            <a:srgbClr val="00ACC1"/>
          </a:solidFill>
          <a:ln/>
        </p:spPr>
        <p:txBody>
          <a:bodyPr/>
          <a:lstStyle/>
          <a:p>
            <a:endParaRPr lang="fr-FR"/>
          </a:p>
        </p:txBody>
      </p:sp>
      <p:sp>
        <p:nvSpPr>
          <p:cNvPr id="8" name="Text 5"/>
          <p:cNvSpPr/>
          <p:nvPr/>
        </p:nvSpPr>
        <p:spPr>
          <a:xfrm>
            <a:off x="2926080" y="292608"/>
            <a:ext cx="475488" cy="676656"/>
          </a:xfrm>
          <a:prstGeom prst="rect">
            <a:avLst/>
          </a:prstGeom>
          <a:noFill/>
          <a:ln/>
        </p:spPr>
        <p:txBody>
          <a:bodyPr wrap="square" rtlCol="0" anchor="ctr"/>
          <a:lstStyle/>
          <a:p>
            <a:pPr marL="0" indent="0" algn="ctr">
              <a:buNone/>
            </a:pPr>
            <a:r>
              <a:rPr lang="en-US" sz="1200" b="1" dirty="0">
                <a:solidFill>
                  <a:srgbClr val="FFFFFF"/>
                </a:solidFill>
              </a:rPr>
              <a:t>01</a:t>
            </a:r>
            <a:endParaRPr lang="en-US" sz="1200" dirty="0"/>
          </a:p>
        </p:txBody>
      </p:sp>
      <p:sp>
        <p:nvSpPr>
          <p:cNvPr id="9" name="Text 6"/>
          <p:cNvSpPr/>
          <p:nvPr/>
        </p:nvSpPr>
        <p:spPr>
          <a:xfrm>
            <a:off x="3502152" y="365760"/>
            <a:ext cx="4114800" cy="274320"/>
          </a:xfrm>
          <a:prstGeom prst="rect">
            <a:avLst/>
          </a:prstGeom>
          <a:noFill/>
          <a:ln/>
        </p:spPr>
        <p:txBody>
          <a:bodyPr wrap="square" rtlCol="0" anchor="ctr"/>
          <a:lstStyle/>
          <a:p>
            <a:pPr marL="0" indent="0">
              <a:buNone/>
            </a:pPr>
            <a:r>
              <a:rPr lang="en-US" sz="1200" b="1" dirty="0">
                <a:solidFill>
                  <a:srgbClr val="0D1B2A"/>
                </a:solidFill>
              </a:rPr>
              <a:t>Comprendre la recherche en ligne</a:t>
            </a:r>
            <a:endParaRPr lang="en-US" sz="1200" dirty="0"/>
          </a:p>
        </p:txBody>
      </p:sp>
      <p:sp>
        <p:nvSpPr>
          <p:cNvPr id="10" name="Text 7"/>
          <p:cNvSpPr/>
          <p:nvPr/>
        </p:nvSpPr>
        <p:spPr>
          <a:xfrm>
            <a:off x="3502152" y="676656"/>
            <a:ext cx="4114800" cy="201168"/>
          </a:xfrm>
          <a:prstGeom prst="rect">
            <a:avLst/>
          </a:prstGeom>
          <a:noFill/>
          <a:ln/>
        </p:spPr>
        <p:txBody>
          <a:bodyPr wrap="square" rtlCol="0" anchor="ctr"/>
          <a:lstStyle/>
          <a:p>
            <a:pPr marL="0" indent="0">
              <a:buNone/>
            </a:pPr>
            <a:r>
              <a:rPr lang="en-US" sz="950" dirty="0">
                <a:solidFill>
                  <a:srgbClr val="5A6A7A"/>
                </a:solidFill>
              </a:rPr>
              <a:t>Slides 3–4</a:t>
            </a:r>
            <a:endParaRPr lang="en-US" sz="950" dirty="0"/>
          </a:p>
        </p:txBody>
      </p:sp>
      <p:sp>
        <p:nvSpPr>
          <p:cNvPr id="11" name="Shape 8"/>
          <p:cNvSpPr/>
          <p:nvPr/>
        </p:nvSpPr>
        <p:spPr>
          <a:xfrm>
            <a:off x="2926080" y="1078992"/>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2" name="Shape 9"/>
          <p:cNvSpPr/>
          <p:nvPr/>
        </p:nvSpPr>
        <p:spPr>
          <a:xfrm>
            <a:off x="2926080" y="1078992"/>
            <a:ext cx="475488" cy="676656"/>
          </a:xfrm>
          <a:prstGeom prst="rect">
            <a:avLst/>
          </a:prstGeom>
          <a:solidFill>
            <a:srgbClr val="1565C0"/>
          </a:solidFill>
          <a:ln/>
        </p:spPr>
        <p:txBody>
          <a:bodyPr/>
          <a:lstStyle/>
          <a:p>
            <a:endParaRPr lang="fr-FR"/>
          </a:p>
        </p:txBody>
      </p:sp>
      <p:sp>
        <p:nvSpPr>
          <p:cNvPr id="13" name="Text 10"/>
          <p:cNvSpPr/>
          <p:nvPr/>
        </p:nvSpPr>
        <p:spPr>
          <a:xfrm>
            <a:off x="2926080" y="1078992"/>
            <a:ext cx="475488" cy="676656"/>
          </a:xfrm>
          <a:prstGeom prst="rect">
            <a:avLst/>
          </a:prstGeom>
          <a:noFill/>
          <a:ln/>
        </p:spPr>
        <p:txBody>
          <a:bodyPr wrap="square" rtlCol="0" anchor="ctr"/>
          <a:lstStyle/>
          <a:p>
            <a:pPr marL="0" indent="0" algn="ctr">
              <a:buNone/>
            </a:pPr>
            <a:r>
              <a:rPr lang="en-US" sz="1200" b="1" dirty="0">
                <a:solidFill>
                  <a:srgbClr val="FFFFFF"/>
                </a:solidFill>
              </a:rPr>
              <a:t>02</a:t>
            </a:r>
            <a:endParaRPr lang="en-US" sz="1200" dirty="0"/>
          </a:p>
        </p:txBody>
      </p:sp>
      <p:sp>
        <p:nvSpPr>
          <p:cNvPr id="14" name="Text 11"/>
          <p:cNvSpPr/>
          <p:nvPr/>
        </p:nvSpPr>
        <p:spPr>
          <a:xfrm>
            <a:off x="3502152" y="1152144"/>
            <a:ext cx="4114800" cy="274320"/>
          </a:xfrm>
          <a:prstGeom prst="rect">
            <a:avLst/>
          </a:prstGeom>
          <a:noFill/>
          <a:ln/>
        </p:spPr>
        <p:txBody>
          <a:bodyPr wrap="square" rtlCol="0" anchor="ctr"/>
          <a:lstStyle/>
          <a:p>
            <a:pPr marL="0" indent="0">
              <a:buNone/>
            </a:pPr>
            <a:r>
              <a:rPr lang="en-US" sz="1200" b="1" dirty="0">
                <a:solidFill>
                  <a:srgbClr val="0D1B2A"/>
                </a:solidFill>
              </a:rPr>
              <a:t>Créer son CV en ligne</a:t>
            </a:r>
            <a:endParaRPr lang="en-US" sz="1200" dirty="0"/>
          </a:p>
        </p:txBody>
      </p:sp>
      <p:sp>
        <p:nvSpPr>
          <p:cNvPr id="15" name="Text 12"/>
          <p:cNvSpPr/>
          <p:nvPr/>
        </p:nvSpPr>
        <p:spPr>
          <a:xfrm>
            <a:off x="3502152" y="1463040"/>
            <a:ext cx="4114800" cy="201168"/>
          </a:xfrm>
          <a:prstGeom prst="rect">
            <a:avLst/>
          </a:prstGeom>
          <a:noFill/>
          <a:ln/>
        </p:spPr>
        <p:txBody>
          <a:bodyPr wrap="square" rtlCol="0" anchor="ctr"/>
          <a:lstStyle/>
          <a:p>
            <a:pPr marL="0" indent="0">
              <a:buNone/>
            </a:pPr>
            <a:r>
              <a:rPr lang="en-US" sz="950" dirty="0">
                <a:solidFill>
                  <a:srgbClr val="5A6A7A"/>
                </a:solidFill>
              </a:rPr>
              <a:t>Slides 5–8</a:t>
            </a:r>
            <a:endParaRPr lang="en-US" sz="950" dirty="0"/>
          </a:p>
        </p:txBody>
      </p:sp>
      <p:sp>
        <p:nvSpPr>
          <p:cNvPr id="16" name="Shape 13"/>
          <p:cNvSpPr/>
          <p:nvPr/>
        </p:nvSpPr>
        <p:spPr>
          <a:xfrm>
            <a:off x="2926080" y="1865376"/>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7" name="Shape 14"/>
          <p:cNvSpPr/>
          <p:nvPr/>
        </p:nvSpPr>
        <p:spPr>
          <a:xfrm>
            <a:off x="2926080" y="1865376"/>
            <a:ext cx="475488" cy="676656"/>
          </a:xfrm>
          <a:prstGeom prst="rect">
            <a:avLst/>
          </a:prstGeom>
          <a:solidFill>
            <a:srgbClr val="00796B"/>
          </a:solidFill>
          <a:ln/>
        </p:spPr>
        <p:txBody>
          <a:bodyPr/>
          <a:lstStyle/>
          <a:p>
            <a:endParaRPr lang="fr-FR"/>
          </a:p>
        </p:txBody>
      </p:sp>
      <p:sp>
        <p:nvSpPr>
          <p:cNvPr id="18" name="Text 15"/>
          <p:cNvSpPr/>
          <p:nvPr/>
        </p:nvSpPr>
        <p:spPr>
          <a:xfrm>
            <a:off x="2926080" y="1865376"/>
            <a:ext cx="475488" cy="676656"/>
          </a:xfrm>
          <a:prstGeom prst="rect">
            <a:avLst/>
          </a:prstGeom>
          <a:noFill/>
          <a:ln/>
        </p:spPr>
        <p:txBody>
          <a:bodyPr wrap="square" rtlCol="0" anchor="ctr"/>
          <a:lstStyle/>
          <a:p>
            <a:pPr marL="0" indent="0" algn="ctr">
              <a:buNone/>
            </a:pPr>
            <a:r>
              <a:rPr lang="en-US" sz="1200" b="1" dirty="0">
                <a:solidFill>
                  <a:srgbClr val="FFFFFF"/>
                </a:solidFill>
              </a:rPr>
              <a:t>03</a:t>
            </a:r>
            <a:endParaRPr lang="en-US" sz="1200" dirty="0"/>
          </a:p>
        </p:txBody>
      </p:sp>
      <p:sp>
        <p:nvSpPr>
          <p:cNvPr id="19" name="Text 16"/>
          <p:cNvSpPr/>
          <p:nvPr/>
        </p:nvSpPr>
        <p:spPr>
          <a:xfrm>
            <a:off x="3502152" y="1938528"/>
            <a:ext cx="4114800" cy="274320"/>
          </a:xfrm>
          <a:prstGeom prst="rect">
            <a:avLst/>
          </a:prstGeom>
          <a:noFill/>
          <a:ln/>
        </p:spPr>
        <p:txBody>
          <a:bodyPr wrap="square" rtlCol="0" anchor="ctr"/>
          <a:lstStyle/>
          <a:p>
            <a:pPr marL="0" indent="0">
              <a:buNone/>
            </a:pPr>
            <a:r>
              <a:rPr lang="en-US" sz="1200" b="1" dirty="0">
                <a:solidFill>
                  <a:srgbClr val="0D1B2A"/>
                </a:solidFill>
              </a:rPr>
              <a:t>Les plateformes d'emploi</a:t>
            </a:r>
            <a:endParaRPr lang="en-US" sz="1200" dirty="0"/>
          </a:p>
        </p:txBody>
      </p:sp>
      <p:sp>
        <p:nvSpPr>
          <p:cNvPr id="20" name="Text 17"/>
          <p:cNvSpPr/>
          <p:nvPr/>
        </p:nvSpPr>
        <p:spPr>
          <a:xfrm>
            <a:off x="3502152" y="2249424"/>
            <a:ext cx="4114800" cy="201168"/>
          </a:xfrm>
          <a:prstGeom prst="rect">
            <a:avLst/>
          </a:prstGeom>
          <a:noFill/>
          <a:ln/>
        </p:spPr>
        <p:txBody>
          <a:bodyPr wrap="square" rtlCol="0" anchor="ctr"/>
          <a:lstStyle/>
          <a:p>
            <a:pPr marL="0" indent="0">
              <a:buNone/>
            </a:pPr>
            <a:r>
              <a:rPr lang="en-US" sz="950" dirty="0">
                <a:solidFill>
                  <a:srgbClr val="5A6A7A"/>
                </a:solidFill>
              </a:rPr>
              <a:t>Slides 9–12</a:t>
            </a:r>
            <a:endParaRPr lang="en-US" sz="950" dirty="0"/>
          </a:p>
        </p:txBody>
      </p:sp>
      <p:sp>
        <p:nvSpPr>
          <p:cNvPr id="21" name="Shape 18"/>
          <p:cNvSpPr/>
          <p:nvPr/>
        </p:nvSpPr>
        <p:spPr>
          <a:xfrm>
            <a:off x="2926080" y="2651760"/>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2926080" y="2651760"/>
            <a:ext cx="475488" cy="676656"/>
          </a:xfrm>
          <a:prstGeom prst="rect">
            <a:avLst/>
          </a:prstGeom>
          <a:solidFill>
            <a:srgbClr val="6A3FA0"/>
          </a:solidFill>
          <a:ln/>
        </p:spPr>
        <p:txBody>
          <a:bodyPr/>
          <a:lstStyle/>
          <a:p>
            <a:endParaRPr lang="fr-FR"/>
          </a:p>
        </p:txBody>
      </p:sp>
      <p:sp>
        <p:nvSpPr>
          <p:cNvPr id="23" name="Text 20"/>
          <p:cNvSpPr/>
          <p:nvPr/>
        </p:nvSpPr>
        <p:spPr>
          <a:xfrm>
            <a:off x="2926080" y="2651760"/>
            <a:ext cx="475488" cy="676656"/>
          </a:xfrm>
          <a:prstGeom prst="rect">
            <a:avLst/>
          </a:prstGeom>
          <a:noFill/>
          <a:ln/>
        </p:spPr>
        <p:txBody>
          <a:bodyPr wrap="square" rtlCol="0" anchor="ctr"/>
          <a:lstStyle/>
          <a:p>
            <a:pPr marL="0" indent="0" algn="ctr">
              <a:buNone/>
            </a:pPr>
            <a:r>
              <a:rPr lang="en-US" sz="1200" b="1" dirty="0">
                <a:solidFill>
                  <a:srgbClr val="FFFFFF"/>
                </a:solidFill>
              </a:rPr>
              <a:t>04</a:t>
            </a:r>
            <a:endParaRPr lang="en-US" sz="1200" dirty="0"/>
          </a:p>
        </p:txBody>
      </p:sp>
      <p:sp>
        <p:nvSpPr>
          <p:cNvPr id="24" name="Text 21"/>
          <p:cNvSpPr/>
          <p:nvPr/>
        </p:nvSpPr>
        <p:spPr>
          <a:xfrm>
            <a:off x="3502152" y="2724912"/>
            <a:ext cx="4114800" cy="274320"/>
          </a:xfrm>
          <a:prstGeom prst="rect">
            <a:avLst/>
          </a:prstGeom>
          <a:noFill/>
          <a:ln/>
        </p:spPr>
        <p:txBody>
          <a:bodyPr wrap="square" rtlCol="0" anchor="ctr"/>
          <a:lstStyle/>
          <a:p>
            <a:pPr marL="0" indent="0">
              <a:buNone/>
            </a:pPr>
            <a:r>
              <a:rPr lang="en-US" sz="1200" b="1" dirty="0">
                <a:solidFill>
                  <a:srgbClr val="0D1B2A"/>
                </a:solidFill>
              </a:rPr>
              <a:t>Rédiger sa candidature</a:t>
            </a:r>
            <a:endParaRPr lang="en-US" sz="1200" dirty="0"/>
          </a:p>
        </p:txBody>
      </p:sp>
      <p:sp>
        <p:nvSpPr>
          <p:cNvPr id="25" name="Text 22"/>
          <p:cNvSpPr/>
          <p:nvPr/>
        </p:nvSpPr>
        <p:spPr>
          <a:xfrm>
            <a:off x="3502152" y="3035808"/>
            <a:ext cx="4114800" cy="201168"/>
          </a:xfrm>
          <a:prstGeom prst="rect">
            <a:avLst/>
          </a:prstGeom>
          <a:noFill/>
          <a:ln/>
        </p:spPr>
        <p:txBody>
          <a:bodyPr wrap="square" rtlCol="0" anchor="ctr"/>
          <a:lstStyle/>
          <a:p>
            <a:pPr marL="0" indent="0">
              <a:buNone/>
            </a:pPr>
            <a:r>
              <a:rPr lang="en-US" sz="950" dirty="0">
                <a:solidFill>
                  <a:srgbClr val="5A6A7A"/>
                </a:solidFill>
              </a:rPr>
              <a:t>Slides 13–18</a:t>
            </a:r>
            <a:endParaRPr lang="en-US" sz="950" dirty="0"/>
          </a:p>
        </p:txBody>
      </p:sp>
      <p:sp>
        <p:nvSpPr>
          <p:cNvPr id="26" name="Shape 23"/>
          <p:cNvSpPr/>
          <p:nvPr/>
        </p:nvSpPr>
        <p:spPr>
          <a:xfrm>
            <a:off x="2926080" y="3438144"/>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7" name="Shape 24"/>
          <p:cNvSpPr/>
          <p:nvPr/>
        </p:nvSpPr>
        <p:spPr>
          <a:xfrm>
            <a:off x="2926080" y="3438144"/>
            <a:ext cx="475488" cy="676656"/>
          </a:xfrm>
          <a:prstGeom prst="rect">
            <a:avLst/>
          </a:prstGeom>
          <a:solidFill>
            <a:srgbClr val="F59E0B"/>
          </a:solidFill>
          <a:ln/>
        </p:spPr>
        <p:txBody>
          <a:bodyPr/>
          <a:lstStyle/>
          <a:p>
            <a:endParaRPr lang="fr-FR"/>
          </a:p>
        </p:txBody>
      </p:sp>
      <p:sp>
        <p:nvSpPr>
          <p:cNvPr id="28" name="Text 25"/>
          <p:cNvSpPr/>
          <p:nvPr/>
        </p:nvSpPr>
        <p:spPr>
          <a:xfrm>
            <a:off x="2926080" y="3438144"/>
            <a:ext cx="475488" cy="676656"/>
          </a:xfrm>
          <a:prstGeom prst="rect">
            <a:avLst/>
          </a:prstGeom>
          <a:noFill/>
          <a:ln/>
        </p:spPr>
        <p:txBody>
          <a:bodyPr wrap="square" rtlCol="0" anchor="ctr"/>
          <a:lstStyle/>
          <a:p>
            <a:pPr marL="0" indent="0" algn="ctr">
              <a:buNone/>
            </a:pPr>
            <a:r>
              <a:rPr lang="en-US" sz="1200" b="1" dirty="0">
                <a:solidFill>
                  <a:srgbClr val="FFFFFF"/>
                </a:solidFill>
              </a:rPr>
              <a:t>05</a:t>
            </a:r>
            <a:endParaRPr lang="en-US" sz="1200" dirty="0"/>
          </a:p>
        </p:txBody>
      </p:sp>
      <p:sp>
        <p:nvSpPr>
          <p:cNvPr id="29" name="Text 26"/>
          <p:cNvSpPr/>
          <p:nvPr/>
        </p:nvSpPr>
        <p:spPr>
          <a:xfrm>
            <a:off x="3502152" y="3511296"/>
            <a:ext cx="4114800" cy="274320"/>
          </a:xfrm>
          <a:prstGeom prst="rect">
            <a:avLst/>
          </a:prstGeom>
          <a:noFill/>
          <a:ln/>
        </p:spPr>
        <p:txBody>
          <a:bodyPr wrap="square" rtlCol="0" anchor="ctr"/>
          <a:lstStyle/>
          <a:p>
            <a:pPr marL="0" indent="0">
              <a:buNone/>
            </a:pPr>
            <a:r>
              <a:rPr lang="en-US" sz="1200" b="1" dirty="0">
                <a:solidFill>
                  <a:srgbClr val="0D1B2A"/>
                </a:solidFill>
              </a:rPr>
              <a:t>Suivi &amp; conseils pratiques</a:t>
            </a:r>
            <a:endParaRPr lang="en-US" sz="1200" dirty="0"/>
          </a:p>
        </p:txBody>
      </p:sp>
      <p:sp>
        <p:nvSpPr>
          <p:cNvPr id="30" name="Text 27"/>
          <p:cNvSpPr/>
          <p:nvPr/>
        </p:nvSpPr>
        <p:spPr>
          <a:xfrm>
            <a:off x="3502152" y="3822192"/>
            <a:ext cx="4114800" cy="201168"/>
          </a:xfrm>
          <a:prstGeom prst="rect">
            <a:avLst/>
          </a:prstGeom>
          <a:noFill/>
          <a:ln/>
        </p:spPr>
        <p:txBody>
          <a:bodyPr wrap="square" rtlCol="0" anchor="ctr"/>
          <a:lstStyle/>
          <a:p>
            <a:pPr marL="0" indent="0">
              <a:buNone/>
            </a:pPr>
            <a:r>
              <a:rPr lang="en-US" sz="950" dirty="0">
                <a:solidFill>
                  <a:srgbClr val="5A6A7A"/>
                </a:solidFill>
              </a:rPr>
              <a:t>Slides 19–24</a:t>
            </a:r>
            <a:endParaRPr lang="en-US" sz="950" dirty="0"/>
          </a:p>
        </p:txBody>
      </p:sp>
      <p:sp>
        <p:nvSpPr>
          <p:cNvPr id="31" name="Shape 28"/>
          <p:cNvSpPr/>
          <p:nvPr/>
        </p:nvSpPr>
        <p:spPr>
          <a:xfrm>
            <a:off x="2926080" y="4224528"/>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2" name="Shape 29"/>
          <p:cNvSpPr/>
          <p:nvPr/>
        </p:nvSpPr>
        <p:spPr>
          <a:xfrm>
            <a:off x="2926080" y="4224528"/>
            <a:ext cx="475488" cy="676656"/>
          </a:xfrm>
          <a:prstGeom prst="rect">
            <a:avLst/>
          </a:prstGeom>
          <a:solidFill>
            <a:srgbClr val="10B981"/>
          </a:solidFill>
          <a:ln/>
        </p:spPr>
        <p:txBody>
          <a:bodyPr/>
          <a:lstStyle/>
          <a:p>
            <a:endParaRPr lang="fr-FR"/>
          </a:p>
        </p:txBody>
      </p:sp>
      <p:sp>
        <p:nvSpPr>
          <p:cNvPr id="33" name="Text 30"/>
          <p:cNvSpPr/>
          <p:nvPr/>
        </p:nvSpPr>
        <p:spPr>
          <a:xfrm>
            <a:off x="2926080" y="4224528"/>
            <a:ext cx="475488" cy="676656"/>
          </a:xfrm>
          <a:prstGeom prst="rect">
            <a:avLst/>
          </a:prstGeom>
          <a:noFill/>
          <a:ln/>
        </p:spPr>
        <p:txBody>
          <a:bodyPr wrap="square" rtlCol="0" anchor="ctr"/>
          <a:lstStyle/>
          <a:p>
            <a:pPr marL="0" indent="0" algn="ctr">
              <a:buNone/>
            </a:pPr>
            <a:r>
              <a:rPr lang="en-US" sz="1200" b="1" dirty="0">
                <a:solidFill>
                  <a:srgbClr val="FFFFFF"/>
                </a:solidFill>
              </a:rPr>
              <a:t>06</a:t>
            </a:r>
            <a:endParaRPr lang="en-US" sz="1200" dirty="0"/>
          </a:p>
        </p:txBody>
      </p:sp>
      <p:sp>
        <p:nvSpPr>
          <p:cNvPr id="34" name="Text 31"/>
          <p:cNvSpPr/>
          <p:nvPr/>
        </p:nvSpPr>
        <p:spPr>
          <a:xfrm>
            <a:off x="3502152" y="4297680"/>
            <a:ext cx="4114800" cy="274320"/>
          </a:xfrm>
          <a:prstGeom prst="rect">
            <a:avLst/>
          </a:prstGeom>
          <a:noFill/>
          <a:ln/>
        </p:spPr>
        <p:txBody>
          <a:bodyPr wrap="square" rtlCol="0" anchor="ctr"/>
          <a:lstStyle/>
          <a:p>
            <a:pPr marL="0" indent="0">
              <a:buNone/>
            </a:pPr>
            <a:r>
              <a:rPr lang="en-US" sz="1200" b="1" dirty="0">
                <a:solidFill>
                  <a:srgbClr val="0D1B2A"/>
                </a:solidFill>
              </a:rPr>
              <a:t>Récapitulatif</a:t>
            </a:r>
            <a:endParaRPr lang="en-US" sz="1200" dirty="0"/>
          </a:p>
        </p:txBody>
      </p:sp>
      <p:sp>
        <p:nvSpPr>
          <p:cNvPr id="35" name="Text 32"/>
          <p:cNvSpPr/>
          <p:nvPr/>
        </p:nvSpPr>
        <p:spPr>
          <a:xfrm>
            <a:off x="3502152" y="4608576"/>
            <a:ext cx="4114800" cy="201168"/>
          </a:xfrm>
          <a:prstGeom prst="rect">
            <a:avLst/>
          </a:prstGeom>
          <a:noFill/>
          <a:ln/>
        </p:spPr>
        <p:txBody>
          <a:bodyPr wrap="square" rtlCol="0" anchor="ctr"/>
          <a:lstStyle/>
          <a:p>
            <a:pPr marL="0" indent="0">
              <a:buNone/>
            </a:pPr>
            <a:r>
              <a:rPr lang="en-US" sz="950" dirty="0">
                <a:solidFill>
                  <a:srgbClr val="5A6A7A"/>
                </a:solidFill>
              </a:rPr>
              <a:t>Slide 25</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1 · SLIDE 3</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C'est quoi la recherche d'emploi en ligne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Comprendre avant de commencer</a:t>
            </a:r>
            <a:endParaRPr lang="en-US" sz="900" dirty="0"/>
          </a:p>
        </p:txBody>
      </p:sp>
      <p:sp>
        <p:nvSpPr>
          <p:cNvPr id="7" name="Text 4"/>
          <p:cNvSpPr/>
          <p:nvPr/>
        </p:nvSpPr>
        <p:spPr>
          <a:xfrm>
            <a:off x="365760" y="1051560"/>
            <a:ext cx="8412480" cy="274320"/>
          </a:xfrm>
          <a:prstGeom prst="rect">
            <a:avLst/>
          </a:prstGeom>
          <a:noFill/>
          <a:ln/>
        </p:spPr>
        <p:txBody>
          <a:bodyPr wrap="square" rtlCol="0" anchor="ctr"/>
          <a:lstStyle/>
          <a:p>
            <a:pPr marL="0" indent="0">
              <a:buNone/>
            </a:pPr>
            <a:r>
              <a:rPr lang="en-US" sz="1300" b="1" dirty="0">
                <a:solidFill>
                  <a:srgbClr val="0D1B2A"/>
                </a:solidFill>
              </a:rPr>
              <a:t>Avant Internet, on cherchait un emploi comment ?</a:t>
            </a:r>
            <a:endParaRPr lang="en-US" sz="1300" dirty="0"/>
          </a:p>
        </p:txBody>
      </p:sp>
      <p:sp>
        <p:nvSpPr>
          <p:cNvPr id="8" name="Text 5"/>
          <p:cNvSpPr/>
          <p:nvPr/>
        </p:nvSpPr>
        <p:spPr>
          <a:xfrm>
            <a:off x="457200" y="1389888"/>
            <a:ext cx="4023360" cy="301752"/>
          </a:xfrm>
          <a:prstGeom prst="rect">
            <a:avLst/>
          </a:prstGeom>
          <a:noFill/>
          <a:ln/>
        </p:spPr>
        <p:txBody>
          <a:bodyPr wrap="square" rtlCol="0" anchor="ctr"/>
          <a:lstStyle/>
          <a:p>
            <a:pPr marL="0" indent="0">
              <a:buNone/>
            </a:pPr>
            <a:r>
              <a:rPr lang="en-US" sz="1100" dirty="0">
                <a:solidFill>
                  <a:srgbClr val="5A6A7A"/>
                </a:solidFill>
              </a:rPr>
              <a:t>📰 Annonces dans les journaux papier</a:t>
            </a:r>
            <a:endParaRPr lang="en-US" sz="1100" dirty="0"/>
          </a:p>
        </p:txBody>
      </p:sp>
      <p:sp>
        <p:nvSpPr>
          <p:cNvPr id="9" name="Text 6"/>
          <p:cNvSpPr/>
          <p:nvPr/>
        </p:nvSpPr>
        <p:spPr>
          <a:xfrm>
            <a:off x="457200" y="1737360"/>
            <a:ext cx="4023360" cy="301752"/>
          </a:xfrm>
          <a:prstGeom prst="rect">
            <a:avLst/>
          </a:prstGeom>
          <a:noFill/>
          <a:ln/>
        </p:spPr>
        <p:txBody>
          <a:bodyPr wrap="square" rtlCol="0" anchor="ctr"/>
          <a:lstStyle/>
          <a:p>
            <a:pPr marL="0" indent="0">
              <a:buNone/>
            </a:pPr>
            <a:r>
              <a:rPr lang="en-US" sz="1100" dirty="0">
                <a:solidFill>
                  <a:srgbClr val="5A6A7A"/>
                </a:solidFill>
              </a:rPr>
              <a:t>📌 Affiches en vitrine des magasins</a:t>
            </a:r>
            <a:endParaRPr lang="en-US" sz="1100" dirty="0"/>
          </a:p>
        </p:txBody>
      </p:sp>
      <p:sp>
        <p:nvSpPr>
          <p:cNvPr id="10" name="Text 7"/>
          <p:cNvSpPr/>
          <p:nvPr/>
        </p:nvSpPr>
        <p:spPr>
          <a:xfrm>
            <a:off x="457200" y="2084832"/>
            <a:ext cx="4023360" cy="301752"/>
          </a:xfrm>
          <a:prstGeom prst="rect">
            <a:avLst/>
          </a:prstGeom>
          <a:noFill/>
          <a:ln/>
        </p:spPr>
        <p:txBody>
          <a:bodyPr wrap="square" rtlCol="0" anchor="ctr"/>
          <a:lstStyle/>
          <a:p>
            <a:pPr marL="0" indent="0">
              <a:buNone/>
            </a:pPr>
            <a:r>
              <a:rPr lang="en-US" sz="1100" dirty="0">
                <a:solidFill>
                  <a:srgbClr val="5A6A7A"/>
                </a:solidFill>
              </a:rPr>
              <a:t>🤝 Bouche à oreille dans son quartier</a:t>
            </a:r>
            <a:endParaRPr lang="en-US" sz="1100" dirty="0"/>
          </a:p>
        </p:txBody>
      </p:sp>
      <p:sp>
        <p:nvSpPr>
          <p:cNvPr id="11" name="Text 8"/>
          <p:cNvSpPr/>
          <p:nvPr/>
        </p:nvSpPr>
        <p:spPr>
          <a:xfrm>
            <a:off x="457200" y="2432304"/>
            <a:ext cx="4023360" cy="301752"/>
          </a:xfrm>
          <a:prstGeom prst="rect">
            <a:avLst/>
          </a:prstGeom>
          <a:noFill/>
          <a:ln/>
        </p:spPr>
        <p:txBody>
          <a:bodyPr wrap="square" rtlCol="0" anchor="ctr"/>
          <a:lstStyle/>
          <a:p>
            <a:pPr marL="0" indent="0">
              <a:buNone/>
            </a:pPr>
            <a:r>
              <a:rPr lang="en-US" sz="1100" dirty="0">
                <a:solidFill>
                  <a:srgbClr val="5A6A7A"/>
                </a:solidFill>
              </a:rPr>
              <a:t>✉️ Courrier postal envoyé aux entreprises</a:t>
            </a:r>
            <a:endParaRPr lang="en-US" sz="1100" dirty="0"/>
          </a:p>
        </p:txBody>
      </p:sp>
      <p:sp>
        <p:nvSpPr>
          <p:cNvPr id="12" name="Shape 9"/>
          <p:cNvSpPr/>
          <p:nvPr/>
        </p:nvSpPr>
        <p:spPr>
          <a:xfrm>
            <a:off x="4480560" y="1051560"/>
            <a:ext cx="36576" cy="3657600"/>
          </a:xfrm>
          <a:prstGeom prst="rect">
            <a:avLst/>
          </a:prstGeom>
          <a:solidFill>
            <a:srgbClr val="E2EAF4"/>
          </a:solidFill>
          <a:ln/>
        </p:spPr>
        <p:txBody>
          <a:bodyPr/>
          <a:lstStyle/>
          <a:p>
            <a:endParaRPr lang="fr-FR"/>
          </a:p>
        </p:txBody>
      </p:sp>
      <p:sp>
        <p:nvSpPr>
          <p:cNvPr id="13" name="Text 10"/>
          <p:cNvSpPr/>
          <p:nvPr/>
        </p:nvSpPr>
        <p:spPr>
          <a:xfrm>
            <a:off x="4663440" y="1051560"/>
            <a:ext cx="4206240" cy="274320"/>
          </a:xfrm>
          <a:prstGeom prst="rect">
            <a:avLst/>
          </a:prstGeom>
          <a:noFill/>
          <a:ln/>
        </p:spPr>
        <p:txBody>
          <a:bodyPr wrap="square" rtlCol="0" anchor="ctr"/>
          <a:lstStyle/>
          <a:p>
            <a:pPr marL="0" indent="0">
              <a:buNone/>
            </a:pPr>
            <a:r>
              <a:rPr lang="en-US" sz="1300" b="1" dirty="0">
                <a:solidFill>
                  <a:srgbClr val="1565C0"/>
                </a:solidFill>
              </a:rPr>
              <a:t>Aujourd'hui en ligne, on peut :</a:t>
            </a:r>
            <a:endParaRPr lang="en-US" sz="1300" dirty="0"/>
          </a:p>
        </p:txBody>
      </p:sp>
      <p:sp>
        <p:nvSpPr>
          <p:cNvPr id="14" name="Text 11"/>
          <p:cNvSpPr/>
          <p:nvPr/>
        </p:nvSpPr>
        <p:spPr>
          <a:xfrm>
            <a:off x="4663440" y="1389888"/>
            <a:ext cx="4206240" cy="301752"/>
          </a:xfrm>
          <a:prstGeom prst="rect">
            <a:avLst/>
          </a:prstGeom>
          <a:noFill/>
          <a:ln/>
        </p:spPr>
        <p:txBody>
          <a:bodyPr wrap="square" rtlCol="0" anchor="ctr"/>
          <a:lstStyle/>
          <a:p>
            <a:pPr marL="0" indent="0">
              <a:buNone/>
            </a:pPr>
            <a:r>
              <a:rPr lang="en-US" sz="1100" dirty="0">
                <a:solidFill>
                  <a:srgbClr val="0D1B2A"/>
                </a:solidFill>
              </a:rPr>
              <a:t>🌐 Trouver des milliers d'offres en quelques clics</a:t>
            </a:r>
            <a:endParaRPr lang="en-US" sz="1100" dirty="0"/>
          </a:p>
        </p:txBody>
      </p:sp>
      <p:sp>
        <p:nvSpPr>
          <p:cNvPr id="15" name="Text 12"/>
          <p:cNvSpPr/>
          <p:nvPr/>
        </p:nvSpPr>
        <p:spPr>
          <a:xfrm>
            <a:off x="4663440" y="1737360"/>
            <a:ext cx="4206240" cy="301752"/>
          </a:xfrm>
          <a:prstGeom prst="rect">
            <a:avLst/>
          </a:prstGeom>
          <a:noFill/>
          <a:ln/>
        </p:spPr>
        <p:txBody>
          <a:bodyPr wrap="square" rtlCol="0" anchor="ctr"/>
          <a:lstStyle/>
          <a:p>
            <a:pPr marL="0" indent="0">
              <a:buNone/>
            </a:pPr>
            <a:r>
              <a:rPr lang="en-US" sz="1100" dirty="0">
                <a:solidFill>
                  <a:srgbClr val="0D1B2A"/>
                </a:solidFill>
              </a:rPr>
              <a:t>📄 Créer et envoyer son CV sans l'imprimer</a:t>
            </a:r>
            <a:endParaRPr lang="en-US" sz="1100" dirty="0"/>
          </a:p>
        </p:txBody>
      </p:sp>
      <p:sp>
        <p:nvSpPr>
          <p:cNvPr id="16" name="Text 13"/>
          <p:cNvSpPr/>
          <p:nvPr/>
        </p:nvSpPr>
        <p:spPr>
          <a:xfrm>
            <a:off x="4663440" y="2084832"/>
            <a:ext cx="4206240" cy="301752"/>
          </a:xfrm>
          <a:prstGeom prst="rect">
            <a:avLst/>
          </a:prstGeom>
          <a:noFill/>
          <a:ln/>
        </p:spPr>
        <p:txBody>
          <a:bodyPr wrap="square" rtlCol="0" anchor="ctr"/>
          <a:lstStyle/>
          <a:p>
            <a:pPr marL="0" indent="0">
              <a:buNone/>
            </a:pPr>
            <a:r>
              <a:rPr lang="en-US" sz="1100" dirty="0">
                <a:solidFill>
                  <a:srgbClr val="0D1B2A"/>
                </a:solidFill>
              </a:rPr>
              <a:t>💬 Contacter un recruteur directement par message</a:t>
            </a:r>
            <a:endParaRPr lang="en-US" sz="1100" dirty="0"/>
          </a:p>
        </p:txBody>
      </p:sp>
      <p:sp>
        <p:nvSpPr>
          <p:cNvPr id="17" name="Text 14"/>
          <p:cNvSpPr/>
          <p:nvPr/>
        </p:nvSpPr>
        <p:spPr>
          <a:xfrm>
            <a:off x="4663440" y="2432304"/>
            <a:ext cx="4206240" cy="301752"/>
          </a:xfrm>
          <a:prstGeom prst="rect">
            <a:avLst/>
          </a:prstGeom>
          <a:noFill/>
          <a:ln/>
        </p:spPr>
        <p:txBody>
          <a:bodyPr wrap="square" rtlCol="0" anchor="ctr"/>
          <a:lstStyle/>
          <a:p>
            <a:pPr marL="0" indent="0">
              <a:buNone/>
            </a:pPr>
            <a:r>
              <a:rPr lang="en-US" sz="1100" dirty="0">
                <a:solidFill>
                  <a:srgbClr val="0D1B2A"/>
                </a:solidFill>
              </a:rPr>
              <a:t>🔔 Recevoir des alertes automatiques par email</a:t>
            </a:r>
            <a:endParaRPr lang="en-US" sz="1100" dirty="0"/>
          </a:p>
        </p:txBody>
      </p:sp>
      <p:sp>
        <p:nvSpPr>
          <p:cNvPr id="18" name="Shape 15"/>
          <p:cNvSpPr/>
          <p:nvPr/>
        </p:nvSpPr>
        <p:spPr>
          <a:xfrm>
            <a:off x="310896" y="3790188"/>
            <a:ext cx="8412480" cy="1005840"/>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19" name="Shape 16"/>
          <p:cNvSpPr/>
          <p:nvPr/>
        </p:nvSpPr>
        <p:spPr>
          <a:xfrm>
            <a:off x="388620" y="3790188"/>
            <a:ext cx="54864" cy="1005840"/>
          </a:xfrm>
          <a:prstGeom prst="rect">
            <a:avLst/>
          </a:prstGeom>
          <a:solidFill>
            <a:srgbClr val="00ACC1"/>
          </a:solidFill>
          <a:ln/>
        </p:spPr>
        <p:txBody>
          <a:bodyPr/>
          <a:lstStyle/>
          <a:p>
            <a:endParaRPr lang="fr-FR"/>
          </a:p>
        </p:txBody>
      </p:sp>
      <p:sp>
        <p:nvSpPr>
          <p:cNvPr id="20" name="Text 17"/>
          <p:cNvSpPr/>
          <p:nvPr/>
        </p:nvSpPr>
        <p:spPr>
          <a:xfrm>
            <a:off x="539496" y="3811290"/>
            <a:ext cx="8183880" cy="237744"/>
          </a:xfrm>
          <a:prstGeom prst="rect">
            <a:avLst/>
          </a:prstGeom>
          <a:noFill/>
          <a:ln/>
        </p:spPr>
        <p:txBody>
          <a:bodyPr wrap="square" lIns="0" tIns="0" rIns="0" bIns="0" rtlCol="0" anchor="ctr"/>
          <a:lstStyle/>
          <a:p>
            <a:pPr marL="0" indent="0">
              <a:buNone/>
            </a:pPr>
            <a:r>
              <a:rPr lang="en-US" sz="900" b="1" dirty="0">
                <a:solidFill>
                  <a:srgbClr val="00ACC1"/>
                </a:solidFill>
              </a:rPr>
              <a:t>✏ Exemple concret</a:t>
            </a:r>
            <a:endParaRPr lang="en-US" sz="900" dirty="0"/>
          </a:p>
        </p:txBody>
      </p:sp>
      <p:sp>
        <p:nvSpPr>
          <p:cNvPr id="21" name="Text 18"/>
          <p:cNvSpPr/>
          <p:nvPr/>
        </p:nvSpPr>
        <p:spPr>
          <a:xfrm>
            <a:off x="425196" y="4019843"/>
            <a:ext cx="8183880" cy="603504"/>
          </a:xfrm>
          <a:prstGeom prst="rect">
            <a:avLst/>
          </a:prstGeom>
          <a:noFill/>
          <a:ln/>
        </p:spPr>
        <p:txBody>
          <a:bodyPr wrap="square" rtlCol="0" anchor="ctr"/>
          <a:lstStyle/>
          <a:p>
            <a:pPr marL="0" indent="0">
              <a:lnSpc>
                <a:spcPct val="135000"/>
              </a:lnSpc>
              <a:buNone/>
            </a:pPr>
            <a:r>
              <a:rPr lang="en-US" sz="950" dirty="0">
                <a:solidFill>
                  <a:srgbClr val="0D1B2A"/>
                </a:solidFill>
              </a:rPr>
              <a:t>Marie, 28 ans, cherche un emploi de vendeuse à Paris. En 10 minutes sur Indeed.fr, elle trouve 47 offres de « vendeuse Paris ». Elle filtre par distance (5 km de chez elle) et par type de contrat (CDI). Elle en trouve 12 qui correspondent. Sans Internet, elle aurait dû acheter 3 journaux différents ou faire le tour des boutiques à pied.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1 · SLIDE 4</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Les 5 étapes d'une recherche réussie</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Un chemin clair, étape par étape</a:t>
            </a:r>
            <a:endParaRPr lang="en-US" sz="900" dirty="0"/>
          </a:p>
        </p:txBody>
      </p:sp>
      <p:sp>
        <p:nvSpPr>
          <p:cNvPr id="7" name="Shape 4"/>
          <p:cNvSpPr/>
          <p:nvPr/>
        </p:nvSpPr>
        <p:spPr>
          <a:xfrm>
            <a:off x="320040" y="1005840"/>
            <a:ext cx="1572768" cy="38404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1572768" cy="594360"/>
          </a:xfrm>
          <a:prstGeom prst="rect">
            <a:avLst/>
          </a:prstGeom>
          <a:solidFill>
            <a:srgbClr val="1565C0"/>
          </a:solidFill>
          <a:ln/>
        </p:spPr>
        <p:txBody>
          <a:bodyPr/>
          <a:lstStyle/>
          <a:p>
            <a:endParaRPr lang="fr-FR"/>
          </a:p>
        </p:txBody>
      </p:sp>
      <p:sp>
        <p:nvSpPr>
          <p:cNvPr id="9" name="Text 6"/>
          <p:cNvSpPr/>
          <p:nvPr/>
        </p:nvSpPr>
        <p:spPr>
          <a:xfrm>
            <a:off x="320040" y="1005840"/>
            <a:ext cx="1572768" cy="594360"/>
          </a:xfrm>
          <a:prstGeom prst="rect">
            <a:avLst/>
          </a:prstGeom>
          <a:noFill/>
          <a:ln/>
        </p:spPr>
        <p:txBody>
          <a:bodyPr wrap="square" rtlCol="0" anchor="ctr"/>
          <a:lstStyle/>
          <a:p>
            <a:pPr marL="0" indent="0" algn="ctr">
              <a:buNone/>
            </a:pPr>
            <a:r>
              <a:rPr lang="en-US" sz="2600" b="1" dirty="0">
                <a:solidFill>
                  <a:srgbClr val="FFFFFF"/>
                </a:solidFill>
              </a:rPr>
              <a:t>1</a:t>
            </a:r>
            <a:endParaRPr lang="en-US" sz="2600" dirty="0"/>
          </a:p>
        </p:txBody>
      </p:sp>
      <p:sp>
        <p:nvSpPr>
          <p:cNvPr id="10" name="Text 7"/>
          <p:cNvSpPr/>
          <p:nvPr/>
        </p:nvSpPr>
        <p:spPr>
          <a:xfrm>
            <a:off x="411480" y="1691640"/>
            <a:ext cx="1389888" cy="475488"/>
          </a:xfrm>
          <a:prstGeom prst="rect">
            <a:avLst/>
          </a:prstGeom>
          <a:noFill/>
          <a:ln/>
        </p:spPr>
        <p:txBody>
          <a:bodyPr wrap="square" rtlCol="0" anchor="ctr"/>
          <a:lstStyle/>
          <a:p>
            <a:pPr marL="0" indent="0">
              <a:lnSpc>
                <a:spcPct val="120000"/>
              </a:lnSpc>
              <a:buNone/>
            </a:pPr>
            <a:r>
              <a:rPr lang="en-US" sz="1100" b="1" dirty="0">
                <a:solidFill>
                  <a:srgbClr val="0D1B2A"/>
                </a:solidFill>
              </a:rPr>
              <a:t>Définir son objectif</a:t>
            </a:r>
            <a:endParaRPr lang="en-US" sz="1100" dirty="0"/>
          </a:p>
        </p:txBody>
      </p:sp>
      <p:sp>
        <p:nvSpPr>
          <p:cNvPr id="11" name="Text 8"/>
          <p:cNvSpPr/>
          <p:nvPr/>
        </p:nvSpPr>
        <p:spPr>
          <a:xfrm>
            <a:off x="411480" y="2240280"/>
            <a:ext cx="1389888" cy="658368"/>
          </a:xfrm>
          <a:prstGeom prst="rect">
            <a:avLst/>
          </a:prstGeom>
          <a:noFill/>
          <a:ln/>
        </p:spPr>
        <p:txBody>
          <a:bodyPr wrap="square" rtlCol="0" anchor="ctr"/>
          <a:lstStyle/>
          <a:p>
            <a:pPr marL="0" indent="0">
              <a:lnSpc>
                <a:spcPct val="130000"/>
              </a:lnSpc>
              <a:buNone/>
            </a:pPr>
            <a:r>
              <a:rPr lang="en-US" sz="950" dirty="0">
                <a:solidFill>
                  <a:srgbClr val="5A6A7A"/>
                </a:solidFill>
              </a:rPr>
              <a:t>Quel métier ? Quelle ville ? Quel contrat (CDI/CDD/stage) ?</a:t>
            </a:r>
            <a:endParaRPr lang="en-US" sz="950" dirty="0"/>
          </a:p>
        </p:txBody>
      </p:sp>
      <p:sp>
        <p:nvSpPr>
          <p:cNvPr id="12" name="Shape 9"/>
          <p:cNvSpPr/>
          <p:nvPr/>
        </p:nvSpPr>
        <p:spPr>
          <a:xfrm>
            <a:off x="393192" y="2962656"/>
            <a:ext cx="1417320" cy="1737360"/>
          </a:xfrm>
          <a:prstGeom prst="rect">
            <a:avLst/>
          </a:prstGeom>
          <a:solidFill>
            <a:srgbClr val="E8F5E9"/>
          </a:solidFill>
          <a:ln/>
        </p:spPr>
        <p:txBody>
          <a:bodyPr/>
          <a:lstStyle/>
          <a:p>
            <a:endParaRPr lang="fr-FR"/>
          </a:p>
        </p:txBody>
      </p:sp>
      <p:sp>
        <p:nvSpPr>
          <p:cNvPr id="13" name="Text 10"/>
          <p:cNvSpPr/>
          <p:nvPr/>
        </p:nvSpPr>
        <p:spPr>
          <a:xfrm>
            <a:off x="429768" y="2999232"/>
            <a:ext cx="1353312" cy="1664208"/>
          </a:xfrm>
          <a:prstGeom prst="rect">
            <a:avLst/>
          </a:prstGeom>
          <a:noFill/>
          <a:ln/>
        </p:spPr>
        <p:txBody>
          <a:bodyPr wrap="square" rtlCol="0" anchor="ctr"/>
          <a:lstStyle/>
          <a:p>
            <a:pPr marL="0" indent="0">
              <a:lnSpc>
                <a:spcPct val="135000"/>
              </a:lnSpc>
              <a:buNone/>
            </a:pPr>
            <a:r>
              <a:rPr lang="en-US" sz="900" dirty="0">
                <a:solidFill>
                  <a:srgbClr val="00796B"/>
                </a:solidFill>
              </a:rPr>
              <a:t>📌 Ex : « Je cherche un CDI de caissière à Lyon, à moins de 30 min de chez moi »</a:t>
            </a:r>
            <a:endParaRPr lang="en-US" sz="900" dirty="0"/>
          </a:p>
        </p:txBody>
      </p:sp>
      <p:sp>
        <p:nvSpPr>
          <p:cNvPr id="14" name="Shape 11"/>
          <p:cNvSpPr/>
          <p:nvPr/>
        </p:nvSpPr>
        <p:spPr>
          <a:xfrm>
            <a:off x="2039112" y="1005840"/>
            <a:ext cx="1572768" cy="38404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5" name="Shape 12"/>
          <p:cNvSpPr/>
          <p:nvPr/>
        </p:nvSpPr>
        <p:spPr>
          <a:xfrm>
            <a:off x="2039112" y="1005840"/>
            <a:ext cx="1572768" cy="594360"/>
          </a:xfrm>
          <a:prstGeom prst="rect">
            <a:avLst/>
          </a:prstGeom>
          <a:solidFill>
            <a:srgbClr val="00796B"/>
          </a:solidFill>
          <a:ln/>
        </p:spPr>
        <p:txBody>
          <a:bodyPr/>
          <a:lstStyle/>
          <a:p>
            <a:endParaRPr lang="fr-FR"/>
          </a:p>
        </p:txBody>
      </p:sp>
      <p:sp>
        <p:nvSpPr>
          <p:cNvPr id="16" name="Text 13"/>
          <p:cNvSpPr/>
          <p:nvPr/>
        </p:nvSpPr>
        <p:spPr>
          <a:xfrm>
            <a:off x="2039112" y="1005840"/>
            <a:ext cx="1572768" cy="594360"/>
          </a:xfrm>
          <a:prstGeom prst="rect">
            <a:avLst/>
          </a:prstGeom>
          <a:noFill/>
          <a:ln/>
        </p:spPr>
        <p:txBody>
          <a:bodyPr wrap="square" rtlCol="0" anchor="ctr"/>
          <a:lstStyle/>
          <a:p>
            <a:pPr marL="0" indent="0" algn="ctr">
              <a:buNone/>
            </a:pPr>
            <a:r>
              <a:rPr lang="en-US" sz="2600" b="1" dirty="0">
                <a:solidFill>
                  <a:srgbClr val="FFFFFF"/>
                </a:solidFill>
              </a:rPr>
              <a:t>2</a:t>
            </a:r>
            <a:endParaRPr lang="en-US" sz="2600" dirty="0"/>
          </a:p>
        </p:txBody>
      </p:sp>
      <p:sp>
        <p:nvSpPr>
          <p:cNvPr id="17" name="Text 14"/>
          <p:cNvSpPr/>
          <p:nvPr/>
        </p:nvSpPr>
        <p:spPr>
          <a:xfrm>
            <a:off x="2130552" y="1691640"/>
            <a:ext cx="1389888" cy="475488"/>
          </a:xfrm>
          <a:prstGeom prst="rect">
            <a:avLst/>
          </a:prstGeom>
          <a:noFill/>
          <a:ln/>
        </p:spPr>
        <p:txBody>
          <a:bodyPr wrap="square" rtlCol="0" anchor="ctr"/>
          <a:lstStyle/>
          <a:p>
            <a:pPr marL="0" indent="0">
              <a:lnSpc>
                <a:spcPct val="120000"/>
              </a:lnSpc>
              <a:buNone/>
            </a:pPr>
            <a:r>
              <a:rPr lang="en-US" sz="1100" b="1" dirty="0">
                <a:solidFill>
                  <a:srgbClr val="0D1B2A"/>
                </a:solidFill>
              </a:rPr>
              <a:t>Créer son CV en ligne</a:t>
            </a:r>
            <a:endParaRPr lang="en-US" sz="1100" dirty="0"/>
          </a:p>
        </p:txBody>
      </p:sp>
      <p:sp>
        <p:nvSpPr>
          <p:cNvPr id="18" name="Text 15"/>
          <p:cNvSpPr/>
          <p:nvPr/>
        </p:nvSpPr>
        <p:spPr>
          <a:xfrm>
            <a:off x="2130552" y="2240280"/>
            <a:ext cx="1389888" cy="658368"/>
          </a:xfrm>
          <a:prstGeom prst="rect">
            <a:avLst/>
          </a:prstGeom>
          <a:noFill/>
          <a:ln/>
        </p:spPr>
        <p:txBody>
          <a:bodyPr wrap="square" rtlCol="0" anchor="ctr"/>
          <a:lstStyle/>
          <a:p>
            <a:pPr marL="0" indent="0">
              <a:lnSpc>
                <a:spcPct val="130000"/>
              </a:lnSpc>
              <a:buNone/>
            </a:pPr>
            <a:r>
              <a:rPr lang="en-US" sz="950" dirty="0">
                <a:solidFill>
                  <a:srgbClr val="5A6A7A"/>
                </a:solidFill>
              </a:rPr>
              <a:t>Utiliser un outil gratuit pour faire un CV propre et lisible.</a:t>
            </a:r>
            <a:endParaRPr lang="en-US" sz="950" dirty="0"/>
          </a:p>
        </p:txBody>
      </p:sp>
      <p:sp>
        <p:nvSpPr>
          <p:cNvPr id="19" name="Shape 16"/>
          <p:cNvSpPr/>
          <p:nvPr/>
        </p:nvSpPr>
        <p:spPr>
          <a:xfrm>
            <a:off x="2112264" y="2962656"/>
            <a:ext cx="1417320" cy="1737360"/>
          </a:xfrm>
          <a:prstGeom prst="rect">
            <a:avLst/>
          </a:prstGeom>
          <a:solidFill>
            <a:srgbClr val="E8F5E9"/>
          </a:solidFill>
          <a:ln/>
        </p:spPr>
        <p:txBody>
          <a:bodyPr/>
          <a:lstStyle/>
          <a:p>
            <a:endParaRPr lang="fr-FR"/>
          </a:p>
        </p:txBody>
      </p:sp>
      <p:sp>
        <p:nvSpPr>
          <p:cNvPr id="20" name="Text 17"/>
          <p:cNvSpPr/>
          <p:nvPr/>
        </p:nvSpPr>
        <p:spPr>
          <a:xfrm>
            <a:off x="2148840" y="2999232"/>
            <a:ext cx="1353312" cy="1664208"/>
          </a:xfrm>
          <a:prstGeom prst="rect">
            <a:avLst/>
          </a:prstGeom>
          <a:noFill/>
          <a:ln/>
        </p:spPr>
        <p:txBody>
          <a:bodyPr wrap="square" rtlCol="0" anchor="ctr"/>
          <a:lstStyle/>
          <a:p>
            <a:pPr marL="0" indent="0">
              <a:lnSpc>
                <a:spcPct val="135000"/>
              </a:lnSpc>
              <a:buNone/>
            </a:pPr>
            <a:r>
              <a:rPr lang="en-US" sz="900" dirty="0">
                <a:solidFill>
                  <a:srgbClr val="00796B"/>
                </a:solidFill>
              </a:rPr>
              <a:t>📌 Ex : Aller sur Canva.com → choisir un modèle CV → remplir ses infos</a:t>
            </a:r>
            <a:endParaRPr lang="en-US" sz="900" dirty="0"/>
          </a:p>
        </p:txBody>
      </p:sp>
      <p:sp>
        <p:nvSpPr>
          <p:cNvPr id="21" name="Shape 18"/>
          <p:cNvSpPr/>
          <p:nvPr/>
        </p:nvSpPr>
        <p:spPr>
          <a:xfrm>
            <a:off x="3758184" y="1005840"/>
            <a:ext cx="1572768" cy="38404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3758184" y="1005840"/>
            <a:ext cx="1572768" cy="594360"/>
          </a:xfrm>
          <a:prstGeom prst="rect">
            <a:avLst/>
          </a:prstGeom>
          <a:solidFill>
            <a:srgbClr val="6A3FA0"/>
          </a:solidFill>
          <a:ln/>
        </p:spPr>
        <p:txBody>
          <a:bodyPr/>
          <a:lstStyle/>
          <a:p>
            <a:endParaRPr lang="fr-FR"/>
          </a:p>
        </p:txBody>
      </p:sp>
      <p:sp>
        <p:nvSpPr>
          <p:cNvPr id="23" name="Text 20"/>
          <p:cNvSpPr/>
          <p:nvPr/>
        </p:nvSpPr>
        <p:spPr>
          <a:xfrm>
            <a:off x="3758184" y="1005840"/>
            <a:ext cx="1572768" cy="594360"/>
          </a:xfrm>
          <a:prstGeom prst="rect">
            <a:avLst/>
          </a:prstGeom>
          <a:noFill/>
          <a:ln/>
        </p:spPr>
        <p:txBody>
          <a:bodyPr wrap="square" rtlCol="0" anchor="ctr"/>
          <a:lstStyle/>
          <a:p>
            <a:pPr marL="0" indent="0" algn="ctr">
              <a:buNone/>
            </a:pPr>
            <a:r>
              <a:rPr lang="en-US" sz="2600" b="1" dirty="0">
                <a:solidFill>
                  <a:srgbClr val="FFFFFF"/>
                </a:solidFill>
              </a:rPr>
              <a:t>3</a:t>
            </a:r>
            <a:endParaRPr lang="en-US" sz="2600" dirty="0"/>
          </a:p>
        </p:txBody>
      </p:sp>
      <p:sp>
        <p:nvSpPr>
          <p:cNvPr id="24" name="Text 21"/>
          <p:cNvSpPr/>
          <p:nvPr/>
        </p:nvSpPr>
        <p:spPr>
          <a:xfrm>
            <a:off x="3849624" y="1691640"/>
            <a:ext cx="1389888" cy="475488"/>
          </a:xfrm>
          <a:prstGeom prst="rect">
            <a:avLst/>
          </a:prstGeom>
          <a:noFill/>
          <a:ln/>
        </p:spPr>
        <p:txBody>
          <a:bodyPr wrap="square" rtlCol="0" anchor="ctr"/>
          <a:lstStyle/>
          <a:p>
            <a:pPr marL="0" indent="0">
              <a:lnSpc>
                <a:spcPct val="120000"/>
              </a:lnSpc>
              <a:buNone/>
            </a:pPr>
            <a:r>
              <a:rPr lang="en-US" sz="1100" b="1" dirty="0">
                <a:solidFill>
                  <a:srgbClr val="0D1B2A"/>
                </a:solidFill>
              </a:rPr>
              <a:t>S'inscrire sur les plateformes</a:t>
            </a:r>
            <a:endParaRPr lang="en-US" sz="1100" dirty="0"/>
          </a:p>
        </p:txBody>
      </p:sp>
      <p:sp>
        <p:nvSpPr>
          <p:cNvPr id="25" name="Text 22"/>
          <p:cNvSpPr/>
          <p:nvPr/>
        </p:nvSpPr>
        <p:spPr>
          <a:xfrm>
            <a:off x="3849624" y="2240280"/>
            <a:ext cx="1389888" cy="658368"/>
          </a:xfrm>
          <a:prstGeom prst="rect">
            <a:avLst/>
          </a:prstGeom>
          <a:noFill/>
          <a:ln/>
        </p:spPr>
        <p:txBody>
          <a:bodyPr wrap="square" rtlCol="0" anchor="ctr"/>
          <a:lstStyle/>
          <a:p>
            <a:pPr marL="0" indent="0">
              <a:lnSpc>
                <a:spcPct val="130000"/>
              </a:lnSpc>
              <a:buNone/>
            </a:pPr>
            <a:r>
              <a:rPr lang="en-US" sz="950" dirty="0">
                <a:solidFill>
                  <a:srgbClr val="5A6A7A"/>
                </a:solidFill>
              </a:rPr>
              <a:t>Créer un compte sur les sites d'emploi pour postuler facilement.</a:t>
            </a:r>
            <a:endParaRPr lang="en-US" sz="950" dirty="0"/>
          </a:p>
        </p:txBody>
      </p:sp>
      <p:sp>
        <p:nvSpPr>
          <p:cNvPr id="26" name="Shape 23"/>
          <p:cNvSpPr/>
          <p:nvPr/>
        </p:nvSpPr>
        <p:spPr>
          <a:xfrm>
            <a:off x="3831336" y="2962656"/>
            <a:ext cx="1417320" cy="1737360"/>
          </a:xfrm>
          <a:prstGeom prst="rect">
            <a:avLst/>
          </a:prstGeom>
          <a:solidFill>
            <a:srgbClr val="E8F5E9"/>
          </a:solidFill>
          <a:ln/>
        </p:spPr>
        <p:txBody>
          <a:bodyPr/>
          <a:lstStyle/>
          <a:p>
            <a:endParaRPr lang="fr-FR"/>
          </a:p>
        </p:txBody>
      </p:sp>
      <p:sp>
        <p:nvSpPr>
          <p:cNvPr id="27" name="Text 24"/>
          <p:cNvSpPr/>
          <p:nvPr/>
        </p:nvSpPr>
        <p:spPr>
          <a:xfrm>
            <a:off x="3867912" y="2999232"/>
            <a:ext cx="1353312" cy="1664208"/>
          </a:xfrm>
          <a:prstGeom prst="rect">
            <a:avLst/>
          </a:prstGeom>
          <a:noFill/>
          <a:ln/>
        </p:spPr>
        <p:txBody>
          <a:bodyPr wrap="square" rtlCol="0" anchor="ctr"/>
          <a:lstStyle/>
          <a:p>
            <a:pPr marL="0" indent="0">
              <a:lnSpc>
                <a:spcPct val="135000"/>
              </a:lnSpc>
              <a:buNone/>
            </a:pPr>
            <a:r>
              <a:rPr lang="en-US" sz="900" dirty="0">
                <a:solidFill>
                  <a:srgbClr val="00796B"/>
                </a:solidFill>
              </a:rPr>
              <a:t>📌 Ex : Pôle Emploi, Indeed, LinkedIn — inscription gratuite en 5 min</a:t>
            </a:r>
            <a:endParaRPr lang="en-US" sz="900" dirty="0"/>
          </a:p>
        </p:txBody>
      </p:sp>
      <p:sp>
        <p:nvSpPr>
          <p:cNvPr id="28" name="Shape 25"/>
          <p:cNvSpPr/>
          <p:nvPr/>
        </p:nvSpPr>
        <p:spPr>
          <a:xfrm>
            <a:off x="5477256" y="1005840"/>
            <a:ext cx="1572768" cy="38404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9" name="Shape 26"/>
          <p:cNvSpPr/>
          <p:nvPr/>
        </p:nvSpPr>
        <p:spPr>
          <a:xfrm>
            <a:off x="5477256" y="1005840"/>
            <a:ext cx="1572768" cy="594360"/>
          </a:xfrm>
          <a:prstGeom prst="rect">
            <a:avLst/>
          </a:prstGeom>
          <a:solidFill>
            <a:srgbClr val="F59E0B"/>
          </a:solidFill>
          <a:ln/>
        </p:spPr>
        <p:txBody>
          <a:bodyPr/>
          <a:lstStyle/>
          <a:p>
            <a:endParaRPr lang="fr-FR"/>
          </a:p>
        </p:txBody>
      </p:sp>
      <p:sp>
        <p:nvSpPr>
          <p:cNvPr id="30" name="Text 27"/>
          <p:cNvSpPr/>
          <p:nvPr/>
        </p:nvSpPr>
        <p:spPr>
          <a:xfrm>
            <a:off x="5477256" y="1005840"/>
            <a:ext cx="1572768" cy="594360"/>
          </a:xfrm>
          <a:prstGeom prst="rect">
            <a:avLst/>
          </a:prstGeom>
          <a:noFill/>
          <a:ln/>
        </p:spPr>
        <p:txBody>
          <a:bodyPr wrap="square" rtlCol="0" anchor="ctr"/>
          <a:lstStyle/>
          <a:p>
            <a:pPr marL="0" indent="0" algn="ctr">
              <a:buNone/>
            </a:pPr>
            <a:r>
              <a:rPr lang="en-US" sz="2600" b="1" dirty="0">
                <a:solidFill>
                  <a:srgbClr val="FFFFFF"/>
                </a:solidFill>
              </a:rPr>
              <a:t>4</a:t>
            </a:r>
            <a:endParaRPr lang="en-US" sz="2600" dirty="0"/>
          </a:p>
        </p:txBody>
      </p:sp>
      <p:sp>
        <p:nvSpPr>
          <p:cNvPr id="31" name="Text 28"/>
          <p:cNvSpPr/>
          <p:nvPr/>
        </p:nvSpPr>
        <p:spPr>
          <a:xfrm>
            <a:off x="5568696" y="1691640"/>
            <a:ext cx="1389888" cy="475488"/>
          </a:xfrm>
          <a:prstGeom prst="rect">
            <a:avLst/>
          </a:prstGeom>
          <a:noFill/>
          <a:ln/>
        </p:spPr>
        <p:txBody>
          <a:bodyPr wrap="square" rtlCol="0" anchor="ctr"/>
          <a:lstStyle/>
          <a:p>
            <a:pPr marL="0" indent="0">
              <a:lnSpc>
                <a:spcPct val="120000"/>
              </a:lnSpc>
              <a:buNone/>
            </a:pPr>
            <a:r>
              <a:rPr lang="en-US" sz="1100" b="1" dirty="0">
                <a:solidFill>
                  <a:srgbClr val="0D1B2A"/>
                </a:solidFill>
              </a:rPr>
              <a:t>Envoyer ses candidatures</a:t>
            </a:r>
            <a:endParaRPr lang="en-US" sz="1100" dirty="0"/>
          </a:p>
        </p:txBody>
      </p:sp>
      <p:sp>
        <p:nvSpPr>
          <p:cNvPr id="32" name="Text 29"/>
          <p:cNvSpPr/>
          <p:nvPr/>
        </p:nvSpPr>
        <p:spPr>
          <a:xfrm>
            <a:off x="5568696" y="2240280"/>
            <a:ext cx="1389888" cy="658368"/>
          </a:xfrm>
          <a:prstGeom prst="rect">
            <a:avLst/>
          </a:prstGeom>
          <a:noFill/>
          <a:ln/>
        </p:spPr>
        <p:txBody>
          <a:bodyPr wrap="square" rtlCol="0" anchor="ctr"/>
          <a:lstStyle/>
          <a:p>
            <a:pPr marL="0" indent="0">
              <a:lnSpc>
                <a:spcPct val="130000"/>
              </a:lnSpc>
              <a:buNone/>
            </a:pPr>
            <a:r>
              <a:rPr lang="en-US" sz="950" dirty="0">
                <a:solidFill>
                  <a:srgbClr val="5A6A7A"/>
                </a:solidFill>
              </a:rPr>
              <a:t>Postuler en ligne avec son CV + une courte lettre de motivation.</a:t>
            </a:r>
            <a:endParaRPr lang="en-US" sz="950" dirty="0"/>
          </a:p>
        </p:txBody>
      </p:sp>
      <p:sp>
        <p:nvSpPr>
          <p:cNvPr id="33" name="Shape 30"/>
          <p:cNvSpPr/>
          <p:nvPr/>
        </p:nvSpPr>
        <p:spPr>
          <a:xfrm>
            <a:off x="5550408" y="2962656"/>
            <a:ext cx="1417320" cy="1737360"/>
          </a:xfrm>
          <a:prstGeom prst="rect">
            <a:avLst/>
          </a:prstGeom>
          <a:solidFill>
            <a:srgbClr val="E8F5E9"/>
          </a:solidFill>
          <a:ln/>
        </p:spPr>
        <p:txBody>
          <a:bodyPr/>
          <a:lstStyle/>
          <a:p>
            <a:endParaRPr lang="fr-FR"/>
          </a:p>
        </p:txBody>
      </p:sp>
      <p:sp>
        <p:nvSpPr>
          <p:cNvPr id="34" name="Text 31"/>
          <p:cNvSpPr/>
          <p:nvPr/>
        </p:nvSpPr>
        <p:spPr>
          <a:xfrm>
            <a:off x="5586984" y="2999232"/>
            <a:ext cx="1353312" cy="1664208"/>
          </a:xfrm>
          <a:prstGeom prst="rect">
            <a:avLst/>
          </a:prstGeom>
          <a:noFill/>
          <a:ln/>
        </p:spPr>
        <p:txBody>
          <a:bodyPr wrap="square" rtlCol="0" anchor="ctr"/>
          <a:lstStyle/>
          <a:p>
            <a:pPr marL="0" indent="0">
              <a:lnSpc>
                <a:spcPct val="135000"/>
              </a:lnSpc>
              <a:buNone/>
            </a:pPr>
            <a:r>
              <a:rPr lang="en-US" sz="900" dirty="0">
                <a:solidFill>
                  <a:srgbClr val="00796B"/>
                </a:solidFill>
              </a:rPr>
              <a:t>📌 Ex : Cliquer sur « Postuler » et joindre son CV en PDF</a:t>
            </a:r>
            <a:endParaRPr lang="en-US" sz="900" dirty="0"/>
          </a:p>
        </p:txBody>
      </p:sp>
      <p:sp>
        <p:nvSpPr>
          <p:cNvPr id="35" name="Shape 32"/>
          <p:cNvSpPr/>
          <p:nvPr/>
        </p:nvSpPr>
        <p:spPr>
          <a:xfrm>
            <a:off x="7196328" y="1005840"/>
            <a:ext cx="1572768" cy="38404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6" name="Shape 33"/>
          <p:cNvSpPr/>
          <p:nvPr/>
        </p:nvSpPr>
        <p:spPr>
          <a:xfrm>
            <a:off x="7196328" y="1005840"/>
            <a:ext cx="1572768" cy="594360"/>
          </a:xfrm>
          <a:prstGeom prst="rect">
            <a:avLst/>
          </a:prstGeom>
          <a:solidFill>
            <a:srgbClr val="10B981"/>
          </a:solidFill>
          <a:ln/>
        </p:spPr>
        <p:txBody>
          <a:bodyPr/>
          <a:lstStyle/>
          <a:p>
            <a:endParaRPr lang="fr-FR"/>
          </a:p>
        </p:txBody>
      </p:sp>
      <p:sp>
        <p:nvSpPr>
          <p:cNvPr id="37" name="Text 34"/>
          <p:cNvSpPr/>
          <p:nvPr/>
        </p:nvSpPr>
        <p:spPr>
          <a:xfrm>
            <a:off x="7196328" y="1005840"/>
            <a:ext cx="1572768" cy="594360"/>
          </a:xfrm>
          <a:prstGeom prst="rect">
            <a:avLst/>
          </a:prstGeom>
          <a:noFill/>
          <a:ln/>
        </p:spPr>
        <p:txBody>
          <a:bodyPr wrap="square" rtlCol="0" anchor="ctr"/>
          <a:lstStyle/>
          <a:p>
            <a:pPr marL="0" indent="0" algn="ctr">
              <a:buNone/>
            </a:pPr>
            <a:r>
              <a:rPr lang="en-US" sz="2600" b="1" dirty="0">
                <a:solidFill>
                  <a:srgbClr val="FFFFFF"/>
                </a:solidFill>
              </a:rPr>
              <a:t>5</a:t>
            </a:r>
            <a:endParaRPr lang="en-US" sz="2600" dirty="0"/>
          </a:p>
        </p:txBody>
      </p:sp>
      <p:sp>
        <p:nvSpPr>
          <p:cNvPr id="38" name="Text 35"/>
          <p:cNvSpPr/>
          <p:nvPr/>
        </p:nvSpPr>
        <p:spPr>
          <a:xfrm>
            <a:off x="7287768" y="1691640"/>
            <a:ext cx="1389888" cy="475488"/>
          </a:xfrm>
          <a:prstGeom prst="rect">
            <a:avLst/>
          </a:prstGeom>
          <a:noFill/>
          <a:ln/>
        </p:spPr>
        <p:txBody>
          <a:bodyPr wrap="square" rtlCol="0" anchor="ctr"/>
          <a:lstStyle/>
          <a:p>
            <a:pPr marL="0" indent="0">
              <a:lnSpc>
                <a:spcPct val="120000"/>
              </a:lnSpc>
              <a:buNone/>
            </a:pPr>
            <a:r>
              <a:rPr lang="en-US" sz="1100" b="1" dirty="0">
                <a:solidFill>
                  <a:srgbClr val="0D1B2A"/>
                </a:solidFill>
              </a:rPr>
              <a:t>Relancer et suivre</a:t>
            </a:r>
            <a:endParaRPr lang="en-US" sz="1100" dirty="0"/>
          </a:p>
        </p:txBody>
      </p:sp>
      <p:sp>
        <p:nvSpPr>
          <p:cNvPr id="39" name="Text 36"/>
          <p:cNvSpPr/>
          <p:nvPr/>
        </p:nvSpPr>
        <p:spPr>
          <a:xfrm>
            <a:off x="7287768" y="2240280"/>
            <a:ext cx="1389888" cy="658368"/>
          </a:xfrm>
          <a:prstGeom prst="rect">
            <a:avLst/>
          </a:prstGeom>
          <a:noFill/>
          <a:ln/>
        </p:spPr>
        <p:txBody>
          <a:bodyPr wrap="square" rtlCol="0" anchor="ctr"/>
          <a:lstStyle/>
          <a:p>
            <a:pPr marL="0" indent="0">
              <a:lnSpc>
                <a:spcPct val="130000"/>
              </a:lnSpc>
              <a:buNone/>
            </a:pPr>
            <a:r>
              <a:rPr lang="en-US" sz="950" dirty="0">
                <a:solidFill>
                  <a:srgbClr val="5A6A7A"/>
                </a:solidFill>
              </a:rPr>
              <a:t>Notez où vous avez postulé et relancez si pas de réponse après 7 jours.</a:t>
            </a:r>
            <a:endParaRPr lang="en-US" sz="950" dirty="0"/>
          </a:p>
        </p:txBody>
      </p:sp>
      <p:sp>
        <p:nvSpPr>
          <p:cNvPr id="40" name="Shape 37"/>
          <p:cNvSpPr/>
          <p:nvPr/>
        </p:nvSpPr>
        <p:spPr>
          <a:xfrm>
            <a:off x="7269480" y="2962656"/>
            <a:ext cx="1417320" cy="1737360"/>
          </a:xfrm>
          <a:prstGeom prst="rect">
            <a:avLst/>
          </a:prstGeom>
          <a:solidFill>
            <a:srgbClr val="E8F5E9"/>
          </a:solidFill>
          <a:ln/>
        </p:spPr>
        <p:txBody>
          <a:bodyPr/>
          <a:lstStyle/>
          <a:p>
            <a:endParaRPr lang="fr-FR"/>
          </a:p>
        </p:txBody>
      </p:sp>
      <p:sp>
        <p:nvSpPr>
          <p:cNvPr id="41" name="Text 38"/>
          <p:cNvSpPr/>
          <p:nvPr/>
        </p:nvSpPr>
        <p:spPr>
          <a:xfrm>
            <a:off x="7306056" y="2999232"/>
            <a:ext cx="1353312" cy="1664208"/>
          </a:xfrm>
          <a:prstGeom prst="rect">
            <a:avLst/>
          </a:prstGeom>
          <a:noFill/>
          <a:ln/>
        </p:spPr>
        <p:txBody>
          <a:bodyPr wrap="square" rtlCol="0" anchor="ctr"/>
          <a:lstStyle/>
          <a:p>
            <a:pPr marL="0" indent="0">
              <a:lnSpc>
                <a:spcPct val="135000"/>
              </a:lnSpc>
              <a:buNone/>
            </a:pPr>
            <a:r>
              <a:rPr lang="en-US" sz="900" dirty="0">
                <a:solidFill>
                  <a:srgbClr val="00796B"/>
                </a:solidFill>
              </a:rPr>
              <a:t>📌 Ex : Rappeler ou écrire un email : « J'ai postulé le 10 mai, êtes-vous disponible ? »</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2 · SLIDE 5</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Pourquoi créer son CV en ligne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Le CV numérique : indispensable aujourd'hui</a:t>
            </a:r>
            <a:endParaRPr lang="en-US" sz="900" dirty="0"/>
          </a:p>
        </p:txBody>
      </p:sp>
      <p:sp>
        <p:nvSpPr>
          <p:cNvPr id="7" name="Text 4"/>
          <p:cNvSpPr/>
          <p:nvPr/>
        </p:nvSpPr>
        <p:spPr>
          <a:xfrm>
            <a:off x="365760" y="1024128"/>
            <a:ext cx="8412480" cy="292608"/>
          </a:xfrm>
          <a:prstGeom prst="rect">
            <a:avLst/>
          </a:prstGeom>
          <a:noFill/>
          <a:ln/>
        </p:spPr>
        <p:txBody>
          <a:bodyPr wrap="square" rtlCol="0" anchor="ctr"/>
          <a:lstStyle/>
          <a:p>
            <a:pPr marL="0" indent="0">
              <a:buNone/>
            </a:pPr>
            <a:r>
              <a:rPr lang="en-US" sz="1300" b="1" dirty="0">
                <a:solidFill>
                  <a:srgbClr val="0D1B2A"/>
                </a:solidFill>
              </a:rPr>
              <a:t>Un CV en ligne c'est quoi exactement ?</a:t>
            </a:r>
            <a:endParaRPr lang="en-US" sz="1300" dirty="0"/>
          </a:p>
        </p:txBody>
      </p:sp>
      <p:sp>
        <p:nvSpPr>
          <p:cNvPr id="8" name="Text 5"/>
          <p:cNvSpPr/>
          <p:nvPr/>
        </p:nvSpPr>
        <p:spPr>
          <a:xfrm>
            <a:off x="365760" y="1353312"/>
            <a:ext cx="8412480" cy="502920"/>
          </a:xfrm>
          <a:prstGeom prst="rect">
            <a:avLst/>
          </a:prstGeom>
          <a:noFill/>
          <a:ln/>
        </p:spPr>
        <p:txBody>
          <a:bodyPr wrap="square" rtlCol="0" anchor="ctr"/>
          <a:lstStyle/>
          <a:p>
            <a:pPr marL="0" indent="0">
              <a:lnSpc>
                <a:spcPct val="140000"/>
              </a:lnSpc>
              <a:buNone/>
            </a:pPr>
            <a:r>
              <a:rPr lang="en-US" sz="1100" dirty="0">
                <a:solidFill>
                  <a:srgbClr val="5A6A7A"/>
                </a:solidFill>
              </a:rPr>
              <a:t>C'est votre CV créé sur un site internet, que vous téléchargez en PDF pour l'envoyer aux recruteurs. Vous n'avez pas besoin d'un ordinateur puissant ni de Word. Juste d'une connexion internet.</a:t>
            </a:r>
            <a:endParaRPr lang="en-US" sz="1100" dirty="0"/>
          </a:p>
        </p:txBody>
      </p:sp>
      <p:sp>
        <p:nvSpPr>
          <p:cNvPr id="9" name="Shape 6"/>
          <p:cNvSpPr/>
          <p:nvPr/>
        </p:nvSpPr>
        <p:spPr>
          <a:xfrm>
            <a:off x="365760" y="2011680"/>
            <a:ext cx="4206240" cy="111556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0" name="Shape 7"/>
          <p:cNvSpPr/>
          <p:nvPr/>
        </p:nvSpPr>
        <p:spPr>
          <a:xfrm>
            <a:off x="365760" y="2011680"/>
            <a:ext cx="54864" cy="1115568"/>
          </a:xfrm>
          <a:prstGeom prst="rect">
            <a:avLst/>
          </a:prstGeom>
          <a:solidFill>
            <a:srgbClr val="10B981"/>
          </a:solidFill>
          <a:ln/>
        </p:spPr>
        <p:txBody>
          <a:bodyPr/>
          <a:lstStyle/>
          <a:p>
            <a:endParaRPr lang="fr-FR"/>
          </a:p>
        </p:txBody>
      </p:sp>
      <p:sp>
        <p:nvSpPr>
          <p:cNvPr id="11" name="Text 8"/>
          <p:cNvSpPr/>
          <p:nvPr/>
        </p:nvSpPr>
        <p:spPr>
          <a:xfrm>
            <a:off x="530352" y="2103120"/>
            <a:ext cx="3840480" cy="292608"/>
          </a:xfrm>
          <a:prstGeom prst="rect">
            <a:avLst/>
          </a:prstGeom>
          <a:noFill/>
          <a:ln/>
        </p:spPr>
        <p:txBody>
          <a:bodyPr wrap="square" lIns="0" tIns="0" rIns="0" bIns="0" rtlCol="0" anchor="ctr"/>
          <a:lstStyle/>
          <a:p>
            <a:pPr marL="0" indent="0">
              <a:buNone/>
            </a:pPr>
            <a:r>
              <a:rPr lang="en-US" sz="1300" b="1" dirty="0">
                <a:solidFill>
                  <a:srgbClr val="0D1B2A"/>
                </a:solidFill>
              </a:rPr>
              <a:t>✅ C'est gratuit</a:t>
            </a:r>
            <a:endParaRPr lang="en-US" sz="1300" dirty="0"/>
          </a:p>
        </p:txBody>
      </p:sp>
      <p:sp>
        <p:nvSpPr>
          <p:cNvPr id="12" name="Text 9"/>
          <p:cNvSpPr/>
          <p:nvPr/>
        </p:nvSpPr>
        <p:spPr>
          <a:xfrm>
            <a:off x="530352" y="2432304"/>
            <a:ext cx="3886200" cy="594360"/>
          </a:xfrm>
          <a:prstGeom prst="rect">
            <a:avLst/>
          </a:prstGeom>
          <a:noFill/>
          <a:ln/>
        </p:spPr>
        <p:txBody>
          <a:bodyPr wrap="square" rtlCol="0" anchor="ctr"/>
          <a:lstStyle/>
          <a:p>
            <a:pPr marL="0" indent="0">
              <a:lnSpc>
                <a:spcPct val="135000"/>
              </a:lnSpc>
              <a:buNone/>
            </a:pPr>
            <a:r>
              <a:rPr lang="en-US" sz="1000" dirty="0">
                <a:solidFill>
                  <a:srgbClr val="5A6A7A"/>
                </a:solidFill>
              </a:rPr>
              <a:t>La plupart des outils sont 100% gratuits (Canva, CVDesignR, NovoRésumé).</a:t>
            </a:r>
            <a:endParaRPr lang="en-US" sz="1000" dirty="0"/>
          </a:p>
        </p:txBody>
      </p:sp>
      <p:sp>
        <p:nvSpPr>
          <p:cNvPr id="13" name="Shape 10"/>
          <p:cNvSpPr/>
          <p:nvPr/>
        </p:nvSpPr>
        <p:spPr>
          <a:xfrm>
            <a:off x="4800600" y="2011680"/>
            <a:ext cx="4206240" cy="111556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4" name="Shape 11"/>
          <p:cNvSpPr/>
          <p:nvPr/>
        </p:nvSpPr>
        <p:spPr>
          <a:xfrm>
            <a:off x="4800600" y="2011680"/>
            <a:ext cx="54864" cy="1115568"/>
          </a:xfrm>
          <a:prstGeom prst="rect">
            <a:avLst/>
          </a:prstGeom>
          <a:solidFill>
            <a:srgbClr val="F59E0B"/>
          </a:solidFill>
          <a:ln/>
        </p:spPr>
        <p:txBody>
          <a:bodyPr/>
          <a:lstStyle/>
          <a:p>
            <a:endParaRPr lang="fr-FR"/>
          </a:p>
        </p:txBody>
      </p:sp>
      <p:sp>
        <p:nvSpPr>
          <p:cNvPr id="15" name="Text 12"/>
          <p:cNvSpPr/>
          <p:nvPr/>
        </p:nvSpPr>
        <p:spPr>
          <a:xfrm>
            <a:off x="4965192" y="2103120"/>
            <a:ext cx="3840480" cy="292608"/>
          </a:xfrm>
          <a:prstGeom prst="rect">
            <a:avLst/>
          </a:prstGeom>
          <a:noFill/>
          <a:ln/>
        </p:spPr>
        <p:txBody>
          <a:bodyPr wrap="square" lIns="0" tIns="0" rIns="0" bIns="0" rtlCol="0" anchor="ctr"/>
          <a:lstStyle/>
          <a:p>
            <a:pPr marL="0" indent="0">
              <a:buNone/>
            </a:pPr>
            <a:r>
              <a:rPr lang="en-US" sz="1300" b="1" dirty="0">
                <a:solidFill>
                  <a:srgbClr val="0D1B2A"/>
                </a:solidFill>
              </a:rPr>
              <a:t>⚡ C'est rapide</a:t>
            </a:r>
            <a:endParaRPr lang="en-US" sz="1300" dirty="0"/>
          </a:p>
        </p:txBody>
      </p:sp>
      <p:sp>
        <p:nvSpPr>
          <p:cNvPr id="16" name="Text 13"/>
          <p:cNvSpPr/>
          <p:nvPr/>
        </p:nvSpPr>
        <p:spPr>
          <a:xfrm>
            <a:off x="4965192" y="2432304"/>
            <a:ext cx="3886200" cy="594360"/>
          </a:xfrm>
          <a:prstGeom prst="rect">
            <a:avLst/>
          </a:prstGeom>
          <a:noFill/>
          <a:ln/>
        </p:spPr>
        <p:txBody>
          <a:bodyPr wrap="square" rtlCol="0" anchor="ctr"/>
          <a:lstStyle/>
          <a:p>
            <a:pPr marL="0" indent="0">
              <a:lnSpc>
                <a:spcPct val="135000"/>
              </a:lnSpc>
              <a:buNone/>
            </a:pPr>
            <a:r>
              <a:rPr lang="en-US" sz="1000" dirty="0">
                <a:solidFill>
                  <a:srgbClr val="5A6A7A"/>
                </a:solidFill>
              </a:rPr>
              <a:t>En 30 minutes, vous avez un CV propre et professionnel, même sans expérience Word.</a:t>
            </a:r>
            <a:endParaRPr lang="en-US" sz="1000" dirty="0"/>
          </a:p>
        </p:txBody>
      </p:sp>
      <p:sp>
        <p:nvSpPr>
          <p:cNvPr id="17" name="Shape 14"/>
          <p:cNvSpPr/>
          <p:nvPr/>
        </p:nvSpPr>
        <p:spPr>
          <a:xfrm>
            <a:off x="365760" y="3291840"/>
            <a:ext cx="4206240" cy="111556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8" name="Shape 15"/>
          <p:cNvSpPr/>
          <p:nvPr/>
        </p:nvSpPr>
        <p:spPr>
          <a:xfrm>
            <a:off x="365760" y="3291840"/>
            <a:ext cx="54864" cy="1115568"/>
          </a:xfrm>
          <a:prstGeom prst="rect">
            <a:avLst/>
          </a:prstGeom>
          <a:solidFill>
            <a:srgbClr val="6A3FA0"/>
          </a:solidFill>
          <a:ln/>
        </p:spPr>
        <p:txBody>
          <a:bodyPr/>
          <a:lstStyle/>
          <a:p>
            <a:endParaRPr lang="fr-FR"/>
          </a:p>
        </p:txBody>
      </p:sp>
      <p:sp>
        <p:nvSpPr>
          <p:cNvPr id="19" name="Text 16"/>
          <p:cNvSpPr/>
          <p:nvPr/>
        </p:nvSpPr>
        <p:spPr>
          <a:xfrm>
            <a:off x="530352" y="3383280"/>
            <a:ext cx="3840480" cy="292608"/>
          </a:xfrm>
          <a:prstGeom prst="rect">
            <a:avLst/>
          </a:prstGeom>
          <a:noFill/>
          <a:ln/>
        </p:spPr>
        <p:txBody>
          <a:bodyPr wrap="square" lIns="0" tIns="0" rIns="0" bIns="0" rtlCol="0" anchor="ctr"/>
          <a:lstStyle/>
          <a:p>
            <a:pPr marL="0" indent="0">
              <a:buNone/>
            </a:pPr>
            <a:r>
              <a:rPr lang="en-US" sz="1300" b="1" dirty="0">
                <a:solidFill>
                  <a:srgbClr val="0D1B2A"/>
                </a:solidFill>
              </a:rPr>
              <a:t>💎 C'est beau</a:t>
            </a:r>
            <a:endParaRPr lang="en-US" sz="1300" dirty="0"/>
          </a:p>
        </p:txBody>
      </p:sp>
      <p:sp>
        <p:nvSpPr>
          <p:cNvPr id="20" name="Text 17"/>
          <p:cNvSpPr/>
          <p:nvPr/>
        </p:nvSpPr>
        <p:spPr>
          <a:xfrm>
            <a:off x="530352" y="3712464"/>
            <a:ext cx="3886200" cy="594360"/>
          </a:xfrm>
          <a:prstGeom prst="rect">
            <a:avLst/>
          </a:prstGeom>
          <a:noFill/>
          <a:ln/>
        </p:spPr>
        <p:txBody>
          <a:bodyPr wrap="square" rtlCol="0" anchor="ctr"/>
          <a:lstStyle/>
          <a:p>
            <a:pPr marL="0" indent="0">
              <a:lnSpc>
                <a:spcPct val="135000"/>
              </a:lnSpc>
              <a:buNone/>
            </a:pPr>
            <a:r>
              <a:rPr lang="en-US" sz="1000" dirty="0">
                <a:solidFill>
                  <a:srgbClr val="5A6A7A"/>
                </a:solidFill>
              </a:rPr>
              <a:t>Les modèles sont conçus par des designers. Votre CV sera bien mieux qu'un document Word vide.</a:t>
            </a:r>
            <a:endParaRPr lang="en-US" sz="1000" dirty="0"/>
          </a:p>
        </p:txBody>
      </p:sp>
      <p:sp>
        <p:nvSpPr>
          <p:cNvPr id="21" name="Shape 18"/>
          <p:cNvSpPr/>
          <p:nvPr/>
        </p:nvSpPr>
        <p:spPr>
          <a:xfrm>
            <a:off x="4800600" y="3291840"/>
            <a:ext cx="4206240" cy="111556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4800600" y="3291840"/>
            <a:ext cx="54864" cy="1115568"/>
          </a:xfrm>
          <a:prstGeom prst="rect">
            <a:avLst/>
          </a:prstGeom>
          <a:solidFill>
            <a:srgbClr val="1565C0"/>
          </a:solidFill>
          <a:ln/>
        </p:spPr>
        <p:txBody>
          <a:bodyPr/>
          <a:lstStyle/>
          <a:p>
            <a:endParaRPr lang="fr-FR"/>
          </a:p>
        </p:txBody>
      </p:sp>
      <p:sp>
        <p:nvSpPr>
          <p:cNvPr id="23" name="Text 20"/>
          <p:cNvSpPr/>
          <p:nvPr/>
        </p:nvSpPr>
        <p:spPr>
          <a:xfrm>
            <a:off x="4965192" y="3383280"/>
            <a:ext cx="3840480" cy="292608"/>
          </a:xfrm>
          <a:prstGeom prst="rect">
            <a:avLst/>
          </a:prstGeom>
          <a:noFill/>
          <a:ln/>
        </p:spPr>
        <p:txBody>
          <a:bodyPr wrap="square" lIns="0" tIns="0" rIns="0" bIns="0" rtlCol="0" anchor="ctr"/>
          <a:lstStyle/>
          <a:p>
            <a:pPr marL="0" indent="0">
              <a:buNone/>
            </a:pPr>
            <a:r>
              <a:rPr lang="en-US" sz="1300" b="1" dirty="0">
                <a:solidFill>
                  <a:srgbClr val="0D1B2A"/>
                </a:solidFill>
              </a:rPr>
              <a:t>📤 Facile à envoyer</a:t>
            </a:r>
            <a:endParaRPr lang="en-US" sz="1300" dirty="0"/>
          </a:p>
        </p:txBody>
      </p:sp>
      <p:sp>
        <p:nvSpPr>
          <p:cNvPr id="24" name="Text 21"/>
          <p:cNvSpPr/>
          <p:nvPr/>
        </p:nvSpPr>
        <p:spPr>
          <a:xfrm>
            <a:off x="4965192" y="3712464"/>
            <a:ext cx="3886200" cy="594360"/>
          </a:xfrm>
          <a:prstGeom prst="rect">
            <a:avLst/>
          </a:prstGeom>
          <a:noFill/>
          <a:ln/>
        </p:spPr>
        <p:txBody>
          <a:bodyPr wrap="square" rtlCol="0" anchor="ctr"/>
          <a:lstStyle/>
          <a:p>
            <a:pPr marL="0" indent="0">
              <a:lnSpc>
                <a:spcPct val="135000"/>
              </a:lnSpc>
              <a:buNone/>
            </a:pPr>
            <a:r>
              <a:rPr lang="en-US" sz="1000" dirty="0">
                <a:solidFill>
                  <a:srgbClr val="5A6A7A"/>
                </a:solidFill>
              </a:rPr>
              <a:t>Téléchargez en PDF et joignez-le directement à votre candidature en ligne, en un clic.</a:t>
            </a:r>
            <a:endParaRPr lang="en-US" sz="1000" dirty="0"/>
          </a:p>
        </p:txBody>
      </p:sp>
      <p:sp>
        <p:nvSpPr>
          <p:cNvPr id="25" name="Shape 22"/>
          <p:cNvSpPr/>
          <p:nvPr/>
        </p:nvSpPr>
        <p:spPr>
          <a:xfrm>
            <a:off x="365760" y="4553712"/>
            <a:ext cx="8412480" cy="384048"/>
          </a:xfrm>
          <a:prstGeom prst="rect">
            <a:avLst/>
          </a:prstGeom>
          <a:solidFill>
            <a:srgbClr val="E0F7FA"/>
          </a:solidFill>
          <a:ln/>
        </p:spPr>
        <p:txBody>
          <a:bodyPr/>
          <a:lstStyle/>
          <a:p>
            <a:endParaRPr lang="fr-FR"/>
          </a:p>
        </p:txBody>
      </p:sp>
      <p:sp>
        <p:nvSpPr>
          <p:cNvPr id="26" name="Text 23"/>
          <p:cNvSpPr/>
          <p:nvPr/>
        </p:nvSpPr>
        <p:spPr>
          <a:xfrm>
            <a:off x="502920" y="4562856"/>
            <a:ext cx="8229600" cy="347472"/>
          </a:xfrm>
          <a:prstGeom prst="rect">
            <a:avLst/>
          </a:prstGeom>
          <a:noFill/>
          <a:ln/>
        </p:spPr>
        <p:txBody>
          <a:bodyPr wrap="square" rtlCol="0" anchor="ctr"/>
          <a:lstStyle/>
          <a:p>
            <a:pPr marL="0" indent="0">
              <a:lnSpc>
                <a:spcPct val="130000"/>
              </a:lnSpc>
              <a:buNone/>
            </a:pPr>
            <a:r>
              <a:rPr lang="en-US" sz="1000" dirty="0">
                <a:solidFill>
                  <a:srgbClr val="00796B"/>
                </a:solidFill>
              </a:rPr>
              <a:t>💡 Conseil débutant : Commencez toujours par Canva (canva.com) — interface en français, très simple, zéro compétence requise.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796B"/>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2 · SLIDE 6</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Créer son CV sur Canva — Pas à pas</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L'outil numéro 1 pour les débutants (100% gratuit)</a:t>
            </a:r>
            <a:endParaRPr lang="en-US" sz="900" dirty="0"/>
          </a:p>
        </p:txBody>
      </p:sp>
      <p:sp>
        <p:nvSpPr>
          <p:cNvPr id="7" name="Shape 4"/>
          <p:cNvSpPr/>
          <p:nvPr/>
        </p:nvSpPr>
        <p:spPr>
          <a:xfrm>
            <a:off x="320040" y="1005840"/>
            <a:ext cx="420624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4206240" cy="475488"/>
          </a:xfrm>
          <a:prstGeom prst="rect">
            <a:avLst/>
          </a:prstGeom>
          <a:solidFill>
            <a:srgbClr val="00796B"/>
          </a:solidFill>
          <a:ln/>
        </p:spPr>
        <p:txBody>
          <a:bodyPr/>
          <a:lstStyle/>
          <a:p>
            <a:endParaRPr lang="fr-FR"/>
          </a:p>
        </p:txBody>
      </p:sp>
      <p:sp>
        <p:nvSpPr>
          <p:cNvPr id="9" name="Shape 6"/>
          <p:cNvSpPr/>
          <p:nvPr/>
        </p:nvSpPr>
        <p:spPr>
          <a:xfrm>
            <a:off x="457200" y="1097280"/>
            <a:ext cx="292608" cy="292608"/>
          </a:xfrm>
          <a:prstGeom prst="ellipse">
            <a:avLst/>
          </a:prstGeom>
          <a:solidFill>
            <a:srgbClr val="FFFFFF"/>
          </a:solidFill>
          <a:ln/>
        </p:spPr>
        <p:txBody>
          <a:bodyPr/>
          <a:lstStyle/>
          <a:p>
            <a:endParaRPr lang="fr-FR"/>
          </a:p>
        </p:txBody>
      </p:sp>
      <p:sp>
        <p:nvSpPr>
          <p:cNvPr id="10" name="Text 7"/>
          <p:cNvSpPr/>
          <p:nvPr/>
        </p:nvSpPr>
        <p:spPr>
          <a:xfrm>
            <a:off x="457200" y="1097280"/>
            <a:ext cx="292608" cy="292608"/>
          </a:xfrm>
          <a:prstGeom prst="rect">
            <a:avLst/>
          </a:prstGeom>
          <a:noFill/>
          <a:ln/>
        </p:spPr>
        <p:txBody>
          <a:bodyPr wrap="square" rtlCol="0" anchor="ctr"/>
          <a:lstStyle/>
          <a:p>
            <a:pPr marL="0" indent="0" algn="ctr">
              <a:buNone/>
            </a:pPr>
            <a:r>
              <a:rPr lang="en-US" sz="1300" b="1" dirty="0">
                <a:solidFill>
                  <a:srgbClr val="00796B"/>
                </a:solidFill>
              </a:rPr>
              <a:t>1</a:t>
            </a:r>
            <a:endParaRPr lang="en-US" sz="1300" dirty="0"/>
          </a:p>
        </p:txBody>
      </p:sp>
      <p:sp>
        <p:nvSpPr>
          <p:cNvPr id="11" name="Text 8"/>
          <p:cNvSpPr/>
          <p:nvPr/>
        </p:nvSpPr>
        <p:spPr>
          <a:xfrm>
            <a:off x="850392" y="1097280"/>
            <a:ext cx="3547872" cy="292608"/>
          </a:xfrm>
          <a:prstGeom prst="rect">
            <a:avLst/>
          </a:prstGeom>
          <a:noFill/>
          <a:ln/>
        </p:spPr>
        <p:txBody>
          <a:bodyPr wrap="square" lIns="0" tIns="0" rIns="0" bIns="0" rtlCol="0" anchor="ctr"/>
          <a:lstStyle/>
          <a:p>
            <a:pPr marL="0" indent="0">
              <a:buNone/>
            </a:pPr>
            <a:r>
              <a:rPr lang="en-US" sz="1200" b="1" dirty="0">
                <a:solidFill>
                  <a:srgbClr val="FFFFFF"/>
                </a:solidFill>
              </a:rPr>
              <a:t>Aller sur canva.com</a:t>
            </a:r>
            <a:endParaRPr lang="en-US" sz="1200" dirty="0"/>
          </a:p>
        </p:txBody>
      </p:sp>
      <p:sp>
        <p:nvSpPr>
          <p:cNvPr id="12" name="Text 9"/>
          <p:cNvSpPr/>
          <p:nvPr/>
        </p:nvSpPr>
        <p:spPr>
          <a:xfrm>
            <a:off x="457200" y="1554480"/>
            <a:ext cx="1965960" cy="1188720"/>
          </a:xfrm>
          <a:prstGeom prst="rect">
            <a:avLst/>
          </a:prstGeom>
          <a:noFill/>
          <a:ln/>
        </p:spPr>
        <p:txBody>
          <a:bodyPr wrap="square" rtlCol="0" anchor="ctr"/>
          <a:lstStyle/>
          <a:p>
            <a:pPr marL="0" indent="0">
              <a:lnSpc>
                <a:spcPct val="135000"/>
              </a:lnSpc>
              <a:buNone/>
            </a:pPr>
            <a:r>
              <a:rPr lang="en-US" sz="950" dirty="0">
                <a:solidFill>
                  <a:srgbClr val="0D1B2A"/>
                </a:solidFill>
              </a:rPr>
              <a:t>Ouvrez votre navigateur (Chrome, Firefox…)</a:t>
            </a:r>
            <a:endParaRPr lang="en-US" sz="950" dirty="0"/>
          </a:p>
          <a:p>
            <a:pPr marL="0" indent="0">
              <a:lnSpc>
                <a:spcPct val="135000"/>
              </a:lnSpc>
              <a:buNone/>
            </a:pPr>
            <a:r>
              <a:rPr lang="en-US" sz="950" dirty="0">
                <a:solidFill>
                  <a:srgbClr val="0D1B2A"/>
                </a:solidFill>
              </a:rPr>
              <a:t>et tapez : canva.com</a:t>
            </a:r>
            <a:endParaRPr lang="en-US" sz="950" dirty="0"/>
          </a:p>
          <a:p>
            <a:pPr marL="0" indent="0">
              <a:lnSpc>
                <a:spcPct val="135000"/>
              </a:lnSpc>
              <a:buNone/>
            </a:pPr>
            <a:r>
              <a:rPr lang="en-US" sz="950" dirty="0">
                <a:solidFill>
                  <a:srgbClr val="0D1B2A"/>
                </a:solidFill>
              </a:rPr>
              <a:t>Cliquez sur « S'inscrire » avec votre email.</a:t>
            </a:r>
            <a:endParaRPr lang="en-US" sz="950" dirty="0"/>
          </a:p>
        </p:txBody>
      </p:sp>
      <p:sp>
        <p:nvSpPr>
          <p:cNvPr id="13" name="Shape 10"/>
          <p:cNvSpPr/>
          <p:nvPr/>
        </p:nvSpPr>
        <p:spPr>
          <a:xfrm>
            <a:off x="2514600" y="1536192"/>
            <a:ext cx="1901952" cy="1207008"/>
          </a:xfrm>
          <a:prstGeom prst="rect">
            <a:avLst/>
          </a:prstGeom>
          <a:solidFill>
            <a:srgbClr val="E0F7FA"/>
          </a:solidFill>
          <a:ln/>
        </p:spPr>
        <p:txBody>
          <a:bodyPr/>
          <a:lstStyle/>
          <a:p>
            <a:endParaRPr lang="fr-FR"/>
          </a:p>
        </p:txBody>
      </p:sp>
      <p:sp>
        <p:nvSpPr>
          <p:cNvPr id="14" name="Text 11"/>
          <p:cNvSpPr/>
          <p:nvPr/>
        </p:nvSpPr>
        <p:spPr>
          <a:xfrm>
            <a:off x="2587752" y="1572768"/>
            <a:ext cx="1783080" cy="1133856"/>
          </a:xfrm>
          <a:prstGeom prst="rect">
            <a:avLst/>
          </a:prstGeom>
          <a:noFill/>
          <a:ln/>
        </p:spPr>
        <p:txBody>
          <a:bodyPr wrap="square" rtlCol="0" anchor="ctr"/>
          <a:lstStyle/>
          <a:p>
            <a:pPr marL="0" indent="0">
              <a:lnSpc>
                <a:spcPct val="135000"/>
              </a:lnSpc>
              <a:buNone/>
            </a:pPr>
            <a:r>
              <a:rPr lang="en-US" sz="900" dirty="0">
                <a:solidFill>
                  <a:srgbClr val="00796B"/>
                </a:solidFill>
              </a:rPr>
              <a:t>✉️ Utilisez une adresse email sérieuse :</a:t>
            </a:r>
            <a:endParaRPr lang="en-US" sz="900" dirty="0"/>
          </a:p>
          <a:p>
            <a:pPr marL="0" indent="0">
              <a:lnSpc>
                <a:spcPct val="135000"/>
              </a:lnSpc>
              <a:buNone/>
            </a:pPr>
            <a:r>
              <a:rPr lang="en-US" sz="900" dirty="0">
                <a:solidFill>
                  <a:srgbClr val="00796B"/>
                </a:solidFill>
              </a:rPr>
              <a:t>prenom.nom@gmail.com</a:t>
            </a:r>
            <a:endParaRPr lang="en-US" sz="900" dirty="0"/>
          </a:p>
          <a:p>
            <a:pPr marL="0" indent="0">
              <a:lnSpc>
                <a:spcPct val="135000"/>
              </a:lnSpc>
              <a:buNone/>
            </a:pPr>
            <a:r>
              <a:rPr lang="en-US" sz="900" dirty="0">
                <a:solidFill>
                  <a:srgbClr val="00796B"/>
                </a:solidFill>
              </a:rPr>
              <a:t>(pas : bestgamer94@hotmail.fr)</a:t>
            </a:r>
            <a:endParaRPr lang="en-US" sz="900" dirty="0"/>
          </a:p>
        </p:txBody>
      </p:sp>
      <p:sp>
        <p:nvSpPr>
          <p:cNvPr id="15" name="Shape 12"/>
          <p:cNvSpPr/>
          <p:nvPr/>
        </p:nvSpPr>
        <p:spPr>
          <a:xfrm>
            <a:off x="4754880" y="1005840"/>
            <a:ext cx="420624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6" name="Shape 13"/>
          <p:cNvSpPr/>
          <p:nvPr/>
        </p:nvSpPr>
        <p:spPr>
          <a:xfrm>
            <a:off x="4754880" y="1005840"/>
            <a:ext cx="4206240" cy="475488"/>
          </a:xfrm>
          <a:prstGeom prst="rect">
            <a:avLst/>
          </a:prstGeom>
          <a:solidFill>
            <a:srgbClr val="00796B"/>
          </a:solidFill>
          <a:ln/>
        </p:spPr>
        <p:txBody>
          <a:bodyPr/>
          <a:lstStyle/>
          <a:p>
            <a:endParaRPr lang="fr-FR"/>
          </a:p>
        </p:txBody>
      </p:sp>
      <p:sp>
        <p:nvSpPr>
          <p:cNvPr id="17" name="Shape 14"/>
          <p:cNvSpPr/>
          <p:nvPr/>
        </p:nvSpPr>
        <p:spPr>
          <a:xfrm>
            <a:off x="4892040" y="1097280"/>
            <a:ext cx="292608" cy="292608"/>
          </a:xfrm>
          <a:prstGeom prst="ellipse">
            <a:avLst/>
          </a:prstGeom>
          <a:solidFill>
            <a:srgbClr val="FFFFFF"/>
          </a:solidFill>
          <a:ln/>
        </p:spPr>
        <p:txBody>
          <a:bodyPr/>
          <a:lstStyle/>
          <a:p>
            <a:endParaRPr lang="fr-FR"/>
          </a:p>
        </p:txBody>
      </p:sp>
      <p:sp>
        <p:nvSpPr>
          <p:cNvPr id="18" name="Text 15"/>
          <p:cNvSpPr/>
          <p:nvPr/>
        </p:nvSpPr>
        <p:spPr>
          <a:xfrm>
            <a:off x="4892040" y="1097280"/>
            <a:ext cx="292608" cy="292608"/>
          </a:xfrm>
          <a:prstGeom prst="rect">
            <a:avLst/>
          </a:prstGeom>
          <a:noFill/>
          <a:ln/>
        </p:spPr>
        <p:txBody>
          <a:bodyPr wrap="square" rtlCol="0" anchor="ctr"/>
          <a:lstStyle/>
          <a:p>
            <a:pPr marL="0" indent="0" algn="ctr">
              <a:buNone/>
            </a:pPr>
            <a:r>
              <a:rPr lang="en-US" sz="1300" b="1" dirty="0">
                <a:solidFill>
                  <a:srgbClr val="00796B"/>
                </a:solidFill>
              </a:rPr>
              <a:t>2</a:t>
            </a:r>
            <a:endParaRPr lang="en-US" sz="1300" dirty="0"/>
          </a:p>
        </p:txBody>
      </p:sp>
      <p:sp>
        <p:nvSpPr>
          <p:cNvPr id="19" name="Text 16"/>
          <p:cNvSpPr/>
          <p:nvPr/>
        </p:nvSpPr>
        <p:spPr>
          <a:xfrm>
            <a:off x="5285232" y="1097280"/>
            <a:ext cx="3547872" cy="292608"/>
          </a:xfrm>
          <a:prstGeom prst="rect">
            <a:avLst/>
          </a:prstGeom>
          <a:noFill/>
          <a:ln/>
        </p:spPr>
        <p:txBody>
          <a:bodyPr wrap="square" lIns="0" tIns="0" rIns="0" bIns="0" rtlCol="0" anchor="ctr"/>
          <a:lstStyle/>
          <a:p>
            <a:pPr marL="0" indent="0">
              <a:buNone/>
            </a:pPr>
            <a:r>
              <a:rPr lang="en-US" sz="1200" b="1" dirty="0">
                <a:solidFill>
                  <a:srgbClr val="FFFFFF"/>
                </a:solidFill>
              </a:rPr>
              <a:t>Chercher un modèle CV</a:t>
            </a:r>
            <a:endParaRPr lang="en-US" sz="1200" dirty="0"/>
          </a:p>
        </p:txBody>
      </p:sp>
      <p:sp>
        <p:nvSpPr>
          <p:cNvPr id="20" name="Text 17"/>
          <p:cNvSpPr/>
          <p:nvPr/>
        </p:nvSpPr>
        <p:spPr>
          <a:xfrm>
            <a:off x="4892040" y="1554480"/>
            <a:ext cx="1965960" cy="1188720"/>
          </a:xfrm>
          <a:prstGeom prst="rect">
            <a:avLst/>
          </a:prstGeom>
          <a:noFill/>
          <a:ln/>
        </p:spPr>
        <p:txBody>
          <a:bodyPr wrap="square" rtlCol="0" anchor="ctr"/>
          <a:lstStyle/>
          <a:p>
            <a:pPr marL="0" indent="0">
              <a:lnSpc>
                <a:spcPct val="135000"/>
              </a:lnSpc>
              <a:buNone/>
            </a:pPr>
            <a:r>
              <a:rPr lang="en-US" sz="950" dirty="0">
                <a:solidFill>
                  <a:srgbClr val="0D1B2A"/>
                </a:solidFill>
              </a:rPr>
              <a:t>Dans la barre de recherche Canva,</a:t>
            </a:r>
            <a:endParaRPr lang="en-US" sz="950" dirty="0"/>
          </a:p>
          <a:p>
            <a:pPr marL="0" indent="0">
              <a:lnSpc>
                <a:spcPct val="135000"/>
              </a:lnSpc>
              <a:buNone/>
            </a:pPr>
            <a:r>
              <a:rPr lang="en-US" sz="950" dirty="0">
                <a:solidFill>
                  <a:srgbClr val="0D1B2A"/>
                </a:solidFill>
              </a:rPr>
              <a:t>tapez : « CV »</a:t>
            </a:r>
            <a:endParaRPr lang="en-US" sz="950" dirty="0"/>
          </a:p>
          <a:p>
            <a:pPr marL="0" indent="0">
              <a:lnSpc>
                <a:spcPct val="135000"/>
              </a:lnSpc>
              <a:buNone/>
            </a:pPr>
            <a:r>
              <a:rPr lang="en-US" sz="950" dirty="0">
                <a:solidFill>
                  <a:srgbClr val="0D1B2A"/>
                </a:solidFill>
              </a:rPr>
              <a:t>Choisissez un modèle simple,</a:t>
            </a:r>
            <a:endParaRPr lang="en-US" sz="950" dirty="0"/>
          </a:p>
          <a:p>
            <a:pPr marL="0" indent="0">
              <a:lnSpc>
                <a:spcPct val="135000"/>
              </a:lnSpc>
              <a:buNone/>
            </a:pPr>
            <a:r>
              <a:rPr lang="en-US" sz="950" dirty="0">
                <a:solidFill>
                  <a:srgbClr val="0D1B2A"/>
                </a:solidFill>
              </a:rPr>
              <a:t>clair, sur fond blanc.</a:t>
            </a:r>
            <a:endParaRPr lang="en-US" sz="950" dirty="0"/>
          </a:p>
        </p:txBody>
      </p:sp>
      <p:sp>
        <p:nvSpPr>
          <p:cNvPr id="21" name="Shape 18"/>
          <p:cNvSpPr/>
          <p:nvPr/>
        </p:nvSpPr>
        <p:spPr>
          <a:xfrm>
            <a:off x="6949440" y="1536192"/>
            <a:ext cx="1901952" cy="1207008"/>
          </a:xfrm>
          <a:prstGeom prst="rect">
            <a:avLst/>
          </a:prstGeom>
          <a:solidFill>
            <a:srgbClr val="E0F7FA"/>
          </a:solidFill>
          <a:ln/>
        </p:spPr>
        <p:txBody>
          <a:bodyPr/>
          <a:lstStyle/>
          <a:p>
            <a:endParaRPr lang="fr-FR"/>
          </a:p>
        </p:txBody>
      </p:sp>
      <p:sp>
        <p:nvSpPr>
          <p:cNvPr id="22" name="Text 19"/>
          <p:cNvSpPr/>
          <p:nvPr/>
        </p:nvSpPr>
        <p:spPr>
          <a:xfrm>
            <a:off x="7022592" y="1572768"/>
            <a:ext cx="1783080" cy="1133856"/>
          </a:xfrm>
          <a:prstGeom prst="rect">
            <a:avLst/>
          </a:prstGeom>
          <a:noFill/>
          <a:ln/>
        </p:spPr>
        <p:txBody>
          <a:bodyPr wrap="square" rtlCol="0" anchor="ctr"/>
          <a:lstStyle/>
          <a:p>
            <a:pPr marL="0" indent="0">
              <a:lnSpc>
                <a:spcPct val="135000"/>
              </a:lnSpc>
              <a:buNone/>
            </a:pPr>
            <a:r>
              <a:rPr lang="en-US" sz="900" dirty="0">
                <a:solidFill>
                  <a:srgbClr val="00796B"/>
                </a:solidFill>
              </a:rPr>
              <a:t>💡 Choisissez un modèle avec :</a:t>
            </a:r>
            <a:endParaRPr lang="en-US" sz="900" dirty="0"/>
          </a:p>
          <a:p>
            <a:pPr marL="0" indent="0">
              <a:lnSpc>
                <a:spcPct val="135000"/>
              </a:lnSpc>
              <a:buNone/>
            </a:pPr>
            <a:r>
              <a:rPr lang="en-US" sz="900" dirty="0">
                <a:solidFill>
                  <a:srgbClr val="00796B"/>
                </a:solidFill>
              </a:rPr>
              <a:t>– 1 seule colonne (plus lisible)</a:t>
            </a:r>
            <a:endParaRPr lang="en-US" sz="900" dirty="0"/>
          </a:p>
          <a:p>
            <a:pPr marL="0" indent="0">
              <a:lnSpc>
                <a:spcPct val="135000"/>
              </a:lnSpc>
              <a:buNone/>
            </a:pPr>
            <a:r>
              <a:rPr lang="en-US" sz="900" dirty="0">
                <a:solidFill>
                  <a:srgbClr val="00796B"/>
                </a:solidFill>
              </a:rPr>
              <a:t>– Couleurs sobres</a:t>
            </a:r>
            <a:endParaRPr lang="en-US" sz="900" dirty="0"/>
          </a:p>
          <a:p>
            <a:pPr marL="0" indent="0">
              <a:lnSpc>
                <a:spcPct val="135000"/>
              </a:lnSpc>
              <a:buNone/>
            </a:pPr>
            <a:r>
              <a:rPr lang="en-US" sz="900" dirty="0">
                <a:solidFill>
                  <a:srgbClr val="00796B"/>
                </a:solidFill>
              </a:rPr>
              <a:t>– Police grande et lisible</a:t>
            </a:r>
            <a:endParaRPr lang="en-US" sz="900" dirty="0"/>
          </a:p>
        </p:txBody>
      </p:sp>
      <p:sp>
        <p:nvSpPr>
          <p:cNvPr id="23" name="Shape 20"/>
          <p:cNvSpPr/>
          <p:nvPr/>
        </p:nvSpPr>
        <p:spPr>
          <a:xfrm>
            <a:off x="320040" y="2971800"/>
            <a:ext cx="420624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320040" y="2971800"/>
            <a:ext cx="4206240" cy="475488"/>
          </a:xfrm>
          <a:prstGeom prst="rect">
            <a:avLst/>
          </a:prstGeom>
          <a:solidFill>
            <a:srgbClr val="00796B"/>
          </a:solidFill>
          <a:ln/>
        </p:spPr>
        <p:txBody>
          <a:bodyPr/>
          <a:lstStyle/>
          <a:p>
            <a:endParaRPr lang="fr-FR"/>
          </a:p>
        </p:txBody>
      </p:sp>
      <p:sp>
        <p:nvSpPr>
          <p:cNvPr id="25" name="Shape 22"/>
          <p:cNvSpPr/>
          <p:nvPr/>
        </p:nvSpPr>
        <p:spPr>
          <a:xfrm>
            <a:off x="457200" y="3063240"/>
            <a:ext cx="292608" cy="292608"/>
          </a:xfrm>
          <a:prstGeom prst="ellipse">
            <a:avLst/>
          </a:prstGeom>
          <a:solidFill>
            <a:srgbClr val="FFFFFF"/>
          </a:solidFill>
          <a:ln/>
        </p:spPr>
        <p:txBody>
          <a:bodyPr/>
          <a:lstStyle/>
          <a:p>
            <a:endParaRPr lang="fr-FR"/>
          </a:p>
        </p:txBody>
      </p:sp>
      <p:sp>
        <p:nvSpPr>
          <p:cNvPr id="26" name="Text 23"/>
          <p:cNvSpPr/>
          <p:nvPr/>
        </p:nvSpPr>
        <p:spPr>
          <a:xfrm>
            <a:off x="457200" y="3063240"/>
            <a:ext cx="292608" cy="292608"/>
          </a:xfrm>
          <a:prstGeom prst="rect">
            <a:avLst/>
          </a:prstGeom>
          <a:noFill/>
          <a:ln/>
        </p:spPr>
        <p:txBody>
          <a:bodyPr wrap="square" rtlCol="0" anchor="ctr"/>
          <a:lstStyle/>
          <a:p>
            <a:pPr marL="0" indent="0" algn="ctr">
              <a:buNone/>
            </a:pPr>
            <a:r>
              <a:rPr lang="en-US" sz="1300" b="1" dirty="0">
                <a:solidFill>
                  <a:srgbClr val="00796B"/>
                </a:solidFill>
              </a:rPr>
              <a:t>3</a:t>
            </a:r>
            <a:endParaRPr lang="en-US" sz="1300" dirty="0"/>
          </a:p>
        </p:txBody>
      </p:sp>
      <p:sp>
        <p:nvSpPr>
          <p:cNvPr id="27" name="Text 24"/>
          <p:cNvSpPr/>
          <p:nvPr/>
        </p:nvSpPr>
        <p:spPr>
          <a:xfrm>
            <a:off x="850392" y="3063240"/>
            <a:ext cx="3547872" cy="292608"/>
          </a:xfrm>
          <a:prstGeom prst="rect">
            <a:avLst/>
          </a:prstGeom>
          <a:noFill/>
          <a:ln/>
        </p:spPr>
        <p:txBody>
          <a:bodyPr wrap="square" lIns="0" tIns="0" rIns="0" bIns="0" rtlCol="0" anchor="ctr"/>
          <a:lstStyle/>
          <a:p>
            <a:pPr marL="0" indent="0">
              <a:buNone/>
            </a:pPr>
            <a:r>
              <a:rPr lang="en-US" sz="1200" b="1" dirty="0">
                <a:solidFill>
                  <a:srgbClr val="FFFFFF"/>
                </a:solidFill>
              </a:rPr>
              <a:t>Remplir vos infos</a:t>
            </a:r>
            <a:endParaRPr lang="en-US" sz="1200" dirty="0"/>
          </a:p>
        </p:txBody>
      </p:sp>
      <p:sp>
        <p:nvSpPr>
          <p:cNvPr id="28" name="Text 25"/>
          <p:cNvSpPr/>
          <p:nvPr/>
        </p:nvSpPr>
        <p:spPr>
          <a:xfrm>
            <a:off x="457200" y="3520440"/>
            <a:ext cx="1965960" cy="1188720"/>
          </a:xfrm>
          <a:prstGeom prst="rect">
            <a:avLst/>
          </a:prstGeom>
          <a:noFill/>
          <a:ln/>
        </p:spPr>
        <p:txBody>
          <a:bodyPr wrap="square" rtlCol="0" anchor="ctr"/>
          <a:lstStyle/>
          <a:p>
            <a:pPr marL="0" indent="0">
              <a:lnSpc>
                <a:spcPct val="135000"/>
              </a:lnSpc>
              <a:buNone/>
            </a:pPr>
            <a:r>
              <a:rPr lang="en-US" sz="950" dirty="0">
                <a:solidFill>
                  <a:srgbClr val="0D1B2A"/>
                </a:solidFill>
              </a:rPr>
              <a:t>Cliquez sur chaque texte pour le modifier.</a:t>
            </a:r>
            <a:endParaRPr lang="en-US" sz="950" dirty="0"/>
          </a:p>
          <a:p>
            <a:pPr marL="0" indent="0">
              <a:lnSpc>
                <a:spcPct val="135000"/>
              </a:lnSpc>
              <a:buNone/>
            </a:pPr>
            <a:r>
              <a:rPr lang="en-US" sz="950" dirty="0">
                <a:solidFill>
                  <a:srgbClr val="0D1B2A"/>
                </a:solidFill>
              </a:rPr>
              <a:t>Mettez votre prénom, votre métier visé,</a:t>
            </a:r>
            <a:endParaRPr lang="en-US" sz="950" dirty="0"/>
          </a:p>
          <a:p>
            <a:pPr marL="0" indent="0">
              <a:lnSpc>
                <a:spcPct val="135000"/>
              </a:lnSpc>
              <a:buNone/>
            </a:pPr>
            <a:r>
              <a:rPr lang="en-US" sz="950" dirty="0">
                <a:solidFill>
                  <a:srgbClr val="0D1B2A"/>
                </a:solidFill>
              </a:rPr>
              <a:t>vos expériences, vos compétences.</a:t>
            </a:r>
            <a:endParaRPr lang="en-US" sz="950" dirty="0"/>
          </a:p>
        </p:txBody>
      </p:sp>
      <p:sp>
        <p:nvSpPr>
          <p:cNvPr id="29" name="Shape 26"/>
          <p:cNvSpPr/>
          <p:nvPr/>
        </p:nvSpPr>
        <p:spPr>
          <a:xfrm>
            <a:off x="2514600" y="3502152"/>
            <a:ext cx="1901952" cy="1207008"/>
          </a:xfrm>
          <a:prstGeom prst="rect">
            <a:avLst/>
          </a:prstGeom>
          <a:solidFill>
            <a:srgbClr val="E0F7FA"/>
          </a:solidFill>
          <a:ln/>
        </p:spPr>
        <p:txBody>
          <a:bodyPr/>
          <a:lstStyle/>
          <a:p>
            <a:endParaRPr lang="fr-FR"/>
          </a:p>
        </p:txBody>
      </p:sp>
      <p:sp>
        <p:nvSpPr>
          <p:cNvPr id="30" name="Text 27"/>
          <p:cNvSpPr/>
          <p:nvPr/>
        </p:nvSpPr>
        <p:spPr>
          <a:xfrm>
            <a:off x="2587752" y="3538728"/>
            <a:ext cx="1783080" cy="1133856"/>
          </a:xfrm>
          <a:prstGeom prst="rect">
            <a:avLst/>
          </a:prstGeom>
          <a:noFill/>
          <a:ln/>
        </p:spPr>
        <p:txBody>
          <a:bodyPr wrap="square" rtlCol="0" anchor="ctr"/>
          <a:lstStyle/>
          <a:p>
            <a:pPr marL="0" indent="0">
              <a:lnSpc>
                <a:spcPct val="135000"/>
              </a:lnSpc>
              <a:buNone/>
            </a:pPr>
            <a:r>
              <a:rPr lang="en-US" sz="900" dirty="0">
                <a:solidFill>
                  <a:srgbClr val="00796B"/>
                </a:solidFill>
              </a:rPr>
              <a:t>📝 Que mettre si vous débutez ?</a:t>
            </a:r>
            <a:endParaRPr lang="en-US" sz="900" dirty="0"/>
          </a:p>
          <a:p>
            <a:pPr marL="0" indent="0">
              <a:lnSpc>
                <a:spcPct val="135000"/>
              </a:lnSpc>
              <a:buNone/>
            </a:pPr>
            <a:r>
              <a:rPr lang="en-US" sz="900" dirty="0">
                <a:solidFill>
                  <a:srgbClr val="00796B"/>
                </a:solidFill>
              </a:rPr>
              <a:t>– Vos jobs d'été, bénévolat</a:t>
            </a:r>
            <a:endParaRPr lang="en-US" sz="900" dirty="0"/>
          </a:p>
          <a:p>
            <a:pPr marL="0" indent="0">
              <a:lnSpc>
                <a:spcPct val="135000"/>
              </a:lnSpc>
              <a:buNone/>
            </a:pPr>
            <a:r>
              <a:rPr lang="en-US" sz="900" dirty="0">
                <a:solidFill>
                  <a:srgbClr val="00796B"/>
                </a:solidFill>
              </a:rPr>
              <a:t>– Vos compétences (conduite, Excel…)</a:t>
            </a:r>
            <a:endParaRPr lang="en-US" sz="900" dirty="0"/>
          </a:p>
          <a:p>
            <a:pPr marL="0" indent="0">
              <a:lnSpc>
                <a:spcPct val="135000"/>
              </a:lnSpc>
              <a:buNone/>
            </a:pPr>
            <a:r>
              <a:rPr lang="en-US" sz="900" dirty="0">
                <a:solidFill>
                  <a:srgbClr val="00796B"/>
                </a:solidFill>
              </a:rPr>
              <a:t>– Vos diplômes et formations</a:t>
            </a:r>
            <a:endParaRPr lang="en-US" sz="900" dirty="0"/>
          </a:p>
        </p:txBody>
      </p:sp>
      <p:sp>
        <p:nvSpPr>
          <p:cNvPr id="31" name="Shape 28"/>
          <p:cNvSpPr/>
          <p:nvPr/>
        </p:nvSpPr>
        <p:spPr>
          <a:xfrm>
            <a:off x="4754880" y="2971800"/>
            <a:ext cx="420624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2" name="Shape 29"/>
          <p:cNvSpPr/>
          <p:nvPr/>
        </p:nvSpPr>
        <p:spPr>
          <a:xfrm>
            <a:off x="4754880" y="2971800"/>
            <a:ext cx="4206240" cy="475488"/>
          </a:xfrm>
          <a:prstGeom prst="rect">
            <a:avLst/>
          </a:prstGeom>
          <a:solidFill>
            <a:srgbClr val="00796B"/>
          </a:solidFill>
          <a:ln/>
        </p:spPr>
        <p:txBody>
          <a:bodyPr/>
          <a:lstStyle/>
          <a:p>
            <a:endParaRPr lang="fr-FR"/>
          </a:p>
        </p:txBody>
      </p:sp>
      <p:sp>
        <p:nvSpPr>
          <p:cNvPr id="33" name="Shape 30"/>
          <p:cNvSpPr/>
          <p:nvPr/>
        </p:nvSpPr>
        <p:spPr>
          <a:xfrm>
            <a:off x="4892040" y="3063240"/>
            <a:ext cx="292608" cy="292608"/>
          </a:xfrm>
          <a:prstGeom prst="ellipse">
            <a:avLst/>
          </a:prstGeom>
          <a:solidFill>
            <a:srgbClr val="FFFFFF"/>
          </a:solidFill>
          <a:ln/>
        </p:spPr>
        <p:txBody>
          <a:bodyPr/>
          <a:lstStyle/>
          <a:p>
            <a:endParaRPr lang="fr-FR"/>
          </a:p>
        </p:txBody>
      </p:sp>
      <p:sp>
        <p:nvSpPr>
          <p:cNvPr id="34" name="Text 31"/>
          <p:cNvSpPr/>
          <p:nvPr/>
        </p:nvSpPr>
        <p:spPr>
          <a:xfrm>
            <a:off x="4892040" y="3063240"/>
            <a:ext cx="292608" cy="292608"/>
          </a:xfrm>
          <a:prstGeom prst="rect">
            <a:avLst/>
          </a:prstGeom>
          <a:noFill/>
          <a:ln/>
        </p:spPr>
        <p:txBody>
          <a:bodyPr wrap="square" rtlCol="0" anchor="ctr"/>
          <a:lstStyle/>
          <a:p>
            <a:pPr marL="0" indent="0" algn="ctr">
              <a:buNone/>
            </a:pPr>
            <a:r>
              <a:rPr lang="en-US" sz="1300" b="1" dirty="0">
                <a:solidFill>
                  <a:srgbClr val="00796B"/>
                </a:solidFill>
              </a:rPr>
              <a:t>4</a:t>
            </a:r>
            <a:endParaRPr lang="en-US" sz="1300" dirty="0"/>
          </a:p>
        </p:txBody>
      </p:sp>
      <p:sp>
        <p:nvSpPr>
          <p:cNvPr id="35" name="Text 32"/>
          <p:cNvSpPr/>
          <p:nvPr/>
        </p:nvSpPr>
        <p:spPr>
          <a:xfrm>
            <a:off x="5285232" y="3063240"/>
            <a:ext cx="3547872" cy="292608"/>
          </a:xfrm>
          <a:prstGeom prst="rect">
            <a:avLst/>
          </a:prstGeom>
          <a:noFill/>
          <a:ln/>
        </p:spPr>
        <p:txBody>
          <a:bodyPr wrap="square" lIns="0" tIns="0" rIns="0" bIns="0" rtlCol="0" anchor="ctr"/>
          <a:lstStyle/>
          <a:p>
            <a:pPr marL="0" indent="0">
              <a:buNone/>
            </a:pPr>
            <a:r>
              <a:rPr lang="en-US" sz="1200" b="1" dirty="0">
                <a:solidFill>
                  <a:srgbClr val="FFFFFF"/>
                </a:solidFill>
              </a:rPr>
              <a:t>Télécharger en PDF</a:t>
            </a:r>
            <a:endParaRPr lang="en-US" sz="1200" dirty="0"/>
          </a:p>
        </p:txBody>
      </p:sp>
      <p:sp>
        <p:nvSpPr>
          <p:cNvPr id="36" name="Text 33"/>
          <p:cNvSpPr/>
          <p:nvPr/>
        </p:nvSpPr>
        <p:spPr>
          <a:xfrm>
            <a:off x="4892040" y="3520440"/>
            <a:ext cx="1965960" cy="1188720"/>
          </a:xfrm>
          <a:prstGeom prst="rect">
            <a:avLst/>
          </a:prstGeom>
          <a:noFill/>
          <a:ln/>
        </p:spPr>
        <p:txBody>
          <a:bodyPr wrap="square" rtlCol="0" anchor="ctr"/>
          <a:lstStyle/>
          <a:p>
            <a:pPr marL="0" indent="0">
              <a:lnSpc>
                <a:spcPct val="135000"/>
              </a:lnSpc>
              <a:buNone/>
            </a:pPr>
            <a:r>
              <a:rPr lang="en-US" sz="950" dirty="0">
                <a:solidFill>
                  <a:srgbClr val="0D1B2A"/>
                </a:solidFill>
              </a:rPr>
              <a:t>Cliquez sur le bouton violet</a:t>
            </a:r>
            <a:endParaRPr lang="en-US" sz="950" dirty="0"/>
          </a:p>
          <a:p>
            <a:pPr marL="0" indent="0">
              <a:lnSpc>
                <a:spcPct val="135000"/>
              </a:lnSpc>
              <a:buNone/>
            </a:pPr>
            <a:r>
              <a:rPr lang="en-US" sz="950" dirty="0">
                <a:solidFill>
                  <a:srgbClr val="0D1B2A"/>
                </a:solidFill>
              </a:rPr>
              <a:t>« Partager » en haut à droite.</a:t>
            </a:r>
            <a:endParaRPr lang="en-US" sz="950" dirty="0"/>
          </a:p>
          <a:p>
            <a:pPr marL="0" indent="0">
              <a:lnSpc>
                <a:spcPct val="135000"/>
              </a:lnSpc>
              <a:buNone/>
            </a:pPr>
            <a:r>
              <a:rPr lang="en-US" sz="950" dirty="0">
                <a:solidFill>
                  <a:srgbClr val="0D1B2A"/>
                </a:solidFill>
              </a:rPr>
              <a:t>Choisissez « Télécharger »</a:t>
            </a:r>
            <a:endParaRPr lang="en-US" sz="950" dirty="0"/>
          </a:p>
          <a:p>
            <a:pPr marL="0" indent="0">
              <a:lnSpc>
                <a:spcPct val="135000"/>
              </a:lnSpc>
              <a:buNone/>
            </a:pPr>
            <a:r>
              <a:rPr lang="en-US" sz="950" dirty="0">
                <a:solidFill>
                  <a:srgbClr val="0D1B2A"/>
                </a:solidFill>
              </a:rPr>
              <a:t>puis sélectionnez « PDF ».</a:t>
            </a:r>
            <a:endParaRPr lang="en-US" sz="950" dirty="0"/>
          </a:p>
        </p:txBody>
      </p:sp>
      <p:sp>
        <p:nvSpPr>
          <p:cNvPr id="37" name="Shape 34"/>
          <p:cNvSpPr/>
          <p:nvPr/>
        </p:nvSpPr>
        <p:spPr>
          <a:xfrm>
            <a:off x="6949440" y="3502152"/>
            <a:ext cx="1901952" cy="1207008"/>
          </a:xfrm>
          <a:prstGeom prst="rect">
            <a:avLst/>
          </a:prstGeom>
          <a:solidFill>
            <a:srgbClr val="E0F7FA"/>
          </a:solidFill>
          <a:ln/>
        </p:spPr>
        <p:txBody>
          <a:bodyPr/>
          <a:lstStyle/>
          <a:p>
            <a:endParaRPr lang="fr-FR"/>
          </a:p>
        </p:txBody>
      </p:sp>
      <p:sp>
        <p:nvSpPr>
          <p:cNvPr id="38" name="Text 35"/>
          <p:cNvSpPr/>
          <p:nvPr/>
        </p:nvSpPr>
        <p:spPr>
          <a:xfrm>
            <a:off x="7022592" y="3538728"/>
            <a:ext cx="1783080" cy="1133856"/>
          </a:xfrm>
          <a:prstGeom prst="rect">
            <a:avLst/>
          </a:prstGeom>
          <a:noFill/>
          <a:ln/>
        </p:spPr>
        <p:txBody>
          <a:bodyPr wrap="square" rtlCol="0" anchor="ctr"/>
          <a:lstStyle/>
          <a:p>
            <a:pPr marL="0" indent="0">
              <a:lnSpc>
                <a:spcPct val="135000"/>
              </a:lnSpc>
              <a:buNone/>
            </a:pPr>
            <a:r>
              <a:rPr lang="en-US" sz="900" dirty="0">
                <a:solidFill>
                  <a:srgbClr val="00796B"/>
                </a:solidFill>
              </a:rPr>
              <a:t>📂 Nommez votre fichier :</a:t>
            </a:r>
            <a:endParaRPr lang="en-US" sz="900" dirty="0"/>
          </a:p>
          <a:p>
            <a:pPr marL="0" indent="0">
              <a:lnSpc>
                <a:spcPct val="135000"/>
              </a:lnSpc>
              <a:buNone/>
            </a:pPr>
            <a:r>
              <a:rPr lang="en-US" sz="900" dirty="0">
                <a:solidFill>
                  <a:srgbClr val="00796B"/>
                </a:solidFill>
              </a:rPr>
              <a:t>Prenom_Nom_CV.pdf</a:t>
            </a:r>
            <a:endParaRPr lang="en-US" sz="900" dirty="0"/>
          </a:p>
          <a:p>
            <a:pPr marL="0" indent="0">
              <a:lnSpc>
                <a:spcPct val="135000"/>
              </a:lnSpc>
              <a:buNone/>
            </a:pPr>
            <a:r>
              <a:rPr lang="en-US" sz="900" dirty="0">
                <a:solidFill>
                  <a:srgbClr val="00796B"/>
                </a:solidFill>
              </a:rPr>
              <a:t>Ex : Marie_Martin_CV.pdf</a:t>
            </a:r>
            <a:endParaRPr lang="en-US" sz="900" dirty="0"/>
          </a:p>
          <a:p>
            <a:pPr marL="0" indent="0">
              <a:lnSpc>
                <a:spcPct val="135000"/>
              </a:lnSpc>
              <a:buNone/>
            </a:pPr>
            <a:r>
              <a:rPr lang="en-US" sz="900" dirty="0">
                <a:solidFill>
                  <a:srgbClr val="00796B"/>
                </a:solidFill>
              </a:rPr>
              <a:t>(jamais : cv_final_VRAI.pdf 😄)</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2 · SLIDE 7</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Les sections essentielles d'un CV</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Que mettre ? Dans quel ordre ? Avec des exemples réels</a:t>
            </a:r>
            <a:endParaRPr lang="en-US" sz="900" dirty="0"/>
          </a:p>
        </p:txBody>
      </p:sp>
      <p:sp>
        <p:nvSpPr>
          <p:cNvPr id="7" name="Shape 4"/>
          <p:cNvSpPr/>
          <p:nvPr/>
        </p:nvSpPr>
        <p:spPr>
          <a:xfrm>
            <a:off x="320040" y="1005840"/>
            <a:ext cx="4160520" cy="11887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4160520" cy="329184"/>
          </a:xfrm>
          <a:prstGeom prst="rect">
            <a:avLst/>
          </a:prstGeom>
          <a:solidFill>
            <a:srgbClr val="1565C0"/>
          </a:solidFill>
          <a:ln/>
        </p:spPr>
        <p:txBody>
          <a:bodyPr/>
          <a:lstStyle/>
          <a:p>
            <a:endParaRPr lang="fr-FR"/>
          </a:p>
        </p:txBody>
      </p:sp>
      <p:sp>
        <p:nvSpPr>
          <p:cNvPr id="9" name="Text 6"/>
          <p:cNvSpPr/>
          <p:nvPr/>
        </p:nvSpPr>
        <p:spPr>
          <a:xfrm>
            <a:off x="429768" y="1042416"/>
            <a:ext cx="2560320" cy="256032"/>
          </a:xfrm>
          <a:prstGeom prst="rect">
            <a:avLst/>
          </a:prstGeom>
          <a:noFill/>
          <a:ln/>
        </p:spPr>
        <p:txBody>
          <a:bodyPr wrap="square" lIns="0" tIns="0" rIns="0" bIns="0" rtlCol="0" anchor="ctr"/>
          <a:lstStyle/>
          <a:p>
            <a:pPr marL="0" indent="0">
              <a:buNone/>
            </a:pPr>
            <a:r>
              <a:rPr lang="en-US" sz="1150" b="1" dirty="0">
                <a:solidFill>
                  <a:srgbClr val="FFFFFF"/>
                </a:solidFill>
              </a:rPr>
              <a:t>En-tête</a:t>
            </a:r>
            <a:endParaRPr lang="en-US" sz="1150" dirty="0"/>
          </a:p>
        </p:txBody>
      </p:sp>
      <p:sp>
        <p:nvSpPr>
          <p:cNvPr id="10" name="Text 7"/>
          <p:cNvSpPr/>
          <p:nvPr/>
        </p:nvSpPr>
        <p:spPr>
          <a:xfrm>
            <a:off x="3337560" y="1060704"/>
            <a:ext cx="1051560" cy="219456"/>
          </a:xfrm>
          <a:prstGeom prst="rect">
            <a:avLst/>
          </a:prstGeom>
          <a:noFill/>
          <a:ln/>
        </p:spPr>
        <p:txBody>
          <a:bodyPr wrap="square" lIns="0" tIns="0" rIns="0" bIns="0" rtlCol="0" anchor="ctr"/>
          <a:lstStyle/>
          <a:p>
            <a:pPr marL="0" indent="0" algn="r">
              <a:buNone/>
            </a:pPr>
            <a:r>
              <a:rPr lang="en-US" sz="900" dirty="0">
                <a:solidFill>
                  <a:srgbClr val="CCE8FF"/>
                </a:solidFill>
              </a:rPr>
              <a:t>Obligatoire</a:t>
            </a:r>
            <a:endParaRPr lang="en-US" sz="900" dirty="0"/>
          </a:p>
        </p:txBody>
      </p:sp>
      <p:sp>
        <p:nvSpPr>
          <p:cNvPr id="11" name="Text 8"/>
          <p:cNvSpPr/>
          <p:nvPr/>
        </p:nvSpPr>
        <p:spPr>
          <a:xfrm>
            <a:off x="429768" y="1389888"/>
            <a:ext cx="3959352" cy="219456"/>
          </a:xfrm>
          <a:prstGeom prst="rect">
            <a:avLst/>
          </a:prstGeom>
          <a:noFill/>
          <a:ln/>
        </p:spPr>
        <p:txBody>
          <a:bodyPr wrap="square" rtlCol="0" anchor="ctr"/>
          <a:lstStyle/>
          <a:p>
            <a:pPr marL="0" indent="0">
              <a:buNone/>
            </a:pPr>
            <a:r>
              <a:rPr lang="en-US" sz="950" dirty="0">
                <a:solidFill>
                  <a:srgbClr val="0D1B2A"/>
                </a:solidFill>
              </a:rPr>
              <a:t>• Prénom + Nom en grand</a:t>
            </a:r>
            <a:endParaRPr lang="en-US" sz="950" dirty="0"/>
          </a:p>
        </p:txBody>
      </p:sp>
      <p:sp>
        <p:nvSpPr>
          <p:cNvPr id="12" name="Text 9"/>
          <p:cNvSpPr/>
          <p:nvPr/>
        </p:nvSpPr>
        <p:spPr>
          <a:xfrm>
            <a:off x="429768" y="1627632"/>
            <a:ext cx="3959352" cy="219456"/>
          </a:xfrm>
          <a:prstGeom prst="rect">
            <a:avLst/>
          </a:prstGeom>
          <a:noFill/>
          <a:ln/>
        </p:spPr>
        <p:txBody>
          <a:bodyPr wrap="square" rtlCol="0" anchor="ctr"/>
          <a:lstStyle/>
          <a:p>
            <a:pPr marL="0" indent="0">
              <a:buNone/>
            </a:pPr>
            <a:r>
              <a:rPr lang="en-US" sz="950" dirty="0">
                <a:solidFill>
                  <a:srgbClr val="0D1B2A"/>
                </a:solidFill>
              </a:rPr>
              <a:t>• Titre du poste visé</a:t>
            </a:r>
            <a:endParaRPr lang="en-US" sz="950" dirty="0"/>
          </a:p>
        </p:txBody>
      </p:sp>
      <p:sp>
        <p:nvSpPr>
          <p:cNvPr id="13" name="Text 10"/>
          <p:cNvSpPr/>
          <p:nvPr/>
        </p:nvSpPr>
        <p:spPr>
          <a:xfrm>
            <a:off x="429768" y="1865376"/>
            <a:ext cx="3959352" cy="219456"/>
          </a:xfrm>
          <a:prstGeom prst="rect">
            <a:avLst/>
          </a:prstGeom>
          <a:noFill/>
          <a:ln/>
        </p:spPr>
        <p:txBody>
          <a:bodyPr wrap="square" rtlCol="0" anchor="ctr"/>
          <a:lstStyle/>
          <a:p>
            <a:pPr marL="0" indent="0">
              <a:buNone/>
            </a:pPr>
            <a:r>
              <a:rPr lang="en-US" sz="950" dirty="0">
                <a:solidFill>
                  <a:srgbClr val="0D1B2A"/>
                </a:solidFill>
              </a:rPr>
              <a:t>• Email + Téléphone + Ville</a:t>
            </a:r>
            <a:endParaRPr lang="en-US" sz="950" dirty="0"/>
          </a:p>
        </p:txBody>
      </p:sp>
      <p:sp>
        <p:nvSpPr>
          <p:cNvPr id="14" name="Shape 11"/>
          <p:cNvSpPr/>
          <p:nvPr/>
        </p:nvSpPr>
        <p:spPr>
          <a:xfrm>
            <a:off x="320040" y="2331720"/>
            <a:ext cx="4160520" cy="11887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5" name="Shape 12"/>
          <p:cNvSpPr/>
          <p:nvPr/>
        </p:nvSpPr>
        <p:spPr>
          <a:xfrm>
            <a:off x="320040" y="2331720"/>
            <a:ext cx="4160520" cy="329184"/>
          </a:xfrm>
          <a:prstGeom prst="rect">
            <a:avLst/>
          </a:prstGeom>
          <a:solidFill>
            <a:srgbClr val="0B1F3A"/>
          </a:solidFill>
          <a:ln/>
        </p:spPr>
        <p:txBody>
          <a:bodyPr/>
          <a:lstStyle/>
          <a:p>
            <a:endParaRPr lang="fr-FR"/>
          </a:p>
        </p:txBody>
      </p:sp>
      <p:sp>
        <p:nvSpPr>
          <p:cNvPr id="16" name="Text 13"/>
          <p:cNvSpPr/>
          <p:nvPr/>
        </p:nvSpPr>
        <p:spPr>
          <a:xfrm>
            <a:off x="429768" y="2368296"/>
            <a:ext cx="2560320" cy="256032"/>
          </a:xfrm>
          <a:prstGeom prst="rect">
            <a:avLst/>
          </a:prstGeom>
          <a:noFill/>
          <a:ln/>
        </p:spPr>
        <p:txBody>
          <a:bodyPr wrap="square" lIns="0" tIns="0" rIns="0" bIns="0" rtlCol="0" anchor="ctr"/>
          <a:lstStyle/>
          <a:p>
            <a:pPr marL="0" indent="0">
              <a:buNone/>
            </a:pPr>
            <a:r>
              <a:rPr lang="en-US" sz="1150" b="1" dirty="0">
                <a:solidFill>
                  <a:srgbClr val="FFFFFF"/>
                </a:solidFill>
              </a:rPr>
              <a:t>Profil / Accroche</a:t>
            </a:r>
            <a:endParaRPr lang="en-US" sz="1150" dirty="0"/>
          </a:p>
        </p:txBody>
      </p:sp>
      <p:sp>
        <p:nvSpPr>
          <p:cNvPr id="17" name="Text 14"/>
          <p:cNvSpPr/>
          <p:nvPr/>
        </p:nvSpPr>
        <p:spPr>
          <a:xfrm>
            <a:off x="3337560" y="2386584"/>
            <a:ext cx="1051560" cy="219456"/>
          </a:xfrm>
          <a:prstGeom prst="rect">
            <a:avLst/>
          </a:prstGeom>
          <a:noFill/>
          <a:ln/>
        </p:spPr>
        <p:txBody>
          <a:bodyPr wrap="square" lIns="0" tIns="0" rIns="0" bIns="0" rtlCol="0" anchor="ctr"/>
          <a:lstStyle/>
          <a:p>
            <a:pPr marL="0" indent="0" algn="r">
              <a:buNone/>
            </a:pPr>
            <a:r>
              <a:rPr lang="en-US" sz="900" dirty="0">
                <a:solidFill>
                  <a:srgbClr val="CCE8FF"/>
                </a:solidFill>
              </a:rPr>
              <a:t>Très utile</a:t>
            </a:r>
            <a:endParaRPr lang="en-US" sz="900" dirty="0"/>
          </a:p>
        </p:txBody>
      </p:sp>
      <p:sp>
        <p:nvSpPr>
          <p:cNvPr id="18" name="Text 15"/>
          <p:cNvSpPr/>
          <p:nvPr/>
        </p:nvSpPr>
        <p:spPr>
          <a:xfrm>
            <a:off x="429768" y="2715768"/>
            <a:ext cx="3959352" cy="219456"/>
          </a:xfrm>
          <a:prstGeom prst="rect">
            <a:avLst/>
          </a:prstGeom>
          <a:noFill/>
          <a:ln/>
        </p:spPr>
        <p:txBody>
          <a:bodyPr wrap="square" rtlCol="0" anchor="ctr"/>
          <a:lstStyle/>
          <a:p>
            <a:pPr marL="0" indent="0">
              <a:buNone/>
            </a:pPr>
            <a:r>
              <a:rPr lang="en-US" sz="950" dirty="0">
                <a:solidFill>
                  <a:srgbClr val="0D1B2A"/>
                </a:solidFill>
              </a:rPr>
              <a:t>• 2–3 phrases sur qui vous êtes</a:t>
            </a:r>
            <a:endParaRPr lang="en-US" sz="950" dirty="0"/>
          </a:p>
        </p:txBody>
      </p:sp>
      <p:sp>
        <p:nvSpPr>
          <p:cNvPr id="19" name="Text 16"/>
          <p:cNvSpPr/>
          <p:nvPr/>
        </p:nvSpPr>
        <p:spPr>
          <a:xfrm>
            <a:off x="429768" y="2953512"/>
            <a:ext cx="3959352" cy="219456"/>
          </a:xfrm>
          <a:prstGeom prst="rect">
            <a:avLst/>
          </a:prstGeom>
          <a:noFill/>
          <a:ln/>
        </p:spPr>
        <p:txBody>
          <a:bodyPr wrap="square" rtlCol="0" anchor="ctr"/>
          <a:lstStyle/>
          <a:p>
            <a:pPr marL="0" indent="0">
              <a:buNone/>
            </a:pPr>
            <a:r>
              <a:rPr lang="en-US" sz="950" dirty="0">
                <a:solidFill>
                  <a:srgbClr val="0D1B2A"/>
                </a:solidFill>
              </a:rPr>
              <a:t>• Ce que vous savez faire</a:t>
            </a:r>
            <a:endParaRPr lang="en-US" sz="950" dirty="0"/>
          </a:p>
        </p:txBody>
      </p:sp>
      <p:sp>
        <p:nvSpPr>
          <p:cNvPr id="20" name="Text 17"/>
          <p:cNvSpPr/>
          <p:nvPr/>
        </p:nvSpPr>
        <p:spPr>
          <a:xfrm>
            <a:off x="429768" y="3191256"/>
            <a:ext cx="3959352" cy="219456"/>
          </a:xfrm>
          <a:prstGeom prst="rect">
            <a:avLst/>
          </a:prstGeom>
          <a:noFill/>
          <a:ln/>
        </p:spPr>
        <p:txBody>
          <a:bodyPr wrap="square" rtlCol="0" anchor="ctr"/>
          <a:lstStyle/>
          <a:p>
            <a:pPr marL="0" indent="0">
              <a:buNone/>
            </a:pPr>
            <a:r>
              <a:rPr lang="en-US" sz="950" dirty="0">
                <a:solidFill>
                  <a:srgbClr val="0D1B2A"/>
                </a:solidFill>
              </a:rPr>
              <a:t>• Ce que vous cherchez</a:t>
            </a:r>
            <a:endParaRPr lang="en-US" sz="950" dirty="0"/>
          </a:p>
        </p:txBody>
      </p:sp>
      <p:sp>
        <p:nvSpPr>
          <p:cNvPr id="21" name="Shape 18"/>
          <p:cNvSpPr/>
          <p:nvPr/>
        </p:nvSpPr>
        <p:spPr>
          <a:xfrm>
            <a:off x="320040" y="3657600"/>
            <a:ext cx="4160520" cy="11887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320040" y="3657600"/>
            <a:ext cx="4160520" cy="329184"/>
          </a:xfrm>
          <a:prstGeom prst="rect">
            <a:avLst/>
          </a:prstGeom>
          <a:solidFill>
            <a:srgbClr val="1565C0"/>
          </a:solidFill>
          <a:ln/>
        </p:spPr>
        <p:txBody>
          <a:bodyPr/>
          <a:lstStyle/>
          <a:p>
            <a:endParaRPr lang="fr-FR"/>
          </a:p>
        </p:txBody>
      </p:sp>
      <p:sp>
        <p:nvSpPr>
          <p:cNvPr id="23" name="Text 20"/>
          <p:cNvSpPr/>
          <p:nvPr/>
        </p:nvSpPr>
        <p:spPr>
          <a:xfrm>
            <a:off x="429768" y="3694176"/>
            <a:ext cx="2560320" cy="256032"/>
          </a:xfrm>
          <a:prstGeom prst="rect">
            <a:avLst/>
          </a:prstGeom>
          <a:noFill/>
          <a:ln/>
        </p:spPr>
        <p:txBody>
          <a:bodyPr wrap="square" lIns="0" tIns="0" rIns="0" bIns="0" rtlCol="0" anchor="ctr"/>
          <a:lstStyle/>
          <a:p>
            <a:pPr marL="0" indent="0">
              <a:buNone/>
            </a:pPr>
            <a:r>
              <a:rPr lang="en-US" sz="1150" b="1" dirty="0">
                <a:solidFill>
                  <a:srgbClr val="FFFFFF"/>
                </a:solidFill>
              </a:rPr>
              <a:t>Expériences</a:t>
            </a:r>
            <a:endParaRPr lang="en-US" sz="1150" dirty="0"/>
          </a:p>
        </p:txBody>
      </p:sp>
      <p:sp>
        <p:nvSpPr>
          <p:cNvPr id="24" name="Text 21"/>
          <p:cNvSpPr/>
          <p:nvPr/>
        </p:nvSpPr>
        <p:spPr>
          <a:xfrm>
            <a:off x="3337560" y="3712464"/>
            <a:ext cx="1051560" cy="219456"/>
          </a:xfrm>
          <a:prstGeom prst="rect">
            <a:avLst/>
          </a:prstGeom>
          <a:noFill/>
          <a:ln/>
        </p:spPr>
        <p:txBody>
          <a:bodyPr wrap="square" lIns="0" tIns="0" rIns="0" bIns="0" rtlCol="0" anchor="ctr"/>
          <a:lstStyle/>
          <a:p>
            <a:pPr marL="0" indent="0" algn="r">
              <a:buNone/>
            </a:pPr>
            <a:r>
              <a:rPr lang="en-US" sz="900" dirty="0">
                <a:solidFill>
                  <a:srgbClr val="CCE8FF"/>
                </a:solidFill>
              </a:rPr>
              <a:t>Obligatoire</a:t>
            </a:r>
            <a:endParaRPr lang="en-US" sz="900" dirty="0"/>
          </a:p>
        </p:txBody>
      </p:sp>
      <p:sp>
        <p:nvSpPr>
          <p:cNvPr id="25" name="Text 22"/>
          <p:cNvSpPr/>
          <p:nvPr/>
        </p:nvSpPr>
        <p:spPr>
          <a:xfrm>
            <a:off x="429768" y="4041648"/>
            <a:ext cx="3959352" cy="219456"/>
          </a:xfrm>
          <a:prstGeom prst="rect">
            <a:avLst/>
          </a:prstGeom>
          <a:noFill/>
          <a:ln/>
        </p:spPr>
        <p:txBody>
          <a:bodyPr wrap="square" rtlCol="0" anchor="ctr"/>
          <a:lstStyle/>
          <a:p>
            <a:pPr marL="0" indent="0">
              <a:buNone/>
            </a:pPr>
            <a:r>
              <a:rPr lang="en-US" sz="950" dirty="0">
                <a:solidFill>
                  <a:srgbClr val="0D1B2A"/>
                </a:solidFill>
              </a:rPr>
              <a:t>• Poste + Entreprise + Dates</a:t>
            </a:r>
            <a:endParaRPr lang="en-US" sz="950" dirty="0"/>
          </a:p>
        </p:txBody>
      </p:sp>
      <p:sp>
        <p:nvSpPr>
          <p:cNvPr id="26" name="Text 23"/>
          <p:cNvSpPr/>
          <p:nvPr/>
        </p:nvSpPr>
        <p:spPr>
          <a:xfrm>
            <a:off x="429768" y="4279392"/>
            <a:ext cx="3959352" cy="219456"/>
          </a:xfrm>
          <a:prstGeom prst="rect">
            <a:avLst/>
          </a:prstGeom>
          <a:noFill/>
          <a:ln/>
        </p:spPr>
        <p:txBody>
          <a:bodyPr wrap="square" rtlCol="0" anchor="ctr"/>
          <a:lstStyle/>
          <a:p>
            <a:pPr marL="0" indent="0">
              <a:buNone/>
            </a:pPr>
            <a:r>
              <a:rPr lang="en-US" sz="950" dirty="0">
                <a:solidFill>
                  <a:srgbClr val="0D1B2A"/>
                </a:solidFill>
              </a:rPr>
              <a:t>• 2–3 missions concrètes</a:t>
            </a:r>
            <a:endParaRPr lang="en-US" sz="950" dirty="0"/>
          </a:p>
        </p:txBody>
      </p:sp>
      <p:sp>
        <p:nvSpPr>
          <p:cNvPr id="27" name="Text 24"/>
          <p:cNvSpPr/>
          <p:nvPr/>
        </p:nvSpPr>
        <p:spPr>
          <a:xfrm>
            <a:off x="429768" y="4517136"/>
            <a:ext cx="3959352" cy="219456"/>
          </a:xfrm>
          <a:prstGeom prst="rect">
            <a:avLst/>
          </a:prstGeom>
          <a:noFill/>
          <a:ln/>
        </p:spPr>
        <p:txBody>
          <a:bodyPr wrap="square" rtlCol="0" anchor="ctr"/>
          <a:lstStyle/>
          <a:p>
            <a:pPr marL="0" indent="0">
              <a:buNone/>
            </a:pPr>
            <a:r>
              <a:rPr lang="en-US" sz="950" dirty="0">
                <a:solidFill>
                  <a:srgbClr val="0D1B2A"/>
                </a:solidFill>
              </a:rPr>
              <a:t>• Résultats si possible</a:t>
            </a:r>
            <a:endParaRPr lang="en-US" sz="950" dirty="0"/>
          </a:p>
        </p:txBody>
      </p:sp>
      <p:sp>
        <p:nvSpPr>
          <p:cNvPr id="28" name="Shape 25"/>
          <p:cNvSpPr/>
          <p:nvPr/>
        </p:nvSpPr>
        <p:spPr>
          <a:xfrm>
            <a:off x="4892040" y="1005840"/>
            <a:ext cx="4160520" cy="18745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9" name="Shape 26"/>
          <p:cNvSpPr/>
          <p:nvPr/>
        </p:nvSpPr>
        <p:spPr>
          <a:xfrm>
            <a:off x="4892040" y="1005840"/>
            <a:ext cx="4160520" cy="329184"/>
          </a:xfrm>
          <a:prstGeom prst="rect">
            <a:avLst/>
          </a:prstGeom>
          <a:solidFill>
            <a:srgbClr val="0B1F3A"/>
          </a:solidFill>
          <a:ln/>
        </p:spPr>
        <p:txBody>
          <a:bodyPr/>
          <a:lstStyle/>
          <a:p>
            <a:endParaRPr lang="fr-FR"/>
          </a:p>
        </p:txBody>
      </p:sp>
      <p:sp>
        <p:nvSpPr>
          <p:cNvPr id="30" name="Text 27"/>
          <p:cNvSpPr/>
          <p:nvPr/>
        </p:nvSpPr>
        <p:spPr>
          <a:xfrm>
            <a:off x="5001768" y="1042416"/>
            <a:ext cx="2560320" cy="256032"/>
          </a:xfrm>
          <a:prstGeom prst="rect">
            <a:avLst/>
          </a:prstGeom>
          <a:noFill/>
          <a:ln/>
        </p:spPr>
        <p:txBody>
          <a:bodyPr wrap="square" lIns="0" tIns="0" rIns="0" bIns="0" rtlCol="0" anchor="ctr"/>
          <a:lstStyle/>
          <a:p>
            <a:pPr marL="0" indent="0">
              <a:buNone/>
            </a:pPr>
            <a:r>
              <a:rPr lang="en-US" sz="1150" b="1" dirty="0">
                <a:solidFill>
                  <a:srgbClr val="FFFFFF"/>
                </a:solidFill>
              </a:rPr>
              <a:t>Formation</a:t>
            </a:r>
            <a:endParaRPr lang="en-US" sz="1150" dirty="0"/>
          </a:p>
        </p:txBody>
      </p:sp>
      <p:sp>
        <p:nvSpPr>
          <p:cNvPr id="31" name="Text 28"/>
          <p:cNvSpPr/>
          <p:nvPr/>
        </p:nvSpPr>
        <p:spPr>
          <a:xfrm>
            <a:off x="7909560" y="1060704"/>
            <a:ext cx="1051560" cy="219456"/>
          </a:xfrm>
          <a:prstGeom prst="rect">
            <a:avLst/>
          </a:prstGeom>
          <a:noFill/>
          <a:ln/>
        </p:spPr>
        <p:txBody>
          <a:bodyPr wrap="square" lIns="0" tIns="0" rIns="0" bIns="0" rtlCol="0" anchor="ctr"/>
          <a:lstStyle/>
          <a:p>
            <a:pPr marL="0" indent="0" algn="r">
              <a:buNone/>
            </a:pPr>
            <a:r>
              <a:rPr lang="en-US" sz="900" dirty="0">
                <a:solidFill>
                  <a:srgbClr val="CCE8FF"/>
                </a:solidFill>
              </a:rPr>
              <a:t>Obligatoire</a:t>
            </a:r>
            <a:endParaRPr lang="en-US" sz="900" dirty="0"/>
          </a:p>
        </p:txBody>
      </p:sp>
      <p:sp>
        <p:nvSpPr>
          <p:cNvPr id="32" name="Text 29"/>
          <p:cNvSpPr/>
          <p:nvPr/>
        </p:nvSpPr>
        <p:spPr>
          <a:xfrm>
            <a:off x="5001768" y="1389888"/>
            <a:ext cx="1828800" cy="219456"/>
          </a:xfrm>
          <a:prstGeom prst="rect">
            <a:avLst/>
          </a:prstGeom>
          <a:noFill/>
          <a:ln/>
        </p:spPr>
        <p:txBody>
          <a:bodyPr wrap="square" rtlCol="0" anchor="ctr"/>
          <a:lstStyle/>
          <a:p>
            <a:pPr marL="0" indent="0">
              <a:buNone/>
            </a:pPr>
            <a:r>
              <a:rPr lang="en-US" sz="950" dirty="0">
                <a:solidFill>
                  <a:srgbClr val="0D1B2A"/>
                </a:solidFill>
              </a:rPr>
              <a:t>• Diplôme + Établissement + Année</a:t>
            </a:r>
            <a:endParaRPr lang="en-US" sz="950" dirty="0"/>
          </a:p>
        </p:txBody>
      </p:sp>
      <p:sp>
        <p:nvSpPr>
          <p:cNvPr id="33" name="Text 30"/>
          <p:cNvSpPr/>
          <p:nvPr/>
        </p:nvSpPr>
        <p:spPr>
          <a:xfrm>
            <a:off x="5001768" y="1627632"/>
            <a:ext cx="1828800" cy="219456"/>
          </a:xfrm>
          <a:prstGeom prst="rect">
            <a:avLst/>
          </a:prstGeom>
          <a:noFill/>
          <a:ln/>
        </p:spPr>
        <p:txBody>
          <a:bodyPr wrap="square" rtlCol="0" anchor="ctr"/>
          <a:lstStyle/>
          <a:p>
            <a:pPr marL="0" indent="0">
              <a:buNone/>
            </a:pPr>
            <a:r>
              <a:rPr lang="en-US" sz="950" dirty="0">
                <a:solidFill>
                  <a:srgbClr val="0D1B2A"/>
                </a:solidFill>
              </a:rPr>
              <a:t>• Du plus récent au plus ancien</a:t>
            </a:r>
            <a:endParaRPr lang="en-US" sz="950" dirty="0"/>
          </a:p>
        </p:txBody>
      </p:sp>
      <p:sp>
        <p:nvSpPr>
          <p:cNvPr id="34" name="Shape 31"/>
          <p:cNvSpPr/>
          <p:nvPr/>
        </p:nvSpPr>
        <p:spPr>
          <a:xfrm>
            <a:off x="6949440" y="1389888"/>
            <a:ext cx="1993392" cy="1399032"/>
          </a:xfrm>
          <a:prstGeom prst="rect">
            <a:avLst/>
          </a:prstGeom>
          <a:solidFill>
            <a:srgbClr val="E0F7FA"/>
          </a:solidFill>
          <a:ln/>
        </p:spPr>
        <p:txBody>
          <a:bodyPr/>
          <a:lstStyle/>
          <a:p>
            <a:endParaRPr lang="fr-FR"/>
          </a:p>
        </p:txBody>
      </p:sp>
      <p:sp>
        <p:nvSpPr>
          <p:cNvPr id="35" name="Text 32"/>
          <p:cNvSpPr/>
          <p:nvPr/>
        </p:nvSpPr>
        <p:spPr>
          <a:xfrm>
            <a:off x="7013448" y="1426464"/>
            <a:ext cx="1920240" cy="1344168"/>
          </a:xfrm>
          <a:prstGeom prst="rect">
            <a:avLst/>
          </a:prstGeom>
          <a:noFill/>
          <a:ln/>
        </p:spPr>
        <p:txBody>
          <a:bodyPr wrap="square" rtlCol="0" anchor="ctr"/>
          <a:lstStyle/>
          <a:p>
            <a:pPr marL="0" indent="0">
              <a:lnSpc>
                <a:spcPct val="130000"/>
              </a:lnSpc>
              <a:buNone/>
            </a:pPr>
            <a:r>
              <a:rPr lang="en-US" sz="850" dirty="0">
                <a:solidFill>
                  <a:srgbClr val="00796B"/>
                </a:solidFill>
              </a:rPr>
              <a:t>BEP Vente (Lycée Jean Moulin, 2023)</a:t>
            </a:r>
            <a:endParaRPr lang="en-US" sz="850" dirty="0"/>
          </a:p>
          <a:p>
            <a:pPr marL="0" indent="0">
              <a:lnSpc>
                <a:spcPct val="130000"/>
              </a:lnSpc>
              <a:buNone/>
            </a:pPr>
            <a:r>
              <a:rPr lang="en-US" sz="850" dirty="0">
                <a:solidFill>
                  <a:srgbClr val="00796B"/>
                </a:solidFill>
              </a:rPr>
              <a:t>Brevet des collèges (2021)</a:t>
            </a:r>
            <a:endParaRPr lang="en-US" sz="850" dirty="0"/>
          </a:p>
        </p:txBody>
      </p:sp>
      <p:sp>
        <p:nvSpPr>
          <p:cNvPr id="36" name="Shape 33"/>
          <p:cNvSpPr/>
          <p:nvPr/>
        </p:nvSpPr>
        <p:spPr>
          <a:xfrm>
            <a:off x="4892040" y="3017520"/>
            <a:ext cx="4160520" cy="18745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37" name="Shape 34"/>
          <p:cNvSpPr/>
          <p:nvPr/>
        </p:nvSpPr>
        <p:spPr>
          <a:xfrm>
            <a:off x="4892040" y="3017520"/>
            <a:ext cx="4160520" cy="329184"/>
          </a:xfrm>
          <a:prstGeom prst="rect">
            <a:avLst/>
          </a:prstGeom>
          <a:solidFill>
            <a:srgbClr val="00796B"/>
          </a:solidFill>
          <a:ln/>
        </p:spPr>
        <p:txBody>
          <a:bodyPr/>
          <a:lstStyle/>
          <a:p>
            <a:endParaRPr lang="fr-FR"/>
          </a:p>
        </p:txBody>
      </p:sp>
      <p:sp>
        <p:nvSpPr>
          <p:cNvPr id="38" name="Text 35"/>
          <p:cNvSpPr/>
          <p:nvPr/>
        </p:nvSpPr>
        <p:spPr>
          <a:xfrm>
            <a:off x="5001768" y="3054096"/>
            <a:ext cx="2560320" cy="256032"/>
          </a:xfrm>
          <a:prstGeom prst="rect">
            <a:avLst/>
          </a:prstGeom>
          <a:noFill/>
          <a:ln/>
        </p:spPr>
        <p:txBody>
          <a:bodyPr wrap="square" lIns="0" tIns="0" rIns="0" bIns="0" rtlCol="0" anchor="ctr"/>
          <a:lstStyle/>
          <a:p>
            <a:pPr marL="0" indent="0">
              <a:buNone/>
            </a:pPr>
            <a:r>
              <a:rPr lang="en-US" sz="1150" b="1" dirty="0">
                <a:solidFill>
                  <a:srgbClr val="FFFFFF"/>
                </a:solidFill>
              </a:rPr>
              <a:t>Compétences</a:t>
            </a:r>
            <a:endParaRPr lang="en-US" sz="1150" dirty="0"/>
          </a:p>
        </p:txBody>
      </p:sp>
      <p:sp>
        <p:nvSpPr>
          <p:cNvPr id="39" name="Text 36"/>
          <p:cNvSpPr/>
          <p:nvPr/>
        </p:nvSpPr>
        <p:spPr>
          <a:xfrm>
            <a:off x="7909560" y="3072384"/>
            <a:ext cx="1051560" cy="219456"/>
          </a:xfrm>
          <a:prstGeom prst="rect">
            <a:avLst/>
          </a:prstGeom>
          <a:noFill/>
          <a:ln/>
        </p:spPr>
        <p:txBody>
          <a:bodyPr wrap="square" lIns="0" tIns="0" rIns="0" bIns="0" rtlCol="0" anchor="ctr"/>
          <a:lstStyle/>
          <a:p>
            <a:pPr marL="0" indent="0" algn="r">
              <a:buNone/>
            </a:pPr>
            <a:r>
              <a:rPr lang="en-US" sz="900" dirty="0">
                <a:solidFill>
                  <a:srgbClr val="CCE8FF"/>
                </a:solidFill>
              </a:rPr>
              <a:t>Recommandé</a:t>
            </a:r>
            <a:endParaRPr lang="en-US" sz="900" dirty="0"/>
          </a:p>
        </p:txBody>
      </p:sp>
      <p:sp>
        <p:nvSpPr>
          <p:cNvPr id="40" name="Text 37"/>
          <p:cNvSpPr/>
          <p:nvPr/>
        </p:nvSpPr>
        <p:spPr>
          <a:xfrm>
            <a:off x="5001768" y="3401568"/>
            <a:ext cx="1828800" cy="219456"/>
          </a:xfrm>
          <a:prstGeom prst="rect">
            <a:avLst/>
          </a:prstGeom>
          <a:noFill/>
          <a:ln/>
        </p:spPr>
        <p:txBody>
          <a:bodyPr wrap="square" rtlCol="0" anchor="ctr"/>
          <a:lstStyle/>
          <a:p>
            <a:pPr marL="0" indent="0">
              <a:buNone/>
            </a:pPr>
            <a:r>
              <a:rPr lang="en-US" sz="950" dirty="0">
                <a:solidFill>
                  <a:srgbClr val="0D1B2A"/>
                </a:solidFill>
              </a:rPr>
              <a:t>• Logiciels maîtrisés</a:t>
            </a:r>
            <a:endParaRPr lang="en-US" sz="950" dirty="0"/>
          </a:p>
        </p:txBody>
      </p:sp>
      <p:sp>
        <p:nvSpPr>
          <p:cNvPr id="41" name="Text 38"/>
          <p:cNvSpPr/>
          <p:nvPr/>
        </p:nvSpPr>
        <p:spPr>
          <a:xfrm>
            <a:off x="5001768" y="3639312"/>
            <a:ext cx="1828800" cy="219456"/>
          </a:xfrm>
          <a:prstGeom prst="rect">
            <a:avLst/>
          </a:prstGeom>
          <a:noFill/>
          <a:ln/>
        </p:spPr>
        <p:txBody>
          <a:bodyPr wrap="square" rtlCol="0" anchor="ctr"/>
          <a:lstStyle/>
          <a:p>
            <a:pPr marL="0" indent="0">
              <a:buNone/>
            </a:pPr>
            <a:r>
              <a:rPr lang="en-US" sz="950" dirty="0">
                <a:solidFill>
                  <a:srgbClr val="0D1B2A"/>
                </a:solidFill>
              </a:rPr>
              <a:t>• Langues parlées</a:t>
            </a:r>
            <a:endParaRPr lang="en-US" sz="950" dirty="0"/>
          </a:p>
        </p:txBody>
      </p:sp>
      <p:sp>
        <p:nvSpPr>
          <p:cNvPr id="42" name="Text 39"/>
          <p:cNvSpPr/>
          <p:nvPr/>
        </p:nvSpPr>
        <p:spPr>
          <a:xfrm>
            <a:off x="5001768" y="3877056"/>
            <a:ext cx="1828800" cy="219456"/>
          </a:xfrm>
          <a:prstGeom prst="rect">
            <a:avLst/>
          </a:prstGeom>
          <a:noFill/>
          <a:ln/>
        </p:spPr>
        <p:txBody>
          <a:bodyPr wrap="square" rtlCol="0" anchor="ctr"/>
          <a:lstStyle/>
          <a:p>
            <a:pPr marL="0" indent="0">
              <a:buNone/>
            </a:pPr>
            <a:r>
              <a:rPr lang="en-US" sz="950" dirty="0">
                <a:solidFill>
                  <a:srgbClr val="0D1B2A"/>
                </a:solidFill>
              </a:rPr>
              <a:t>• Permis de conduire</a:t>
            </a:r>
            <a:endParaRPr lang="en-US" sz="950" dirty="0"/>
          </a:p>
        </p:txBody>
      </p:sp>
      <p:sp>
        <p:nvSpPr>
          <p:cNvPr id="43" name="Shape 40"/>
          <p:cNvSpPr/>
          <p:nvPr/>
        </p:nvSpPr>
        <p:spPr>
          <a:xfrm>
            <a:off x="6949440" y="3401568"/>
            <a:ext cx="1993392" cy="1399032"/>
          </a:xfrm>
          <a:prstGeom prst="rect">
            <a:avLst/>
          </a:prstGeom>
          <a:solidFill>
            <a:srgbClr val="E0F7FA"/>
          </a:solidFill>
          <a:ln/>
        </p:spPr>
        <p:txBody>
          <a:bodyPr/>
          <a:lstStyle/>
          <a:p>
            <a:endParaRPr lang="fr-FR"/>
          </a:p>
        </p:txBody>
      </p:sp>
      <p:sp>
        <p:nvSpPr>
          <p:cNvPr id="44" name="Text 41"/>
          <p:cNvSpPr/>
          <p:nvPr/>
        </p:nvSpPr>
        <p:spPr>
          <a:xfrm>
            <a:off x="7013448" y="3438144"/>
            <a:ext cx="1920240" cy="1344168"/>
          </a:xfrm>
          <a:prstGeom prst="rect">
            <a:avLst/>
          </a:prstGeom>
          <a:noFill/>
          <a:ln/>
        </p:spPr>
        <p:txBody>
          <a:bodyPr wrap="square" rtlCol="0" anchor="ctr"/>
          <a:lstStyle/>
          <a:p>
            <a:pPr marL="0" indent="0">
              <a:lnSpc>
                <a:spcPct val="130000"/>
              </a:lnSpc>
              <a:buNone/>
            </a:pPr>
            <a:r>
              <a:rPr lang="en-US" sz="850" dirty="0">
                <a:solidFill>
                  <a:srgbClr val="00796B"/>
                </a:solidFill>
              </a:rPr>
              <a:t>✔ Excel (débutant)</a:t>
            </a:r>
            <a:endParaRPr lang="en-US" sz="850" dirty="0"/>
          </a:p>
          <a:p>
            <a:pPr marL="0" indent="0">
              <a:lnSpc>
                <a:spcPct val="130000"/>
              </a:lnSpc>
              <a:buNone/>
            </a:pPr>
            <a:r>
              <a:rPr lang="en-US" sz="850" dirty="0">
                <a:solidFill>
                  <a:srgbClr val="00796B"/>
                </a:solidFill>
              </a:rPr>
              <a:t>✔ Caisse enregistreuse</a:t>
            </a:r>
            <a:endParaRPr lang="en-US" sz="850" dirty="0"/>
          </a:p>
          <a:p>
            <a:pPr marL="0" indent="0">
              <a:lnSpc>
                <a:spcPct val="130000"/>
              </a:lnSpc>
              <a:buNone/>
            </a:pPr>
            <a:r>
              <a:rPr lang="en-US" sz="850" dirty="0">
                <a:solidFill>
                  <a:srgbClr val="00796B"/>
                </a:solidFill>
              </a:rPr>
              <a:t>✔ Français (langue maternelle)</a:t>
            </a:r>
            <a:endParaRPr lang="en-US" sz="850" dirty="0"/>
          </a:p>
          <a:p>
            <a:pPr marL="0" indent="0">
              <a:lnSpc>
                <a:spcPct val="130000"/>
              </a:lnSpc>
              <a:buNone/>
            </a:pPr>
            <a:r>
              <a:rPr lang="en-US" sz="850" dirty="0">
                <a:solidFill>
                  <a:srgbClr val="00796B"/>
                </a:solidFill>
              </a:rPr>
              <a:t>✔ Anglais (niveau A2)</a:t>
            </a:r>
            <a:endParaRPr lang="en-US" sz="850" dirty="0"/>
          </a:p>
          <a:p>
            <a:pPr marL="0" indent="0">
              <a:lnSpc>
                <a:spcPct val="130000"/>
              </a:lnSpc>
              <a:buNone/>
            </a:pPr>
            <a:r>
              <a:rPr lang="en-US" sz="850" dirty="0">
                <a:solidFill>
                  <a:srgbClr val="00796B"/>
                </a:solidFill>
              </a:rPr>
              <a:t>✔ Permis B</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2 · SLIDE 8</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6 outils pour créer son CV en ligne</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Comparatif avec explication simple pour chaque outil</a:t>
            </a:r>
            <a:endParaRPr lang="en-US" sz="900" dirty="0"/>
          </a:p>
        </p:txBody>
      </p:sp>
      <p:sp>
        <p:nvSpPr>
          <p:cNvPr id="7" name="Shape 4"/>
          <p:cNvSpPr/>
          <p:nvPr/>
        </p:nvSpPr>
        <p:spPr>
          <a:xfrm>
            <a:off x="320040" y="960120"/>
            <a:ext cx="8503920" cy="347472"/>
          </a:xfrm>
          <a:prstGeom prst="rect">
            <a:avLst/>
          </a:prstGeom>
          <a:solidFill>
            <a:srgbClr val="0B1F3A"/>
          </a:solidFill>
          <a:ln/>
        </p:spPr>
        <p:txBody>
          <a:bodyPr/>
          <a:lstStyle/>
          <a:p>
            <a:endParaRPr lang="fr-FR"/>
          </a:p>
        </p:txBody>
      </p:sp>
      <p:sp>
        <p:nvSpPr>
          <p:cNvPr id="8" name="Text 5"/>
          <p:cNvSpPr/>
          <p:nvPr/>
        </p:nvSpPr>
        <p:spPr>
          <a:xfrm>
            <a:off x="347472" y="978408"/>
            <a:ext cx="1097280" cy="310896"/>
          </a:xfrm>
          <a:prstGeom prst="rect">
            <a:avLst/>
          </a:prstGeom>
          <a:noFill/>
          <a:ln/>
        </p:spPr>
        <p:txBody>
          <a:bodyPr wrap="square" rtlCol="0" anchor="ctr"/>
          <a:lstStyle/>
          <a:p>
            <a:pPr marL="0" indent="0">
              <a:buNone/>
            </a:pPr>
            <a:r>
              <a:rPr lang="en-US" sz="950" b="1" dirty="0">
                <a:solidFill>
                  <a:srgbClr val="FFFFFF"/>
                </a:solidFill>
              </a:rPr>
              <a:t>Outil</a:t>
            </a:r>
            <a:endParaRPr lang="en-US" sz="950" dirty="0"/>
          </a:p>
        </p:txBody>
      </p:sp>
      <p:sp>
        <p:nvSpPr>
          <p:cNvPr id="9" name="Text 6"/>
          <p:cNvSpPr/>
          <p:nvPr/>
        </p:nvSpPr>
        <p:spPr>
          <a:xfrm>
            <a:off x="1444752" y="978408"/>
            <a:ext cx="1371600" cy="310896"/>
          </a:xfrm>
          <a:prstGeom prst="rect">
            <a:avLst/>
          </a:prstGeom>
          <a:noFill/>
          <a:ln/>
        </p:spPr>
        <p:txBody>
          <a:bodyPr wrap="square" rtlCol="0" anchor="ctr"/>
          <a:lstStyle/>
          <a:p>
            <a:pPr marL="0" indent="0">
              <a:buNone/>
            </a:pPr>
            <a:r>
              <a:rPr lang="en-US" sz="950" b="1" dirty="0">
                <a:solidFill>
                  <a:srgbClr val="FFFFFF"/>
                </a:solidFill>
              </a:rPr>
              <a:t>Site</a:t>
            </a:r>
            <a:endParaRPr lang="en-US" sz="950" dirty="0"/>
          </a:p>
        </p:txBody>
      </p:sp>
      <p:sp>
        <p:nvSpPr>
          <p:cNvPr id="10" name="Text 7"/>
          <p:cNvSpPr/>
          <p:nvPr/>
        </p:nvSpPr>
        <p:spPr>
          <a:xfrm>
            <a:off x="2816352" y="978408"/>
            <a:ext cx="1371600" cy="310896"/>
          </a:xfrm>
          <a:prstGeom prst="rect">
            <a:avLst/>
          </a:prstGeom>
          <a:noFill/>
          <a:ln/>
        </p:spPr>
        <p:txBody>
          <a:bodyPr wrap="square" rtlCol="0" anchor="ctr"/>
          <a:lstStyle/>
          <a:p>
            <a:pPr marL="0" indent="0">
              <a:buNone/>
            </a:pPr>
            <a:r>
              <a:rPr lang="en-US" sz="950" b="1" dirty="0">
                <a:solidFill>
                  <a:srgbClr val="FFFFFF"/>
                </a:solidFill>
              </a:rPr>
              <a:t>Prix</a:t>
            </a:r>
            <a:endParaRPr lang="en-US" sz="950" dirty="0"/>
          </a:p>
        </p:txBody>
      </p:sp>
      <p:sp>
        <p:nvSpPr>
          <p:cNvPr id="11" name="Text 8"/>
          <p:cNvSpPr/>
          <p:nvPr/>
        </p:nvSpPr>
        <p:spPr>
          <a:xfrm>
            <a:off x="4187952" y="978408"/>
            <a:ext cx="1188720" cy="310896"/>
          </a:xfrm>
          <a:prstGeom prst="rect">
            <a:avLst/>
          </a:prstGeom>
          <a:noFill/>
          <a:ln/>
        </p:spPr>
        <p:txBody>
          <a:bodyPr wrap="square" rtlCol="0" anchor="ctr"/>
          <a:lstStyle/>
          <a:p>
            <a:pPr marL="0" indent="0">
              <a:buNone/>
            </a:pPr>
            <a:r>
              <a:rPr lang="en-US" sz="950" b="1" dirty="0">
                <a:solidFill>
                  <a:srgbClr val="FFFFFF"/>
                </a:solidFill>
              </a:rPr>
              <a:t>Facilité</a:t>
            </a:r>
            <a:endParaRPr lang="en-US" sz="950" dirty="0"/>
          </a:p>
        </p:txBody>
      </p:sp>
      <p:sp>
        <p:nvSpPr>
          <p:cNvPr id="12" name="Text 9"/>
          <p:cNvSpPr/>
          <p:nvPr/>
        </p:nvSpPr>
        <p:spPr>
          <a:xfrm>
            <a:off x="5376672" y="978408"/>
            <a:ext cx="1005840" cy="310896"/>
          </a:xfrm>
          <a:prstGeom prst="rect">
            <a:avLst/>
          </a:prstGeom>
          <a:noFill/>
          <a:ln/>
        </p:spPr>
        <p:txBody>
          <a:bodyPr wrap="square" rtlCol="0" anchor="ctr"/>
          <a:lstStyle/>
          <a:p>
            <a:pPr marL="0" indent="0">
              <a:buNone/>
            </a:pPr>
            <a:r>
              <a:rPr lang="en-US" sz="950" b="1" dirty="0">
                <a:solidFill>
                  <a:srgbClr val="FFFFFF"/>
                </a:solidFill>
              </a:rPr>
              <a:t>En français</a:t>
            </a:r>
            <a:endParaRPr lang="en-US" sz="950" dirty="0"/>
          </a:p>
        </p:txBody>
      </p:sp>
      <p:sp>
        <p:nvSpPr>
          <p:cNvPr id="13" name="Text 10"/>
          <p:cNvSpPr/>
          <p:nvPr/>
        </p:nvSpPr>
        <p:spPr>
          <a:xfrm>
            <a:off x="6382512" y="978408"/>
            <a:ext cx="1463040" cy="310896"/>
          </a:xfrm>
          <a:prstGeom prst="rect">
            <a:avLst/>
          </a:prstGeom>
          <a:noFill/>
          <a:ln/>
        </p:spPr>
        <p:txBody>
          <a:bodyPr wrap="square" rtlCol="0" anchor="ctr"/>
          <a:lstStyle/>
          <a:p>
            <a:pPr marL="0" indent="0">
              <a:buNone/>
            </a:pPr>
            <a:r>
              <a:rPr lang="en-US" sz="950" b="1" dirty="0">
                <a:solidFill>
                  <a:srgbClr val="FFFFFF"/>
                </a:solidFill>
              </a:rPr>
              <a:t>Pour qui ?</a:t>
            </a:r>
            <a:endParaRPr lang="en-US" sz="950" dirty="0"/>
          </a:p>
        </p:txBody>
      </p:sp>
      <p:sp>
        <p:nvSpPr>
          <p:cNvPr id="14" name="Text 11"/>
          <p:cNvSpPr/>
          <p:nvPr/>
        </p:nvSpPr>
        <p:spPr>
          <a:xfrm>
            <a:off x="7845552" y="978408"/>
            <a:ext cx="1005840" cy="310896"/>
          </a:xfrm>
          <a:prstGeom prst="rect">
            <a:avLst/>
          </a:prstGeom>
          <a:noFill/>
          <a:ln/>
        </p:spPr>
        <p:txBody>
          <a:bodyPr wrap="square" rtlCol="0" anchor="ctr"/>
          <a:lstStyle/>
          <a:p>
            <a:pPr marL="0" indent="0">
              <a:buNone/>
            </a:pPr>
            <a:r>
              <a:rPr lang="en-US" sz="950" b="1" dirty="0">
                <a:solidFill>
                  <a:srgbClr val="FFFFFF"/>
                </a:solidFill>
              </a:rPr>
              <a:t>Note</a:t>
            </a:r>
            <a:endParaRPr lang="en-US" sz="950" dirty="0"/>
          </a:p>
        </p:txBody>
      </p:sp>
      <p:sp>
        <p:nvSpPr>
          <p:cNvPr id="15" name="Shape 12"/>
          <p:cNvSpPr/>
          <p:nvPr/>
        </p:nvSpPr>
        <p:spPr>
          <a:xfrm>
            <a:off x="320040" y="1344168"/>
            <a:ext cx="8503920" cy="566928"/>
          </a:xfrm>
          <a:prstGeom prst="rect">
            <a:avLst/>
          </a:prstGeom>
          <a:solidFill>
            <a:srgbClr val="FFFFFF"/>
          </a:solidFill>
          <a:ln/>
        </p:spPr>
        <p:txBody>
          <a:bodyPr/>
          <a:lstStyle/>
          <a:p>
            <a:endParaRPr lang="fr-FR"/>
          </a:p>
        </p:txBody>
      </p:sp>
      <p:sp>
        <p:nvSpPr>
          <p:cNvPr id="16" name="Shape 13"/>
          <p:cNvSpPr/>
          <p:nvPr/>
        </p:nvSpPr>
        <p:spPr>
          <a:xfrm>
            <a:off x="320040" y="1344168"/>
            <a:ext cx="64008" cy="566928"/>
          </a:xfrm>
          <a:prstGeom prst="rect">
            <a:avLst/>
          </a:prstGeom>
          <a:solidFill>
            <a:srgbClr val="00796B"/>
          </a:solidFill>
          <a:ln/>
        </p:spPr>
        <p:txBody>
          <a:bodyPr/>
          <a:lstStyle/>
          <a:p>
            <a:endParaRPr lang="fr-FR"/>
          </a:p>
        </p:txBody>
      </p:sp>
      <p:sp>
        <p:nvSpPr>
          <p:cNvPr id="17" name="Text 14"/>
          <p:cNvSpPr/>
          <p:nvPr/>
        </p:nvSpPr>
        <p:spPr>
          <a:xfrm>
            <a:off x="347472" y="1453896"/>
            <a:ext cx="1097280" cy="347472"/>
          </a:xfrm>
          <a:prstGeom prst="rect">
            <a:avLst/>
          </a:prstGeom>
          <a:noFill/>
          <a:ln/>
        </p:spPr>
        <p:txBody>
          <a:bodyPr wrap="square" rtlCol="0" anchor="ctr"/>
          <a:lstStyle/>
          <a:p>
            <a:pPr marL="0" indent="0">
              <a:buNone/>
            </a:pPr>
            <a:r>
              <a:rPr lang="en-US" sz="1050" b="1" dirty="0">
                <a:solidFill>
                  <a:srgbClr val="0D1B2A"/>
                </a:solidFill>
              </a:rPr>
              <a:t>Canva</a:t>
            </a:r>
            <a:endParaRPr lang="en-US" sz="1050" dirty="0"/>
          </a:p>
        </p:txBody>
      </p:sp>
      <p:sp>
        <p:nvSpPr>
          <p:cNvPr id="18" name="Text 15"/>
          <p:cNvSpPr/>
          <p:nvPr/>
        </p:nvSpPr>
        <p:spPr>
          <a:xfrm>
            <a:off x="1444752" y="1453896"/>
            <a:ext cx="1371600" cy="347472"/>
          </a:xfrm>
          <a:prstGeom prst="rect">
            <a:avLst/>
          </a:prstGeom>
          <a:noFill/>
          <a:ln/>
        </p:spPr>
        <p:txBody>
          <a:bodyPr wrap="square" rtlCol="0" anchor="ctr"/>
          <a:lstStyle/>
          <a:p>
            <a:pPr marL="0" indent="0">
              <a:buNone/>
            </a:pPr>
            <a:r>
              <a:rPr lang="en-US" sz="950" dirty="0">
                <a:solidFill>
                  <a:srgbClr val="5A6A7A"/>
                </a:solidFill>
              </a:rPr>
              <a:t>canva.com</a:t>
            </a:r>
            <a:endParaRPr lang="en-US" sz="950" dirty="0"/>
          </a:p>
        </p:txBody>
      </p:sp>
      <p:sp>
        <p:nvSpPr>
          <p:cNvPr id="19" name="Text 16"/>
          <p:cNvSpPr/>
          <p:nvPr/>
        </p:nvSpPr>
        <p:spPr>
          <a:xfrm>
            <a:off x="2816352" y="1453896"/>
            <a:ext cx="1371600" cy="347472"/>
          </a:xfrm>
          <a:prstGeom prst="rect">
            <a:avLst/>
          </a:prstGeom>
          <a:noFill/>
          <a:ln/>
        </p:spPr>
        <p:txBody>
          <a:bodyPr wrap="square" rtlCol="0" anchor="ctr"/>
          <a:lstStyle/>
          <a:p>
            <a:pPr marL="0" indent="0">
              <a:buNone/>
            </a:pPr>
            <a:r>
              <a:rPr lang="en-US" sz="950" dirty="0">
                <a:solidFill>
                  <a:srgbClr val="5A6A7A"/>
                </a:solidFill>
              </a:rPr>
              <a:t>✅ Gratuit</a:t>
            </a:r>
            <a:endParaRPr lang="en-US" sz="950" dirty="0"/>
          </a:p>
        </p:txBody>
      </p:sp>
      <p:sp>
        <p:nvSpPr>
          <p:cNvPr id="20" name="Text 17"/>
          <p:cNvSpPr/>
          <p:nvPr/>
        </p:nvSpPr>
        <p:spPr>
          <a:xfrm>
            <a:off x="4187952" y="1453896"/>
            <a:ext cx="1188720" cy="347472"/>
          </a:xfrm>
          <a:prstGeom prst="rect">
            <a:avLst/>
          </a:prstGeom>
          <a:noFill/>
          <a:ln/>
        </p:spPr>
        <p:txBody>
          <a:bodyPr wrap="square" rtlCol="0" anchor="ctr"/>
          <a:lstStyle/>
          <a:p>
            <a:pPr marL="0" indent="0">
              <a:buNone/>
            </a:pPr>
            <a:r>
              <a:rPr lang="en-US" sz="950" dirty="0">
                <a:solidFill>
                  <a:srgbClr val="5A6A7A"/>
                </a:solidFill>
              </a:rPr>
              <a:t>⭐ Très facile</a:t>
            </a:r>
            <a:endParaRPr lang="en-US" sz="950" dirty="0"/>
          </a:p>
        </p:txBody>
      </p:sp>
      <p:sp>
        <p:nvSpPr>
          <p:cNvPr id="21" name="Text 18"/>
          <p:cNvSpPr/>
          <p:nvPr/>
        </p:nvSpPr>
        <p:spPr>
          <a:xfrm>
            <a:off x="5376672" y="1453896"/>
            <a:ext cx="1005840" cy="347472"/>
          </a:xfrm>
          <a:prstGeom prst="rect">
            <a:avLst/>
          </a:prstGeom>
          <a:noFill/>
          <a:ln/>
        </p:spPr>
        <p:txBody>
          <a:bodyPr wrap="square" rtlCol="0" anchor="ctr"/>
          <a:lstStyle/>
          <a:p>
            <a:pPr marL="0" indent="0">
              <a:buNone/>
            </a:pPr>
            <a:r>
              <a:rPr lang="en-US" sz="950" dirty="0">
                <a:solidFill>
                  <a:srgbClr val="5A6A7A"/>
                </a:solidFill>
              </a:rPr>
              <a:t>Oui</a:t>
            </a:r>
            <a:endParaRPr lang="en-US" sz="950" dirty="0"/>
          </a:p>
        </p:txBody>
      </p:sp>
      <p:sp>
        <p:nvSpPr>
          <p:cNvPr id="22" name="Text 19"/>
          <p:cNvSpPr/>
          <p:nvPr/>
        </p:nvSpPr>
        <p:spPr>
          <a:xfrm>
            <a:off x="6382512" y="1453896"/>
            <a:ext cx="1463040" cy="347472"/>
          </a:xfrm>
          <a:prstGeom prst="rect">
            <a:avLst/>
          </a:prstGeom>
          <a:noFill/>
          <a:ln/>
        </p:spPr>
        <p:txBody>
          <a:bodyPr wrap="square" rtlCol="0" anchor="ctr"/>
          <a:lstStyle/>
          <a:p>
            <a:pPr marL="0" indent="0">
              <a:buNone/>
            </a:pPr>
            <a:r>
              <a:rPr lang="en-US" sz="950" dirty="0">
                <a:solidFill>
                  <a:srgbClr val="5A6A7A"/>
                </a:solidFill>
              </a:rPr>
              <a:t>Tout débutant</a:t>
            </a:r>
            <a:endParaRPr lang="en-US" sz="950" dirty="0"/>
          </a:p>
        </p:txBody>
      </p:sp>
      <p:sp>
        <p:nvSpPr>
          <p:cNvPr id="23" name="Shape 20"/>
          <p:cNvSpPr/>
          <p:nvPr/>
        </p:nvSpPr>
        <p:spPr>
          <a:xfrm>
            <a:off x="7845552" y="1545336"/>
            <a:ext cx="118872" cy="118872"/>
          </a:xfrm>
          <a:prstGeom prst="ellipse">
            <a:avLst/>
          </a:prstGeom>
          <a:solidFill>
            <a:srgbClr val="F59E0B"/>
          </a:solidFill>
          <a:ln/>
        </p:spPr>
        <p:txBody>
          <a:bodyPr/>
          <a:lstStyle/>
          <a:p>
            <a:endParaRPr lang="fr-FR"/>
          </a:p>
        </p:txBody>
      </p:sp>
      <p:sp>
        <p:nvSpPr>
          <p:cNvPr id="24" name="Shape 21"/>
          <p:cNvSpPr/>
          <p:nvPr/>
        </p:nvSpPr>
        <p:spPr>
          <a:xfrm>
            <a:off x="8010144" y="1545336"/>
            <a:ext cx="118872" cy="118872"/>
          </a:xfrm>
          <a:prstGeom prst="ellipse">
            <a:avLst/>
          </a:prstGeom>
          <a:solidFill>
            <a:srgbClr val="F59E0B"/>
          </a:solidFill>
          <a:ln/>
        </p:spPr>
        <p:txBody>
          <a:bodyPr/>
          <a:lstStyle/>
          <a:p>
            <a:endParaRPr lang="fr-FR"/>
          </a:p>
        </p:txBody>
      </p:sp>
      <p:sp>
        <p:nvSpPr>
          <p:cNvPr id="25" name="Shape 22"/>
          <p:cNvSpPr/>
          <p:nvPr/>
        </p:nvSpPr>
        <p:spPr>
          <a:xfrm>
            <a:off x="8174736" y="1545336"/>
            <a:ext cx="118872" cy="118872"/>
          </a:xfrm>
          <a:prstGeom prst="ellipse">
            <a:avLst/>
          </a:prstGeom>
          <a:solidFill>
            <a:srgbClr val="F59E0B"/>
          </a:solidFill>
          <a:ln/>
        </p:spPr>
        <p:txBody>
          <a:bodyPr/>
          <a:lstStyle/>
          <a:p>
            <a:endParaRPr lang="fr-FR"/>
          </a:p>
        </p:txBody>
      </p:sp>
      <p:sp>
        <p:nvSpPr>
          <p:cNvPr id="26" name="Shape 23"/>
          <p:cNvSpPr/>
          <p:nvPr/>
        </p:nvSpPr>
        <p:spPr>
          <a:xfrm>
            <a:off x="8339328" y="1545336"/>
            <a:ext cx="118872" cy="118872"/>
          </a:xfrm>
          <a:prstGeom prst="ellipse">
            <a:avLst/>
          </a:prstGeom>
          <a:solidFill>
            <a:srgbClr val="F59E0B"/>
          </a:solidFill>
          <a:ln/>
        </p:spPr>
        <p:txBody>
          <a:bodyPr/>
          <a:lstStyle/>
          <a:p>
            <a:endParaRPr lang="fr-FR"/>
          </a:p>
        </p:txBody>
      </p:sp>
      <p:sp>
        <p:nvSpPr>
          <p:cNvPr id="27" name="Shape 24"/>
          <p:cNvSpPr/>
          <p:nvPr/>
        </p:nvSpPr>
        <p:spPr>
          <a:xfrm>
            <a:off x="8503920" y="1545336"/>
            <a:ext cx="118872" cy="118872"/>
          </a:xfrm>
          <a:prstGeom prst="ellipse">
            <a:avLst/>
          </a:prstGeom>
          <a:solidFill>
            <a:srgbClr val="F59E0B"/>
          </a:solidFill>
          <a:ln/>
        </p:spPr>
        <p:txBody>
          <a:bodyPr/>
          <a:lstStyle/>
          <a:p>
            <a:endParaRPr lang="fr-FR"/>
          </a:p>
        </p:txBody>
      </p:sp>
      <p:sp>
        <p:nvSpPr>
          <p:cNvPr id="28" name="Shape 25"/>
          <p:cNvSpPr/>
          <p:nvPr/>
        </p:nvSpPr>
        <p:spPr>
          <a:xfrm>
            <a:off x="320040" y="1938528"/>
            <a:ext cx="8503920" cy="566928"/>
          </a:xfrm>
          <a:prstGeom prst="rect">
            <a:avLst/>
          </a:prstGeom>
          <a:solidFill>
            <a:srgbClr val="F0F4FA"/>
          </a:solidFill>
          <a:ln/>
        </p:spPr>
        <p:txBody>
          <a:bodyPr/>
          <a:lstStyle/>
          <a:p>
            <a:endParaRPr lang="fr-FR"/>
          </a:p>
        </p:txBody>
      </p:sp>
      <p:sp>
        <p:nvSpPr>
          <p:cNvPr id="29" name="Shape 26"/>
          <p:cNvSpPr/>
          <p:nvPr/>
        </p:nvSpPr>
        <p:spPr>
          <a:xfrm>
            <a:off x="320040" y="1938528"/>
            <a:ext cx="64008" cy="566928"/>
          </a:xfrm>
          <a:prstGeom prst="rect">
            <a:avLst/>
          </a:prstGeom>
          <a:solidFill>
            <a:srgbClr val="1565C0"/>
          </a:solidFill>
          <a:ln/>
        </p:spPr>
        <p:txBody>
          <a:bodyPr/>
          <a:lstStyle/>
          <a:p>
            <a:endParaRPr lang="fr-FR"/>
          </a:p>
        </p:txBody>
      </p:sp>
      <p:sp>
        <p:nvSpPr>
          <p:cNvPr id="30" name="Text 27"/>
          <p:cNvSpPr/>
          <p:nvPr/>
        </p:nvSpPr>
        <p:spPr>
          <a:xfrm>
            <a:off x="347472" y="2048256"/>
            <a:ext cx="1097280" cy="347472"/>
          </a:xfrm>
          <a:prstGeom prst="rect">
            <a:avLst/>
          </a:prstGeom>
          <a:noFill/>
          <a:ln/>
        </p:spPr>
        <p:txBody>
          <a:bodyPr wrap="square" rtlCol="0" anchor="ctr"/>
          <a:lstStyle/>
          <a:p>
            <a:pPr marL="0" indent="0">
              <a:buNone/>
            </a:pPr>
            <a:r>
              <a:rPr lang="en-US" sz="1050" b="1" dirty="0">
                <a:solidFill>
                  <a:srgbClr val="0D1B2A"/>
                </a:solidFill>
              </a:rPr>
              <a:t>CVDesignR</a:t>
            </a:r>
            <a:endParaRPr lang="en-US" sz="1050" dirty="0"/>
          </a:p>
        </p:txBody>
      </p:sp>
      <p:sp>
        <p:nvSpPr>
          <p:cNvPr id="31" name="Text 28"/>
          <p:cNvSpPr/>
          <p:nvPr/>
        </p:nvSpPr>
        <p:spPr>
          <a:xfrm>
            <a:off x="1444752" y="2048256"/>
            <a:ext cx="1371600" cy="347472"/>
          </a:xfrm>
          <a:prstGeom prst="rect">
            <a:avLst/>
          </a:prstGeom>
          <a:noFill/>
          <a:ln/>
        </p:spPr>
        <p:txBody>
          <a:bodyPr wrap="square" rtlCol="0" anchor="ctr"/>
          <a:lstStyle/>
          <a:p>
            <a:pPr marL="0" indent="0">
              <a:buNone/>
            </a:pPr>
            <a:r>
              <a:rPr lang="en-US" sz="950" dirty="0">
                <a:solidFill>
                  <a:srgbClr val="5A6A7A"/>
                </a:solidFill>
              </a:rPr>
              <a:t>cvdesignr.com</a:t>
            </a:r>
            <a:endParaRPr lang="en-US" sz="950" dirty="0"/>
          </a:p>
        </p:txBody>
      </p:sp>
      <p:sp>
        <p:nvSpPr>
          <p:cNvPr id="32" name="Text 29"/>
          <p:cNvSpPr/>
          <p:nvPr/>
        </p:nvSpPr>
        <p:spPr>
          <a:xfrm>
            <a:off x="2816352" y="2048256"/>
            <a:ext cx="1371600" cy="347472"/>
          </a:xfrm>
          <a:prstGeom prst="rect">
            <a:avLst/>
          </a:prstGeom>
          <a:noFill/>
          <a:ln/>
        </p:spPr>
        <p:txBody>
          <a:bodyPr wrap="square" rtlCol="0" anchor="ctr"/>
          <a:lstStyle/>
          <a:p>
            <a:pPr marL="0" indent="0">
              <a:buNone/>
            </a:pPr>
            <a:r>
              <a:rPr lang="en-US" sz="950" dirty="0">
                <a:solidFill>
                  <a:srgbClr val="5A6A7A"/>
                </a:solidFill>
              </a:rPr>
              <a:t>✅ Gratuit</a:t>
            </a:r>
            <a:endParaRPr lang="en-US" sz="950" dirty="0"/>
          </a:p>
        </p:txBody>
      </p:sp>
      <p:sp>
        <p:nvSpPr>
          <p:cNvPr id="33" name="Text 30"/>
          <p:cNvSpPr/>
          <p:nvPr/>
        </p:nvSpPr>
        <p:spPr>
          <a:xfrm>
            <a:off x="4187952" y="2048256"/>
            <a:ext cx="1188720" cy="347472"/>
          </a:xfrm>
          <a:prstGeom prst="rect">
            <a:avLst/>
          </a:prstGeom>
          <a:noFill/>
          <a:ln/>
        </p:spPr>
        <p:txBody>
          <a:bodyPr wrap="square" rtlCol="0" anchor="ctr"/>
          <a:lstStyle/>
          <a:p>
            <a:pPr marL="0" indent="0">
              <a:buNone/>
            </a:pPr>
            <a:r>
              <a:rPr lang="en-US" sz="950" dirty="0">
                <a:solidFill>
                  <a:srgbClr val="5A6A7A"/>
                </a:solidFill>
              </a:rPr>
              <a:t>⭐ Très facile</a:t>
            </a:r>
            <a:endParaRPr lang="en-US" sz="950" dirty="0"/>
          </a:p>
        </p:txBody>
      </p:sp>
      <p:sp>
        <p:nvSpPr>
          <p:cNvPr id="34" name="Text 31"/>
          <p:cNvSpPr/>
          <p:nvPr/>
        </p:nvSpPr>
        <p:spPr>
          <a:xfrm>
            <a:off x="5376672" y="2048256"/>
            <a:ext cx="1005840" cy="347472"/>
          </a:xfrm>
          <a:prstGeom prst="rect">
            <a:avLst/>
          </a:prstGeom>
          <a:noFill/>
          <a:ln/>
        </p:spPr>
        <p:txBody>
          <a:bodyPr wrap="square" rtlCol="0" anchor="ctr"/>
          <a:lstStyle/>
          <a:p>
            <a:pPr marL="0" indent="0">
              <a:buNone/>
            </a:pPr>
            <a:r>
              <a:rPr lang="en-US" sz="950" dirty="0">
                <a:solidFill>
                  <a:srgbClr val="5A6A7A"/>
                </a:solidFill>
              </a:rPr>
              <a:t>Oui</a:t>
            </a:r>
            <a:endParaRPr lang="en-US" sz="950" dirty="0"/>
          </a:p>
        </p:txBody>
      </p:sp>
      <p:sp>
        <p:nvSpPr>
          <p:cNvPr id="35" name="Text 32"/>
          <p:cNvSpPr/>
          <p:nvPr/>
        </p:nvSpPr>
        <p:spPr>
          <a:xfrm>
            <a:off x="6382512" y="2048256"/>
            <a:ext cx="1463040" cy="347472"/>
          </a:xfrm>
          <a:prstGeom prst="rect">
            <a:avLst/>
          </a:prstGeom>
          <a:noFill/>
          <a:ln/>
        </p:spPr>
        <p:txBody>
          <a:bodyPr wrap="square" rtlCol="0" anchor="ctr"/>
          <a:lstStyle/>
          <a:p>
            <a:pPr marL="0" indent="0">
              <a:buNone/>
            </a:pPr>
            <a:r>
              <a:rPr lang="en-US" sz="950" dirty="0">
                <a:solidFill>
                  <a:srgbClr val="5A6A7A"/>
                </a:solidFill>
              </a:rPr>
              <a:t>Débutant FR</a:t>
            </a:r>
            <a:endParaRPr lang="en-US" sz="950" dirty="0"/>
          </a:p>
        </p:txBody>
      </p:sp>
      <p:sp>
        <p:nvSpPr>
          <p:cNvPr id="36" name="Shape 33"/>
          <p:cNvSpPr/>
          <p:nvPr/>
        </p:nvSpPr>
        <p:spPr>
          <a:xfrm>
            <a:off x="7845552" y="2139696"/>
            <a:ext cx="118872" cy="118872"/>
          </a:xfrm>
          <a:prstGeom prst="ellipse">
            <a:avLst/>
          </a:prstGeom>
          <a:solidFill>
            <a:srgbClr val="F59E0B"/>
          </a:solidFill>
          <a:ln/>
        </p:spPr>
        <p:txBody>
          <a:bodyPr/>
          <a:lstStyle/>
          <a:p>
            <a:endParaRPr lang="fr-FR"/>
          </a:p>
        </p:txBody>
      </p:sp>
      <p:sp>
        <p:nvSpPr>
          <p:cNvPr id="37" name="Shape 34"/>
          <p:cNvSpPr/>
          <p:nvPr/>
        </p:nvSpPr>
        <p:spPr>
          <a:xfrm>
            <a:off x="8010144" y="2139696"/>
            <a:ext cx="118872" cy="118872"/>
          </a:xfrm>
          <a:prstGeom prst="ellipse">
            <a:avLst/>
          </a:prstGeom>
          <a:solidFill>
            <a:srgbClr val="F59E0B"/>
          </a:solidFill>
          <a:ln/>
        </p:spPr>
        <p:txBody>
          <a:bodyPr/>
          <a:lstStyle/>
          <a:p>
            <a:endParaRPr lang="fr-FR"/>
          </a:p>
        </p:txBody>
      </p:sp>
      <p:sp>
        <p:nvSpPr>
          <p:cNvPr id="38" name="Shape 35"/>
          <p:cNvSpPr/>
          <p:nvPr/>
        </p:nvSpPr>
        <p:spPr>
          <a:xfrm>
            <a:off x="8174736" y="2139696"/>
            <a:ext cx="118872" cy="118872"/>
          </a:xfrm>
          <a:prstGeom prst="ellipse">
            <a:avLst/>
          </a:prstGeom>
          <a:solidFill>
            <a:srgbClr val="F59E0B"/>
          </a:solidFill>
          <a:ln/>
        </p:spPr>
        <p:txBody>
          <a:bodyPr/>
          <a:lstStyle/>
          <a:p>
            <a:endParaRPr lang="fr-FR"/>
          </a:p>
        </p:txBody>
      </p:sp>
      <p:sp>
        <p:nvSpPr>
          <p:cNvPr id="39" name="Shape 36"/>
          <p:cNvSpPr/>
          <p:nvPr/>
        </p:nvSpPr>
        <p:spPr>
          <a:xfrm>
            <a:off x="8339328" y="2139696"/>
            <a:ext cx="118872" cy="118872"/>
          </a:xfrm>
          <a:prstGeom prst="ellipse">
            <a:avLst/>
          </a:prstGeom>
          <a:solidFill>
            <a:srgbClr val="F59E0B"/>
          </a:solidFill>
          <a:ln/>
        </p:spPr>
        <p:txBody>
          <a:bodyPr/>
          <a:lstStyle/>
          <a:p>
            <a:endParaRPr lang="fr-FR"/>
          </a:p>
        </p:txBody>
      </p:sp>
      <p:sp>
        <p:nvSpPr>
          <p:cNvPr id="40" name="Shape 37"/>
          <p:cNvSpPr/>
          <p:nvPr/>
        </p:nvSpPr>
        <p:spPr>
          <a:xfrm>
            <a:off x="8503920" y="2139696"/>
            <a:ext cx="118872" cy="118872"/>
          </a:xfrm>
          <a:prstGeom prst="ellipse">
            <a:avLst/>
          </a:prstGeom>
          <a:solidFill>
            <a:srgbClr val="F59E0B"/>
          </a:solidFill>
          <a:ln/>
        </p:spPr>
        <p:txBody>
          <a:bodyPr/>
          <a:lstStyle/>
          <a:p>
            <a:endParaRPr lang="fr-FR"/>
          </a:p>
        </p:txBody>
      </p:sp>
      <p:sp>
        <p:nvSpPr>
          <p:cNvPr id="41" name="Shape 38"/>
          <p:cNvSpPr/>
          <p:nvPr/>
        </p:nvSpPr>
        <p:spPr>
          <a:xfrm>
            <a:off x="320040" y="2532888"/>
            <a:ext cx="8503920" cy="566928"/>
          </a:xfrm>
          <a:prstGeom prst="rect">
            <a:avLst/>
          </a:prstGeom>
          <a:solidFill>
            <a:srgbClr val="FFFFFF"/>
          </a:solidFill>
          <a:ln/>
        </p:spPr>
        <p:txBody>
          <a:bodyPr/>
          <a:lstStyle/>
          <a:p>
            <a:endParaRPr lang="fr-FR"/>
          </a:p>
        </p:txBody>
      </p:sp>
      <p:sp>
        <p:nvSpPr>
          <p:cNvPr id="42" name="Shape 39"/>
          <p:cNvSpPr/>
          <p:nvPr/>
        </p:nvSpPr>
        <p:spPr>
          <a:xfrm>
            <a:off x="320040" y="2532888"/>
            <a:ext cx="64008" cy="566928"/>
          </a:xfrm>
          <a:prstGeom prst="rect">
            <a:avLst/>
          </a:prstGeom>
          <a:solidFill>
            <a:srgbClr val="0B1F3A"/>
          </a:solidFill>
          <a:ln/>
        </p:spPr>
        <p:txBody>
          <a:bodyPr/>
          <a:lstStyle/>
          <a:p>
            <a:endParaRPr lang="fr-FR"/>
          </a:p>
        </p:txBody>
      </p:sp>
      <p:sp>
        <p:nvSpPr>
          <p:cNvPr id="43" name="Text 40"/>
          <p:cNvSpPr/>
          <p:nvPr/>
        </p:nvSpPr>
        <p:spPr>
          <a:xfrm>
            <a:off x="347472" y="2642616"/>
            <a:ext cx="1097280" cy="347472"/>
          </a:xfrm>
          <a:prstGeom prst="rect">
            <a:avLst/>
          </a:prstGeom>
          <a:noFill/>
          <a:ln/>
        </p:spPr>
        <p:txBody>
          <a:bodyPr wrap="square" rtlCol="0" anchor="ctr"/>
          <a:lstStyle/>
          <a:p>
            <a:pPr marL="0" indent="0">
              <a:buNone/>
            </a:pPr>
            <a:r>
              <a:rPr lang="en-US" sz="1050" b="1" dirty="0">
                <a:solidFill>
                  <a:srgbClr val="0D1B2A"/>
                </a:solidFill>
              </a:rPr>
              <a:t>NovoRésumé</a:t>
            </a:r>
            <a:endParaRPr lang="en-US" sz="1050" dirty="0"/>
          </a:p>
        </p:txBody>
      </p:sp>
      <p:sp>
        <p:nvSpPr>
          <p:cNvPr id="44" name="Text 41"/>
          <p:cNvSpPr/>
          <p:nvPr/>
        </p:nvSpPr>
        <p:spPr>
          <a:xfrm>
            <a:off x="1444752" y="2642616"/>
            <a:ext cx="1371600" cy="347472"/>
          </a:xfrm>
          <a:prstGeom prst="rect">
            <a:avLst/>
          </a:prstGeom>
          <a:noFill/>
          <a:ln/>
        </p:spPr>
        <p:txBody>
          <a:bodyPr wrap="square" rtlCol="0" anchor="ctr"/>
          <a:lstStyle/>
          <a:p>
            <a:pPr marL="0" indent="0">
              <a:buNone/>
            </a:pPr>
            <a:r>
              <a:rPr lang="en-US" sz="950" dirty="0">
                <a:solidFill>
                  <a:srgbClr val="5A6A7A"/>
                </a:solidFill>
              </a:rPr>
              <a:t>novoresume.com</a:t>
            </a:r>
            <a:endParaRPr lang="en-US" sz="950" dirty="0"/>
          </a:p>
        </p:txBody>
      </p:sp>
      <p:sp>
        <p:nvSpPr>
          <p:cNvPr id="45" name="Text 42"/>
          <p:cNvSpPr/>
          <p:nvPr/>
        </p:nvSpPr>
        <p:spPr>
          <a:xfrm>
            <a:off x="2816352" y="2642616"/>
            <a:ext cx="1371600" cy="347472"/>
          </a:xfrm>
          <a:prstGeom prst="rect">
            <a:avLst/>
          </a:prstGeom>
          <a:noFill/>
          <a:ln/>
        </p:spPr>
        <p:txBody>
          <a:bodyPr wrap="square" rtlCol="0" anchor="ctr"/>
          <a:lstStyle/>
          <a:p>
            <a:pPr marL="0" indent="0">
              <a:buNone/>
            </a:pPr>
            <a:r>
              <a:rPr lang="en-US" sz="950" dirty="0">
                <a:solidFill>
                  <a:srgbClr val="5A6A7A"/>
                </a:solidFill>
              </a:rPr>
              <a:t>✅ Gratuit (base)</a:t>
            </a:r>
            <a:endParaRPr lang="en-US" sz="950" dirty="0"/>
          </a:p>
        </p:txBody>
      </p:sp>
      <p:sp>
        <p:nvSpPr>
          <p:cNvPr id="46" name="Text 43"/>
          <p:cNvSpPr/>
          <p:nvPr/>
        </p:nvSpPr>
        <p:spPr>
          <a:xfrm>
            <a:off x="4187952" y="2642616"/>
            <a:ext cx="1188720" cy="347472"/>
          </a:xfrm>
          <a:prstGeom prst="rect">
            <a:avLst/>
          </a:prstGeom>
          <a:noFill/>
          <a:ln/>
        </p:spPr>
        <p:txBody>
          <a:bodyPr wrap="square" rtlCol="0" anchor="ctr"/>
          <a:lstStyle/>
          <a:p>
            <a:pPr marL="0" indent="0">
              <a:buNone/>
            </a:pPr>
            <a:r>
              <a:rPr lang="en-US" sz="950" dirty="0">
                <a:solidFill>
                  <a:srgbClr val="5A6A7A"/>
                </a:solidFill>
              </a:rPr>
              <a:t>⭐⭐ Facile</a:t>
            </a:r>
            <a:endParaRPr lang="en-US" sz="950" dirty="0"/>
          </a:p>
        </p:txBody>
      </p:sp>
      <p:sp>
        <p:nvSpPr>
          <p:cNvPr id="47" name="Text 44"/>
          <p:cNvSpPr/>
          <p:nvPr/>
        </p:nvSpPr>
        <p:spPr>
          <a:xfrm>
            <a:off x="5376672" y="2642616"/>
            <a:ext cx="1005840" cy="347472"/>
          </a:xfrm>
          <a:prstGeom prst="rect">
            <a:avLst/>
          </a:prstGeom>
          <a:noFill/>
          <a:ln/>
        </p:spPr>
        <p:txBody>
          <a:bodyPr wrap="square" rtlCol="0" anchor="ctr"/>
          <a:lstStyle/>
          <a:p>
            <a:pPr marL="0" indent="0">
              <a:buNone/>
            </a:pPr>
            <a:r>
              <a:rPr lang="en-US" sz="950" dirty="0">
                <a:solidFill>
                  <a:srgbClr val="5A6A7A"/>
                </a:solidFill>
              </a:rPr>
              <a:t>Non (EN)</a:t>
            </a:r>
            <a:endParaRPr lang="en-US" sz="950" dirty="0"/>
          </a:p>
        </p:txBody>
      </p:sp>
      <p:sp>
        <p:nvSpPr>
          <p:cNvPr id="48" name="Text 45"/>
          <p:cNvSpPr/>
          <p:nvPr/>
        </p:nvSpPr>
        <p:spPr>
          <a:xfrm>
            <a:off x="6382512" y="2642616"/>
            <a:ext cx="1463040" cy="347472"/>
          </a:xfrm>
          <a:prstGeom prst="rect">
            <a:avLst/>
          </a:prstGeom>
          <a:noFill/>
          <a:ln/>
        </p:spPr>
        <p:txBody>
          <a:bodyPr wrap="square" rtlCol="0" anchor="ctr"/>
          <a:lstStyle/>
          <a:p>
            <a:pPr marL="0" indent="0">
              <a:buNone/>
            </a:pPr>
            <a:r>
              <a:rPr lang="en-US" sz="950" dirty="0">
                <a:solidFill>
                  <a:srgbClr val="5A6A7A"/>
                </a:solidFill>
              </a:rPr>
              <a:t>Profils tech</a:t>
            </a:r>
            <a:endParaRPr lang="en-US" sz="950" dirty="0"/>
          </a:p>
        </p:txBody>
      </p:sp>
      <p:sp>
        <p:nvSpPr>
          <p:cNvPr id="49" name="Shape 46"/>
          <p:cNvSpPr/>
          <p:nvPr/>
        </p:nvSpPr>
        <p:spPr>
          <a:xfrm>
            <a:off x="7845552" y="2734056"/>
            <a:ext cx="118872" cy="118872"/>
          </a:xfrm>
          <a:prstGeom prst="ellipse">
            <a:avLst/>
          </a:prstGeom>
          <a:solidFill>
            <a:srgbClr val="F59E0B"/>
          </a:solidFill>
          <a:ln/>
        </p:spPr>
        <p:txBody>
          <a:bodyPr/>
          <a:lstStyle/>
          <a:p>
            <a:endParaRPr lang="fr-FR"/>
          </a:p>
        </p:txBody>
      </p:sp>
      <p:sp>
        <p:nvSpPr>
          <p:cNvPr id="50" name="Shape 47"/>
          <p:cNvSpPr/>
          <p:nvPr/>
        </p:nvSpPr>
        <p:spPr>
          <a:xfrm>
            <a:off x="8010144" y="2734056"/>
            <a:ext cx="118872" cy="118872"/>
          </a:xfrm>
          <a:prstGeom prst="ellipse">
            <a:avLst/>
          </a:prstGeom>
          <a:solidFill>
            <a:srgbClr val="F59E0B"/>
          </a:solidFill>
          <a:ln/>
        </p:spPr>
        <p:txBody>
          <a:bodyPr/>
          <a:lstStyle/>
          <a:p>
            <a:endParaRPr lang="fr-FR"/>
          </a:p>
        </p:txBody>
      </p:sp>
      <p:sp>
        <p:nvSpPr>
          <p:cNvPr id="51" name="Shape 48"/>
          <p:cNvSpPr/>
          <p:nvPr/>
        </p:nvSpPr>
        <p:spPr>
          <a:xfrm>
            <a:off x="8174736" y="2734056"/>
            <a:ext cx="118872" cy="118872"/>
          </a:xfrm>
          <a:prstGeom prst="ellipse">
            <a:avLst/>
          </a:prstGeom>
          <a:solidFill>
            <a:srgbClr val="F59E0B"/>
          </a:solidFill>
          <a:ln/>
        </p:spPr>
        <p:txBody>
          <a:bodyPr/>
          <a:lstStyle/>
          <a:p>
            <a:endParaRPr lang="fr-FR"/>
          </a:p>
        </p:txBody>
      </p:sp>
      <p:sp>
        <p:nvSpPr>
          <p:cNvPr id="52" name="Shape 49"/>
          <p:cNvSpPr/>
          <p:nvPr/>
        </p:nvSpPr>
        <p:spPr>
          <a:xfrm>
            <a:off x="8339328" y="2734056"/>
            <a:ext cx="118872" cy="118872"/>
          </a:xfrm>
          <a:prstGeom prst="ellipse">
            <a:avLst/>
          </a:prstGeom>
          <a:solidFill>
            <a:srgbClr val="F59E0B"/>
          </a:solidFill>
          <a:ln/>
        </p:spPr>
        <p:txBody>
          <a:bodyPr/>
          <a:lstStyle/>
          <a:p>
            <a:endParaRPr lang="fr-FR"/>
          </a:p>
        </p:txBody>
      </p:sp>
      <p:sp>
        <p:nvSpPr>
          <p:cNvPr id="53" name="Shape 50"/>
          <p:cNvSpPr/>
          <p:nvPr/>
        </p:nvSpPr>
        <p:spPr>
          <a:xfrm>
            <a:off x="8503920" y="2734056"/>
            <a:ext cx="118872" cy="118872"/>
          </a:xfrm>
          <a:prstGeom prst="ellipse">
            <a:avLst/>
          </a:prstGeom>
          <a:solidFill>
            <a:srgbClr val="E2EAF4"/>
          </a:solidFill>
          <a:ln/>
        </p:spPr>
        <p:txBody>
          <a:bodyPr/>
          <a:lstStyle/>
          <a:p>
            <a:endParaRPr lang="fr-FR"/>
          </a:p>
        </p:txBody>
      </p:sp>
      <p:sp>
        <p:nvSpPr>
          <p:cNvPr id="54" name="Shape 51"/>
          <p:cNvSpPr/>
          <p:nvPr/>
        </p:nvSpPr>
        <p:spPr>
          <a:xfrm>
            <a:off x="320040" y="3127248"/>
            <a:ext cx="8503920" cy="566928"/>
          </a:xfrm>
          <a:prstGeom prst="rect">
            <a:avLst/>
          </a:prstGeom>
          <a:solidFill>
            <a:srgbClr val="F0F4FA"/>
          </a:solidFill>
          <a:ln/>
        </p:spPr>
        <p:txBody>
          <a:bodyPr/>
          <a:lstStyle/>
          <a:p>
            <a:endParaRPr lang="fr-FR"/>
          </a:p>
        </p:txBody>
      </p:sp>
      <p:sp>
        <p:nvSpPr>
          <p:cNvPr id="55" name="Shape 52"/>
          <p:cNvSpPr/>
          <p:nvPr/>
        </p:nvSpPr>
        <p:spPr>
          <a:xfrm>
            <a:off x="320040" y="3127248"/>
            <a:ext cx="64008" cy="566928"/>
          </a:xfrm>
          <a:prstGeom prst="rect">
            <a:avLst/>
          </a:prstGeom>
          <a:solidFill>
            <a:srgbClr val="6A3FA0"/>
          </a:solidFill>
          <a:ln/>
        </p:spPr>
        <p:txBody>
          <a:bodyPr/>
          <a:lstStyle/>
          <a:p>
            <a:endParaRPr lang="fr-FR"/>
          </a:p>
        </p:txBody>
      </p:sp>
      <p:sp>
        <p:nvSpPr>
          <p:cNvPr id="56" name="Text 53"/>
          <p:cNvSpPr/>
          <p:nvPr/>
        </p:nvSpPr>
        <p:spPr>
          <a:xfrm>
            <a:off x="347472" y="3236976"/>
            <a:ext cx="1097280" cy="347472"/>
          </a:xfrm>
          <a:prstGeom prst="rect">
            <a:avLst/>
          </a:prstGeom>
          <a:noFill/>
          <a:ln/>
        </p:spPr>
        <p:txBody>
          <a:bodyPr wrap="square" rtlCol="0" anchor="ctr"/>
          <a:lstStyle/>
          <a:p>
            <a:pPr marL="0" indent="0">
              <a:buNone/>
            </a:pPr>
            <a:r>
              <a:rPr lang="en-US" sz="1050" b="1" dirty="0">
                <a:solidFill>
                  <a:srgbClr val="0D1B2A"/>
                </a:solidFill>
              </a:rPr>
              <a:t>Resume.io</a:t>
            </a:r>
            <a:endParaRPr lang="en-US" sz="1050" dirty="0"/>
          </a:p>
        </p:txBody>
      </p:sp>
      <p:sp>
        <p:nvSpPr>
          <p:cNvPr id="57" name="Text 54"/>
          <p:cNvSpPr/>
          <p:nvPr/>
        </p:nvSpPr>
        <p:spPr>
          <a:xfrm>
            <a:off x="1444752" y="3236976"/>
            <a:ext cx="1371600" cy="347472"/>
          </a:xfrm>
          <a:prstGeom prst="rect">
            <a:avLst/>
          </a:prstGeom>
          <a:noFill/>
          <a:ln/>
        </p:spPr>
        <p:txBody>
          <a:bodyPr wrap="square" rtlCol="0" anchor="ctr"/>
          <a:lstStyle/>
          <a:p>
            <a:pPr marL="0" indent="0">
              <a:buNone/>
            </a:pPr>
            <a:r>
              <a:rPr lang="en-US" sz="950" dirty="0">
                <a:solidFill>
                  <a:srgbClr val="5A6A7A"/>
                </a:solidFill>
              </a:rPr>
              <a:t>resume.io</a:t>
            </a:r>
            <a:endParaRPr lang="en-US" sz="950" dirty="0"/>
          </a:p>
        </p:txBody>
      </p:sp>
      <p:sp>
        <p:nvSpPr>
          <p:cNvPr id="58" name="Text 55"/>
          <p:cNvSpPr/>
          <p:nvPr/>
        </p:nvSpPr>
        <p:spPr>
          <a:xfrm>
            <a:off x="2816352" y="3236976"/>
            <a:ext cx="1371600" cy="347472"/>
          </a:xfrm>
          <a:prstGeom prst="rect">
            <a:avLst/>
          </a:prstGeom>
          <a:noFill/>
          <a:ln/>
        </p:spPr>
        <p:txBody>
          <a:bodyPr wrap="square" rtlCol="0" anchor="ctr"/>
          <a:lstStyle/>
          <a:p>
            <a:pPr marL="0" indent="0">
              <a:buNone/>
            </a:pPr>
            <a:r>
              <a:rPr lang="en-US" sz="950" dirty="0">
                <a:solidFill>
                  <a:srgbClr val="5A6A7A"/>
                </a:solidFill>
              </a:rPr>
              <a:t>💶 Payant (12€/mois)</a:t>
            </a:r>
            <a:endParaRPr lang="en-US" sz="950" dirty="0"/>
          </a:p>
        </p:txBody>
      </p:sp>
      <p:sp>
        <p:nvSpPr>
          <p:cNvPr id="59" name="Text 56"/>
          <p:cNvSpPr/>
          <p:nvPr/>
        </p:nvSpPr>
        <p:spPr>
          <a:xfrm>
            <a:off x="4187952" y="3236976"/>
            <a:ext cx="1188720" cy="347472"/>
          </a:xfrm>
          <a:prstGeom prst="rect">
            <a:avLst/>
          </a:prstGeom>
          <a:noFill/>
          <a:ln/>
        </p:spPr>
        <p:txBody>
          <a:bodyPr wrap="square" rtlCol="0" anchor="ctr"/>
          <a:lstStyle/>
          <a:p>
            <a:pPr marL="0" indent="0">
              <a:buNone/>
            </a:pPr>
            <a:r>
              <a:rPr lang="en-US" sz="950" dirty="0">
                <a:solidFill>
                  <a:srgbClr val="5A6A7A"/>
                </a:solidFill>
              </a:rPr>
              <a:t>⭐⭐ Facile</a:t>
            </a:r>
            <a:endParaRPr lang="en-US" sz="950" dirty="0"/>
          </a:p>
        </p:txBody>
      </p:sp>
      <p:sp>
        <p:nvSpPr>
          <p:cNvPr id="60" name="Text 57"/>
          <p:cNvSpPr/>
          <p:nvPr/>
        </p:nvSpPr>
        <p:spPr>
          <a:xfrm>
            <a:off x="5376672" y="3236976"/>
            <a:ext cx="1005840" cy="347472"/>
          </a:xfrm>
          <a:prstGeom prst="rect">
            <a:avLst/>
          </a:prstGeom>
          <a:noFill/>
          <a:ln/>
        </p:spPr>
        <p:txBody>
          <a:bodyPr wrap="square" rtlCol="0" anchor="ctr"/>
          <a:lstStyle/>
          <a:p>
            <a:pPr marL="0" indent="0">
              <a:buNone/>
            </a:pPr>
            <a:r>
              <a:rPr lang="en-US" sz="950" dirty="0">
                <a:solidFill>
                  <a:srgbClr val="5A6A7A"/>
                </a:solidFill>
              </a:rPr>
              <a:t>Non (EN)</a:t>
            </a:r>
            <a:endParaRPr lang="en-US" sz="950" dirty="0"/>
          </a:p>
        </p:txBody>
      </p:sp>
      <p:sp>
        <p:nvSpPr>
          <p:cNvPr id="61" name="Text 58"/>
          <p:cNvSpPr/>
          <p:nvPr/>
        </p:nvSpPr>
        <p:spPr>
          <a:xfrm>
            <a:off x="6382512" y="3236976"/>
            <a:ext cx="1463040" cy="347472"/>
          </a:xfrm>
          <a:prstGeom prst="rect">
            <a:avLst/>
          </a:prstGeom>
          <a:noFill/>
          <a:ln/>
        </p:spPr>
        <p:txBody>
          <a:bodyPr wrap="square" rtlCol="0" anchor="ctr"/>
          <a:lstStyle/>
          <a:p>
            <a:pPr marL="0" indent="0">
              <a:buNone/>
            </a:pPr>
            <a:r>
              <a:rPr lang="en-US" sz="950" dirty="0">
                <a:solidFill>
                  <a:srgbClr val="5A6A7A"/>
                </a:solidFill>
              </a:rPr>
              <a:t>Profil intermédiaire</a:t>
            </a:r>
            <a:endParaRPr lang="en-US" sz="950" dirty="0"/>
          </a:p>
        </p:txBody>
      </p:sp>
      <p:sp>
        <p:nvSpPr>
          <p:cNvPr id="62" name="Shape 59"/>
          <p:cNvSpPr/>
          <p:nvPr/>
        </p:nvSpPr>
        <p:spPr>
          <a:xfrm>
            <a:off x="7845552" y="3328416"/>
            <a:ext cx="118872" cy="118872"/>
          </a:xfrm>
          <a:prstGeom prst="ellipse">
            <a:avLst/>
          </a:prstGeom>
          <a:solidFill>
            <a:srgbClr val="F59E0B"/>
          </a:solidFill>
          <a:ln/>
        </p:spPr>
        <p:txBody>
          <a:bodyPr/>
          <a:lstStyle/>
          <a:p>
            <a:endParaRPr lang="fr-FR"/>
          </a:p>
        </p:txBody>
      </p:sp>
      <p:sp>
        <p:nvSpPr>
          <p:cNvPr id="63" name="Shape 60"/>
          <p:cNvSpPr/>
          <p:nvPr/>
        </p:nvSpPr>
        <p:spPr>
          <a:xfrm>
            <a:off x="8010144" y="3328416"/>
            <a:ext cx="118872" cy="118872"/>
          </a:xfrm>
          <a:prstGeom prst="ellipse">
            <a:avLst/>
          </a:prstGeom>
          <a:solidFill>
            <a:srgbClr val="F59E0B"/>
          </a:solidFill>
          <a:ln/>
        </p:spPr>
        <p:txBody>
          <a:bodyPr/>
          <a:lstStyle/>
          <a:p>
            <a:endParaRPr lang="fr-FR"/>
          </a:p>
        </p:txBody>
      </p:sp>
      <p:sp>
        <p:nvSpPr>
          <p:cNvPr id="64" name="Shape 61"/>
          <p:cNvSpPr/>
          <p:nvPr/>
        </p:nvSpPr>
        <p:spPr>
          <a:xfrm>
            <a:off x="8174736" y="3328416"/>
            <a:ext cx="118872" cy="118872"/>
          </a:xfrm>
          <a:prstGeom prst="ellipse">
            <a:avLst/>
          </a:prstGeom>
          <a:solidFill>
            <a:srgbClr val="F59E0B"/>
          </a:solidFill>
          <a:ln/>
        </p:spPr>
        <p:txBody>
          <a:bodyPr/>
          <a:lstStyle/>
          <a:p>
            <a:endParaRPr lang="fr-FR"/>
          </a:p>
        </p:txBody>
      </p:sp>
      <p:sp>
        <p:nvSpPr>
          <p:cNvPr id="65" name="Shape 62"/>
          <p:cNvSpPr/>
          <p:nvPr/>
        </p:nvSpPr>
        <p:spPr>
          <a:xfrm>
            <a:off x="8339328" y="3328416"/>
            <a:ext cx="118872" cy="118872"/>
          </a:xfrm>
          <a:prstGeom prst="ellipse">
            <a:avLst/>
          </a:prstGeom>
          <a:solidFill>
            <a:srgbClr val="E2EAF4"/>
          </a:solidFill>
          <a:ln/>
        </p:spPr>
        <p:txBody>
          <a:bodyPr/>
          <a:lstStyle/>
          <a:p>
            <a:endParaRPr lang="fr-FR"/>
          </a:p>
        </p:txBody>
      </p:sp>
      <p:sp>
        <p:nvSpPr>
          <p:cNvPr id="66" name="Shape 63"/>
          <p:cNvSpPr/>
          <p:nvPr/>
        </p:nvSpPr>
        <p:spPr>
          <a:xfrm>
            <a:off x="8503920" y="3328416"/>
            <a:ext cx="118872" cy="118872"/>
          </a:xfrm>
          <a:prstGeom prst="ellipse">
            <a:avLst/>
          </a:prstGeom>
          <a:solidFill>
            <a:srgbClr val="E2EAF4"/>
          </a:solidFill>
          <a:ln/>
        </p:spPr>
        <p:txBody>
          <a:bodyPr/>
          <a:lstStyle/>
          <a:p>
            <a:endParaRPr lang="fr-FR"/>
          </a:p>
        </p:txBody>
      </p:sp>
      <p:sp>
        <p:nvSpPr>
          <p:cNvPr id="67" name="Shape 64"/>
          <p:cNvSpPr/>
          <p:nvPr/>
        </p:nvSpPr>
        <p:spPr>
          <a:xfrm>
            <a:off x="320040" y="3721608"/>
            <a:ext cx="8503920" cy="566928"/>
          </a:xfrm>
          <a:prstGeom prst="rect">
            <a:avLst/>
          </a:prstGeom>
          <a:solidFill>
            <a:srgbClr val="FFFFFF"/>
          </a:solidFill>
          <a:ln/>
        </p:spPr>
        <p:txBody>
          <a:bodyPr/>
          <a:lstStyle/>
          <a:p>
            <a:endParaRPr lang="fr-FR"/>
          </a:p>
        </p:txBody>
      </p:sp>
      <p:sp>
        <p:nvSpPr>
          <p:cNvPr id="68" name="Shape 65"/>
          <p:cNvSpPr/>
          <p:nvPr/>
        </p:nvSpPr>
        <p:spPr>
          <a:xfrm>
            <a:off x="320040" y="3721608"/>
            <a:ext cx="64008" cy="566928"/>
          </a:xfrm>
          <a:prstGeom prst="rect">
            <a:avLst/>
          </a:prstGeom>
          <a:solidFill>
            <a:srgbClr val="1565C0"/>
          </a:solidFill>
          <a:ln/>
        </p:spPr>
        <p:txBody>
          <a:bodyPr/>
          <a:lstStyle/>
          <a:p>
            <a:endParaRPr lang="fr-FR"/>
          </a:p>
        </p:txBody>
      </p:sp>
      <p:sp>
        <p:nvSpPr>
          <p:cNvPr id="69" name="Text 66"/>
          <p:cNvSpPr/>
          <p:nvPr/>
        </p:nvSpPr>
        <p:spPr>
          <a:xfrm>
            <a:off x="347472" y="3831336"/>
            <a:ext cx="1097280" cy="347472"/>
          </a:xfrm>
          <a:prstGeom prst="rect">
            <a:avLst/>
          </a:prstGeom>
          <a:noFill/>
          <a:ln/>
        </p:spPr>
        <p:txBody>
          <a:bodyPr wrap="square" rtlCol="0" anchor="ctr"/>
          <a:lstStyle/>
          <a:p>
            <a:pPr marL="0" indent="0">
              <a:buNone/>
            </a:pPr>
            <a:r>
              <a:rPr lang="en-US" sz="1050" b="1" dirty="0">
                <a:solidFill>
                  <a:srgbClr val="0D1B2A"/>
                </a:solidFill>
              </a:rPr>
              <a:t>LinkedIn CV</a:t>
            </a:r>
            <a:endParaRPr lang="en-US" sz="1050" dirty="0"/>
          </a:p>
        </p:txBody>
      </p:sp>
      <p:sp>
        <p:nvSpPr>
          <p:cNvPr id="70" name="Text 67"/>
          <p:cNvSpPr/>
          <p:nvPr/>
        </p:nvSpPr>
        <p:spPr>
          <a:xfrm>
            <a:off x="1444752" y="3831336"/>
            <a:ext cx="1371600" cy="347472"/>
          </a:xfrm>
          <a:prstGeom prst="rect">
            <a:avLst/>
          </a:prstGeom>
          <a:noFill/>
          <a:ln/>
        </p:spPr>
        <p:txBody>
          <a:bodyPr wrap="square" rtlCol="0" anchor="ctr"/>
          <a:lstStyle/>
          <a:p>
            <a:pPr marL="0" indent="0">
              <a:buNone/>
            </a:pPr>
            <a:r>
              <a:rPr lang="en-US" sz="950" dirty="0">
                <a:solidFill>
                  <a:srgbClr val="5A6A7A"/>
                </a:solidFill>
              </a:rPr>
              <a:t>linkedin.com</a:t>
            </a:r>
            <a:endParaRPr lang="en-US" sz="950" dirty="0"/>
          </a:p>
        </p:txBody>
      </p:sp>
      <p:sp>
        <p:nvSpPr>
          <p:cNvPr id="71" name="Text 68"/>
          <p:cNvSpPr/>
          <p:nvPr/>
        </p:nvSpPr>
        <p:spPr>
          <a:xfrm>
            <a:off x="2816352" y="3831336"/>
            <a:ext cx="1371600" cy="347472"/>
          </a:xfrm>
          <a:prstGeom prst="rect">
            <a:avLst/>
          </a:prstGeom>
          <a:noFill/>
          <a:ln/>
        </p:spPr>
        <p:txBody>
          <a:bodyPr wrap="square" rtlCol="0" anchor="ctr"/>
          <a:lstStyle/>
          <a:p>
            <a:pPr marL="0" indent="0">
              <a:buNone/>
            </a:pPr>
            <a:r>
              <a:rPr lang="en-US" sz="950" dirty="0">
                <a:solidFill>
                  <a:srgbClr val="5A6A7A"/>
                </a:solidFill>
              </a:rPr>
              <a:t>✅ Gratuit</a:t>
            </a:r>
            <a:endParaRPr lang="en-US" sz="950" dirty="0"/>
          </a:p>
        </p:txBody>
      </p:sp>
      <p:sp>
        <p:nvSpPr>
          <p:cNvPr id="72" name="Text 69"/>
          <p:cNvSpPr/>
          <p:nvPr/>
        </p:nvSpPr>
        <p:spPr>
          <a:xfrm>
            <a:off x="4187952" y="3831336"/>
            <a:ext cx="1188720" cy="347472"/>
          </a:xfrm>
          <a:prstGeom prst="rect">
            <a:avLst/>
          </a:prstGeom>
          <a:noFill/>
          <a:ln/>
        </p:spPr>
        <p:txBody>
          <a:bodyPr wrap="square" rtlCol="0" anchor="ctr"/>
          <a:lstStyle/>
          <a:p>
            <a:pPr marL="0" indent="0">
              <a:buNone/>
            </a:pPr>
            <a:r>
              <a:rPr lang="en-US" sz="950" dirty="0">
                <a:solidFill>
                  <a:srgbClr val="5A6A7A"/>
                </a:solidFill>
              </a:rPr>
              <a:t>⭐⭐ Facile</a:t>
            </a:r>
            <a:endParaRPr lang="en-US" sz="950" dirty="0"/>
          </a:p>
        </p:txBody>
      </p:sp>
      <p:sp>
        <p:nvSpPr>
          <p:cNvPr id="73" name="Text 70"/>
          <p:cNvSpPr/>
          <p:nvPr/>
        </p:nvSpPr>
        <p:spPr>
          <a:xfrm>
            <a:off x="5376672" y="3831336"/>
            <a:ext cx="1005840" cy="347472"/>
          </a:xfrm>
          <a:prstGeom prst="rect">
            <a:avLst/>
          </a:prstGeom>
          <a:noFill/>
          <a:ln/>
        </p:spPr>
        <p:txBody>
          <a:bodyPr wrap="square" rtlCol="0" anchor="ctr"/>
          <a:lstStyle/>
          <a:p>
            <a:pPr marL="0" indent="0">
              <a:buNone/>
            </a:pPr>
            <a:r>
              <a:rPr lang="en-US" sz="950" dirty="0">
                <a:solidFill>
                  <a:srgbClr val="5A6A7A"/>
                </a:solidFill>
              </a:rPr>
              <a:t>Oui</a:t>
            </a:r>
            <a:endParaRPr lang="en-US" sz="950" dirty="0"/>
          </a:p>
        </p:txBody>
      </p:sp>
      <p:sp>
        <p:nvSpPr>
          <p:cNvPr id="74" name="Text 71"/>
          <p:cNvSpPr/>
          <p:nvPr/>
        </p:nvSpPr>
        <p:spPr>
          <a:xfrm>
            <a:off x="6382512" y="3831336"/>
            <a:ext cx="1463040" cy="347472"/>
          </a:xfrm>
          <a:prstGeom prst="rect">
            <a:avLst/>
          </a:prstGeom>
          <a:noFill/>
          <a:ln/>
        </p:spPr>
        <p:txBody>
          <a:bodyPr wrap="square" rtlCol="0" anchor="ctr"/>
          <a:lstStyle/>
          <a:p>
            <a:pPr marL="0" indent="0">
              <a:buNone/>
            </a:pPr>
            <a:r>
              <a:rPr lang="en-US" sz="950" dirty="0">
                <a:solidFill>
                  <a:srgbClr val="5A6A7A"/>
                </a:solidFill>
              </a:rPr>
              <a:t>Réseau professionnel</a:t>
            </a:r>
            <a:endParaRPr lang="en-US" sz="950" dirty="0"/>
          </a:p>
        </p:txBody>
      </p:sp>
      <p:sp>
        <p:nvSpPr>
          <p:cNvPr id="75" name="Shape 72"/>
          <p:cNvSpPr/>
          <p:nvPr/>
        </p:nvSpPr>
        <p:spPr>
          <a:xfrm>
            <a:off x="7845552" y="3922776"/>
            <a:ext cx="118872" cy="118872"/>
          </a:xfrm>
          <a:prstGeom prst="ellipse">
            <a:avLst/>
          </a:prstGeom>
          <a:solidFill>
            <a:srgbClr val="F59E0B"/>
          </a:solidFill>
          <a:ln/>
        </p:spPr>
        <p:txBody>
          <a:bodyPr/>
          <a:lstStyle/>
          <a:p>
            <a:endParaRPr lang="fr-FR"/>
          </a:p>
        </p:txBody>
      </p:sp>
      <p:sp>
        <p:nvSpPr>
          <p:cNvPr id="76" name="Shape 73"/>
          <p:cNvSpPr/>
          <p:nvPr/>
        </p:nvSpPr>
        <p:spPr>
          <a:xfrm>
            <a:off x="8010144" y="3922776"/>
            <a:ext cx="118872" cy="118872"/>
          </a:xfrm>
          <a:prstGeom prst="ellipse">
            <a:avLst/>
          </a:prstGeom>
          <a:solidFill>
            <a:srgbClr val="F59E0B"/>
          </a:solidFill>
          <a:ln/>
        </p:spPr>
        <p:txBody>
          <a:bodyPr/>
          <a:lstStyle/>
          <a:p>
            <a:endParaRPr lang="fr-FR"/>
          </a:p>
        </p:txBody>
      </p:sp>
      <p:sp>
        <p:nvSpPr>
          <p:cNvPr id="77" name="Shape 74"/>
          <p:cNvSpPr/>
          <p:nvPr/>
        </p:nvSpPr>
        <p:spPr>
          <a:xfrm>
            <a:off x="8174736" y="3922776"/>
            <a:ext cx="118872" cy="118872"/>
          </a:xfrm>
          <a:prstGeom prst="ellipse">
            <a:avLst/>
          </a:prstGeom>
          <a:solidFill>
            <a:srgbClr val="F59E0B"/>
          </a:solidFill>
          <a:ln/>
        </p:spPr>
        <p:txBody>
          <a:bodyPr/>
          <a:lstStyle/>
          <a:p>
            <a:endParaRPr lang="fr-FR"/>
          </a:p>
        </p:txBody>
      </p:sp>
      <p:sp>
        <p:nvSpPr>
          <p:cNvPr id="78" name="Shape 75"/>
          <p:cNvSpPr/>
          <p:nvPr/>
        </p:nvSpPr>
        <p:spPr>
          <a:xfrm>
            <a:off x="8339328" y="3922776"/>
            <a:ext cx="118872" cy="118872"/>
          </a:xfrm>
          <a:prstGeom prst="ellipse">
            <a:avLst/>
          </a:prstGeom>
          <a:solidFill>
            <a:srgbClr val="F59E0B"/>
          </a:solidFill>
          <a:ln/>
        </p:spPr>
        <p:txBody>
          <a:bodyPr/>
          <a:lstStyle/>
          <a:p>
            <a:endParaRPr lang="fr-FR"/>
          </a:p>
        </p:txBody>
      </p:sp>
      <p:sp>
        <p:nvSpPr>
          <p:cNvPr id="79" name="Shape 76"/>
          <p:cNvSpPr/>
          <p:nvPr/>
        </p:nvSpPr>
        <p:spPr>
          <a:xfrm>
            <a:off x="8503920" y="3922776"/>
            <a:ext cx="118872" cy="118872"/>
          </a:xfrm>
          <a:prstGeom prst="ellipse">
            <a:avLst/>
          </a:prstGeom>
          <a:solidFill>
            <a:srgbClr val="E2EAF4"/>
          </a:solidFill>
          <a:ln/>
        </p:spPr>
        <p:txBody>
          <a:bodyPr/>
          <a:lstStyle/>
          <a:p>
            <a:endParaRPr lang="fr-FR"/>
          </a:p>
        </p:txBody>
      </p:sp>
      <p:sp>
        <p:nvSpPr>
          <p:cNvPr id="80" name="Shape 77"/>
          <p:cNvSpPr/>
          <p:nvPr/>
        </p:nvSpPr>
        <p:spPr>
          <a:xfrm>
            <a:off x="320040" y="4315968"/>
            <a:ext cx="8503920" cy="566928"/>
          </a:xfrm>
          <a:prstGeom prst="rect">
            <a:avLst/>
          </a:prstGeom>
          <a:solidFill>
            <a:srgbClr val="F0F4FA"/>
          </a:solidFill>
          <a:ln/>
        </p:spPr>
        <p:txBody>
          <a:bodyPr/>
          <a:lstStyle/>
          <a:p>
            <a:endParaRPr lang="fr-FR"/>
          </a:p>
        </p:txBody>
      </p:sp>
      <p:sp>
        <p:nvSpPr>
          <p:cNvPr id="81" name="Shape 78"/>
          <p:cNvSpPr/>
          <p:nvPr/>
        </p:nvSpPr>
        <p:spPr>
          <a:xfrm>
            <a:off x="320040" y="4315968"/>
            <a:ext cx="64008" cy="566928"/>
          </a:xfrm>
          <a:prstGeom prst="rect">
            <a:avLst/>
          </a:prstGeom>
          <a:solidFill>
            <a:srgbClr val="F59E0B"/>
          </a:solidFill>
          <a:ln/>
        </p:spPr>
        <p:txBody>
          <a:bodyPr/>
          <a:lstStyle/>
          <a:p>
            <a:endParaRPr lang="fr-FR"/>
          </a:p>
        </p:txBody>
      </p:sp>
      <p:sp>
        <p:nvSpPr>
          <p:cNvPr id="82" name="Text 79"/>
          <p:cNvSpPr/>
          <p:nvPr/>
        </p:nvSpPr>
        <p:spPr>
          <a:xfrm>
            <a:off x="347472" y="4425696"/>
            <a:ext cx="1097280" cy="347472"/>
          </a:xfrm>
          <a:prstGeom prst="rect">
            <a:avLst/>
          </a:prstGeom>
          <a:noFill/>
          <a:ln/>
        </p:spPr>
        <p:txBody>
          <a:bodyPr wrap="square" rtlCol="0" anchor="ctr"/>
          <a:lstStyle/>
          <a:p>
            <a:pPr marL="0" indent="0">
              <a:buNone/>
            </a:pPr>
            <a:r>
              <a:rPr lang="en-US" sz="1050" b="1" dirty="0">
                <a:solidFill>
                  <a:srgbClr val="0D1B2A"/>
                </a:solidFill>
              </a:rPr>
              <a:t>Kickresume</a:t>
            </a:r>
            <a:endParaRPr lang="en-US" sz="1050" dirty="0"/>
          </a:p>
        </p:txBody>
      </p:sp>
      <p:sp>
        <p:nvSpPr>
          <p:cNvPr id="83" name="Text 80"/>
          <p:cNvSpPr/>
          <p:nvPr/>
        </p:nvSpPr>
        <p:spPr>
          <a:xfrm>
            <a:off x="1444752" y="4425696"/>
            <a:ext cx="1371600" cy="347472"/>
          </a:xfrm>
          <a:prstGeom prst="rect">
            <a:avLst/>
          </a:prstGeom>
          <a:noFill/>
          <a:ln/>
        </p:spPr>
        <p:txBody>
          <a:bodyPr wrap="square" rtlCol="0" anchor="ctr"/>
          <a:lstStyle/>
          <a:p>
            <a:pPr marL="0" indent="0">
              <a:buNone/>
            </a:pPr>
            <a:r>
              <a:rPr lang="en-US" sz="950" dirty="0">
                <a:solidFill>
                  <a:srgbClr val="5A6A7A"/>
                </a:solidFill>
              </a:rPr>
              <a:t>kickresume.com</a:t>
            </a:r>
            <a:endParaRPr lang="en-US" sz="950" dirty="0"/>
          </a:p>
        </p:txBody>
      </p:sp>
      <p:sp>
        <p:nvSpPr>
          <p:cNvPr id="84" name="Text 81"/>
          <p:cNvSpPr/>
          <p:nvPr/>
        </p:nvSpPr>
        <p:spPr>
          <a:xfrm>
            <a:off x="2816352" y="4425696"/>
            <a:ext cx="1371600" cy="347472"/>
          </a:xfrm>
          <a:prstGeom prst="rect">
            <a:avLst/>
          </a:prstGeom>
          <a:noFill/>
          <a:ln/>
        </p:spPr>
        <p:txBody>
          <a:bodyPr wrap="square" rtlCol="0" anchor="ctr"/>
          <a:lstStyle/>
          <a:p>
            <a:pPr marL="0" indent="0">
              <a:buNone/>
            </a:pPr>
            <a:r>
              <a:rPr lang="en-US" sz="950" dirty="0">
                <a:solidFill>
                  <a:srgbClr val="5A6A7A"/>
                </a:solidFill>
              </a:rPr>
              <a:t>✅ Gratuit (base)</a:t>
            </a:r>
            <a:endParaRPr lang="en-US" sz="950" dirty="0"/>
          </a:p>
        </p:txBody>
      </p:sp>
      <p:sp>
        <p:nvSpPr>
          <p:cNvPr id="85" name="Text 82"/>
          <p:cNvSpPr/>
          <p:nvPr/>
        </p:nvSpPr>
        <p:spPr>
          <a:xfrm>
            <a:off x="4187952" y="4425696"/>
            <a:ext cx="1188720" cy="347472"/>
          </a:xfrm>
          <a:prstGeom prst="rect">
            <a:avLst/>
          </a:prstGeom>
          <a:noFill/>
          <a:ln/>
        </p:spPr>
        <p:txBody>
          <a:bodyPr wrap="square" rtlCol="0" anchor="ctr"/>
          <a:lstStyle/>
          <a:p>
            <a:pPr marL="0" indent="0">
              <a:buNone/>
            </a:pPr>
            <a:r>
              <a:rPr lang="en-US" sz="950" dirty="0">
                <a:solidFill>
                  <a:srgbClr val="5A6A7A"/>
                </a:solidFill>
              </a:rPr>
              <a:t>⭐⭐⭐ Moyen</a:t>
            </a:r>
            <a:endParaRPr lang="en-US" sz="950" dirty="0"/>
          </a:p>
        </p:txBody>
      </p:sp>
      <p:sp>
        <p:nvSpPr>
          <p:cNvPr id="86" name="Text 83"/>
          <p:cNvSpPr/>
          <p:nvPr/>
        </p:nvSpPr>
        <p:spPr>
          <a:xfrm>
            <a:off x="5376672" y="4425696"/>
            <a:ext cx="1005840" cy="347472"/>
          </a:xfrm>
          <a:prstGeom prst="rect">
            <a:avLst/>
          </a:prstGeom>
          <a:noFill/>
          <a:ln/>
        </p:spPr>
        <p:txBody>
          <a:bodyPr wrap="square" rtlCol="0" anchor="ctr"/>
          <a:lstStyle/>
          <a:p>
            <a:pPr marL="0" indent="0">
              <a:buNone/>
            </a:pPr>
            <a:r>
              <a:rPr lang="en-US" sz="950" dirty="0">
                <a:solidFill>
                  <a:srgbClr val="5A6A7A"/>
                </a:solidFill>
              </a:rPr>
              <a:t>Non (EN)</a:t>
            </a:r>
            <a:endParaRPr lang="en-US" sz="950" dirty="0"/>
          </a:p>
        </p:txBody>
      </p:sp>
      <p:sp>
        <p:nvSpPr>
          <p:cNvPr id="87" name="Text 84"/>
          <p:cNvSpPr/>
          <p:nvPr/>
        </p:nvSpPr>
        <p:spPr>
          <a:xfrm>
            <a:off x="6382512" y="4425696"/>
            <a:ext cx="1463040" cy="347472"/>
          </a:xfrm>
          <a:prstGeom prst="rect">
            <a:avLst/>
          </a:prstGeom>
          <a:noFill/>
          <a:ln/>
        </p:spPr>
        <p:txBody>
          <a:bodyPr wrap="square" rtlCol="0" anchor="ctr"/>
          <a:lstStyle/>
          <a:p>
            <a:pPr marL="0" indent="0">
              <a:buNone/>
            </a:pPr>
            <a:r>
              <a:rPr lang="en-US" sz="950" dirty="0">
                <a:solidFill>
                  <a:srgbClr val="5A6A7A"/>
                </a:solidFill>
              </a:rPr>
              <a:t>Expérimentés</a:t>
            </a:r>
            <a:endParaRPr lang="en-US" sz="950" dirty="0"/>
          </a:p>
        </p:txBody>
      </p:sp>
      <p:sp>
        <p:nvSpPr>
          <p:cNvPr id="88" name="Shape 85"/>
          <p:cNvSpPr/>
          <p:nvPr/>
        </p:nvSpPr>
        <p:spPr>
          <a:xfrm>
            <a:off x="7845552" y="4517136"/>
            <a:ext cx="118872" cy="118872"/>
          </a:xfrm>
          <a:prstGeom prst="ellipse">
            <a:avLst/>
          </a:prstGeom>
          <a:solidFill>
            <a:srgbClr val="F59E0B"/>
          </a:solidFill>
          <a:ln/>
        </p:spPr>
        <p:txBody>
          <a:bodyPr/>
          <a:lstStyle/>
          <a:p>
            <a:endParaRPr lang="fr-FR"/>
          </a:p>
        </p:txBody>
      </p:sp>
      <p:sp>
        <p:nvSpPr>
          <p:cNvPr id="89" name="Shape 86"/>
          <p:cNvSpPr/>
          <p:nvPr/>
        </p:nvSpPr>
        <p:spPr>
          <a:xfrm>
            <a:off x="8010144" y="4517136"/>
            <a:ext cx="118872" cy="118872"/>
          </a:xfrm>
          <a:prstGeom prst="ellipse">
            <a:avLst/>
          </a:prstGeom>
          <a:solidFill>
            <a:srgbClr val="F59E0B"/>
          </a:solidFill>
          <a:ln/>
        </p:spPr>
        <p:txBody>
          <a:bodyPr/>
          <a:lstStyle/>
          <a:p>
            <a:endParaRPr lang="fr-FR"/>
          </a:p>
        </p:txBody>
      </p:sp>
      <p:sp>
        <p:nvSpPr>
          <p:cNvPr id="90" name="Shape 87"/>
          <p:cNvSpPr/>
          <p:nvPr/>
        </p:nvSpPr>
        <p:spPr>
          <a:xfrm>
            <a:off x="8174736" y="4517136"/>
            <a:ext cx="118872" cy="118872"/>
          </a:xfrm>
          <a:prstGeom prst="ellipse">
            <a:avLst/>
          </a:prstGeom>
          <a:solidFill>
            <a:srgbClr val="F59E0B"/>
          </a:solidFill>
          <a:ln/>
        </p:spPr>
        <p:txBody>
          <a:bodyPr/>
          <a:lstStyle/>
          <a:p>
            <a:endParaRPr lang="fr-FR"/>
          </a:p>
        </p:txBody>
      </p:sp>
      <p:sp>
        <p:nvSpPr>
          <p:cNvPr id="91" name="Shape 88"/>
          <p:cNvSpPr/>
          <p:nvPr/>
        </p:nvSpPr>
        <p:spPr>
          <a:xfrm>
            <a:off x="8339328" y="4517136"/>
            <a:ext cx="118872" cy="118872"/>
          </a:xfrm>
          <a:prstGeom prst="ellipse">
            <a:avLst/>
          </a:prstGeom>
          <a:solidFill>
            <a:srgbClr val="E2EAF4"/>
          </a:solidFill>
          <a:ln/>
        </p:spPr>
        <p:txBody>
          <a:bodyPr/>
          <a:lstStyle/>
          <a:p>
            <a:endParaRPr lang="fr-FR"/>
          </a:p>
        </p:txBody>
      </p:sp>
      <p:sp>
        <p:nvSpPr>
          <p:cNvPr id="92" name="Shape 89"/>
          <p:cNvSpPr/>
          <p:nvPr/>
        </p:nvSpPr>
        <p:spPr>
          <a:xfrm>
            <a:off x="8503920" y="4517136"/>
            <a:ext cx="118872" cy="118872"/>
          </a:xfrm>
          <a:prstGeom prst="ellipse">
            <a:avLst/>
          </a:prstGeom>
          <a:solidFill>
            <a:srgbClr val="E2EAF4"/>
          </a:solidFill>
          <a:ln/>
        </p:spPr>
        <p:txBody>
          <a:bodyPr/>
          <a:lstStyle/>
          <a:p>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796B"/>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3 · SLIDE 9</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Les plateformes d'emploi — Comment ça marche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Un site d'emploi, c'est quoi exactement ?</a:t>
            </a:r>
            <a:endParaRPr lang="en-US" sz="900" dirty="0"/>
          </a:p>
        </p:txBody>
      </p:sp>
      <p:sp>
        <p:nvSpPr>
          <p:cNvPr id="7" name="Text 4"/>
          <p:cNvSpPr/>
          <p:nvPr/>
        </p:nvSpPr>
        <p:spPr>
          <a:xfrm>
            <a:off x="365760" y="1005840"/>
            <a:ext cx="8412480" cy="411480"/>
          </a:xfrm>
          <a:prstGeom prst="rect">
            <a:avLst/>
          </a:prstGeom>
          <a:noFill/>
          <a:ln/>
        </p:spPr>
        <p:txBody>
          <a:bodyPr wrap="square" rtlCol="0" anchor="ctr"/>
          <a:lstStyle/>
          <a:p>
            <a:pPr marL="0" indent="0">
              <a:lnSpc>
                <a:spcPct val="140000"/>
              </a:lnSpc>
              <a:buNone/>
            </a:pPr>
            <a:r>
              <a:rPr lang="en-US" sz="1200" dirty="0">
                <a:solidFill>
                  <a:srgbClr val="0D1B2A"/>
                </a:solidFill>
              </a:rPr>
              <a:t>Une plateforme d'emploi = un site où les entreprises publient leurs offres et où vous postulez directement en ligne.</a:t>
            </a:r>
            <a:endParaRPr lang="en-US" sz="1200" dirty="0"/>
          </a:p>
        </p:txBody>
      </p:sp>
      <p:sp>
        <p:nvSpPr>
          <p:cNvPr id="8" name="Shape 5"/>
          <p:cNvSpPr/>
          <p:nvPr/>
        </p:nvSpPr>
        <p:spPr>
          <a:xfrm>
            <a:off x="320040" y="1554480"/>
            <a:ext cx="2029968" cy="25603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20040" y="1554480"/>
            <a:ext cx="2029968" cy="640080"/>
          </a:xfrm>
          <a:prstGeom prst="rect">
            <a:avLst/>
          </a:prstGeom>
          <a:solidFill>
            <a:srgbClr val="1565C0"/>
          </a:solidFill>
          <a:ln/>
        </p:spPr>
        <p:txBody>
          <a:bodyPr/>
          <a:lstStyle/>
          <a:p>
            <a:endParaRPr lang="fr-FR"/>
          </a:p>
        </p:txBody>
      </p:sp>
      <p:sp>
        <p:nvSpPr>
          <p:cNvPr id="10" name="Text 7"/>
          <p:cNvSpPr/>
          <p:nvPr/>
        </p:nvSpPr>
        <p:spPr>
          <a:xfrm>
            <a:off x="320040" y="1554480"/>
            <a:ext cx="2029968"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1" name="Text 8"/>
          <p:cNvSpPr/>
          <p:nvPr/>
        </p:nvSpPr>
        <p:spPr>
          <a:xfrm>
            <a:off x="429768" y="2267712"/>
            <a:ext cx="1810512" cy="475488"/>
          </a:xfrm>
          <a:prstGeom prst="rect">
            <a:avLst/>
          </a:prstGeom>
          <a:noFill/>
          <a:ln/>
        </p:spPr>
        <p:txBody>
          <a:bodyPr wrap="square" rtlCol="0" anchor="ctr"/>
          <a:lstStyle/>
          <a:p>
            <a:pPr marL="0" indent="0">
              <a:lnSpc>
                <a:spcPct val="120000"/>
              </a:lnSpc>
              <a:buNone/>
            </a:pPr>
            <a:r>
              <a:rPr lang="en-US" sz="1050" b="1" dirty="0">
                <a:solidFill>
                  <a:srgbClr val="0D1B2A"/>
                </a:solidFill>
              </a:rPr>
              <a:t>L'entreprise publie son offre</a:t>
            </a:r>
            <a:endParaRPr lang="en-US" sz="1050" dirty="0"/>
          </a:p>
        </p:txBody>
      </p:sp>
      <p:sp>
        <p:nvSpPr>
          <p:cNvPr id="12" name="Text 9"/>
          <p:cNvSpPr/>
          <p:nvPr/>
        </p:nvSpPr>
        <p:spPr>
          <a:xfrm>
            <a:off x="429768" y="2816352"/>
            <a:ext cx="1810512" cy="1188720"/>
          </a:xfrm>
          <a:prstGeom prst="rect">
            <a:avLst/>
          </a:prstGeom>
          <a:noFill/>
          <a:ln/>
        </p:spPr>
        <p:txBody>
          <a:bodyPr wrap="square" rtlCol="0" anchor="ctr"/>
          <a:lstStyle/>
          <a:p>
            <a:pPr marL="0" indent="0">
              <a:lnSpc>
                <a:spcPct val="135000"/>
              </a:lnSpc>
              <a:buNone/>
            </a:pPr>
            <a:r>
              <a:rPr lang="en-US" sz="950" dirty="0">
                <a:solidFill>
                  <a:srgbClr val="5A6A7A"/>
                </a:solidFill>
              </a:rPr>
              <a:t>Elle décrit le poste, le salaire, les horaires, et ce qu'elle cherche comme profil.</a:t>
            </a:r>
            <a:endParaRPr lang="en-US" sz="950" dirty="0"/>
          </a:p>
        </p:txBody>
      </p:sp>
      <p:sp>
        <p:nvSpPr>
          <p:cNvPr id="13" name="Shape 10"/>
          <p:cNvSpPr/>
          <p:nvPr/>
        </p:nvSpPr>
        <p:spPr>
          <a:xfrm>
            <a:off x="2496312" y="1554480"/>
            <a:ext cx="2029968" cy="25603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4" name="Shape 11"/>
          <p:cNvSpPr/>
          <p:nvPr/>
        </p:nvSpPr>
        <p:spPr>
          <a:xfrm>
            <a:off x="2496312" y="1554480"/>
            <a:ext cx="2029968" cy="640080"/>
          </a:xfrm>
          <a:prstGeom prst="rect">
            <a:avLst/>
          </a:prstGeom>
          <a:solidFill>
            <a:srgbClr val="00796B"/>
          </a:solidFill>
          <a:ln/>
        </p:spPr>
        <p:txBody>
          <a:bodyPr/>
          <a:lstStyle/>
          <a:p>
            <a:endParaRPr lang="fr-FR"/>
          </a:p>
        </p:txBody>
      </p:sp>
      <p:sp>
        <p:nvSpPr>
          <p:cNvPr id="15" name="Text 12"/>
          <p:cNvSpPr/>
          <p:nvPr/>
        </p:nvSpPr>
        <p:spPr>
          <a:xfrm>
            <a:off x="2496312" y="1554480"/>
            <a:ext cx="2029968"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6" name="Text 13"/>
          <p:cNvSpPr/>
          <p:nvPr/>
        </p:nvSpPr>
        <p:spPr>
          <a:xfrm>
            <a:off x="2606040" y="2267712"/>
            <a:ext cx="1810512" cy="475488"/>
          </a:xfrm>
          <a:prstGeom prst="rect">
            <a:avLst/>
          </a:prstGeom>
          <a:noFill/>
          <a:ln/>
        </p:spPr>
        <p:txBody>
          <a:bodyPr wrap="square" rtlCol="0" anchor="ctr"/>
          <a:lstStyle/>
          <a:p>
            <a:pPr marL="0" indent="0">
              <a:lnSpc>
                <a:spcPct val="120000"/>
              </a:lnSpc>
              <a:buNone/>
            </a:pPr>
            <a:r>
              <a:rPr lang="en-US" sz="1050" b="1" dirty="0">
                <a:solidFill>
                  <a:srgbClr val="0D1B2A"/>
                </a:solidFill>
              </a:rPr>
              <a:t>Vous recherchez des offres</a:t>
            </a:r>
            <a:endParaRPr lang="en-US" sz="1050" dirty="0"/>
          </a:p>
        </p:txBody>
      </p:sp>
      <p:sp>
        <p:nvSpPr>
          <p:cNvPr id="17" name="Text 14"/>
          <p:cNvSpPr/>
          <p:nvPr/>
        </p:nvSpPr>
        <p:spPr>
          <a:xfrm>
            <a:off x="2606040" y="2816352"/>
            <a:ext cx="1810512" cy="1188720"/>
          </a:xfrm>
          <a:prstGeom prst="rect">
            <a:avLst/>
          </a:prstGeom>
          <a:noFill/>
          <a:ln/>
        </p:spPr>
        <p:txBody>
          <a:bodyPr wrap="square" rtlCol="0" anchor="ctr"/>
          <a:lstStyle/>
          <a:p>
            <a:pPr marL="0" indent="0">
              <a:lnSpc>
                <a:spcPct val="135000"/>
              </a:lnSpc>
              <a:buNone/>
            </a:pPr>
            <a:r>
              <a:rPr lang="en-US" sz="950" dirty="0">
                <a:solidFill>
                  <a:srgbClr val="5A6A7A"/>
                </a:solidFill>
              </a:rPr>
              <a:t>Vous tapez un mot-clé (ex : « cariste », « secrétaire ») et une ville. Le site affiche les résultats.</a:t>
            </a:r>
            <a:endParaRPr lang="en-US" sz="950" dirty="0"/>
          </a:p>
        </p:txBody>
      </p:sp>
      <p:sp>
        <p:nvSpPr>
          <p:cNvPr id="18" name="Shape 15"/>
          <p:cNvSpPr/>
          <p:nvPr/>
        </p:nvSpPr>
        <p:spPr>
          <a:xfrm>
            <a:off x="4672584" y="1554480"/>
            <a:ext cx="2029968" cy="25603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9" name="Shape 16"/>
          <p:cNvSpPr/>
          <p:nvPr/>
        </p:nvSpPr>
        <p:spPr>
          <a:xfrm>
            <a:off x="4672584" y="1554480"/>
            <a:ext cx="2029968" cy="640080"/>
          </a:xfrm>
          <a:prstGeom prst="rect">
            <a:avLst/>
          </a:prstGeom>
          <a:solidFill>
            <a:srgbClr val="6A3FA0"/>
          </a:solidFill>
          <a:ln/>
        </p:spPr>
        <p:txBody>
          <a:bodyPr/>
          <a:lstStyle/>
          <a:p>
            <a:endParaRPr lang="fr-FR"/>
          </a:p>
        </p:txBody>
      </p:sp>
      <p:sp>
        <p:nvSpPr>
          <p:cNvPr id="20" name="Text 17"/>
          <p:cNvSpPr/>
          <p:nvPr/>
        </p:nvSpPr>
        <p:spPr>
          <a:xfrm>
            <a:off x="4672584" y="1554480"/>
            <a:ext cx="2029968"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1" name="Text 18"/>
          <p:cNvSpPr/>
          <p:nvPr/>
        </p:nvSpPr>
        <p:spPr>
          <a:xfrm>
            <a:off x="4782312" y="2267712"/>
            <a:ext cx="1810512" cy="475488"/>
          </a:xfrm>
          <a:prstGeom prst="rect">
            <a:avLst/>
          </a:prstGeom>
          <a:noFill/>
          <a:ln/>
        </p:spPr>
        <p:txBody>
          <a:bodyPr wrap="square" rtlCol="0" anchor="ctr"/>
          <a:lstStyle/>
          <a:p>
            <a:pPr marL="0" indent="0">
              <a:lnSpc>
                <a:spcPct val="120000"/>
              </a:lnSpc>
              <a:buNone/>
            </a:pPr>
            <a:r>
              <a:rPr lang="en-US" sz="1050" b="1" dirty="0">
                <a:solidFill>
                  <a:srgbClr val="0D1B2A"/>
                </a:solidFill>
              </a:rPr>
              <a:t>Vous cliquez sur « Postuler »</a:t>
            </a:r>
            <a:endParaRPr lang="en-US" sz="1050" dirty="0"/>
          </a:p>
        </p:txBody>
      </p:sp>
      <p:sp>
        <p:nvSpPr>
          <p:cNvPr id="22" name="Text 19"/>
          <p:cNvSpPr/>
          <p:nvPr/>
        </p:nvSpPr>
        <p:spPr>
          <a:xfrm>
            <a:off x="4782312" y="2816352"/>
            <a:ext cx="1810512" cy="1188720"/>
          </a:xfrm>
          <a:prstGeom prst="rect">
            <a:avLst/>
          </a:prstGeom>
          <a:noFill/>
          <a:ln/>
        </p:spPr>
        <p:txBody>
          <a:bodyPr wrap="square" rtlCol="0" anchor="ctr"/>
          <a:lstStyle/>
          <a:p>
            <a:pPr marL="0" indent="0">
              <a:lnSpc>
                <a:spcPct val="135000"/>
              </a:lnSpc>
              <a:buNone/>
            </a:pPr>
            <a:r>
              <a:rPr lang="en-US" sz="950" dirty="0">
                <a:solidFill>
                  <a:srgbClr val="5A6A7A"/>
                </a:solidFill>
              </a:rPr>
              <a:t>Vous remplissez un formulaire et vous joignez votre CV (en PDF) et parfois une lettre.</a:t>
            </a:r>
            <a:endParaRPr lang="en-US" sz="950" dirty="0"/>
          </a:p>
        </p:txBody>
      </p:sp>
      <p:sp>
        <p:nvSpPr>
          <p:cNvPr id="23" name="Shape 20"/>
          <p:cNvSpPr/>
          <p:nvPr/>
        </p:nvSpPr>
        <p:spPr>
          <a:xfrm>
            <a:off x="6848856" y="1554480"/>
            <a:ext cx="2029968" cy="25603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6848856" y="1554480"/>
            <a:ext cx="2029968" cy="640080"/>
          </a:xfrm>
          <a:prstGeom prst="rect">
            <a:avLst/>
          </a:prstGeom>
          <a:solidFill>
            <a:srgbClr val="10B981"/>
          </a:solidFill>
          <a:ln/>
        </p:spPr>
        <p:txBody>
          <a:bodyPr/>
          <a:lstStyle/>
          <a:p>
            <a:endParaRPr lang="fr-FR"/>
          </a:p>
        </p:txBody>
      </p:sp>
      <p:sp>
        <p:nvSpPr>
          <p:cNvPr id="25" name="Text 22"/>
          <p:cNvSpPr/>
          <p:nvPr/>
        </p:nvSpPr>
        <p:spPr>
          <a:xfrm>
            <a:off x="6848856" y="1554480"/>
            <a:ext cx="2029968"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6" name="Text 23"/>
          <p:cNvSpPr/>
          <p:nvPr/>
        </p:nvSpPr>
        <p:spPr>
          <a:xfrm>
            <a:off x="6958584" y="2267712"/>
            <a:ext cx="1810512" cy="475488"/>
          </a:xfrm>
          <a:prstGeom prst="rect">
            <a:avLst/>
          </a:prstGeom>
          <a:noFill/>
          <a:ln/>
        </p:spPr>
        <p:txBody>
          <a:bodyPr wrap="square" rtlCol="0" anchor="ctr"/>
          <a:lstStyle/>
          <a:p>
            <a:pPr marL="0" indent="0">
              <a:lnSpc>
                <a:spcPct val="120000"/>
              </a:lnSpc>
              <a:buNone/>
            </a:pPr>
            <a:r>
              <a:rPr lang="en-US" sz="1050" b="1" dirty="0">
                <a:solidFill>
                  <a:srgbClr val="0D1B2A"/>
                </a:solidFill>
              </a:rPr>
              <a:t>Le recruteur vous répond</a:t>
            </a:r>
            <a:endParaRPr lang="en-US" sz="1050" dirty="0"/>
          </a:p>
        </p:txBody>
      </p:sp>
      <p:sp>
        <p:nvSpPr>
          <p:cNvPr id="27" name="Text 24"/>
          <p:cNvSpPr/>
          <p:nvPr/>
        </p:nvSpPr>
        <p:spPr>
          <a:xfrm>
            <a:off x="6958584" y="2816352"/>
            <a:ext cx="1810512" cy="1188720"/>
          </a:xfrm>
          <a:prstGeom prst="rect">
            <a:avLst/>
          </a:prstGeom>
          <a:noFill/>
          <a:ln/>
        </p:spPr>
        <p:txBody>
          <a:bodyPr wrap="square" rtlCol="0" anchor="ctr"/>
          <a:lstStyle/>
          <a:p>
            <a:pPr marL="0" indent="0">
              <a:lnSpc>
                <a:spcPct val="135000"/>
              </a:lnSpc>
              <a:buNone/>
            </a:pPr>
            <a:r>
              <a:rPr lang="en-US" sz="950" dirty="0">
                <a:solidFill>
                  <a:srgbClr val="5A6A7A"/>
                </a:solidFill>
              </a:rPr>
              <a:t>Si votre profil lui plaît, il vous contacte par email ou téléphone pour un entretien.</a:t>
            </a:r>
            <a:endParaRPr lang="en-US" sz="950" dirty="0"/>
          </a:p>
        </p:txBody>
      </p:sp>
      <p:sp>
        <p:nvSpPr>
          <p:cNvPr id="28" name="Shape 25"/>
          <p:cNvSpPr/>
          <p:nvPr/>
        </p:nvSpPr>
        <p:spPr>
          <a:xfrm>
            <a:off x="320040" y="4206240"/>
            <a:ext cx="8503920" cy="749808"/>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29" name="Shape 26"/>
          <p:cNvSpPr/>
          <p:nvPr/>
        </p:nvSpPr>
        <p:spPr>
          <a:xfrm>
            <a:off x="320040" y="4206240"/>
            <a:ext cx="54864" cy="749808"/>
          </a:xfrm>
          <a:prstGeom prst="rect">
            <a:avLst/>
          </a:prstGeom>
          <a:solidFill>
            <a:srgbClr val="00ACC1"/>
          </a:solidFill>
          <a:ln/>
        </p:spPr>
        <p:txBody>
          <a:bodyPr/>
          <a:lstStyle/>
          <a:p>
            <a:endParaRPr lang="fr-FR"/>
          </a:p>
        </p:txBody>
      </p:sp>
      <p:sp>
        <p:nvSpPr>
          <p:cNvPr id="30" name="Text 27"/>
          <p:cNvSpPr/>
          <p:nvPr/>
        </p:nvSpPr>
        <p:spPr>
          <a:xfrm>
            <a:off x="457200" y="4279392"/>
            <a:ext cx="8275320" cy="237744"/>
          </a:xfrm>
          <a:prstGeom prst="rect">
            <a:avLst/>
          </a:prstGeom>
          <a:noFill/>
          <a:ln/>
        </p:spPr>
        <p:txBody>
          <a:bodyPr wrap="square" lIns="0" tIns="0" rIns="0" bIns="0" rtlCol="0" anchor="ctr"/>
          <a:lstStyle/>
          <a:p>
            <a:pPr marL="0" indent="0">
              <a:buNone/>
            </a:pPr>
            <a:r>
              <a:rPr lang="en-US" sz="900" b="1" dirty="0">
                <a:solidFill>
                  <a:srgbClr val="00ACC1"/>
                </a:solidFill>
              </a:rPr>
              <a:t>✏ Exemple complet — Du début à la fin</a:t>
            </a:r>
            <a:endParaRPr lang="en-US" sz="900" dirty="0"/>
          </a:p>
        </p:txBody>
      </p:sp>
      <p:sp>
        <p:nvSpPr>
          <p:cNvPr id="31" name="Text 28"/>
          <p:cNvSpPr/>
          <p:nvPr/>
        </p:nvSpPr>
        <p:spPr>
          <a:xfrm>
            <a:off x="457200" y="4535424"/>
            <a:ext cx="8275320" cy="347472"/>
          </a:xfrm>
          <a:prstGeom prst="rect">
            <a:avLst/>
          </a:prstGeom>
          <a:noFill/>
          <a:ln/>
        </p:spPr>
        <p:txBody>
          <a:bodyPr wrap="square" rtlCol="0" anchor="ctr"/>
          <a:lstStyle/>
          <a:p>
            <a:pPr marL="0" indent="0">
              <a:lnSpc>
                <a:spcPct val="135000"/>
              </a:lnSpc>
              <a:buNone/>
            </a:pPr>
            <a:r>
              <a:rPr lang="en-US" sz="950" dirty="0">
                <a:solidFill>
                  <a:srgbClr val="0D1B2A"/>
                </a:solidFill>
              </a:rPr>
              <a:t>Ahmed cherche un emploi de livreur à Marseille. Il va sur indeed.fr → tape « livreur Marseille » → trouve 23 offres → clique sur une offre McDonald's → lit la description → clique « Postuler maintenant » → joint son CV PDF → envoie. 2 jours plus tard, il reçoit un email pour un entretien.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3 · SLIDE 10</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Pôle Emploi &amp; Indeed — Les incontournables</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Les deux plateformes à connaître absolument</a:t>
            </a:r>
            <a:endParaRPr lang="en-US" sz="900" dirty="0"/>
          </a:p>
        </p:txBody>
      </p:sp>
      <p:sp>
        <p:nvSpPr>
          <p:cNvPr id="7" name="Shape 4"/>
          <p:cNvSpPr/>
          <p:nvPr/>
        </p:nvSpPr>
        <p:spPr>
          <a:xfrm>
            <a:off x="320040" y="960120"/>
            <a:ext cx="4206240" cy="395020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960120"/>
            <a:ext cx="4206240" cy="548640"/>
          </a:xfrm>
          <a:prstGeom prst="rect">
            <a:avLst/>
          </a:prstGeom>
          <a:solidFill>
            <a:srgbClr val="006AB3"/>
          </a:solidFill>
          <a:ln/>
        </p:spPr>
        <p:txBody>
          <a:bodyPr/>
          <a:lstStyle/>
          <a:p>
            <a:endParaRPr lang="fr-FR"/>
          </a:p>
        </p:txBody>
      </p:sp>
      <p:sp>
        <p:nvSpPr>
          <p:cNvPr id="9" name="Text 6"/>
          <p:cNvSpPr/>
          <p:nvPr/>
        </p:nvSpPr>
        <p:spPr>
          <a:xfrm>
            <a:off x="457200" y="978408"/>
            <a:ext cx="3840480" cy="512064"/>
          </a:xfrm>
          <a:prstGeom prst="rect">
            <a:avLst/>
          </a:prstGeom>
          <a:noFill/>
          <a:ln/>
        </p:spPr>
        <p:txBody>
          <a:bodyPr wrap="square" rtlCol="0" anchor="ctr"/>
          <a:lstStyle/>
          <a:p>
            <a:pPr marL="0" indent="0">
              <a:buNone/>
            </a:pPr>
            <a:r>
              <a:rPr lang="en-US" sz="1600" b="1" dirty="0">
                <a:solidFill>
                  <a:srgbClr val="FFFFFF"/>
                </a:solidFill>
              </a:rPr>
              <a:t>🇫🇷 Pôle Emploi</a:t>
            </a:r>
            <a:endParaRPr lang="en-US" sz="1600" dirty="0"/>
          </a:p>
        </p:txBody>
      </p:sp>
      <p:sp>
        <p:nvSpPr>
          <p:cNvPr id="10" name="Text 7"/>
          <p:cNvSpPr/>
          <p:nvPr/>
        </p:nvSpPr>
        <p:spPr>
          <a:xfrm>
            <a:off x="457200" y="1554480"/>
            <a:ext cx="3840480" cy="256032"/>
          </a:xfrm>
          <a:prstGeom prst="rect">
            <a:avLst/>
          </a:prstGeom>
          <a:noFill/>
          <a:ln/>
        </p:spPr>
        <p:txBody>
          <a:bodyPr wrap="square" rtlCol="0" anchor="ctr"/>
          <a:lstStyle/>
          <a:p>
            <a:pPr marL="0" indent="0">
              <a:buNone/>
            </a:pPr>
            <a:r>
              <a:rPr lang="en-US" sz="1000" b="1" dirty="0">
                <a:solidFill>
                  <a:srgbClr val="00796B"/>
                </a:solidFill>
              </a:rPr>
              <a:t>francetravail.fr (ex Pôle Emploi)</a:t>
            </a:r>
            <a:endParaRPr lang="en-US" sz="1000" dirty="0"/>
          </a:p>
        </p:txBody>
      </p:sp>
      <p:sp>
        <p:nvSpPr>
          <p:cNvPr id="11" name="Text 8"/>
          <p:cNvSpPr/>
          <p:nvPr/>
        </p:nvSpPr>
        <p:spPr>
          <a:xfrm>
            <a:off x="457200" y="1847088"/>
            <a:ext cx="3840480" cy="566928"/>
          </a:xfrm>
          <a:prstGeom prst="rect">
            <a:avLst/>
          </a:prstGeom>
          <a:noFill/>
          <a:ln/>
        </p:spPr>
        <p:txBody>
          <a:bodyPr wrap="square" rtlCol="0" anchor="ctr"/>
          <a:lstStyle/>
          <a:p>
            <a:pPr marL="0" indent="0">
              <a:lnSpc>
                <a:spcPct val="140000"/>
              </a:lnSpc>
              <a:buNone/>
            </a:pPr>
            <a:r>
              <a:rPr lang="en-US" sz="1000" dirty="0">
                <a:solidFill>
                  <a:srgbClr val="5A6A7A"/>
                </a:solidFill>
              </a:rPr>
              <a:t>C'est le service public français de l'emploi. Toutes les entreprises françaises y déposent leurs offres officielles. C'est gratuit et en français.</a:t>
            </a:r>
            <a:endParaRPr lang="en-US" sz="1000" dirty="0"/>
          </a:p>
        </p:txBody>
      </p:sp>
      <p:sp>
        <p:nvSpPr>
          <p:cNvPr id="12" name="Text 9"/>
          <p:cNvSpPr/>
          <p:nvPr/>
        </p:nvSpPr>
        <p:spPr>
          <a:xfrm>
            <a:off x="457200" y="2487168"/>
            <a:ext cx="3840480" cy="256032"/>
          </a:xfrm>
          <a:prstGeom prst="rect">
            <a:avLst/>
          </a:prstGeom>
          <a:noFill/>
          <a:ln/>
        </p:spPr>
        <p:txBody>
          <a:bodyPr wrap="square" rtlCol="0" anchor="ctr"/>
          <a:lstStyle/>
          <a:p>
            <a:pPr marL="0" indent="0">
              <a:buNone/>
            </a:pPr>
            <a:r>
              <a:rPr lang="en-US" sz="1000" dirty="0">
                <a:solidFill>
                  <a:srgbClr val="0D1B2A"/>
                </a:solidFill>
              </a:rPr>
              <a:t>1. Allez sur francetravail.fr</a:t>
            </a:r>
            <a:endParaRPr lang="en-US" sz="1000" dirty="0"/>
          </a:p>
        </p:txBody>
      </p:sp>
      <p:sp>
        <p:nvSpPr>
          <p:cNvPr id="13" name="Text 10"/>
          <p:cNvSpPr/>
          <p:nvPr/>
        </p:nvSpPr>
        <p:spPr>
          <a:xfrm>
            <a:off x="457200" y="2779776"/>
            <a:ext cx="3840480" cy="256032"/>
          </a:xfrm>
          <a:prstGeom prst="rect">
            <a:avLst/>
          </a:prstGeom>
          <a:noFill/>
          <a:ln/>
        </p:spPr>
        <p:txBody>
          <a:bodyPr wrap="square" rtlCol="0" anchor="ctr"/>
          <a:lstStyle/>
          <a:p>
            <a:pPr marL="0" indent="0">
              <a:buNone/>
            </a:pPr>
            <a:r>
              <a:rPr lang="en-US" sz="1000" dirty="0">
                <a:solidFill>
                  <a:srgbClr val="0D1B2A"/>
                </a:solidFill>
              </a:rPr>
              <a:t>2. Cliquez sur « Rechercher une offre »</a:t>
            </a:r>
            <a:endParaRPr lang="en-US" sz="1000" dirty="0"/>
          </a:p>
        </p:txBody>
      </p:sp>
      <p:sp>
        <p:nvSpPr>
          <p:cNvPr id="14" name="Text 11"/>
          <p:cNvSpPr/>
          <p:nvPr/>
        </p:nvSpPr>
        <p:spPr>
          <a:xfrm>
            <a:off x="457200" y="3072384"/>
            <a:ext cx="3840480" cy="256032"/>
          </a:xfrm>
          <a:prstGeom prst="rect">
            <a:avLst/>
          </a:prstGeom>
          <a:noFill/>
          <a:ln/>
        </p:spPr>
        <p:txBody>
          <a:bodyPr wrap="square" rtlCol="0" anchor="ctr"/>
          <a:lstStyle/>
          <a:p>
            <a:pPr marL="0" indent="0">
              <a:buNone/>
            </a:pPr>
            <a:r>
              <a:rPr lang="en-US" sz="1000" dirty="0">
                <a:solidFill>
                  <a:srgbClr val="0D1B2A"/>
                </a:solidFill>
              </a:rPr>
              <a:t>3. Tapez votre métier + ville</a:t>
            </a:r>
            <a:endParaRPr lang="en-US" sz="1000" dirty="0"/>
          </a:p>
        </p:txBody>
      </p:sp>
      <p:sp>
        <p:nvSpPr>
          <p:cNvPr id="15" name="Text 12"/>
          <p:cNvSpPr/>
          <p:nvPr/>
        </p:nvSpPr>
        <p:spPr>
          <a:xfrm>
            <a:off x="457200" y="3364992"/>
            <a:ext cx="3840480" cy="256032"/>
          </a:xfrm>
          <a:prstGeom prst="rect">
            <a:avLst/>
          </a:prstGeom>
          <a:noFill/>
          <a:ln/>
        </p:spPr>
        <p:txBody>
          <a:bodyPr wrap="square" rtlCol="0" anchor="ctr"/>
          <a:lstStyle/>
          <a:p>
            <a:pPr marL="0" indent="0">
              <a:buNone/>
            </a:pPr>
            <a:r>
              <a:rPr lang="en-US" sz="1000" dirty="0">
                <a:solidFill>
                  <a:srgbClr val="0D1B2A"/>
                </a:solidFill>
              </a:rPr>
              <a:t>4. Créez un compte pour postuler</a:t>
            </a:r>
            <a:endParaRPr lang="en-US" sz="1000" dirty="0"/>
          </a:p>
        </p:txBody>
      </p:sp>
      <p:sp>
        <p:nvSpPr>
          <p:cNvPr id="16" name="Text 13"/>
          <p:cNvSpPr/>
          <p:nvPr/>
        </p:nvSpPr>
        <p:spPr>
          <a:xfrm>
            <a:off x="457200" y="3657600"/>
            <a:ext cx="3840480" cy="256032"/>
          </a:xfrm>
          <a:prstGeom prst="rect">
            <a:avLst/>
          </a:prstGeom>
          <a:noFill/>
          <a:ln/>
        </p:spPr>
        <p:txBody>
          <a:bodyPr wrap="square" rtlCol="0" anchor="ctr"/>
          <a:lstStyle/>
          <a:p>
            <a:pPr marL="0" indent="0">
              <a:buNone/>
            </a:pPr>
            <a:r>
              <a:rPr lang="en-US" sz="1000" dirty="0">
                <a:solidFill>
                  <a:srgbClr val="0D1B2A"/>
                </a:solidFill>
              </a:rPr>
              <a:t>5. Déposez votre CV dans votre espace</a:t>
            </a:r>
            <a:endParaRPr lang="en-US" sz="1000" dirty="0"/>
          </a:p>
        </p:txBody>
      </p:sp>
      <p:sp>
        <p:nvSpPr>
          <p:cNvPr id="17" name="Shape 14"/>
          <p:cNvSpPr/>
          <p:nvPr/>
        </p:nvSpPr>
        <p:spPr>
          <a:xfrm>
            <a:off x="384048" y="3977640"/>
            <a:ext cx="4069080" cy="804672"/>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18" name="Shape 15"/>
          <p:cNvSpPr/>
          <p:nvPr/>
        </p:nvSpPr>
        <p:spPr>
          <a:xfrm>
            <a:off x="384048" y="3977640"/>
            <a:ext cx="54864" cy="804672"/>
          </a:xfrm>
          <a:prstGeom prst="rect">
            <a:avLst/>
          </a:prstGeom>
          <a:solidFill>
            <a:srgbClr val="00ACC1"/>
          </a:solidFill>
          <a:ln/>
        </p:spPr>
        <p:txBody>
          <a:bodyPr/>
          <a:lstStyle/>
          <a:p>
            <a:endParaRPr lang="fr-FR"/>
          </a:p>
        </p:txBody>
      </p:sp>
      <p:sp>
        <p:nvSpPr>
          <p:cNvPr id="19" name="Text 16"/>
          <p:cNvSpPr/>
          <p:nvPr/>
        </p:nvSpPr>
        <p:spPr>
          <a:xfrm>
            <a:off x="521208" y="4050792"/>
            <a:ext cx="3840480" cy="237744"/>
          </a:xfrm>
          <a:prstGeom prst="rect">
            <a:avLst/>
          </a:prstGeom>
          <a:noFill/>
          <a:ln/>
        </p:spPr>
        <p:txBody>
          <a:bodyPr wrap="square" lIns="0" tIns="0" rIns="0" bIns="0" rtlCol="0" anchor="ctr"/>
          <a:lstStyle/>
          <a:p>
            <a:pPr marL="0" indent="0">
              <a:buNone/>
            </a:pPr>
            <a:r>
              <a:rPr lang="en-US" sz="900" b="1" dirty="0">
                <a:solidFill>
                  <a:srgbClr val="00ACC1"/>
                </a:solidFill>
              </a:rPr>
              <a:t>✏ Exemple de recherche</a:t>
            </a:r>
            <a:endParaRPr lang="en-US" sz="900" dirty="0"/>
          </a:p>
        </p:txBody>
      </p:sp>
      <p:sp>
        <p:nvSpPr>
          <p:cNvPr id="20" name="Text 17"/>
          <p:cNvSpPr/>
          <p:nvPr/>
        </p:nvSpPr>
        <p:spPr>
          <a:xfrm>
            <a:off x="521208" y="4306824"/>
            <a:ext cx="3840480" cy="402336"/>
          </a:xfrm>
          <a:prstGeom prst="rect">
            <a:avLst/>
          </a:prstGeom>
          <a:noFill/>
          <a:ln/>
        </p:spPr>
        <p:txBody>
          <a:bodyPr wrap="square" rtlCol="0" anchor="ctr"/>
          <a:lstStyle/>
          <a:p>
            <a:pPr marL="0" indent="0">
              <a:lnSpc>
                <a:spcPct val="135000"/>
              </a:lnSpc>
              <a:buNone/>
            </a:pPr>
            <a:r>
              <a:rPr lang="en-US" sz="950" dirty="0">
                <a:solidFill>
                  <a:srgbClr val="0D1B2A"/>
                </a:solidFill>
              </a:rPr>
              <a:t>Tapez : « Agent de sécurité » + « Bordeaux » → 34 offres CDI. Filtrez : « CDI uniquement » → 18 offres. Cliquez sur la 1ère → Postulez en 3 clics.</a:t>
            </a:r>
            <a:endParaRPr lang="en-US" sz="950" dirty="0"/>
          </a:p>
        </p:txBody>
      </p:sp>
      <p:sp>
        <p:nvSpPr>
          <p:cNvPr id="21" name="Shape 18"/>
          <p:cNvSpPr/>
          <p:nvPr/>
        </p:nvSpPr>
        <p:spPr>
          <a:xfrm>
            <a:off x="4663440" y="960120"/>
            <a:ext cx="4206240" cy="395020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4663440" y="960120"/>
            <a:ext cx="4206240" cy="548640"/>
          </a:xfrm>
          <a:prstGeom prst="rect">
            <a:avLst/>
          </a:prstGeom>
          <a:solidFill>
            <a:srgbClr val="2164F3"/>
          </a:solidFill>
          <a:ln/>
        </p:spPr>
        <p:txBody>
          <a:bodyPr/>
          <a:lstStyle/>
          <a:p>
            <a:endParaRPr lang="fr-FR"/>
          </a:p>
        </p:txBody>
      </p:sp>
      <p:sp>
        <p:nvSpPr>
          <p:cNvPr id="23" name="Text 20"/>
          <p:cNvSpPr/>
          <p:nvPr/>
        </p:nvSpPr>
        <p:spPr>
          <a:xfrm>
            <a:off x="4800600" y="978408"/>
            <a:ext cx="3840480" cy="512064"/>
          </a:xfrm>
          <a:prstGeom prst="rect">
            <a:avLst/>
          </a:prstGeom>
          <a:noFill/>
          <a:ln/>
        </p:spPr>
        <p:txBody>
          <a:bodyPr wrap="square" rtlCol="0" anchor="ctr"/>
          <a:lstStyle/>
          <a:p>
            <a:pPr marL="0" indent="0">
              <a:buNone/>
            </a:pPr>
            <a:r>
              <a:rPr lang="en-US" sz="1600" b="1" dirty="0">
                <a:solidFill>
                  <a:srgbClr val="FFFFFF"/>
                </a:solidFill>
              </a:rPr>
              <a:t>🌍 Indeed</a:t>
            </a:r>
            <a:endParaRPr lang="en-US" sz="1600" dirty="0"/>
          </a:p>
        </p:txBody>
      </p:sp>
      <p:sp>
        <p:nvSpPr>
          <p:cNvPr id="24" name="Text 21"/>
          <p:cNvSpPr/>
          <p:nvPr/>
        </p:nvSpPr>
        <p:spPr>
          <a:xfrm>
            <a:off x="4800600" y="1554480"/>
            <a:ext cx="3840480" cy="256032"/>
          </a:xfrm>
          <a:prstGeom prst="rect">
            <a:avLst/>
          </a:prstGeom>
          <a:noFill/>
          <a:ln/>
        </p:spPr>
        <p:txBody>
          <a:bodyPr wrap="square" rtlCol="0" anchor="ctr"/>
          <a:lstStyle/>
          <a:p>
            <a:pPr marL="0" indent="0">
              <a:buNone/>
            </a:pPr>
            <a:r>
              <a:rPr lang="en-US" sz="1000" b="1" dirty="0">
                <a:solidFill>
                  <a:srgbClr val="00796B"/>
                </a:solidFill>
              </a:rPr>
              <a:t>indeed.fr (disponible dans le monde entier)</a:t>
            </a:r>
            <a:endParaRPr lang="en-US" sz="1000" dirty="0"/>
          </a:p>
        </p:txBody>
      </p:sp>
      <p:sp>
        <p:nvSpPr>
          <p:cNvPr id="25" name="Text 22"/>
          <p:cNvSpPr/>
          <p:nvPr/>
        </p:nvSpPr>
        <p:spPr>
          <a:xfrm>
            <a:off x="4800600" y="1847088"/>
            <a:ext cx="3840480" cy="566928"/>
          </a:xfrm>
          <a:prstGeom prst="rect">
            <a:avLst/>
          </a:prstGeom>
          <a:noFill/>
          <a:ln/>
        </p:spPr>
        <p:txBody>
          <a:bodyPr wrap="square" rtlCol="0" anchor="ctr"/>
          <a:lstStyle/>
          <a:p>
            <a:pPr marL="0" indent="0">
              <a:lnSpc>
                <a:spcPct val="140000"/>
              </a:lnSpc>
              <a:buNone/>
            </a:pPr>
            <a:r>
              <a:rPr lang="en-US" sz="1000" dirty="0">
                <a:solidFill>
                  <a:srgbClr val="5A6A7A"/>
                </a:solidFill>
              </a:rPr>
              <a:t>Indeed est le plus grand moteur de recherche d'emploi au monde. Il regroupe des offres de TOUS les sites (Pôle Emploi, LinkedIn, sites d'entreprises…) en un seul endroit.</a:t>
            </a:r>
            <a:endParaRPr lang="en-US" sz="1000" dirty="0"/>
          </a:p>
        </p:txBody>
      </p:sp>
      <p:sp>
        <p:nvSpPr>
          <p:cNvPr id="26" name="Text 23"/>
          <p:cNvSpPr/>
          <p:nvPr/>
        </p:nvSpPr>
        <p:spPr>
          <a:xfrm>
            <a:off x="4800600" y="2487168"/>
            <a:ext cx="3840480" cy="256032"/>
          </a:xfrm>
          <a:prstGeom prst="rect">
            <a:avLst/>
          </a:prstGeom>
          <a:noFill/>
          <a:ln/>
        </p:spPr>
        <p:txBody>
          <a:bodyPr wrap="square" rtlCol="0" anchor="ctr"/>
          <a:lstStyle/>
          <a:p>
            <a:pPr marL="0" indent="0">
              <a:buNone/>
            </a:pPr>
            <a:r>
              <a:rPr lang="en-US" sz="1000" dirty="0">
                <a:solidFill>
                  <a:srgbClr val="0D1B2A"/>
                </a:solidFill>
              </a:rPr>
              <a:t>1. Allez sur indeed.fr</a:t>
            </a:r>
            <a:endParaRPr lang="en-US" sz="1000" dirty="0"/>
          </a:p>
        </p:txBody>
      </p:sp>
      <p:sp>
        <p:nvSpPr>
          <p:cNvPr id="27" name="Text 24"/>
          <p:cNvSpPr/>
          <p:nvPr/>
        </p:nvSpPr>
        <p:spPr>
          <a:xfrm>
            <a:off x="4800600" y="2779776"/>
            <a:ext cx="3840480" cy="256032"/>
          </a:xfrm>
          <a:prstGeom prst="rect">
            <a:avLst/>
          </a:prstGeom>
          <a:noFill/>
          <a:ln/>
        </p:spPr>
        <p:txBody>
          <a:bodyPr wrap="square" rtlCol="0" anchor="ctr"/>
          <a:lstStyle/>
          <a:p>
            <a:pPr marL="0" indent="0">
              <a:buNone/>
            </a:pPr>
            <a:r>
              <a:rPr lang="en-US" sz="1000" dirty="0">
                <a:solidFill>
                  <a:srgbClr val="0D1B2A"/>
                </a:solidFill>
              </a:rPr>
              <a:t>2. Entrez un métier + une ville</a:t>
            </a:r>
            <a:endParaRPr lang="en-US" sz="1000" dirty="0"/>
          </a:p>
        </p:txBody>
      </p:sp>
      <p:sp>
        <p:nvSpPr>
          <p:cNvPr id="28" name="Text 25"/>
          <p:cNvSpPr/>
          <p:nvPr/>
        </p:nvSpPr>
        <p:spPr>
          <a:xfrm>
            <a:off x="4800600" y="3072384"/>
            <a:ext cx="3840480" cy="256032"/>
          </a:xfrm>
          <a:prstGeom prst="rect">
            <a:avLst/>
          </a:prstGeom>
          <a:noFill/>
          <a:ln/>
        </p:spPr>
        <p:txBody>
          <a:bodyPr wrap="square" rtlCol="0" anchor="ctr"/>
          <a:lstStyle/>
          <a:p>
            <a:pPr marL="0" indent="0">
              <a:buNone/>
            </a:pPr>
            <a:r>
              <a:rPr lang="en-US" sz="1000" dirty="0">
                <a:solidFill>
                  <a:srgbClr val="0D1B2A"/>
                </a:solidFill>
              </a:rPr>
              <a:t>3. Utilisez les filtres (salaire, type…)</a:t>
            </a:r>
            <a:endParaRPr lang="en-US" sz="1000" dirty="0"/>
          </a:p>
        </p:txBody>
      </p:sp>
      <p:sp>
        <p:nvSpPr>
          <p:cNvPr id="29" name="Text 26"/>
          <p:cNvSpPr/>
          <p:nvPr/>
        </p:nvSpPr>
        <p:spPr>
          <a:xfrm>
            <a:off x="4800600" y="3364992"/>
            <a:ext cx="3840480" cy="256032"/>
          </a:xfrm>
          <a:prstGeom prst="rect">
            <a:avLst/>
          </a:prstGeom>
          <a:noFill/>
          <a:ln/>
        </p:spPr>
        <p:txBody>
          <a:bodyPr wrap="square" rtlCol="0" anchor="ctr"/>
          <a:lstStyle/>
          <a:p>
            <a:pPr marL="0" indent="0">
              <a:buNone/>
            </a:pPr>
            <a:r>
              <a:rPr lang="en-US" sz="1000" dirty="0">
                <a:solidFill>
                  <a:srgbClr val="0D1B2A"/>
                </a:solidFill>
              </a:rPr>
              <a:t>4. Créez un compte pour postuler 1-clic</a:t>
            </a:r>
            <a:endParaRPr lang="en-US" sz="1000" dirty="0"/>
          </a:p>
        </p:txBody>
      </p:sp>
      <p:sp>
        <p:nvSpPr>
          <p:cNvPr id="30" name="Text 27"/>
          <p:cNvSpPr/>
          <p:nvPr/>
        </p:nvSpPr>
        <p:spPr>
          <a:xfrm>
            <a:off x="4800600" y="3657600"/>
            <a:ext cx="3840480" cy="256032"/>
          </a:xfrm>
          <a:prstGeom prst="rect">
            <a:avLst/>
          </a:prstGeom>
          <a:noFill/>
          <a:ln/>
        </p:spPr>
        <p:txBody>
          <a:bodyPr wrap="square" rtlCol="0" anchor="ctr"/>
          <a:lstStyle/>
          <a:p>
            <a:pPr marL="0" indent="0">
              <a:buNone/>
            </a:pPr>
            <a:r>
              <a:rPr lang="en-US" sz="1000" dirty="0">
                <a:solidFill>
                  <a:srgbClr val="0D1B2A"/>
                </a:solidFill>
              </a:rPr>
              <a:t>5. Activez les alertes email automatiques</a:t>
            </a:r>
            <a:endParaRPr lang="en-US" sz="1000" dirty="0"/>
          </a:p>
        </p:txBody>
      </p:sp>
      <p:sp>
        <p:nvSpPr>
          <p:cNvPr id="31" name="Shape 28"/>
          <p:cNvSpPr/>
          <p:nvPr/>
        </p:nvSpPr>
        <p:spPr>
          <a:xfrm>
            <a:off x="4727448" y="3977640"/>
            <a:ext cx="4069080" cy="804672"/>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32" name="Shape 29"/>
          <p:cNvSpPr/>
          <p:nvPr/>
        </p:nvSpPr>
        <p:spPr>
          <a:xfrm>
            <a:off x="4727448" y="3977640"/>
            <a:ext cx="54864" cy="804672"/>
          </a:xfrm>
          <a:prstGeom prst="rect">
            <a:avLst/>
          </a:prstGeom>
          <a:solidFill>
            <a:srgbClr val="00ACC1"/>
          </a:solidFill>
          <a:ln/>
        </p:spPr>
        <p:txBody>
          <a:bodyPr/>
          <a:lstStyle/>
          <a:p>
            <a:endParaRPr lang="fr-FR"/>
          </a:p>
        </p:txBody>
      </p:sp>
      <p:sp>
        <p:nvSpPr>
          <p:cNvPr id="33" name="Text 30"/>
          <p:cNvSpPr/>
          <p:nvPr/>
        </p:nvSpPr>
        <p:spPr>
          <a:xfrm>
            <a:off x="4864608" y="4050792"/>
            <a:ext cx="3840480" cy="237744"/>
          </a:xfrm>
          <a:prstGeom prst="rect">
            <a:avLst/>
          </a:prstGeom>
          <a:noFill/>
          <a:ln/>
        </p:spPr>
        <p:txBody>
          <a:bodyPr wrap="square" lIns="0" tIns="0" rIns="0" bIns="0" rtlCol="0" anchor="ctr"/>
          <a:lstStyle/>
          <a:p>
            <a:pPr marL="0" indent="0">
              <a:buNone/>
            </a:pPr>
            <a:r>
              <a:rPr lang="en-US" sz="900" b="1" dirty="0">
                <a:solidFill>
                  <a:srgbClr val="00ACC1"/>
                </a:solidFill>
              </a:rPr>
              <a:t>✏ Exemple d'alerte email</a:t>
            </a:r>
            <a:endParaRPr lang="en-US" sz="900" dirty="0"/>
          </a:p>
        </p:txBody>
      </p:sp>
      <p:sp>
        <p:nvSpPr>
          <p:cNvPr id="34" name="Text 31"/>
          <p:cNvSpPr/>
          <p:nvPr/>
        </p:nvSpPr>
        <p:spPr>
          <a:xfrm>
            <a:off x="4864608" y="4306824"/>
            <a:ext cx="3840480" cy="402336"/>
          </a:xfrm>
          <a:prstGeom prst="rect">
            <a:avLst/>
          </a:prstGeom>
          <a:noFill/>
          <a:ln/>
        </p:spPr>
        <p:txBody>
          <a:bodyPr wrap="square" rtlCol="0" anchor="ctr"/>
          <a:lstStyle/>
          <a:p>
            <a:pPr marL="0" indent="0">
              <a:lnSpc>
                <a:spcPct val="135000"/>
              </a:lnSpc>
              <a:buNone/>
            </a:pPr>
            <a:r>
              <a:rPr lang="en-US" sz="950" dirty="0">
                <a:solidFill>
                  <a:srgbClr val="0D1B2A"/>
                </a:solidFill>
              </a:rPr>
              <a:t>Configurez : Métier « Aide-soignant » + Ville « Lyon » + Rayon 15 km → You recevez un email chaque jour avec les nouvelles offres !</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3 · SLIDE 11</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LinkedIn &amp; Welcome to the Jungle</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Le réseau professionnel + la plateforme des startups</a:t>
            </a:r>
            <a:endParaRPr lang="en-US" sz="900" dirty="0"/>
          </a:p>
        </p:txBody>
      </p:sp>
      <p:sp>
        <p:nvSpPr>
          <p:cNvPr id="7" name="Shape 4"/>
          <p:cNvSpPr/>
          <p:nvPr/>
        </p:nvSpPr>
        <p:spPr>
          <a:xfrm>
            <a:off x="320040" y="960120"/>
            <a:ext cx="4206240" cy="3950208"/>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960120"/>
            <a:ext cx="4206240" cy="502920"/>
          </a:xfrm>
          <a:prstGeom prst="rect">
            <a:avLst/>
          </a:prstGeom>
          <a:solidFill>
            <a:srgbClr val="0077B5"/>
          </a:solidFill>
          <a:ln/>
        </p:spPr>
        <p:txBody>
          <a:bodyPr/>
          <a:lstStyle/>
          <a:p>
            <a:endParaRPr lang="fr-FR"/>
          </a:p>
        </p:txBody>
      </p:sp>
      <p:sp>
        <p:nvSpPr>
          <p:cNvPr id="9" name="Text 6"/>
          <p:cNvSpPr/>
          <p:nvPr/>
        </p:nvSpPr>
        <p:spPr>
          <a:xfrm>
            <a:off x="457200" y="978408"/>
            <a:ext cx="3931920" cy="457200"/>
          </a:xfrm>
          <a:prstGeom prst="rect">
            <a:avLst/>
          </a:prstGeom>
          <a:noFill/>
          <a:ln/>
        </p:spPr>
        <p:txBody>
          <a:bodyPr wrap="square" rtlCol="0" anchor="ctr"/>
          <a:lstStyle/>
          <a:p>
            <a:pPr marL="0" indent="0">
              <a:buNone/>
            </a:pPr>
            <a:r>
              <a:rPr lang="en-US" sz="1600" b="1" dirty="0">
                <a:solidFill>
                  <a:srgbClr val="FFFFFF"/>
                </a:solidFill>
              </a:rPr>
              <a:t>💼 LinkedIn</a:t>
            </a:r>
            <a:endParaRPr lang="en-US" sz="1600" dirty="0"/>
          </a:p>
        </p:txBody>
      </p:sp>
      <p:sp>
        <p:nvSpPr>
          <p:cNvPr id="10" name="Text 7"/>
          <p:cNvSpPr/>
          <p:nvPr/>
        </p:nvSpPr>
        <p:spPr>
          <a:xfrm>
            <a:off x="457200" y="1508760"/>
            <a:ext cx="3840480" cy="228600"/>
          </a:xfrm>
          <a:prstGeom prst="rect">
            <a:avLst/>
          </a:prstGeom>
          <a:noFill/>
          <a:ln/>
        </p:spPr>
        <p:txBody>
          <a:bodyPr wrap="square" rtlCol="0" anchor="ctr"/>
          <a:lstStyle/>
          <a:p>
            <a:pPr marL="0" indent="0">
              <a:buNone/>
            </a:pPr>
            <a:r>
              <a:rPr lang="en-US" sz="950" b="1" dirty="0">
                <a:solidFill>
                  <a:srgbClr val="0077B5"/>
                </a:solidFill>
              </a:rPr>
              <a:t>linkedin.com — Réseau professionnel mondial</a:t>
            </a:r>
            <a:endParaRPr lang="en-US" sz="950" dirty="0"/>
          </a:p>
        </p:txBody>
      </p:sp>
      <p:sp>
        <p:nvSpPr>
          <p:cNvPr id="11" name="Text 8"/>
          <p:cNvSpPr/>
          <p:nvPr/>
        </p:nvSpPr>
        <p:spPr>
          <a:xfrm>
            <a:off x="457200" y="1764792"/>
            <a:ext cx="3840480" cy="594360"/>
          </a:xfrm>
          <a:prstGeom prst="rect">
            <a:avLst/>
          </a:prstGeom>
          <a:noFill/>
          <a:ln/>
        </p:spPr>
        <p:txBody>
          <a:bodyPr wrap="square" rtlCol="0" anchor="ctr"/>
          <a:lstStyle/>
          <a:p>
            <a:pPr marL="0" indent="0">
              <a:lnSpc>
                <a:spcPct val="135000"/>
              </a:lnSpc>
              <a:buNone/>
            </a:pPr>
            <a:r>
              <a:rPr lang="en-US" sz="950" dirty="0">
                <a:solidFill>
                  <a:srgbClr val="5A6A7A"/>
                </a:solidFill>
              </a:rPr>
              <a:t>LinkedIn c'est comme Facebook, mais pour le travail. Vous créez un profil avec votre parcours, et les recruteurs vous trouvent directement. C'est la plateforme N°1 pour les postes qualifiés.</a:t>
            </a:r>
            <a:endParaRPr lang="en-US" sz="950" dirty="0"/>
          </a:p>
        </p:txBody>
      </p:sp>
      <p:sp>
        <p:nvSpPr>
          <p:cNvPr id="12" name="Text 9"/>
          <p:cNvSpPr/>
          <p:nvPr/>
        </p:nvSpPr>
        <p:spPr>
          <a:xfrm>
            <a:off x="457200" y="2423160"/>
            <a:ext cx="3840480" cy="256032"/>
          </a:xfrm>
          <a:prstGeom prst="rect">
            <a:avLst/>
          </a:prstGeom>
          <a:noFill/>
          <a:ln/>
        </p:spPr>
        <p:txBody>
          <a:bodyPr wrap="square" rtlCol="0" anchor="ctr"/>
          <a:lstStyle/>
          <a:p>
            <a:pPr marL="0" indent="0">
              <a:buNone/>
            </a:pPr>
            <a:r>
              <a:rPr lang="en-US" sz="1050" b="1" dirty="0">
                <a:solidFill>
                  <a:srgbClr val="0D1B2A"/>
                </a:solidFill>
              </a:rPr>
              <a:t>Comment bien utiliser LinkedIn :</a:t>
            </a:r>
            <a:endParaRPr lang="en-US" sz="1050" dirty="0"/>
          </a:p>
        </p:txBody>
      </p:sp>
      <p:sp>
        <p:nvSpPr>
          <p:cNvPr id="13" name="Text 10"/>
          <p:cNvSpPr/>
          <p:nvPr/>
        </p:nvSpPr>
        <p:spPr>
          <a:xfrm>
            <a:off x="457200" y="2724912"/>
            <a:ext cx="3840480" cy="246888"/>
          </a:xfrm>
          <a:prstGeom prst="rect">
            <a:avLst/>
          </a:prstGeom>
          <a:noFill/>
          <a:ln/>
        </p:spPr>
        <p:txBody>
          <a:bodyPr wrap="square" rtlCol="0" anchor="ctr"/>
          <a:lstStyle/>
          <a:p>
            <a:pPr marL="0" indent="0">
              <a:buNone/>
            </a:pPr>
            <a:r>
              <a:rPr lang="en-US" sz="950" dirty="0">
                <a:solidFill>
                  <a:srgbClr val="0D1B2A"/>
                </a:solidFill>
              </a:rPr>
              <a:t>✔ Mettez une vraie photo professionnelle</a:t>
            </a:r>
            <a:endParaRPr lang="en-US" sz="950" dirty="0"/>
          </a:p>
        </p:txBody>
      </p:sp>
      <p:sp>
        <p:nvSpPr>
          <p:cNvPr id="14" name="Text 11"/>
          <p:cNvSpPr/>
          <p:nvPr/>
        </p:nvSpPr>
        <p:spPr>
          <a:xfrm>
            <a:off x="457200" y="2999232"/>
            <a:ext cx="3840480" cy="246888"/>
          </a:xfrm>
          <a:prstGeom prst="rect">
            <a:avLst/>
          </a:prstGeom>
          <a:noFill/>
          <a:ln/>
        </p:spPr>
        <p:txBody>
          <a:bodyPr wrap="square" rtlCol="0" anchor="ctr"/>
          <a:lstStyle/>
          <a:p>
            <a:pPr marL="0" indent="0">
              <a:buNone/>
            </a:pPr>
            <a:r>
              <a:rPr lang="en-US" sz="950" dirty="0">
                <a:solidFill>
                  <a:srgbClr val="0D1B2A"/>
                </a:solidFill>
              </a:rPr>
              <a:t>✔ Remplissez toutes les sections (=CV)</a:t>
            </a:r>
            <a:endParaRPr lang="en-US" sz="950" dirty="0"/>
          </a:p>
        </p:txBody>
      </p:sp>
      <p:sp>
        <p:nvSpPr>
          <p:cNvPr id="15" name="Text 12"/>
          <p:cNvSpPr/>
          <p:nvPr/>
        </p:nvSpPr>
        <p:spPr>
          <a:xfrm>
            <a:off x="457200" y="3273552"/>
            <a:ext cx="3840480" cy="246888"/>
          </a:xfrm>
          <a:prstGeom prst="rect">
            <a:avLst/>
          </a:prstGeom>
          <a:noFill/>
          <a:ln/>
        </p:spPr>
        <p:txBody>
          <a:bodyPr wrap="square" rtlCol="0" anchor="ctr"/>
          <a:lstStyle/>
          <a:p>
            <a:pPr marL="0" indent="0">
              <a:buNone/>
            </a:pPr>
            <a:r>
              <a:rPr lang="en-US" sz="950" dirty="0">
                <a:solidFill>
                  <a:srgbClr val="0D1B2A"/>
                </a:solidFill>
              </a:rPr>
              <a:t>✔ Activez « Open to Work » (cadre vert)</a:t>
            </a:r>
            <a:endParaRPr lang="en-US" sz="950" dirty="0"/>
          </a:p>
        </p:txBody>
      </p:sp>
      <p:sp>
        <p:nvSpPr>
          <p:cNvPr id="16" name="Text 13"/>
          <p:cNvSpPr/>
          <p:nvPr/>
        </p:nvSpPr>
        <p:spPr>
          <a:xfrm>
            <a:off x="457200" y="3547872"/>
            <a:ext cx="3840480" cy="246888"/>
          </a:xfrm>
          <a:prstGeom prst="rect">
            <a:avLst/>
          </a:prstGeom>
          <a:noFill/>
          <a:ln/>
        </p:spPr>
        <p:txBody>
          <a:bodyPr wrap="square" rtlCol="0" anchor="ctr"/>
          <a:lstStyle/>
          <a:p>
            <a:pPr marL="0" indent="0">
              <a:buNone/>
            </a:pPr>
            <a:r>
              <a:rPr lang="en-US" sz="950" dirty="0">
                <a:solidFill>
                  <a:srgbClr val="0D1B2A"/>
                </a:solidFill>
              </a:rPr>
              <a:t>✔ Contactez des recruteurs directement</a:t>
            </a:r>
            <a:endParaRPr lang="en-US" sz="950" dirty="0"/>
          </a:p>
        </p:txBody>
      </p:sp>
      <p:sp>
        <p:nvSpPr>
          <p:cNvPr id="17" name="Text 14"/>
          <p:cNvSpPr/>
          <p:nvPr/>
        </p:nvSpPr>
        <p:spPr>
          <a:xfrm>
            <a:off x="457200" y="3822192"/>
            <a:ext cx="3840480" cy="246888"/>
          </a:xfrm>
          <a:prstGeom prst="rect">
            <a:avLst/>
          </a:prstGeom>
          <a:noFill/>
          <a:ln/>
        </p:spPr>
        <p:txBody>
          <a:bodyPr wrap="square" rtlCol="0" anchor="ctr"/>
          <a:lstStyle/>
          <a:p>
            <a:pPr marL="0" indent="0">
              <a:buNone/>
            </a:pPr>
            <a:r>
              <a:rPr lang="en-US" sz="950" dirty="0">
                <a:solidFill>
                  <a:srgbClr val="0D1B2A"/>
                </a:solidFill>
              </a:rPr>
              <a:t>✔ Rejoignez des groupes de votre secteur</a:t>
            </a:r>
            <a:endParaRPr lang="en-US" sz="950" dirty="0"/>
          </a:p>
        </p:txBody>
      </p:sp>
      <p:sp>
        <p:nvSpPr>
          <p:cNvPr id="18" name="Shape 15"/>
          <p:cNvSpPr/>
          <p:nvPr/>
        </p:nvSpPr>
        <p:spPr>
          <a:xfrm>
            <a:off x="384048" y="4114800"/>
            <a:ext cx="4069080" cy="713232"/>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19" name="Shape 16"/>
          <p:cNvSpPr/>
          <p:nvPr/>
        </p:nvSpPr>
        <p:spPr>
          <a:xfrm>
            <a:off x="384048" y="4114800"/>
            <a:ext cx="54864" cy="713232"/>
          </a:xfrm>
          <a:prstGeom prst="rect">
            <a:avLst/>
          </a:prstGeom>
          <a:solidFill>
            <a:srgbClr val="00ACC1"/>
          </a:solidFill>
          <a:ln/>
        </p:spPr>
        <p:txBody>
          <a:bodyPr/>
          <a:lstStyle/>
          <a:p>
            <a:endParaRPr lang="fr-FR"/>
          </a:p>
        </p:txBody>
      </p:sp>
      <p:sp>
        <p:nvSpPr>
          <p:cNvPr id="20" name="Text 17"/>
          <p:cNvSpPr/>
          <p:nvPr/>
        </p:nvSpPr>
        <p:spPr>
          <a:xfrm>
            <a:off x="521208" y="4187952"/>
            <a:ext cx="3840480" cy="237744"/>
          </a:xfrm>
          <a:prstGeom prst="rect">
            <a:avLst/>
          </a:prstGeom>
          <a:noFill/>
          <a:ln/>
        </p:spPr>
        <p:txBody>
          <a:bodyPr wrap="square" lIns="0" tIns="0" rIns="0" bIns="0" rtlCol="0" anchor="ctr"/>
          <a:lstStyle/>
          <a:p>
            <a:pPr marL="0" indent="0">
              <a:buNone/>
            </a:pPr>
            <a:r>
              <a:rPr lang="en-US" sz="900" b="1" dirty="0">
                <a:solidFill>
                  <a:srgbClr val="00ACC1"/>
                </a:solidFill>
              </a:rPr>
              <a:t>✏ Message à un recruteur (exemple)</a:t>
            </a:r>
            <a:endParaRPr lang="en-US" sz="900" dirty="0"/>
          </a:p>
        </p:txBody>
      </p:sp>
      <p:sp>
        <p:nvSpPr>
          <p:cNvPr id="21" name="Text 18"/>
          <p:cNvSpPr/>
          <p:nvPr/>
        </p:nvSpPr>
        <p:spPr>
          <a:xfrm>
            <a:off x="521208" y="4443984"/>
            <a:ext cx="3840480" cy="310896"/>
          </a:xfrm>
          <a:prstGeom prst="rect">
            <a:avLst/>
          </a:prstGeom>
          <a:noFill/>
          <a:ln/>
        </p:spPr>
        <p:txBody>
          <a:bodyPr wrap="square" rtlCol="0" anchor="ctr"/>
          <a:lstStyle/>
          <a:p>
            <a:pPr marL="0" indent="0">
              <a:lnSpc>
                <a:spcPct val="135000"/>
              </a:lnSpc>
              <a:buNone/>
            </a:pPr>
            <a:r>
              <a:rPr lang="en-US" sz="950" dirty="0">
                <a:solidFill>
                  <a:srgbClr val="0D1B2A"/>
                </a:solidFill>
              </a:rPr>
              <a:t>« Bonjour [Prénom], je suis à la recherche d'un poste de [métier]. Votre profil m'a semblé pertinent. Seriez-vous disponible pour échanger ? »</a:t>
            </a:r>
            <a:endParaRPr lang="en-US" sz="950" dirty="0"/>
          </a:p>
        </p:txBody>
      </p:sp>
      <p:sp>
        <p:nvSpPr>
          <p:cNvPr id="22" name="Shape 19"/>
          <p:cNvSpPr/>
          <p:nvPr/>
        </p:nvSpPr>
        <p:spPr>
          <a:xfrm>
            <a:off x="4663440" y="960120"/>
            <a:ext cx="4206240" cy="3950208"/>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3" name="Shape 20"/>
          <p:cNvSpPr/>
          <p:nvPr/>
        </p:nvSpPr>
        <p:spPr>
          <a:xfrm>
            <a:off x="4663440" y="960120"/>
            <a:ext cx="4206240" cy="502920"/>
          </a:xfrm>
          <a:prstGeom prst="rect">
            <a:avLst/>
          </a:prstGeom>
          <a:solidFill>
            <a:srgbClr val="3D1766"/>
          </a:solidFill>
          <a:ln/>
        </p:spPr>
        <p:txBody>
          <a:bodyPr/>
          <a:lstStyle/>
          <a:p>
            <a:endParaRPr lang="fr-FR"/>
          </a:p>
        </p:txBody>
      </p:sp>
      <p:sp>
        <p:nvSpPr>
          <p:cNvPr id="24" name="Text 21"/>
          <p:cNvSpPr/>
          <p:nvPr/>
        </p:nvSpPr>
        <p:spPr>
          <a:xfrm>
            <a:off x="4800600" y="978408"/>
            <a:ext cx="3931920" cy="457200"/>
          </a:xfrm>
          <a:prstGeom prst="rect">
            <a:avLst/>
          </a:prstGeom>
          <a:noFill/>
          <a:ln/>
        </p:spPr>
        <p:txBody>
          <a:bodyPr wrap="square" rtlCol="0" anchor="ctr"/>
          <a:lstStyle/>
          <a:p>
            <a:pPr marL="0" indent="0">
              <a:buNone/>
            </a:pPr>
            <a:r>
              <a:rPr lang="en-US" sz="1400" b="1" dirty="0">
                <a:solidFill>
                  <a:srgbClr val="FFFFFF"/>
                </a:solidFill>
              </a:rPr>
              <a:t>🌿 Welcome to the Jungle</a:t>
            </a:r>
            <a:endParaRPr lang="en-US" sz="1400" dirty="0"/>
          </a:p>
        </p:txBody>
      </p:sp>
      <p:sp>
        <p:nvSpPr>
          <p:cNvPr id="25" name="Text 22"/>
          <p:cNvSpPr/>
          <p:nvPr/>
        </p:nvSpPr>
        <p:spPr>
          <a:xfrm>
            <a:off x="4800600" y="1508760"/>
            <a:ext cx="3840480" cy="228600"/>
          </a:xfrm>
          <a:prstGeom prst="rect">
            <a:avLst/>
          </a:prstGeom>
          <a:noFill/>
          <a:ln/>
        </p:spPr>
        <p:txBody>
          <a:bodyPr wrap="square" rtlCol="0" anchor="ctr"/>
          <a:lstStyle/>
          <a:p>
            <a:pPr marL="0" indent="0">
              <a:buNone/>
            </a:pPr>
            <a:r>
              <a:rPr lang="en-US" sz="950" b="1" dirty="0">
                <a:solidFill>
                  <a:srgbClr val="6A3FA0"/>
                </a:solidFill>
              </a:rPr>
              <a:t>welcometothejungle.com — Startups &amp; PME</a:t>
            </a:r>
            <a:endParaRPr lang="en-US" sz="950" dirty="0"/>
          </a:p>
        </p:txBody>
      </p:sp>
      <p:sp>
        <p:nvSpPr>
          <p:cNvPr id="26" name="Text 23"/>
          <p:cNvSpPr/>
          <p:nvPr/>
        </p:nvSpPr>
        <p:spPr>
          <a:xfrm>
            <a:off x="4800600" y="1764792"/>
            <a:ext cx="3840480" cy="594360"/>
          </a:xfrm>
          <a:prstGeom prst="rect">
            <a:avLst/>
          </a:prstGeom>
          <a:noFill/>
          <a:ln/>
        </p:spPr>
        <p:txBody>
          <a:bodyPr wrap="square" rtlCol="0" anchor="ctr"/>
          <a:lstStyle/>
          <a:p>
            <a:pPr marL="0" indent="0">
              <a:lnSpc>
                <a:spcPct val="135000"/>
              </a:lnSpc>
              <a:buNone/>
            </a:pPr>
            <a:r>
              <a:rPr lang="en-US" sz="950" dirty="0">
                <a:solidFill>
                  <a:srgbClr val="5A6A7A"/>
                </a:solidFill>
              </a:rPr>
              <a:t>Plateforme moderne qui montre la culture des entreprises en vidéo. Idéale pour les moins de 35 ans et les profils tech, créatifs ou digitaux. Interface très agréable.</a:t>
            </a:r>
            <a:endParaRPr lang="en-US" sz="950" dirty="0"/>
          </a:p>
        </p:txBody>
      </p:sp>
      <p:sp>
        <p:nvSpPr>
          <p:cNvPr id="27" name="Text 24"/>
          <p:cNvSpPr/>
          <p:nvPr/>
        </p:nvSpPr>
        <p:spPr>
          <a:xfrm>
            <a:off x="4800600" y="2423160"/>
            <a:ext cx="3840480" cy="256032"/>
          </a:xfrm>
          <a:prstGeom prst="rect">
            <a:avLst/>
          </a:prstGeom>
          <a:noFill/>
          <a:ln/>
        </p:spPr>
        <p:txBody>
          <a:bodyPr wrap="square" rtlCol="0" anchor="ctr"/>
          <a:lstStyle/>
          <a:p>
            <a:pPr marL="0" indent="0">
              <a:buNone/>
            </a:pPr>
            <a:r>
              <a:rPr lang="en-US" sz="1050" b="1" dirty="0">
                <a:solidFill>
                  <a:srgbClr val="0D1B2A"/>
                </a:solidFill>
              </a:rPr>
              <a:t>Les points forts :</a:t>
            </a:r>
            <a:endParaRPr lang="en-US" sz="1050" dirty="0"/>
          </a:p>
        </p:txBody>
      </p:sp>
      <p:sp>
        <p:nvSpPr>
          <p:cNvPr id="28" name="Text 25"/>
          <p:cNvSpPr/>
          <p:nvPr/>
        </p:nvSpPr>
        <p:spPr>
          <a:xfrm>
            <a:off x="4800600" y="2724912"/>
            <a:ext cx="3840480" cy="246888"/>
          </a:xfrm>
          <a:prstGeom prst="rect">
            <a:avLst/>
          </a:prstGeom>
          <a:noFill/>
          <a:ln/>
        </p:spPr>
        <p:txBody>
          <a:bodyPr wrap="square" rtlCol="0" anchor="ctr"/>
          <a:lstStyle/>
          <a:p>
            <a:pPr marL="0" indent="0">
              <a:buNone/>
            </a:pPr>
            <a:r>
              <a:rPr lang="en-US" sz="950" dirty="0">
                <a:solidFill>
                  <a:srgbClr val="0D1B2A"/>
                </a:solidFill>
              </a:rPr>
              <a:t>📹 Vidéos de présentation des équipes</a:t>
            </a:r>
            <a:endParaRPr lang="en-US" sz="950" dirty="0"/>
          </a:p>
        </p:txBody>
      </p:sp>
      <p:sp>
        <p:nvSpPr>
          <p:cNvPr id="29" name="Text 26"/>
          <p:cNvSpPr/>
          <p:nvPr/>
        </p:nvSpPr>
        <p:spPr>
          <a:xfrm>
            <a:off x="4800600" y="2999232"/>
            <a:ext cx="3840480" cy="246888"/>
          </a:xfrm>
          <a:prstGeom prst="rect">
            <a:avLst/>
          </a:prstGeom>
          <a:noFill/>
          <a:ln/>
        </p:spPr>
        <p:txBody>
          <a:bodyPr wrap="square" rtlCol="0" anchor="ctr"/>
          <a:lstStyle/>
          <a:p>
            <a:pPr marL="0" indent="0">
              <a:buNone/>
            </a:pPr>
            <a:r>
              <a:rPr lang="en-US" sz="950" dirty="0">
                <a:solidFill>
                  <a:srgbClr val="0D1B2A"/>
                </a:solidFill>
              </a:rPr>
              <a:t>💰 Salaires souvent affichés dans les offres</a:t>
            </a:r>
            <a:endParaRPr lang="en-US" sz="950" dirty="0"/>
          </a:p>
        </p:txBody>
      </p:sp>
      <p:sp>
        <p:nvSpPr>
          <p:cNvPr id="30" name="Text 27"/>
          <p:cNvSpPr/>
          <p:nvPr/>
        </p:nvSpPr>
        <p:spPr>
          <a:xfrm>
            <a:off x="4800600" y="3273552"/>
            <a:ext cx="3840480" cy="246888"/>
          </a:xfrm>
          <a:prstGeom prst="rect">
            <a:avLst/>
          </a:prstGeom>
          <a:noFill/>
          <a:ln/>
        </p:spPr>
        <p:txBody>
          <a:bodyPr wrap="square" rtlCol="0" anchor="ctr"/>
          <a:lstStyle/>
          <a:p>
            <a:pPr marL="0" indent="0">
              <a:buNone/>
            </a:pPr>
            <a:r>
              <a:rPr lang="en-US" sz="950" dirty="0">
                <a:solidFill>
                  <a:srgbClr val="0D1B2A"/>
                </a:solidFill>
              </a:rPr>
              <a:t>🎯 Entreprises vetted (sélectionnées)</a:t>
            </a:r>
            <a:endParaRPr lang="en-US" sz="950" dirty="0"/>
          </a:p>
        </p:txBody>
      </p:sp>
      <p:sp>
        <p:nvSpPr>
          <p:cNvPr id="31" name="Text 28"/>
          <p:cNvSpPr/>
          <p:nvPr/>
        </p:nvSpPr>
        <p:spPr>
          <a:xfrm>
            <a:off x="4800600" y="3547872"/>
            <a:ext cx="3840480" cy="246888"/>
          </a:xfrm>
          <a:prstGeom prst="rect">
            <a:avLst/>
          </a:prstGeom>
          <a:noFill/>
          <a:ln/>
        </p:spPr>
        <p:txBody>
          <a:bodyPr wrap="square" rtlCol="0" anchor="ctr"/>
          <a:lstStyle/>
          <a:p>
            <a:pPr marL="0" indent="0">
              <a:buNone/>
            </a:pPr>
            <a:r>
              <a:rPr lang="en-US" sz="950" dirty="0">
                <a:solidFill>
                  <a:srgbClr val="0D1B2A"/>
                </a:solidFill>
              </a:rPr>
              <a:t>📱 Application mobile très bien faite</a:t>
            </a:r>
            <a:endParaRPr lang="en-US" sz="950" dirty="0"/>
          </a:p>
        </p:txBody>
      </p:sp>
      <p:sp>
        <p:nvSpPr>
          <p:cNvPr id="32" name="Text 29"/>
          <p:cNvSpPr/>
          <p:nvPr/>
        </p:nvSpPr>
        <p:spPr>
          <a:xfrm>
            <a:off x="4800600" y="3822192"/>
            <a:ext cx="3840480" cy="246888"/>
          </a:xfrm>
          <a:prstGeom prst="rect">
            <a:avLst/>
          </a:prstGeom>
          <a:noFill/>
          <a:ln/>
        </p:spPr>
        <p:txBody>
          <a:bodyPr wrap="square" rtlCol="0" anchor="ctr"/>
          <a:lstStyle/>
          <a:p>
            <a:pPr marL="0" indent="0">
              <a:buNone/>
            </a:pPr>
            <a:r>
              <a:rPr lang="en-US" sz="950" dirty="0">
                <a:solidFill>
                  <a:srgbClr val="0D1B2A"/>
                </a:solidFill>
              </a:rPr>
              <a:t>🔎 Filtres avancés (remote, salaire, taille)</a:t>
            </a:r>
            <a:endParaRPr lang="en-US" sz="950" dirty="0"/>
          </a:p>
        </p:txBody>
      </p:sp>
      <p:sp>
        <p:nvSpPr>
          <p:cNvPr id="33" name="Shape 30"/>
          <p:cNvSpPr/>
          <p:nvPr/>
        </p:nvSpPr>
        <p:spPr>
          <a:xfrm>
            <a:off x="4727448" y="4114800"/>
            <a:ext cx="4069080" cy="713232"/>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34" name="Shape 31"/>
          <p:cNvSpPr/>
          <p:nvPr/>
        </p:nvSpPr>
        <p:spPr>
          <a:xfrm>
            <a:off x="4727448" y="4114800"/>
            <a:ext cx="54864" cy="713232"/>
          </a:xfrm>
          <a:prstGeom prst="rect">
            <a:avLst/>
          </a:prstGeom>
          <a:solidFill>
            <a:srgbClr val="00ACC1"/>
          </a:solidFill>
          <a:ln/>
        </p:spPr>
        <p:txBody>
          <a:bodyPr/>
          <a:lstStyle/>
          <a:p>
            <a:endParaRPr lang="fr-FR"/>
          </a:p>
        </p:txBody>
      </p:sp>
      <p:sp>
        <p:nvSpPr>
          <p:cNvPr id="35" name="Text 32"/>
          <p:cNvSpPr/>
          <p:nvPr/>
        </p:nvSpPr>
        <p:spPr>
          <a:xfrm>
            <a:off x="4864608" y="4187952"/>
            <a:ext cx="3840480" cy="237744"/>
          </a:xfrm>
          <a:prstGeom prst="rect">
            <a:avLst/>
          </a:prstGeom>
          <a:noFill/>
          <a:ln/>
        </p:spPr>
        <p:txBody>
          <a:bodyPr wrap="square" lIns="0" tIns="0" rIns="0" bIns="0" rtlCol="0" anchor="ctr"/>
          <a:lstStyle/>
          <a:p>
            <a:pPr marL="0" indent="0">
              <a:buNone/>
            </a:pPr>
            <a:r>
              <a:rPr lang="en-US" sz="900" b="1" dirty="0">
                <a:solidFill>
                  <a:srgbClr val="00ACC1"/>
                </a:solidFill>
              </a:rPr>
              <a:t>✏ Idéal pour</a:t>
            </a:r>
            <a:endParaRPr lang="en-US" sz="900" dirty="0"/>
          </a:p>
        </p:txBody>
      </p:sp>
      <p:sp>
        <p:nvSpPr>
          <p:cNvPr id="36" name="Text 33"/>
          <p:cNvSpPr/>
          <p:nvPr/>
        </p:nvSpPr>
        <p:spPr>
          <a:xfrm>
            <a:off x="4864608" y="4443984"/>
            <a:ext cx="3840480" cy="310896"/>
          </a:xfrm>
          <a:prstGeom prst="rect">
            <a:avLst/>
          </a:prstGeom>
          <a:noFill/>
          <a:ln/>
        </p:spPr>
        <p:txBody>
          <a:bodyPr wrap="square" rtlCol="0" anchor="ctr"/>
          <a:lstStyle/>
          <a:p>
            <a:pPr marL="0" indent="0">
              <a:lnSpc>
                <a:spcPct val="135000"/>
              </a:lnSpc>
              <a:buNone/>
            </a:pPr>
            <a:r>
              <a:rPr lang="en-US" sz="950" dirty="0">
                <a:solidFill>
                  <a:srgbClr val="0D1B2A"/>
                </a:solidFill>
              </a:rPr>
              <a:t>Sophie cherche un job de community manager en startup. Elle filtre : secteur tech + Paris + « Full remote » → 8 offres avec salaire et vidéo culture visible.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1565C0">
              <a:alpha val="22000"/>
            </a:srgbClr>
          </a:solidFill>
          <a:ln/>
        </p:spPr>
        <p:txBody>
          <a:bodyPr/>
          <a:lstStyle/>
          <a:p>
            <a:endParaRPr lang="fr-FR"/>
          </a:p>
        </p:txBody>
      </p:sp>
      <p:sp>
        <p:nvSpPr>
          <p:cNvPr id="3" name="Shape 1"/>
          <p:cNvSpPr/>
          <p:nvPr/>
        </p:nvSpPr>
        <p:spPr>
          <a:xfrm>
            <a:off x="0" y="0"/>
            <a:ext cx="9144000" cy="914400"/>
          </a:xfrm>
          <a:prstGeom prst="rect">
            <a:avLst/>
          </a:prstGeom>
          <a:solidFill>
            <a:srgbClr val="1565C0"/>
          </a:solidFill>
          <a:ln/>
        </p:spPr>
        <p:txBody>
          <a:bodyPr/>
          <a:lstStyle/>
          <a:p>
            <a:endParaRPr lang="fr-FR"/>
          </a:p>
        </p:txBody>
      </p:sp>
      <p:pic>
        <p:nvPicPr>
          <p:cNvPr id="4"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5" name="Text 2"/>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3 · SLIDE 12</a:t>
            </a:r>
            <a:endParaRPr lang="en-US" sz="950" dirty="0"/>
          </a:p>
        </p:txBody>
      </p:sp>
      <p:sp>
        <p:nvSpPr>
          <p:cNvPr id="6" name="Text 3"/>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Plateformes méconnues — Les pépites cachées</a:t>
            </a:r>
            <a:endParaRPr lang="en-US" sz="1450" dirty="0"/>
          </a:p>
        </p:txBody>
      </p:sp>
      <p:sp>
        <p:nvSpPr>
          <p:cNvPr id="7" name="Text 4"/>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Ces sites où il y a moins de concurrence !</a:t>
            </a:r>
            <a:endParaRPr lang="en-US" sz="900" dirty="0"/>
          </a:p>
        </p:txBody>
      </p:sp>
      <p:sp>
        <p:nvSpPr>
          <p:cNvPr id="8" name="Shape 5"/>
          <p:cNvSpPr/>
          <p:nvPr/>
        </p:nvSpPr>
        <p:spPr>
          <a:xfrm>
            <a:off x="320040" y="100584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20040" y="1005840"/>
            <a:ext cx="2743200" cy="457200"/>
          </a:xfrm>
          <a:prstGeom prst="rect">
            <a:avLst/>
          </a:prstGeom>
          <a:solidFill>
            <a:srgbClr val="00ACC1"/>
          </a:solidFill>
          <a:ln/>
        </p:spPr>
        <p:txBody>
          <a:bodyPr/>
          <a:lstStyle/>
          <a:p>
            <a:endParaRPr lang="fr-FR"/>
          </a:p>
        </p:txBody>
      </p:sp>
      <p:sp>
        <p:nvSpPr>
          <p:cNvPr id="10" name="Text 7"/>
          <p:cNvSpPr/>
          <p:nvPr/>
        </p:nvSpPr>
        <p:spPr>
          <a:xfrm>
            <a:off x="429768" y="107899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Wizbii</a:t>
            </a:r>
            <a:endParaRPr lang="en-US" sz="1300" dirty="0"/>
          </a:p>
        </p:txBody>
      </p:sp>
      <p:sp>
        <p:nvSpPr>
          <p:cNvPr id="11" name="Text 8"/>
          <p:cNvSpPr/>
          <p:nvPr/>
        </p:nvSpPr>
        <p:spPr>
          <a:xfrm>
            <a:off x="429768" y="1536192"/>
            <a:ext cx="2514600" cy="201168"/>
          </a:xfrm>
          <a:prstGeom prst="rect">
            <a:avLst/>
          </a:prstGeom>
          <a:noFill/>
          <a:ln/>
        </p:spPr>
        <p:txBody>
          <a:bodyPr wrap="square" lIns="0" tIns="0" rIns="0" bIns="0" rtlCol="0" anchor="ctr"/>
          <a:lstStyle/>
          <a:p>
            <a:pPr marL="0" indent="0">
              <a:buNone/>
            </a:pPr>
            <a:r>
              <a:rPr lang="en-US" sz="900" b="1" i="1" dirty="0">
                <a:solidFill>
                  <a:srgbClr val="00ACC1"/>
                </a:solidFill>
              </a:rPr>
              <a:t>Étudiants &amp; alternance</a:t>
            </a:r>
            <a:endParaRPr lang="en-US" sz="900" dirty="0"/>
          </a:p>
        </p:txBody>
      </p:sp>
      <p:sp>
        <p:nvSpPr>
          <p:cNvPr id="12" name="Text 9"/>
          <p:cNvSpPr/>
          <p:nvPr/>
        </p:nvSpPr>
        <p:spPr>
          <a:xfrm>
            <a:off x="429768" y="175564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Jobs, stages et alternances pour les moins de 30 ans. Offres exclusives non publiées ailleurs.</a:t>
            </a:r>
            <a:endParaRPr lang="en-US" sz="900" dirty="0"/>
          </a:p>
        </p:txBody>
      </p:sp>
      <p:sp>
        <p:nvSpPr>
          <p:cNvPr id="13" name="Shape 10"/>
          <p:cNvSpPr/>
          <p:nvPr/>
        </p:nvSpPr>
        <p:spPr>
          <a:xfrm>
            <a:off x="411480" y="2340864"/>
            <a:ext cx="2560320" cy="420624"/>
          </a:xfrm>
          <a:prstGeom prst="rect">
            <a:avLst/>
          </a:prstGeom>
          <a:solidFill>
            <a:srgbClr val="132240"/>
          </a:solidFill>
          <a:ln/>
        </p:spPr>
        <p:txBody>
          <a:bodyPr/>
          <a:lstStyle/>
          <a:p>
            <a:endParaRPr lang="fr-FR"/>
          </a:p>
        </p:txBody>
      </p:sp>
      <p:sp>
        <p:nvSpPr>
          <p:cNvPr id="14" name="Text 11"/>
          <p:cNvSpPr/>
          <p:nvPr/>
        </p:nvSpPr>
        <p:spPr>
          <a:xfrm>
            <a:off x="448056" y="235915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Liam cherche une alternance BTS Commerce → 34 offres sur Wizbii vs 8 sur Indeed.</a:t>
            </a:r>
            <a:endParaRPr lang="en-US" sz="800" dirty="0"/>
          </a:p>
        </p:txBody>
      </p:sp>
      <p:sp>
        <p:nvSpPr>
          <p:cNvPr id="15" name="Shape 12"/>
          <p:cNvSpPr/>
          <p:nvPr/>
        </p:nvSpPr>
        <p:spPr>
          <a:xfrm>
            <a:off x="3246120" y="100584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16" name="Shape 13"/>
          <p:cNvSpPr/>
          <p:nvPr/>
        </p:nvSpPr>
        <p:spPr>
          <a:xfrm>
            <a:off x="3246120" y="1005840"/>
            <a:ext cx="2743200" cy="457200"/>
          </a:xfrm>
          <a:prstGeom prst="rect">
            <a:avLst/>
          </a:prstGeom>
          <a:solidFill>
            <a:srgbClr val="00796B"/>
          </a:solidFill>
          <a:ln/>
        </p:spPr>
        <p:txBody>
          <a:bodyPr/>
          <a:lstStyle/>
          <a:p>
            <a:endParaRPr lang="fr-FR"/>
          </a:p>
        </p:txBody>
      </p:sp>
      <p:sp>
        <p:nvSpPr>
          <p:cNvPr id="17" name="Text 14"/>
          <p:cNvSpPr/>
          <p:nvPr/>
        </p:nvSpPr>
        <p:spPr>
          <a:xfrm>
            <a:off x="3355848" y="107899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Iziwork</a:t>
            </a:r>
            <a:endParaRPr lang="en-US" sz="1300" dirty="0"/>
          </a:p>
        </p:txBody>
      </p:sp>
      <p:sp>
        <p:nvSpPr>
          <p:cNvPr id="18" name="Text 15"/>
          <p:cNvSpPr/>
          <p:nvPr/>
        </p:nvSpPr>
        <p:spPr>
          <a:xfrm>
            <a:off x="3355848" y="1536192"/>
            <a:ext cx="2514600" cy="201168"/>
          </a:xfrm>
          <a:prstGeom prst="rect">
            <a:avLst/>
          </a:prstGeom>
          <a:noFill/>
          <a:ln/>
        </p:spPr>
        <p:txBody>
          <a:bodyPr wrap="square" lIns="0" tIns="0" rIns="0" bIns="0" rtlCol="0" anchor="ctr"/>
          <a:lstStyle/>
          <a:p>
            <a:pPr marL="0" indent="0">
              <a:buNone/>
            </a:pPr>
            <a:r>
              <a:rPr lang="en-US" sz="900" b="1" i="1" dirty="0">
                <a:solidFill>
                  <a:srgbClr val="00796B"/>
                </a:solidFill>
              </a:rPr>
              <a:t>Intérim &amp; premiers jobs</a:t>
            </a:r>
            <a:endParaRPr lang="en-US" sz="900" dirty="0"/>
          </a:p>
        </p:txBody>
      </p:sp>
      <p:sp>
        <p:nvSpPr>
          <p:cNvPr id="19" name="Text 16"/>
          <p:cNvSpPr/>
          <p:nvPr/>
        </p:nvSpPr>
        <p:spPr>
          <a:xfrm>
            <a:off x="3355848" y="175564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Appli d'intérim : missions près de chez vous, sans diplôme. Inscription en 2 min.</a:t>
            </a:r>
            <a:endParaRPr lang="en-US" sz="900" dirty="0"/>
          </a:p>
        </p:txBody>
      </p:sp>
      <p:sp>
        <p:nvSpPr>
          <p:cNvPr id="20" name="Shape 17"/>
          <p:cNvSpPr/>
          <p:nvPr/>
        </p:nvSpPr>
        <p:spPr>
          <a:xfrm>
            <a:off x="3337560" y="2340864"/>
            <a:ext cx="2560320" cy="420624"/>
          </a:xfrm>
          <a:prstGeom prst="rect">
            <a:avLst/>
          </a:prstGeom>
          <a:solidFill>
            <a:srgbClr val="132240"/>
          </a:solidFill>
          <a:ln/>
        </p:spPr>
        <p:txBody>
          <a:bodyPr/>
          <a:lstStyle/>
          <a:p>
            <a:endParaRPr lang="fr-FR"/>
          </a:p>
        </p:txBody>
      </p:sp>
      <p:sp>
        <p:nvSpPr>
          <p:cNvPr id="21" name="Text 18"/>
          <p:cNvSpPr/>
          <p:nvPr/>
        </p:nvSpPr>
        <p:spPr>
          <a:xfrm>
            <a:off x="3374136" y="235915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Inscription le matin → une mission de manutention à 20 km proposée pour la semaine.</a:t>
            </a:r>
            <a:endParaRPr lang="en-US" sz="800" dirty="0"/>
          </a:p>
        </p:txBody>
      </p:sp>
      <p:sp>
        <p:nvSpPr>
          <p:cNvPr id="22" name="Shape 19"/>
          <p:cNvSpPr/>
          <p:nvPr/>
        </p:nvSpPr>
        <p:spPr>
          <a:xfrm>
            <a:off x="6172200" y="100584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23" name="Shape 20"/>
          <p:cNvSpPr/>
          <p:nvPr/>
        </p:nvSpPr>
        <p:spPr>
          <a:xfrm>
            <a:off x="6172200" y="1005840"/>
            <a:ext cx="2743200" cy="457200"/>
          </a:xfrm>
          <a:prstGeom prst="rect">
            <a:avLst/>
          </a:prstGeom>
          <a:solidFill>
            <a:srgbClr val="6A3FA0"/>
          </a:solidFill>
          <a:ln/>
        </p:spPr>
        <p:txBody>
          <a:bodyPr/>
          <a:lstStyle/>
          <a:p>
            <a:endParaRPr lang="fr-FR"/>
          </a:p>
        </p:txBody>
      </p:sp>
      <p:sp>
        <p:nvSpPr>
          <p:cNvPr id="24" name="Text 21"/>
          <p:cNvSpPr/>
          <p:nvPr/>
        </p:nvSpPr>
        <p:spPr>
          <a:xfrm>
            <a:off x="6281928" y="107899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Choosemyboss</a:t>
            </a:r>
            <a:endParaRPr lang="en-US" sz="1300" dirty="0"/>
          </a:p>
        </p:txBody>
      </p:sp>
      <p:sp>
        <p:nvSpPr>
          <p:cNvPr id="25" name="Text 22"/>
          <p:cNvSpPr/>
          <p:nvPr/>
        </p:nvSpPr>
        <p:spPr>
          <a:xfrm>
            <a:off x="6281928" y="1536192"/>
            <a:ext cx="2514600" cy="201168"/>
          </a:xfrm>
          <a:prstGeom prst="rect">
            <a:avLst/>
          </a:prstGeom>
          <a:noFill/>
          <a:ln/>
        </p:spPr>
        <p:txBody>
          <a:bodyPr wrap="square" lIns="0" tIns="0" rIns="0" bIns="0" rtlCol="0" anchor="ctr"/>
          <a:lstStyle/>
          <a:p>
            <a:pPr marL="0" indent="0">
              <a:buNone/>
            </a:pPr>
            <a:r>
              <a:rPr lang="en-US" sz="900" b="1" i="1" dirty="0">
                <a:solidFill>
                  <a:srgbClr val="6A3FA0"/>
                </a:solidFill>
              </a:rPr>
              <a:t>Cadres &amp; qualifiés</a:t>
            </a:r>
            <a:endParaRPr lang="en-US" sz="900" dirty="0"/>
          </a:p>
        </p:txBody>
      </p:sp>
      <p:sp>
        <p:nvSpPr>
          <p:cNvPr id="26" name="Text 23"/>
          <p:cNvSpPr/>
          <p:nvPr/>
        </p:nvSpPr>
        <p:spPr>
          <a:xfrm>
            <a:off x="6281928" y="175564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Les recruteurs vous approchent directement. Pas besoin de postuler, vous attendez les offres.</a:t>
            </a:r>
            <a:endParaRPr lang="en-US" sz="900" dirty="0"/>
          </a:p>
        </p:txBody>
      </p:sp>
      <p:sp>
        <p:nvSpPr>
          <p:cNvPr id="27" name="Shape 24"/>
          <p:cNvSpPr/>
          <p:nvPr/>
        </p:nvSpPr>
        <p:spPr>
          <a:xfrm>
            <a:off x="6263640" y="2340864"/>
            <a:ext cx="2560320" cy="420624"/>
          </a:xfrm>
          <a:prstGeom prst="rect">
            <a:avLst/>
          </a:prstGeom>
          <a:solidFill>
            <a:srgbClr val="132240"/>
          </a:solidFill>
          <a:ln/>
        </p:spPr>
        <p:txBody>
          <a:bodyPr/>
          <a:lstStyle/>
          <a:p>
            <a:endParaRPr lang="fr-FR"/>
          </a:p>
        </p:txBody>
      </p:sp>
      <p:sp>
        <p:nvSpPr>
          <p:cNvPr id="28" name="Text 25"/>
          <p:cNvSpPr/>
          <p:nvPr/>
        </p:nvSpPr>
        <p:spPr>
          <a:xfrm>
            <a:off x="6300216" y="235915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Ingénieure expérimentée → reçoit 3 propositions en 1 semaine sans rien faire.</a:t>
            </a:r>
            <a:endParaRPr lang="en-US" sz="800" dirty="0"/>
          </a:p>
        </p:txBody>
      </p:sp>
      <p:sp>
        <p:nvSpPr>
          <p:cNvPr id="29" name="Shape 26"/>
          <p:cNvSpPr/>
          <p:nvPr/>
        </p:nvSpPr>
        <p:spPr>
          <a:xfrm>
            <a:off x="320040" y="297180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30" name="Shape 27"/>
          <p:cNvSpPr/>
          <p:nvPr/>
        </p:nvSpPr>
        <p:spPr>
          <a:xfrm>
            <a:off x="320040" y="2971800"/>
            <a:ext cx="2743200" cy="457200"/>
          </a:xfrm>
          <a:prstGeom prst="rect">
            <a:avLst/>
          </a:prstGeom>
          <a:solidFill>
            <a:srgbClr val="F59E0B"/>
          </a:solidFill>
          <a:ln/>
        </p:spPr>
        <p:txBody>
          <a:bodyPr/>
          <a:lstStyle/>
          <a:p>
            <a:endParaRPr lang="fr-FR"/>
          </a:p>
        </p:txBody>
      </p:sp>
      <p:sp>
        <p:nvSpPr>
          <p:cNvPr id="31" name="Text 28"/>
          <p:cNvSpPr/>
          <p:nvPr/>
        </p:nvSpPr>
        <p:spPr>
          <a:xfrm>
            <a:off x="429768" y="304495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Meteojob</a:t>
            </a:r>
            <a:endParaRPr lang="en-US" sz="1300" dirty="0"/>
          </a:p>
        </p:txBody>
      </p:sp>
      <p:sp>
        <p:nvSpPr>
          <p:cNvPr id="32" name="Text 29"/>
          <p:cNvSpPr/>
          <p:nvPr/>
        </p:nvSpPr>
        <p:spPr>
          <a:xfrm>
            <a:off x="429768" y="3502152"/>
            <a:ext cx="2514600" cy="201168"/>
          </a:xfrm>
          <a:prstGeom prst="rect">
            <a:avLst/>
          </a:prstGeom>
          <a:noFill/>
          <a:ln/>
        </p:spPr>
        <p:txBody>
          <a:bodyPr wrap="square" lIns="0" tIns="0" rIns="0" bIns="0" rtlCol="0" anchor="ctr"/>
          <a:lstStyle/>
          <a:p>
            <a:pPr marL="0" indent="0">
              <a:buNone/>
            </a:pPr>
            <a:r>
              <a:rPr lang="en-US" sz="900" b="1" i="1" dirty="0">
                <a:solidFill>
                  <a:srgbClr val="F59E0B"/>
                </a:solidFill>
              </a:rPr>
              <a:t>Tous profils</a:t>
            </a:r>
            <a:endParaRPr lang="en-US" sz="900" dirty="0"/>
          </a:p>
        </p:txBody>
      </p:sp>
      <p:sp>
        <p:nvSpPr>
          <p:cNvPr id="33" name="Text 30"/>
          <p:cNvSpPr/>
          <p:nvPr/>
        </p:nvSpPr>
        <p:spPr>
          <a:xfrm>
            <a:off x="429768" y="372160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Score de compatibilité automatique entre votre CV et l'offre. Sauvegardez du temps.</a:t>
            </a:r>
            <a:endParaRPr lang="en-US" sz="900" dirty="0"/>
          </a:p>
        </p:txBody>
      </p:sp>
      <p:sp>
        <p:nvSpPr>
          <p:cNvPr id="34" name="Shape 31"/>
          <p:cNvSpPr/>
          <p:nvPr/>
        </p:nvSpPr>
        <p:spPr>
          <a:xfrm>
            <a:off x="411480" y="4306824"/>
            <a:ext cx="2560320" cy="420624"/>
          </a:xfrm>
          <a:prstGeom prst="rect">
            <a:avLst/>
          </a:prstGeom>
          <a:solidFill>
            <a:srgbClr val="132240"/>
          </a:solidFill>
          <a:ln/>
        </p:spPr>
        <p:txBody>
          <a:bodyPr/>
          <a:lstStyle/>
          <a:p>
            <a:endParaRPr lang="fr-FR"/>
          </a:p>
        </p:txBody>
      </p:sp>
      <p:sp>
        <p:nvSpPr>
          <p:cNvPr id="35" name="Text 32"/>
          <p:cNvSpPr/>
          <p:nvPr/>
        </p:nvSpPr>
        <p:spPr>
          <a:xfrm>
            <a:off x="448056" y="432511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Votre CV matche à 89% avec une offre d'agent logistique à Nantes. Vous postulez en priorité.</a:t>
            </a:r>
            <a:endParaRPr lang="en-US" sz="800" dirty="0"/>
          </a:p>
        </p:txBody>
      </p:sp>
      <p:sp>
        <p:nvSpPr>
          <p:cNvPr id="36" name="Shape 33"/>
          <p:cNvSpPr/>
          <p:nvPr/>
        </p:nvSpPr>
        <p:spPr>
          <a:xfrm>
            <a:off x="3246120" y="297180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37" name="Shape 34"/>
          <p:cNvSpPr/>
          <p:nvPr/>
        </p:nvSpPr>
        <p:spPr>
          <a:xfrm>
            <a:off x="3246120" y="2971800"/>
            <a:ext cx="2743200" cy="457200"/>
          </a:xfrm>
          <a:prstGeom prst="rect">
            <a:avLst/>
          </a:prstGeom>
          <a:solidFill>
            <a:srgbClr val="10B981"/>
          </a:solidFill>
          <a:ln/>
        </p:spPr>
        <p:txBody>
          <a:bodyPr/>
          <a:lstStyle/>
          <a:p>
            <a:endParaRPr lang="fr-FR"/>
          </a:p>
        </p:txBody>
      </p:sp>
      <p:sp>
        <p:nvSpPr>
          <p:cNvPr id="38" name="Text 35"/>
          <p:cNvSpPr/>
          <p:nvPr/>
        </p:nvSpPr>
        <p:spPr>
          <a:xfrm>
            <a:off x="3355848" y="304495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HelloWork</a:t>
            </a:r>
            <a:endParaRPr lang="en-US" sz="1300" dirty="0"/>
          </a:p>
        </p:txBody>
      </p:sp>
      <p:sp>
        <p:nvSpPr>
          <p:cNvPr id="39" name="Text 36"/>
          <p:cNvSpPr/>
          <p:nvPr/>
        </p:nvSpPr>
        <p:spPr>
          <a:xfrm>
            <a:off x="3355848" y="3502152"/>
            <a:ext cx="2514600" cy="201168"/>
          </a:xfrm>
          <a:prstGeom prst="rect">
            <a:avLst/>
          </a:prstGeom>
          <a:noFill/>
          <a:ln/>
        </p:spPr>
        <p:txBody>
          <a:bodyPr wrap="square" lIns="0" tIns="0" rIns="0" bIns="0" rtlCol="0" anchor="ctr"/>
          <a:lstStyle/>
          <a:p>
            <a:pPr marL="0" indent="0">
              <a:buNone/>
            </a:pPr>
            <a:r>
              <a:rPr lang="en-US" sz="900" b="1" i="1" dirty="0">
                <a:solidFill>
                  <a:srgbClr val="10B981"/>
                </a:solidFill>
              </a:rPr>
              <a:t>PME régionales</a:t>
            </a:r>
            <a:endParaRPr lang="en-US" sz="900" dirty="0"/>
          </a:p>
        </p:txBody>
      </p:sp>
      <p:sp>
        <p:nvSpPr>
          <p:cNvPr id="40" name="Text 37"/>
          <p:cNvSpPr/>
          <p:nvPr/>
        </p:nvSpPr>
        <p:spPr>
          <a:xfrm>
            <a:off x="3355848" y="372160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Très fort sur les offres régionales, hors grandes villes. Idéal si vous habitez en province.</a:t>
            </a:r>
            <a:endParaRPr lang="en-US" sz="900" dirty="0"/>
          </a:p>
        </p:txBody>
      </p:sp>
      <p:sp>
        <p:nvSpPr>
          <p:cNvPr id="41" name="Shape 38"/>
          <p:cNvSpPr/>
          <p:nvPr/>
        </p:nvSpPr>
        <p:spPr>
          <a:xfrm>
            <a:off x="3337560" y="4306824"/>
            <a:ext cx="2560320" cy="420624"/>
          </a:xfrm>
          <a:prstGeom prst="rect">
            <a:avLst/>
          </a:prstGeom>
          <a:solidFill>
            <a:srgbClr val="132240"/>
          </a:solidFill>
          <a:ln/>
        </p:spPr>
        <p:txBody>
          <a:bodyPr/>
          <a:lstStyle/>
          <a:p>
            <a:endParaRPr lang="fr-FR"/>
          </a:p>
        </p:txBody>
      </p:sp>
      <p:sp>
        <p:nvSpPr>
          <p:cNvPr id="42" name="Text 39"/>
          <p:cNvSpPr/>
          <p:nvPr/>
        </p:nvSpPr>
        <p:spPr>
          <a:xfrm>
            <a:off x="3374136" y="432511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Technicien cherche emploi à Pau → 22 offres locales introuvables sur les grands sites.</a:t>
            </a:r>
            <a:endParaRPr lang="en-US" sz="800" dirty="0"/>
          </a:p>
        </p:txBody>
      </p:sp>
      <p:sp>
        <p:nvSpPr>
          <p:cNvPr id="43" name="Shape 40"/>
          <p:cNvSpPr/>
          <p:nvPr/>
        </p:nvSpPr>
        <p:spPr>
          <a:xfrm>
            <a:off x="6172200" y="297180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44" name="Shape 41"/>
          <p:cNvSpPr/>
          <p:nvPr/>
        </p:nvSpPr>
        <p:spPr>
          <a:xfrm>
            <a:off x="6172200" y="2971800"/>
            <a:ext cx="2743200" cy="457200"/>
          </a:xfrm>
          <a:prstGeom prst="rect">
            <a:avLst/>
          </a:prstGeom>
          <a:solidFill>
            <a:srgbClr val="1565C0"/>
          </a:solidFill>
          <a:ln/>
        </p:spPr>
        <p:txBody>
          <a:bodyPr/>
          <a:lstStyle/>
          <a:p>
            <a:endParaRPr lang="fr-FR"/>
          </a:p>
        </p:txBody>
      </p:sp>
      <p:sp>
        <p:nvSpPr>
          <p:cNvPr id="45" name="Text 42"/>
          <p:cNvSpPr/>
          <p:nvPr/>
        </p:nvSpPr>
        <p:spPr>
          <a:xfrm>
            <a:off x="6281928" y="304495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APEC</a:t>
            </a:r>
            <a:endParaRPr lang="en-US" sz="1300" dirty="0"/>
          </a:p>
        </p:txBody>
      </p:sp>
      <p:sp>
        <p:nvSpPr>
          <p:cNvPr id="46" name="Text 43"/>
          <p:cNvSpPr/>
          <p:nvPr/>
        </p:nvSpPr>
        <p:spPr>
          <a:xfrm>
            <a:off x="6281928" y="3502152"/>
            <a:ext cx="2514600" cy="201168"/>
          </a:xfrm>
          <a:prstGeom prst="rect">
            <a:avLst/>
          </a:prstGeom>
          <a:noFill/>
          <a:ln/>
        </p:spPr>
        <p:txBody>
          <a:bodyPr wrap="square" lIns="0" tIns="0" rIns="0" bIns="0" rtlCol="0" anchor="ctr"/>
          <a:lstStyle/>
          <a:p>
            <a:pPr marL="0" indent="0">
              <a:buNone/>
            </a:pPr>
            <a:r>
              <a:rPr lang="en-US" sz="900" b="1" i="1" dirty="0">
                <a:solidFill>
                  <a:srgbClr val="1565C0"/>
                </a:solidFill>
              </a:rPr>
              <a:t>Cadres (Bac+3 et +)</a:t>
            </a:r>
            <a:endParaRPr lang="en-US" sz="900" dirty="0"/>
          </a:p>
        </p:txBody>
      </p:sp>
      <p:sp>
        <p:nvSpPr>
          <p:cNvPr id="47" name="Text 44"/>
          <p:cNvSpPr/>
          <p:nvPr/>
        </p:nvSpPr>
        <p:spPr>
          <a:xfrm>
            <a:off x="6281928" y="372160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Réservé aux cadres et ingénieurs. Très utilisé par les grandes entreprises françaises.</a:t>
            </a:r>
            <a:endParaRPr lang="en-US" sz="900" dirty="0"/>
          </a:p>
        </p:txBody>
      </p:sp>
      <p:sp>
        <p:nvSpPr>
          <p:cNvPr id="48" name="Shape 45"/>
          <p:cNvSpPr/>
          <p:nvPr/>
        </p:nvSpPr>
        <p:spPr>
          <a:xfrm>
            <a:off x="6263640" y="4306824"/>
            <a:ext cx="2560320" cy="420624"/>
          </a:xfrm>
          <a:prstGeom prst="rect">
            <a:avLst/>
          </a:prstGeom>
          <a:solidFill>
            <a:srgbClr val="132240"/>
          </a:solidFill>
          <a:ln/>
        </p:spPr>
        <p:txBody>
          <a:bodyPr/>
          <a:lstStyle/>
          <a:p>
            <a:endParaRPr lang="fr-FR"/>
          </a:p>
        </p:txBody>
      </p:sp>
      <p:sp>
        <p:nvSpPr>
          <p:cNvPr id="49" name="Text 46"/>
          <p:cNvSpPr/>
          <p:nvPr/>
        </p:nvSpPr>
        <p:spPr>
          <a:xfrm>
            <a:off x="6300216" y="432511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Manager cherche un poste à Lyon → offres avec salaire entre 40 000€ et 65 000€/an.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A3FA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13</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C'est quoi une candidature en ligne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Comprendre les différentes façons de postuler</a:t>
            </a:r>
            <a:endParaRPr lang="en-US" sz="900" dirty="0"/>
          </a:p>
        </p:txBody>
      </p:sp>
      <p:sp>
        <p:nvSpPr>
          <p:cNvPr id="7" name="Text 4"/>
          <p:cNvSpPr/>
          <p:nvPr/>
        </p:nvSpPr>
        <p:spPr>
          <a:xfrm>
            <a:off x="365760" y="1005840"/>
            <a:ext cx="8412480" cy="384048"/>
          </a:xfrm>
          <a:prstGeom prst="rect">
            <a:avLst/>
          </a:prstGeom>
          <a:noFill/>
          <a:ln/>
        </p:spPr>
        <p:txBody>
          <a:bodyPr wrap="square" rtlCol="0" anchor="ctr"/>
          <a:lstStyle/>
          <a:p>
            <a:pPr marL="0" indent="0">
              <a:lnSpc>
                <a:spcPct val="140000"/>
              </a:lnSpc>
              <a:buNone/>
            </a:pPr>
            <a:r>
              <a:rPr lang="en-US" sz="1200" i="1" dirty="0">
                <a:solidFill>
                  <a:srgbClr val="0D1B2A"/>
                </a:solidFill>
              </a:rPr>
              <a:t>Postuler = envoyer votre dossier à une entreprise pour lui dire : « Je suis intéressé(e) par votre offre »</a:t>
            </a:r>
            <a:endParaRPr lang="en-US" sz="1200" dirty="0"/>
          </a:p>
        </p:txBody>
      </p:sp>
      <p:sp>
        <p:nvSpPr>
          <p:cNvPr id="8" name="Shape 5"/>
          <p:cNvSpPr/>
          <p:nvPr/>
        </p:nvSpPr>
        <p:spPr>
          <a:xfrm>
            <a:off x="365760" y="1536192"/>
            <a:ext cx="8412480" cy="100584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65760" y="1536192"/>
            <a:ext cx="54864" cy="1005840"/>
          </a:xfrm>
          <a:prstGeom prst="rect">
            <a:avLst/>
          </a:prstGeom>
          <a:solidFill>
            <a:srgbClr val="1565C0"/>
          </a:solidFill>
          <a:ln/>
        </p:spPr>
        <p:txBody>
          <a:bodyPr/>
          <a:lstStyle/>
          <a:p>
            <a:endParaRPr lang="fr-FR"/>
          </a:p>
        </p:txBody>
      </p:sp>
      <p:sp>
        <p:nvSpPr>
          <p:cNvPr id="10" name="Text 7"/>
          <p:cNvSpPr/>
          <p:nvPr/>
        </p:nvSpPr>
        <p:spPr>
          <a:xfrm>
            <a:off x="530352" y="1627632"/>
            <a:ext cx="4389120" cy="292608"/>
          </a:xfrm>
          <a:prstGeom prst="rect">
            <a:avLst/>
          </a:prstGeom>
          <a:noFill/>
          <a:ln/>
        </p:spPr>
        <p:txBody>
          <a:bodyPr wrap="square" lIns="0" tIns="0" rIns="0" bIns="0" rtlCol="0" anchor="ctr"/>
          <a:lstStyle/>
          <a:p>
            <a:pPr marL="0" indent="0">
              <a:buNone/>
            </a:pPr>
            <a:r>
              <a:rPr lang="en-US" sz="1300" b="1" dirty="0">
                <a:solidFill>
                  <a:srgbClr val="0D1B2A"/>
                </a:solidFill>
              </a:rPr>
              <a:t>🖥️ Candidature via la plateforme</a:t>
            </a:r>
            <a:endParaRPr lang="en-US" sz="1300" dirty="0"/>
          </a:p>
        </p:txBody>
      </p:sp>
      <p:sp>
        <p:nvSpPr>
          <p:cNvPr id="11" name="Text 8"/>
          <p:cNvSpPr/>
          <p:nvPr/>
        </p:nvSpPr>
        <p:spPr>
          <a:xfrm>
            <a:off x="530352" y="1956816"/>
            <a:ext cx="4754880" cy="502920"/>
          </a:xfrm>
          <a:prstGeom prst="rect">
            <a:avLst/>
          </a:prstGeom>
          <a:noFill/>
          <a:ln/>
        </p:spPr>
        <p:txBody>
          <a:bodyPr wrap="square" rtlCol="0" anchor="ctr"/>
          <a:lstStyle/>
          <a:p>
            <a:pPr marL="0" indent="0">
              <a:lnSpc>
                <a:spcPct val="135000"/>
              </a:lnSpc>
              <a:buNone/>
            </a:pPr>
            <a:r>
              <a:rPr lang="en-US" sz="1000" dirty="0">
                <a:solidFill>
                  <a:srgbClr val="5A6A7A"/>
                </a:solidFill>
              </a:rPr>
              <a:t>Vous cliquez sur « Postuler » directement sur le site (Indeed, Pôle Emploi…). Vous remplissez un formulaire et joignez votre CV.</a:t>
            </a:r>
            <a:endParaRPr lang="en-US" sz="1000" dirty="0"/>
          </a:p>
        </p:txBody>
      </p:sp>
      <p:sp>
        <p:nvSpPr>
          <p:cNvPr id="12" name="Shape 9"/>
          <p:cNvSpPr/>
          <p:nvPr/>
        </p:nvSpPr>
        <p:spPr>
          <a:xfrm>
            <a:off x="5394960" y="1645920"/>
            <a:ext cx="3246120" cy="786384"/>
          </a:xfrm>
          <a:prstGeom prst="rect">
            <a:avLst/>
          </a:prstGeom>
          <a:solidFill>
            <a:srgbClr val="E0F7FA"/>
          </a:solidFill>
          <a:ln/>
        </p:spPr>
        <p:txBody>
          <a:bodyPr/>
          <a:lstStyle/>
          <a:p>
            <a:endParaRPr lang="fr-FR"/>
          </a:p>
        </p:txBody>
      </p:sp>
      <p:sp>
        <p:nvSpPr>
          <p:cNvPr id="13" name="Text 10"/>
          <p:cNvSpPr/>
          <p:nvPr/>
        </p:nvSpPr>
        <p:spPr>
          <a:xfrm>
            <a:off x="5486400" y="1700784"/>
            <a:ext cx="3063240" cy="676656"/>
          </a:xfrm>
          <a:prstGeom prst="rect">
            <a:avLst/>
          </a:prstGeom>
          <a:noFill/>
          <a:ln/>
        </p:spPr>
        <p:txBody>
          <a:bodyPr wrap="square" rtlCol="0" anchor="ctr"/>
          <a:lstStyle/>
          <a:p>
            <a:pPr marL="0" indent="0">
              <a:lnSpc>
                <a:spcPct val="140000"/>
              </a:lnSpc>
              <a:buNone/>
            </a:pPr>
            <a:r>
              <a:rPr lang="en-US" sz="950" dirty="0">
                <a:solidFill>
                  <a:srgbClr val="00796B"/>
                </a:solidFill>
              </a:rPr>
              <a:t>➡ Le plus courant. Bouton « Postuler » ou « Apply Now » sur l'offre.</a:t>
            </a:r>
            <a:endParaRPr lang="en-US" sz="950" dirty="0"/>
          </a:p>
        </p:txBody>
      </p:sp>
      <p:sp>
        <p:nvSpPr>
          <p:cNvPr id="14" name="Shape 11"/>
          <p:cNvSpPr/>
          <p:nvPr/>
        </p:nvSpPr>
        <p:spPr>
          <a:xfrm>
            <a:off x="365760" y="2651760"/>
            <a:ext cx="8412480" cy="100584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5" name="Shape 12"/>
          <p:cNvSpPr/>
          <p:nvPr/>
        </p:nvSpPr>
        <p:spPr>
          <a:xfrm>
            <a:off x="365760" y="2651760"/>
            <a:ext cx="54864" cy="1005840"/>
          </a:xfrm>
          <a:prstGeom prst="rect">
            <a:avLst/>
          </a:prstGeom>
          <a:solidFill>
            <a:srgbClr val="00796B"/>
          </a:solidFill>
          <a:ln/>
        </p:spPr>
        <p:txBody>
          <a:bodyPr/>
          <a:lstStyle/>
          <a:p>
            <a:endParaRPr lang="fr-FR"/>
          </a:p>
        </p:txBody>
      </p:sp>
      <p:sp>
        <p:nvSpPr>
          <p:cNvPr id="16" name="Text 13"/>
          <p:cNvSpPr/>
          <p:nvPr/>
        </p:nvSpPr>
        <p:spPr>
          <a:xfrm>
            <a:off x="530352" y="2743200"/>
            <a:ext cx="4389120" cy="292608"/>
          </a:xfrm>
          <a:prstGeom prst="rect">
            <a:avLst/>
          </a:prstGeom>
          <a:noFill/>
          <a:ln/>
        </p:spPr>
        <p:txBody>
          <a:bodyPr wrap="square" lIns="0" tIns="0" rIns="0" bIns="0" rtlCol="0" anchor="ctr"/>
          <a:lstStyle/>
          <a:p>
            <a:pPr marL="0" indent="0">
              <a:buNone/>
            </a:pPr>
            <a:r>
              <a:rPr lang="en-US" sz="1300" b="1" dirty="0">
                <a:solidFill>
                  <a:srgbClr val="0D1B2A"/>
                </a:solidFill>
              </a:rPr>
              <a:t>📧 Candidature par email</a:t>
            </a:r>
            <a:endParaRPr lang="en-US" sz="1300" dirty="0"/>
          </a:p>
        </p:txBody>
      </p:sp>
      <p:sp>
        <p:nvSpPr>
          <p:cNvPr id="17" name="Text 14"/>
          <p:cNvSpPr/>
          <p:nvPr/>
        </p:nvSpPr>
        <p:spPr>
          <a:xfrm>
            <a:off x="530352" y="3072384"/>
            <a:ext cx="4754880" cy="502920"/>
          </a:xfrm>
          <a:prstGeom prst="rect">
            <a:avLst/>
          </a:prstGeom>
          <a:noFill/>
          <a:ln/>
        </p:spPr>
        <p:txBody>
          <a:bodyPr wrap="square" rtlCol="0" anchor="ctr"/>
          <a:lstStyle/>
          <a:p>
            <a:pPr marL="0" indent="0">
              <a:lnSpc>
                <a:spcPct val="135000"/>
              </a:lnSpc>
              <a:buNone/>
            </a:pPr>
            <a:r>
              <a:rPr lang="en-US" sz="1000" dirty="0">
                <a:solidFill>
                  <a:srgbClr val="5A6A7A"/>
                </a:solidFill>
              </a:rPr>
              <a:t>L'offre indique une adresse email. Vous envoyez un email avec votre CV et lettre de motivation en pièce jointe.</a:t>
            </a:r>
            <a:endParaRPr lang="en-US" sz="1000" dirty="0"/>
          </a:p>
        </p:txBody>
      </p:sp>
      <p:sp>
        <p:nvSpPr>
          <p:cNvPr id="18" name="Shape 15"/>
          <p:cNvSpPr/>
          <p:nvPr/>
        </p:nvSpPr>
        <p:spPr>
          <a:xfrm>
            <a:off x="5394960" y="2761488"/>
            <a:ext cx="3246120" cy="786384"/>
          </a:xfrm>
          <a:prstGeom prst="rect">
            <a:avLst/>
          </a:prstGeom>
          <a:solidFill>
            <a:srgbClr val="E0F7FA"/>
          </a:solidFill>
          <a:ln/>
        </p:spPr>
        <p:txBody>
          <a:bodyPr/>
          <a:lstStyle/>
          <a:p>
            <a:endParaRPr lang="fr-FR"/>
          </a:p>
        </p:txBody>
      </p:sp>
      <p:sp>
        <p:nvSpPr>
          <p:cNvPr id="19" name="Text 16"/>
          <p:cNvSpPr/>
          <p:nvPr/>
        </p:nvSpPr>
        <p:spPr>
          <a:xfrm>
            <a:off x="5486400" y="2816352"/>
            <a:ext cx="3063240" cy="676656"/>
          </a:xfrm>
          <a:prstGeom prst="rect">
            <a:avLst/>
          </a:prstGeom>
          <a:noFill/>
          <a:ln/>
        </p:spPr>
        <p:txBody>
          <a:bodyPr wrap="square" rtlCol="0" anchor="ctr"/>
          <a:lstStyle/>
          <a:p>
            <a:pPr marL="0" indent="0">
              <a:lnSpc>
                <a:spcPct val="140000"/>
              </a:lnSpc>
              <a:buNone/>
            </a:pPr>
            <a:r>
              <a:rPr lang="en-US" sz="950" dirty="0">
                <a:solidFill>
                  <a:srgbClr val="00796B"/>
                </a:solidFill>
              </a:rPr>
              <a:t>➡ Ex : L'offre dit « Envoyer CV à : rh@entreprise.fr »</a:t>
            </a:r>
            <a:endParaRPr lang="en-US" sz="950" dirty="0"/>
          </a:p>
        </p:txBody>
      </p:sp>
      <p:sp>
        <p:nvSpPr>
          <p:cNvPr id="20" name="Shape 17"/>
          <p:cNvSpPr/>
          <p:nvPr/>
        </p:nvSpPr>
        <p:spPr>
          <a:xfrm>
            <a:off x="365760" y="3767328"/>
            <a:ext cx="8412480" cy="100584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1" name="Shape 18"/>
          <p:cNvSpPr/>
          <p:nvPr/>
        </p:nvSpPr>
        <p:spPr>
          <a:xfrm>
            <a:off x="365760" y="3767328"/>
            <a:ext cx="54864" cy="1005840"/>
          </a:xfrm>
          <a:prstGeom prst="rect">
            <a:avLst/>
          </a:prstGeom>
          <a:solidFill>
            <a:srgbClr val="F59E0B"/>
          </a:solidFill>
          <a:ln/>
        </p:spPr>
        <p:txBody>
          <a:bodyPr/>
          <a:lstStyle/>
          <a:p>
            <a:endParaRPr lang="fr-FR"/>
          </a:p>
        </p:txBody>
      </p:sp>
      <p:sp>
        <p:nvSpPr>
          <p:cNvPr id="22" name="Text 19"/>
          <p:cNvSpPr/>
          <p:nvPr/>
        </p:nvSpPr>
        <p:spPr>
          <a:xfrm>
            <a:off x="530352" y="3858768"/>
            <a:ext cx="4389120" cy="292608"/>
          </a:xfrm>
          <a:prstGeom prst="rect">
            <a:avLst/>
          </a:prstGeom>
          <a:noFill/>
          <a:ln/>
        </p:spPr>
        <p:txBody>
          <a:bodyPr wrap="square" lIns="0" tIns="0" rIns="0" bIns="0" rtlCol="0" anchor="ctr"/>
          <a:lstStyle/>
          <a:p>
            <a:pPr marL="0" indent="0">
              <a:buNone/>
            </a:pPr>
            <a:r>
              <a:rPr lang="en-US" sz="1300" b="1" dirty="0">
                <a:solidFill>
                  <a:srgbClr val="0D1B2A"/>
                </a:solidFill>
              </a:rPr>
              <a:t>💡 Candidature spontanée</a:t>
            </a:r>
            <a:endParaRPr lang="en-US" sz="1300" dirty="0"/>
          </a:p>
        </p:txBody>
      </p:sp>
      <p:sp>
        <p:nvSpPr>
          <p:cNvPr id="23" name="Text 20"/>
          <p:cNvSpPr/>
          <p:nvPr/>
        </p:nvSpPr>
        <p:spPr>
          <a:xfrm>
            <a:off x="530352" y="4187952"/>
            <a:ext cx="4754880" cy="502920"/>
          </a:xfrm>
          <a:prstGeom prst="rect">
            <a:avLst/>
          </a:prstGeom>
          <a:noFill/>
          <a:ln/>
        </p:spPr>
        <p:txBody>
          <a:bodyPr wrap="square" rtlCol="0" anchor="ctr"/>
          <a:lstStyle/>
          <a:p>
            <a:pPr marL="0" indent="0">
              <a:lnSpc>
                <a:spcPct val="135000"/>
              </a:lnSpc>
              <a:buNone/>
            </a:pPr>
            <a:r>
              <a:rPr lang="en-US" sz="1000" dirty="0">
                <a:solidFill>
                  <a:srgbClr val="5A6A7A"/>
                </a:solidFill>
              </a:rPr>
              <a:t>Vous contactez une entreprise SANS qu'elle ait publié d'offre. Vous montrez votre intérêt pour travailler chez eux.</a:t>
            </a:r>
            <a:endParaRPr lang="en-US" sz="1000" dirty="0"/>
          </a:p>
        </p:txBody>
      </p:sp>
      <p:sp>
        <p:nvSpPr>
          <p:cNvPr id="24" name="Shape 21"/>
          <p:cNvSpPr/>
          <p:nvPr/>
        </p:nvSpPr>
        <p:spPr>
          <a:xfrm>
            <a:off x="5394960" y="3877056"/>
            <a:ext cx="3246120" cy="786384"/>
          </a:xfrm>
          <a:prstGeom prst="rect">
            <a:avLst/>
          </a:prstGeom>
          <a:solidFill>
            <a:srgbClr val="E0F7FA"/>
          </a:solidFill>
          <a:ln/>
        </p:spPr>
        <p:txBody>
          <a:bodyPr/>
          <a:lstStyle/>
          <a:p>
            <a:endParaRPr lang="fr-FR"/>
          </a:p>
        </p:txBody>
      </p:sp>
      <p:sp>
        <p:nvSpPr>
          <p:cNvPr id="25" name="Text 22"/>
          <p:cNvSpPr/>
          <p:nvPr/>
        </p:nvSpPr>
        <p:spPr>
          <a:xfrm>
            <a:off x="5486400" y="3931920"/>
            <a:ext cx="3063240" cy="676656"/>
          </a:xfrm>
          <a:prstGeom prst="rect">
            <a:avLst/>
          </a:prstGeom>
          <a:noFill/>
          <a:ln/>
        </p:spPr>
        <p:txBody>
          <a:bodyPr wrap="square" rtlCol="0" anchor="ctr"/>
          <a:lstStyle/>
          <a:p>
            <a:pPr marL="0" indent="0">
              <a:lnSpc>
                <a:spcPct val="140000"/>
              </a:lnSpc>
              <a:buNone/>
            </a:pPr>
            <a:r>
              <a:rPr lang="en-US" sz="950" dirty="0">
                <a:solidFill>
                  <a:srgbClr val="00796B"/>
                </a:solidFill>
              </a:rPr>
              <a:t>➡ Ex : Vous aimez une boulangerie locale → vous envoyez un email pour proposer vos services.</a:t>
            </a:r>
            <a:endParaRPr lang="en-US" sz="950" dirty="0"/>
          </a:p>
        </p:txBody>
      </p:sp>
      <p:sp>
        <p:nvSpPr>
          <p:cNvPr id="26" name="Shape 23"/>
          <p:cNvSpPr/>
          <p:nvPr/>
        </p:nvSpPr>
        <p:spPr>
          <a:xfrm>
            <a:off x="365760" y="4617720"/>
            <a:ext cx="8412480" cy="347472"/>
          </a:xfrm>
          <a:prstGeom prst="rect">
            <a:avLst/>
          </a:prstGeom>
          <a:solidFill>
            <a:srgbClr val="F4F8FC"/>
          </a:solidFill>
          <a:ln/>
        </p:spPr>
        <p:txBody>
          <a:bodyPr/>
          <a:lstStyle/>
          <a:p>
            <a:endParaRPr lang="fr-FR"/>
          </a:p>
        </p:txBody>
      </p:sp>
      <p:sp>
        <p:nvSpPr>
          <p:cNvPr id="27" name="Text 24"/>
          <p:cNvSpPr/>
          <p:nvPr/>
        </p:nvSpPr>
        <p:spPr>
          <a:xfrm>
            <a:off x="502920" y="4636008"/>
            <a:ext cx="8229600" cy="310896"/>
          </a:xfrm>
          <a:prstGeom prst="rect">
            <a:avLst/>
          </a:prstGeom>
          <a:noFill/>
          <a:ln/>
        </p:spPr>
        <p:txBody>
          <a:bodyPr wrap="square" rtlCol="0" anchor="ctr"/>
          <a:lstStyle/>
          <a:p>
            <a:pPr marL="0" indent="0">
              <a:buNone/>
            </a:pPr>
            <a:r>
              <a:rPr lang="en-US" sz="1000" dirty="0">
                <a:solidFill>
                  <a:srgbClr val="0B1F3A"/>
                </a:solidFill>
              </a:rPr>
              <a:t>💬 Conseil : Lisez toujours bien l'offre jusqu'au bout — elle indique souvent comment postuler (via le site, par email, ou les deux).</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A3FA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14</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La lettre de motivation — Qu'est-ce que c'est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Un document court qui explique POURQUOI vous voulez ce poste</a:t>
            </a:r>
            <a:endParaRPr lang="en-US" sz="900" dirty="0"/>
          </a:p>
        </p:txBody>
      </p:sp>
      <p:sp>
        <p:nvSpPr>
          <p:cNvPr id="7" name="Text 4"/>
          <p:cNvSpPr/>
          <p:nvPr/>
        </p:nvSpPr>
        <p:spPr>
          <a:xfrm>
            <a:off x="365760" y="1005840"/>
            <a:ext cx="8412480" cy="320040"/>
          </a:xfrm>
          <a:prstGeom prst="rect">
            <a:avLst/>
          </a:prstGeom>
          <a:noFill/>
          <a:ln/>
        </p:spPr>
        <p:txBody>
          <a:bodyPr wrap="square" rtlCol="0" anchor="ctr"/>
          <a:lstStyle/>
          <a:p>
            <a:pPr marL="0" indent="0">
              <a:buNone/>
            </a:pPr>
            <a:r>
              <a:rPr lang="en-US" sz="1200" b="1" dirty="0">
                <a:solidFill>
                  <a:srgbClr val="0D1B2A"/>
                </a:solidFill>
              </a:rPr>
              <a:t>Une lettre de motivation c'est 1 page maximum qui répond à 3 questions :</a:t>
            </a:r>
            <a:endParaRPr lang="en-US" sz="1200" dirty="0"/>
          </a:p>
        </p:txBody>
      </p:sp>
      <p:sp>
        <p:nvSpPr>
          <p:cNvPr id="8" name="Shape 5"/>
          <p:cNvSpPr/>
          <p:nvPr/>
        </p:nvSpPr>
        <p:spPr>
          <a:xfrm>
            <a:off x="365760" y="1417320"/>
            <a:ext cx="8412480" cy="102412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65760" y="1417320"/>
            <a:ext cx="54864" cy="1024128"/>
          </a:xfrm>
          <a:prstGeom prst="rect">
            <a:avLst/>
          </a:prstGeom>
          <a:solidFill>
            <a:srgbClr val="1565C0"/>
          </a:solidFill>
          <a:ln/>
        </p:spPr>
        <p:txBody>
          <a:bodyPr/>
          <a:lstStyle/>
          <a:p>
            <a:endParaRPr lang="fr-FR"/>
          </a:p>
        </p:txBody>
      </p:sp>
      <p:sp>
        <p:nvSpPr>
          <p:cNvPr id="10" name="Shape 7"/>
          <p:cNvSpPr/>
          <p:nvPr/>
        </p:nvSpPr>
        <p:spPr>
          <a:xfrm>
            <a:off x="502920" y="1490472"/>
            <a:ext cx="457200" cy="457200"/>
          </a:xfrm>
          <a:prstGeom prst="ellipse">
            <a:avLst/>
          </a:prstGeom>
          <a:solidFill>
            <a:srgbClr val="1565C0"/>
          </a:solidFill>
          <a:ln/>
        </p:spPr>
        <p:txBody>
          <a:bodyPr/>
          <a:lstStyle/>
          <a:p>
            <a:endParaRPr lang="fr-FR"/>
          </a:p>
        </p:txBody>
      </p:sp>
      <p:sp>
        <p:nvSpPr>
          <p:cNvPr id="11" name="Text 8"/>
          <p:cNvSpPr/>
          <p:nvPr/>
        </p:nvSpPr>
        <p:spPr>
          <a:xfrm>
            <a:off x="502920" y="1490472"/>
            <a:ext cx="457200" cy="4572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12" name="Text 9"/>
          <p:cNvSpPr/>
          <p:nvPr/>
        </p:nvSpPr>
        <p:spPr>
          <a:xfrm>
            <a:off x="1051560" y="1508760"/>
            <a:ext cx="2926080" cy="274320"/>
          </a:xfrm>
          <a:prstGeom prst="rect">
            <a:avLst/>
          </a:prstGeom>
          <a:noFill/>
          <a:ln/>
        </p:spPr>
        <p:txBody>
          <a:bodyPr wrap="square" lIns="0" tIns="0" rIns="0" bIns="0" rtlCol="0" anchor="ctr"/>
          <a:lstStyle/>
          <a:p>
            <a:pPr marL="0" indent="0">
              <a:buNone/>
            </a:pPr>
            <a:r>
              <a:rPr lang="en-US" sz="1250" b="1" dirty="0">
                <a:solidFill>
                  <a:srgbClr val="0D1B2A"/>
                </a:solidFill>
              </a:rPr>
              <a:t>Qui êtes-vous ?</a:t>
            </a:r>
            <a:endParaRPr lang="en-US" sz="1250" dirty="0"/>
          </a:p>
        </p:txBody>
      </p:sp>
      <p:sp>
        <p:nvSpPr>
          <p:cNvPr id="13" name="Text 10"/>
          <p:cNvSpPr/>
          <p:nvPr/>
        </p:nvSpPr>
        <p:spPr>
          <a:xfrm>
            <a:off x="1051560" y="1819656"/>
            <a:ext cx="4069080" cy="502920"/>
          </a:xfrm>
          <a:prstGeom prst="rect">
            <a:avLst/>
          </a:prstGeom>
          <a:noFill/>
          <a:ln/>
        </p:spPr>
        <p:txBody>
          <a:bodyPr wrap="square" rtlCol="0" anchor="ctr"/>
          <a:lstStyle/>
          <a:p>
            <a:pPr marL="0" indent="0">
              <a:lnSpc>
                <a:spcPct val="130000"/>
              </a:lnSpc>
              <a:buNone/>
            </a:pPr>
            <a:r>
              <a:rPr lang="en-US" sz="1000" dirty="0">
                <a:solidFill>
                  <a:srgbClr val="5A6A7A"/>
                </a:solidFill>
              </a:rPr>
              <a:t>Présentez-vous en 2 phrases : votre parcours et ce que vous savez faire.</a:t>
            </a:r>
            <a:endParaRPr lang="en-US" sz="1000" dirty="0"/>
          </a:p>
        </p:txBody>
      </p:sp>
      <p:sp>
        <p:nvSpPr>
          <p:cNvPr id="14" name="Shape 11"/>
          <p:cNvSpPr/>
          <p:nvPr/>
        </p:nvSpPr>
        <p:spPr>
          <a:xfrm>
            <a:off x="5257800" y="1508760"/>
            <a:ext cx="3383280" cy="841248"/>
          </a:xfrm>
          <a:prstGeom prst="rect">
            <a:avLst/>
          </a:prstGeom>
          <a:solidFill>
            <a:srgbClr val="EEF4FF"/>
          </a:solidFill>
          <a:ln/>
        </p:spPr>
        <p:txBody>
          <a:bodyPr/>
          <a:lstStyle/>
          <a:p>
            <a:endParaRPr lang="fr-FR"/>
          </a:p>
        </p:txBody>
      </p:sp>
      <p:sp>
        <p:nvSpPr>
          <p:cNvPr id="15" name="Text 12"/>
          <p:cNvSpPr/>
          <p:nvPr/>
        </p:nvSpPr>
        <p:spPr>
          <a:xfrm>
            <a:off x="5349240" y="1527048"/>
            <a:ext cx="3200400" cy="201168"/>
          </a:xfrm>
          <a:prstGeom prst="rect">
            <a:avLst/>
          </a:prstGeom>
          <a:noFill/>
          <a:ln/>
        </p:spPr>
        <p:txBody>
          <a:bodyPr wrap="square" lIns="0" tIns="0" rIns="0" bIns="0" rtlCol="0" anchor="ctr"/>
          <a:lstStyle/>
          <a:p>
            <a:pPr marL="0" indent="0">
              <a:buNone/>
            </a:pPr>
            <a:r>
              <a:rPr lang="en-US" sz="850" b="1" dirty="0">
                <a:solidFill>
                  <a:srgbClr val="1565C0"/>
                </a:solidFill>
              </a:rPr>
              <a:t>📝 Exemple :</a:t>
            </a:r>
            <a:endParaRPr lang="en-US" sz="850" dirty="0"/>
          </a:p>
        </p:txBody>
      </p:sp>
      <p:sp>
        <p:nvSpPr>
          <p:cNvPr id="16" name="Text 13"/>
          <p:cNvSpPr/>
          <p:nvPr/>
        </p:nvSpPr>
        <p:spPr>
          <a:xfrm>
            <a:off x="5349240" y="1728216"/>
            <a:ext cx="3200400" cy="566928"/>
          </a:xfrm>
          <a:prstGeom prst="rect">
            <a:avLst/>
          </a:prstGeom>
          <a:noFill/>
          <a:ln/>
        </p:spPr>
        <p:txBody>
          <a:bodyPr wrap="square" rtlCol="0" anchor="ctr"/>
          <a:lstStyle/>
          <a:p>
            <a:pPr marL="0" indent="0">
              <a:lnSpc>
                <a:spcPct val="130000"/>
              </a:lnSpc>
              <a:buNone/>
            </a:pPr>
            <a:r>
              <a:rPr lang="en-US" sz="850" i="1" dirty="0">
                <a:solidFill>
                  <a:srgbClr val="0D1B2A"/>
                </a:solidFill>
              </a:rPr>
              <a:t>« Titulaire d'un CAP Cuisine et ayant travaillé 2 ans comme commis dans un restaurant, je maîtrise la préparation de plats chauds et la gestion des stocks. »</a:t>
            </a:r>
            <a:endParaRPr lang="en-US" sz="850" dirty="0"/>
          </a:p>
        </p:txBody>
      </p:sp>
      <p:sp>
        <p:nvSpPr>
          <p:cNvPr id="17" name="Shape 14"/>
          <p:cNvSpPr/>
          <p:nvPr/>
        </p:nvSpPr>
        <p:spPr>
          <a:xfrm>
            <a:off x="365760" y="2560320"/>
            <a:ext cx="8412480" cy="102412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8" name="Shape 15"/>
          <p:cNvSpPr/>
          <p:nvPr/>
        </p:nvSpPr>
        <p:spPr>
          <a:xfrm>
            <a:off x="365760" y="2560320"/>
            <a:ext cx="54864" cy="1024128"/>
          </a:xfrm>
          <a:prstGeom prst="rect">
            <a:avLst/>
          </a:prstGeom>
          <a:solidFill>
            <a:srgbClr val="00796B"/>
          </a:solidFill>
          <a:ln/>
        </p:spPr>
        <p:txBody>
          <a:bodyPr/>
          <a:lstStyle/>
          <a:p>
            <a:endParaRPr lang="fr-FR"/>
          </a:p>
        </p:txBody>
      </p:sp>
      <p:sp>
        <p:nvSpPr>
          <p:cNvPr id="19" name="Shape 16"/>
          <p:cNvSpPr/>
          <p:nvPr/>
        </p:nvSpPr>
        <p:spPr>
          <a:xfrm>
            <a:off x="502920" y="2633472"/>
            <a:ext cx="457200" cy="457200"/>
          </a:xfrm>
          <a:prstGeom prst="ellipse">
            <a:avLst/>
          </a:prstGeom>
          <a:solidFill>
            <a:srgbClr val="00796B"/>
          </a:solidFill>
          <a:ln/>
        </p:spPr>
        <p:txBody>
          <a:bodyPr/>
          <a:lstStyle/>
          <a:p>
            <a:endParaRPr lang="fr-FR"/>
          </a:p>
        </p:txBody>
      </p:sp>
      <p:sp>
        <p:nvSpPr>
          <p:cNvPr id="20" name="Text 17"/>
          <p:cNvSpPr/>
          <p:nvPr/>
        </p:nvSpPr>
        <p:spPr>
          <a:xfrm>
            <a:off x="502920" y="2633472"/>
            <a:ext cx="457200" cy="4572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21" name="Text 18"/>
          <p:cNvSpPr/>
          <p:nvPr/>
        </p:nvSpPr>
        <p:spPr>
          <a:xfrm>
            <a:off x="1051560" y="2651760"/>
            <a:ext cx="2926080" cy="274320"/>
          </a:xfrm>
          <a:prstGeom prst="rect">
            <a:avLst/>
          </a:prstGeom>
          <a:noFill/>
          <a:ln/>
        </p:spPr>
        <p:txBody>
          <a:bodyPr wrap="square" lIns="0" tIns="0" rIns="0" bIns="0" rtlCol="0" anchor="ctr"/>
          <a:lstStyle/>
          <a:p>
            <a:pPr marL="0" indent="0">
              <a:buNone/>
            </a:pPr>
            <a:r>
              <a:rPr lang="en-US" sz="1250" b="1" dirty="0">
                <a:solidFill>
                  <a:srgbClr val="0D1B2A"/>
                </a:solidFill>
              </a:rPr>
              <a:t>Pourquoi CETTE entreprise ?</a:t>
            </a:r>
            <a:endParaRPr lang="en-US" sz="1250" dirty="0"/>
          </a:p>
        </p:txBody>
      </p:sp>
      <p:sp>
        <p:nvSpPr>
          <p:cNvPr id="22" name="Text 19"/>
          <p:cNvSpPr/>
          <p:nvPr/>
        </p:nvSpPr>
        <p:spPr>
          <a:xfrm>
            <a:off x="1051560" y="2962656"/>
            <a:ext cx="4069080" cy="502920"/>
          </a:xfrm>
          <a:prstGeom prst="rect">
            <a:avLst/>
          </a:prstGeom>
          <a:noFill/>
          <a:ln/>
        </p:spPr>
        <p:txBody>
          <a:bodyPr wrap="square" rtlCol="0" anchor="ctr"/>
          <a:lstStyle/>
          <a:p>
            <a:pPr marL="0" indent="0">
              <a:lnSpc>
                <a:spcPct val="130000"/>
              </a:lnSpc>
              <a:buNone/>
            </a:pPr>
            <a:r>
              <a:rPr lang="en-US" sz="1000" dirty="0">
                <a:solidFill>
                  <a:srgbClr val="5A6A7A"/>
                </a:solidFill>
              </a:rPr>
              <a:t>Montrez que vous connaissez l'entreprise et ce qui vous attire chez elle.</a:t>
            </a:r>
            <a:endParaRPr lang="en-US" sz="1000" dirty="0"/>
          </a:p>
        </p:txBody>
      </p:sp>
      <p:sp>
        <p:nvSpPr>
          <p:cNvPr id="23" name="Shape 20"/>
          <p:cNvSpPr/>
          <p:nvPr/>
        </p:nvSpPr>
        <p:spPr>
          <a:xfrm>
            <a:off x="5257800" y="2651760"/>
            <a:ext cx="3383280" cy="841248"/>
          </a:xfrm>
          <a:prstGeom prst="rect">
            <a:avLst/>
          </a:prstGeom>
          <a:solidFill>
            <a:srgbClr val="EEF4FF"/>
          </a:solidFill>
          <a:ln/>
        </p:spPr>
        <p:txBody>
          <a:bodyPr/>
          <a:lstStyle/>
          <a:p>
            <a:endParaRPr lang="fr-FR"/>
          </a:p>
        </p:txBody>
      </p:sp>
      <p:sp>
        <p:nvSpPr>
          <p:cNvPr id="24" name="Text 21"/>
          <p:cNvSpPr/>
          <p:nvPr/>
        </p:nvSpPr>
        <p:spPr>
          <a:xfrm>
            <a:off x="5349240" y="2670048"/>
            <a:ext cx="3200400" cy="201168"/>
          </a:xfrm>
          <a:prstGeom prst="rect">
            <a:avLst/>
          </a:prstGeom>
          <a:noFill/>
          <a:ln/>
        </p:spPr>
        <p:txBody>
          <a:bodyPr wrap="square" lIns="0" tIns="0" rIns="0" bIns="0" rtlCol="0" anchor="ctr"/>
          <a:lstStyle/>
          <a:p>
            <a:pPr marL="0" indent="0">
              <a:buNone/>
            </a:pPr>
            <a:r>
              <a:rPr lang="en-US" sz="850" b="1" dirty="0">
                <a:solidFill>
                  <a:srgbClr val="00796B"/>
                </a:solidFill>
              </a:rPr>
              <a:t>📝 Exemple :</a:t>
            </a:r>
            <a:endParaRPr lang="en-US" sz="850" dirty="0"/>
          </a:p>
        </p:txBody>
      </p:sp>
      <p:sp>
        <p:nvSpPr>
          <p:cNvPr id="25" name="Text 22"/>
          <p:cNvSpPr/>
          <p:nvPr/>
        </p:nvSpPr>
        <p:spPr>
          <a:xfrm>
            <a:off x="5349240" y="2871216"/>
            <a:ext cx="3200400" cy="566928"/>
          </a:xfrm>
          <a:prstGeom prst="rect">
            <a:avLst/>
          </a:prstGeom>
          <a:noFill/>
          <a:ln/>
        </p:spPr>
        <p:txBody>
          <a:bodyPr wrap="square" rtlCol="0" anchor="ctr"/>
          <a:lstStyle/>
          <a:p>
            <a:pPr marL="0" indent="0">
              <a:lnSpc>
                <a:spcPct val="130000"/>
              </a:lnSpc>
              <a:buNone/>
            </a:pPr>
            <a:r>
              <a:rPr lang="en-US" sz="850" i="1" dirty="0">
                <a:solidFill>
                  <a:srgbClr val="0D1B2A"/>
                </a:solidFill>
              </a:rPr>
              <a:t>« Votre restaurant est reconnu pour la qualité de ses produits locaux et votre démarche zéro déchet correspond à mes valeurs. »</a:t>
            </a:r>
            <a:endParaRPr lang="en-US" sz="850" dirty="0"/>
          </a:p>
        </p:txBody>
      </p:sp>
      <p:sp>
        <p:nvSpPr>
          <p:cNvPr id="26" name="Shape 23"/>
          <p:cNvSpPr/>
          <p:nvPr/>
        </p:nvSpPr>
        <p:spPr>
          <a:xfrm>
            <a:off x="365760" y="3703320"/>
            <a:ext cx="8412480" cy="102412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7" name="Shape 24"/>
          <p:cNvSpPr/>
          <p:nvPr/>
        </p:nvSpPr>
        <p:spPr>
          <a:xfrm>
            <a:off x="365760" y="3703320"/>
            <a:ext cx="54864" cy="1024128"/>
          </a:xfrm>
          <a:prstGeom prst="rect">
            <a:avLst/>
          </a:prstGeom>
          <a:solidFill>
            <a:srgbClr val="6A3FA0"/>
          </a:solidFill>
          <a:ln/>
        </p:spPr>
        <p:txBody>
          <a:bodyPr/>
          <a:lstStyle/>
          <a:p>
            <a:endParaRPr lang="fr-FR"/>
          </a:p>
        </p:txBody>
      </p:sp>
      <p:sp>
        <p:nvSpPr>
          <p:cNvPr id="28" name="Shape 25"/>
          <p:cNvSpPr/>
          <p:nvPr/>
        </p:nvSpPr>
        <p:spPr>
          <a:xfrm>
            <a:off x="502920" y="3776472"/>
            <a:ext cx="457200" cy="457200"/>
          </a:xfrm>
          <a:prstGeom prst="ellipse">
            <a:avLst/>
          </a:prstGeom>
          <a:solidFill>
            <a:srgbClr val="6A3FA0"/>
          </a:solidFill>
          <a:ln/>
        </p:spPr>
        <p:txBody>
          <a:bodyPr/>
          <a:lstStyle/>
          <a:p>
            <a:endParaRPr lang="fr-FR"/>
          </a:p>
        </p:txBody>
      </p:sp>
      <p:sp>
        <p:nvSpPr>
          <p:cNvPr id="29" name="Text 26"/>
          <p:cNvSpPr/>
          <p:nvPr/>
        </p:nvSpPr>
        <p:spPr>
          <a:xfrm>
            <a:off x="502920" y="3776472"/>
            <a:ext cx="457200" cy="4572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30" name="Text 27"/>
          <p:cNvSpPr/>
          <p:nvPr/>
        </p:nvSpPr>
        <p:spPr>
          <a:xfrm>
            <a:off x="1051560" y="3794760"/>
            <a:ext cx="2926080" cy="274320"/>
          </a:xfrm>
          <a:prstGeom prst="rect">
            <a:avLst/>
          </a:prstGeom>
          <a:noFill/>
          <a:ln/>
        </p:spPr>
        <p:txBody>
          <a:bodyPr wrap="square" lIns="0" tIns="0" rIns="0" bIns="0" rtlCol="0" anchor="ctr"/>
          <a:lstStyle/>
          <a:p>
            <a:pPr marL="0" indent="0">
              <a:buNone/>
            </a:pPr>
            <a:r>
              <a:rPr lang="en-US" sz="1250" b="1" dirty="0">
                <a:solidFill>
                  <a:srgbClr val="0D1B2A"/>
                </a:solidFill>
              </a:rPr>
              <a:t>Pourquoi VOUS devrait-on choisir ?</a:t>
            </a:r>
            <a:endParaRPr lang="en-US" sz="1250" dirty="0"/>
          </a:p>
        </p:txBody>
      </p:sp>
      <p:sp>
        <p:nvSpPr>
          <p:cNvPr id="31" name="Text 28"/>
          <p:cNvSpPr/>
          <p:nvPr/>
        </p:nvSpPr>
        <p:spPr>
          <a:xfrm>
            <a:off x="1051560" y="4105656"/>
            <a:ext cx="4069080" cy="502920"/>
          </a:xfrm>
          <a:prstGeom prst="rect">
            <a:avLst/>
          </a:prstGeom>
          <a:noFill/>
          <a:ln/>
        </p:spPr>
        <p:txBody>
          <a:bodyPr wrap="square" rtlCol="0" anchor="ctr"/>
          <a:lstStyle/>
          <a:p>
            <a:pPr marL="0" indent="0">
              <a:lnSpc>
                <a:spcPct val="130000"/>
              </a:lnSpc>
              <a:buNone/>
            </a:pPr>
            <a:r>
              <a:rPr lang="en-US" sz="1000" dirty="0">
                <a:solidFill>
                  <a:srgbClr val="5A6A7A"/>
                </a:solidFill>
              </a:rPr>
              <a:t>Donnez 1 ou 2 raisons concrètes avec des exemples de ce que vous avez déjà fait.</a:t>
            </a:r>
            <a:endParaRPr lang="en-US" sz="1000" dirty="0"/>
          </a:p>
        </p:txBody>
      </p:sp>
      <p:sp>
        <p:nvSpPr>
          <p:cNvPr id="32" name="Shape 29"/>
          <p:cNvSpPr/>
          <p:nvPr/>
        </p:nvSpPr>
        <p:spPr>
          <a:xfrm>
            <a:off x="5257800" y="3794760"/>
            <a:ext cx="3383280" cy="841248"/>
          </a:xfrm>
          <a:prstGeom prst="rect">
            <a:avLst/>
          </a:prstGeom>
          <a:solidFill>
            <a:srgbClr val="EEF4FF"/>
          </a:solidFill>
          <a:ln/>
        </p:spPr>
        <p:txBody>
          <a:bodyPr/>
          <a:lstStyle/>
          <a:p>
            <a:endParaRPr lang="fr-FR"/>
          </a:p>
        </p:txBody>
      </p:sp>
      <p:sp>
        <p:nvSpPr>
          <p:cNvPr id="33" name="Text 30"/>
          <p:cNvSpPr/>
          <p:nvPr/>
        </p:nvSpPr>
        <p:spPr>
          <a:xfrm>
            <a:off x="5349240" y="3813048"/>
            <a:ext cx="3200400" cy="201168"/>
          </a:xfrm>
          <a:prstGeom prst="rect">
            <a:avLst/>
          </a:prstGeom>
          <a:noFill/>
          <a:ln/>
        </p:spPr>
        <p:txBody>
          <a:bodyPr wrap="square" lIns="0" tIns="0" rIns="0" bIns="0" rtlCol="0" anchor="ctr"/>
          <a:lstStyle/>
          <a:p>
            <a:pPr marL="0" indent="0">
              <a:buNone/>
            </a:pPr>
            <a:r>
              <a:rPr lang="en-US" sz="850" b="1" dirty="0">
                <a:solidFill>
                  <a:srgbClr val="6A3FA0"/>
                </a:solidFill>
              </a:rPr>
              <a:t>📝 Exemple :</a:t>
            </a:r>
            <a:endParaRPr lang="en-US" sz="850" dirty="0"/>
          </a:p>
        </p:txBody>
      </p:sp>
      <p:sp>
        <p:nvSpPr>
          <p:cNvPr id="34" name="Text 31"/>
          <p:cNvSpPr/>
          <p:nvPr/>
        </p:nvSpPr>
        <p:spPr>
          <a:xfrm>
            <a:off x="5349240" y="4014216"/>
            <a:ext cx="3200400" cy="566928"/>
          </a:xfrm>
          <a:prstGeom prst="rect">
            <a:avLst/>
          </a:prstGeom>
          <a:noFill/>
          <a:ln/>
        </p:spPr>
        <p:txBody>
          <a:bodyPr wrap="square" rtlCol="0" anchor="ctr"/>
          <a:lstStyle/>
          <a:p>
            <a:pPr marL="0" indent="0">
              <a:lnSpc>
                <a:spcPct val="130000"/>
              </a:lnSpc>
              <a:buNone/>
            </a:pPr>
            <a:r>
              <a:rPr lang="en-US" sz="850" i="1" dirty="0">
                <a:solidFill>
                  <a:srgbClr val="0D1B2A"/>
                </a:solidFill>
              </a:rPr>
              <a:t>« Dans mon poste précédent, j'ai géré seul(e) le service du midi pendant 3 mois, prouvant ma capacité à travailler sous pression. »</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A3FA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15</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Exemple complet de lettre de motivation</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Une lettre réelle, annotée et expliquée</a:t>
            </a:r>
            <a:endParaRPr lang="en-US" sz="900" dirty="0"/>
          </a:p>
        </p:txBody>
      </p:sp>
      <p:sp>
        <p:nvSpPr>
          <p:cNvPr id="7" name="Shape 4"/>
          <p:cNvSpPr/>
          <p:nvPr/>
        </p:nvSpPr>
        <p:spPr>
          <a:xfrm>
            <a:off x="320040" y="960120"/>
            <a:ext cx="5074920" cy="402336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Text 5"/>
          <p:cNvSpPr/>
          <p:nvPr/>
        </p:nvSpPr>
        <p:spPr>
          <a:xfrm>
            <a:off x="457200" y="1005840"/>
            <a:ext cx="1828800" cy="201168"/>
          </a:xfrm>
          <a:prstGeom prst="rect">
            <a:avLst/>
          </a:prstGeom>
          <a:noFill/>
          <a:ln/>
        </p:spPr>
        <p:txBody>
          <a:bodyPr wrap="square" rtlCol="0" anchor="ctr"/>
          <a:lstStyle/>
          <a:p>
            <a:pPr marL="0" indent="0">
              <a:buNone/>
            </a:pPr>
            <a:r>
              <a:rPr lang="en-US" sz="800" b="1" dirty="0">
                <a:solidFill>
                  <a:srgbClr val="5A6A7A"/>
                </a:solidFill>
              </a:rPr>
              <a:t>Expéditeur :</a:t>
            </a:r>
            <a:endParaRPr lang="en-US" sz="800" dirty="0"/>
          </a:p>
        </p:txBody>
      </p:sp>
      <p:sp>
        <p:nvSpPr>
          <p:cNvPr id="9" name="Text 6"/>
          <p:cNvSpPr/>
          <p:nvPr/>
        </p:nvSpPr>
        <p:spPr>
          <a:xfrm>
            <a:off x="457200" y="1188720"/>
            <a:ext cx="4754880" cy="201168"/>
          </a:xfrm>
          <a:prstGeom prst="rect">
            <a:avLst/>
          </a:prstGeom>
          <a:noFill/>
          <a:ln/>
        </p:spPr>
        <p:txBody>
          <a:bodyPr wrap="square" rtlCol="0" anchor="ctr"/>
          <a:lstStyle/>
          <a:p>
            <a:pPr marL="0" indent="0">
              <a:buNone/>
            </a:pPr>
            <a:r>
              <a:rPr lang="en-US" sz="850" dirty="0">
                <a:solidFill>
                  <a:srgbClr val="0D1B2A"/>
                </a:solidFill>
              </a:rPr>
              <a:t>Marie Martin — marie.martin@gmail.com — 06 12 34 56 78</a:t>
            </a:r>
            <a:endParaRPr lang="en-US" sz="850" dirty="0"/>
          </a:p>
        </p:txBody>
      </p:sp>
      <p:sp>
        <p:nvSpPr>
          <p:cNvPr id="10" name="Shape 7"/>
          <p:cNvSpPr/>
          <p:nvPr/>
        </p:nvSpPr>
        <p:spPr>
          <a:xfrm>
            <a:off x="457200" y="1435608"/>
            <a:ext cx="4754880" cy="0"/>
          </a:xfrm>
          <a:prstGeom prst="line">
            <a:avLst/>
          </a:prstGeom>
          <a:noFill/>
          <a:ln w="6350">
            <a:solidFill>
              <a:srgbClr val="E2EAF4"/>
            </a:solidFill>
            <a:prstDash val="solid"/>
          </a:ln>
        </p:spPr>
        <p:txBody>
          <a:bodyPr/>
          <a:lstStyle/>
          <a:p>
            <a:endParaRPr lang="fr-FR"/>
          </a:p>
        </p:txBody>
      </p:sp>
      <p:sp>
        <p:nvSpPr>
          <p:cNvPr id="11" name="Text 8"/>
          <p:cNvSpPr/>
          <p:nvPr/>
        </p:nvSpPr>
        <p:spPr>
          <a:xfrm>
            <a:off x="457200" y="1481328"/>
            <a:ext cx="4754880" cy="228600"/>
          </a:xfrm>
          <a:prstGeom prst="rect">
            <a:avLst/>
          </a:prstGeom>
          <a:noFill/>
          <a:ln/>
        </p:spPr>
        <p:txBody>
          <a:bodyPr wrap="square" rtlCol="0" anchor="ctr"/>
          <a:lstStyle/>
          <a:p>
            <a:pPr marL="0" indent="0">
              <a:buNone/>
            </a:pPr>
            <a:r>
              <a:rPr lang="en-US" sz="950" b="1" dirty="0">
                <a:solidFill>
                  <a:srgbClr val="0B1F3A"/>
                </a:solidFill>
              </a:rPr>
              <a:t>Objet : Candidature — Vendeuse — Offre Réf. VNT-2026</a:t>
            </a:r>
            <a:endParaRPr lang="en-US" sz="950" dirty="0"/>
          </a:p>
        </p:txBody>
      </p:sp>
      <p:sp>
        <p:nvSpPr>
          <p:cNvPr id="12" name="Shape 9"/>
          <p:cNvSpPr/>
          <p:nvPr/>
        </p:nvSpPr>
        <p:spPr>
          <a:xfrm>
            <a:off x="457200" y="1755648"/>
            <a:ext cx="4754880" cy="0"/>
          </a:xfrm>
          <a:prstGeom prst="line">
            <a:avLst/>
          </a:prstGeom>
          <a:noFill/>
          <a:ln w="6350">
            <a:solidFill>
              <a:srgbClr val="E2EAF4"/>
            </a:solidFill>
            <a:prstDash val="solid"/>
          </a:ln>
        </p:spPr>
        <p:txBody>
          <a:bodyPr/>
          <a:lstStyle/>
          <a:p>
            <a:endParaRPr lang="fr-FR"/>
          </a:p>
        </p:txBody>
      </p:sp>
      <p:sp>
        <p:nvSpPr>
          <p:cNvPr id="13" name="Text 10"/>
          <p:cNvSpPr/>
          <p:nvPr/>
        </p:nvSpPr>
        <p:spPr>
          <a:xfrm>
            <a:off x="457200" y="1828800"/>
            <a:ext cx="4800600" cy="201168"/>
          </a:xfrm>
          <a:prstGeom prst="rect">
            <a:avLst/>
          </a:prstGeom>
          <a:noFill/>
          <a:ln/>
        </p:spPr>
        <p:txBody>
          <a:bodyPr wrap="square" rtlCol="0" anchor="ctr"/>
          <a:lstStyle/>
          <a:p>
            <a:pPr marL="0" indent="0">
              <a:lnSpc>
                <a:spcPct val="135000"/>
              </a:lnSpc>
              <a:buNone/>
            </a:pPr>
            <a:r>
              <a:rPr lang="en-US" sz="900" b="1" dirty="0">
                <a:solidFill>
                  <a:srgbClr val="0D1B2A"/>
                </a:solidFill>
              </a:rPr>
              <a:t>Madame, Monsieur,</a:t>
            </a:r>
            <a:endParaRPr lang="en-US" sz="900" dirty="0"/>
          </a:p>
        </p:txBody>
      </p:sp>
      <p:sp>
        <p:nvSpPr>
          <p:cNvPr id="14" name="Text 11"/>
          <p:cNvSpPr/>
          <p:nvPr/>
        </p:nvSpPr>
        <p:spPr>
          <a:xfrm>
            <a:off x="457200" y="2084832"/>
            <a:ext cx="4800600" cy="438912"/>
          </a:xfrm>
          <a:prstGeom prst="rect">
            <a:avLst/>
          </a:prstGeom>
          <a:noFill/>
          <a:ln/>
        </p:spPr>
        <p:txBody>
          <a:bodyPr wrap="square" rtlCol="0" anchor="ctr"/>
          <a:lstStyle/>
          <a:p>
            <a:pPr marL="0" indent="0">
              <a:lnSpc>
                <a:spcPct val="135000"/>
              </a:lnSpc>
              <a:buNone/>
            </a:pPr>
            <a:r>
              <a:rPr lang="en-US" sz="900" dirty="0">
                <a:solidFill>
                  <a:srgbClr val="0D1B2A"/>
                </a:solidFill>
              </a:rPr>
              <a:t>Titulaire d'un CAP Vente et forte d'une expérience de 2 ans en boutique de prêt-à-porter, je vous adresse ma candidature au poste de Vendeuse au sein de votre enseigne.</a:t>
            </a:r>
            <a:endParaRPr lang="en-US" sz="900" dirty="0"/>
          </a:p>
        </p:txBody>
      </p:sp>
      <p:sp>
        <p:nvSpPr>
          <p:cNvPr id="15" name="Text 12"/>
          <p:cNvSpPr/>
          <p:nvPr/>
        </p:nvSpPr>
        <p:spPr>
          <a:xfrm>
            <a:off x="457200" y="2578608"/>
            <a:ext cx="4800600" cy="530352"/>
          </a:xfrm>
          <a:prstGeom prst="rect">
            <a:avLst/>
          </a:prstGeom>
          <a:noFill/>
          <a:ln/>
        </p:spPr>
        <p:txBody>
          <a:bodyPr wrap="square" rtlCol="0" anchor="ctr"/>
          <a:lstStyle/>
          <a:p>
            <a:pPr marL="0" indent="0">
              <a:lnSpc>
                <a:spcPct val="135000"/>
              </a:lnSpc>
              <a:buNone/>
            </a:pPr>
            <a:r>
              <a:rPr lang="en-US" sz="900" dirty="0">
                <a:solidFill>
                  <a:srgbClr val="0D1B2A"/>
                </a:solidFill>
              </a:rPr>
              <a:t>Lors de mon expérience chez Zara (Paris, 2022–2024), j'ai développé un vrai sens du service client, géré l'encaissement et participé aux inventaires. J'ai obtenu le titre de « Meilleure vendeuse du mois » à deux reprises.</a:t>
            </a:r>
            <a:endParaRPr lang="en-US" sz="900" dirty="0"/>
          </a:p>
        </p:txBody>
      </p:sp>
      <p:sp>
        <p:nvSpPr>
          <p:cNvPr id="16" name="Text 13"/>
          <p:cNvSpPr/>
          <p:nvPr/>
        </p:nvSpPr>
        <p:spPr>
          <a:xfrm>
            <a:off x="457200" y="3163824"/>
            <a:ext cx="4800600" cy="320040"/>
          </a:xfrm>
          <a:prstGeom prst="rect">
            <a:avLst/>
          </a:prstGeom>
          <a:noFill/>
          <a:ln/>
        </p:spPr>
        <p:txBody>
          <a:bodyPr wrap="square" rtlCol="0" anchor="ctr"/>
          <a:lstStyle/>
          <a:p>
            <a:pPr marL="0" indent="0">
              <a:lnSpc>
                <a:spcPct val="135000"/>
              </a:lnSpc>
              <a:buNone/>
            </a:pPr>
            <a:r>
              <a:rPr lang="en-US" sz="900" dirty="0">
                <a:solidFill>
                  <a:srgbClr val="0D1B2A"/>
                </a:solidFill>
              </a:rPr>
              <a:t>Votre boutique est reconnue pour la qualité de son accueil et l'authenticité de ses produits. Je souhaite contribuer à cet état d'esprit.</a:t>
            </a:r>
            <a:endParaRPr lang="en-US" sz="900" dirty="0"/>
          </a:p>
        </p:txBody>
      </p:sp>
      <p:sp>
        <p:nvSpPr>
          <p:cNvPr id="17" name="Text 14"/>
          <p:cNvSpPr/>
          <p:nvPr/>
        </p:nvSpPr>
        <p:spPr>
          <a:xfrm>
            <a:off x="457200" y="3538728"/>
            <a:ext cx="4800600" cy="201168"/>
          </a:xfrm>
          <a:prstGeom prst="rect">
            <a:avLst/>
          </a:prstGeom>
          <a:noFill/>
          <a:ln/>
        </p:spPr>
        <p:txBody>
          <a:bodyPr wrap="square" rtlCol="0" anchor="ctr"/>
          <a:lstStyle/>
          <a:p>
            <a:pPr marL="0" indent="0">
              <a:lnSpc>
                <a:spcPct val="135000"/>
              </a:lnSpc>
              <a:buNone/>
            </a:pPr>
            <a:r>
              <a:rPr lang="en-US" sz="900" dirty="0">
                <a:solidFill>
                  <a:srgbClr val="0D1B2A"/>
                </a:solidFill>
              </a:rPr>
              <a:t>Je reste disponible pour un entretien à votre convenance.</a:t>
            </a:r>
            <a:endParaRPr lang="en-US" sz="900" dirty="0"/>
          </a:p>
        </p:txBody>
      </p:sp>
      <p:sp>
        <p:nvSpPr>
          <p:cNvPr id="18" name="Text 15"/>
          <p:cNvSpPr/>
          <p:nvPr/>
        </p:nvSpPr>
        <p:spPr>
          <a:xfrm>
            <a:off x="457200" y="3794760"/>
            <a:ext cx="4800600" cy="228600"/>
          </a:xfrm>
          <a:prstGeom prst="rect">
            <a:avLst/>
          </a:prstGeom>
          <a:noFill/>
          <a:ln/>
        </p:spPr>
        <p:txBody>
          <a:bodyPr wrap="square" rtlCol="0" anchor="ctr"/>
          <a:lstStyle/>
          <a:p>
            <a:pPr marL="0" indent="0">
              <a:lnSpc>
                <a:spcPct val="135000"/>
              </a:lnSpc>
              <a:buNone/>
            </a:pPr>
            <a:r>
              <a:rPr lang="en-US" sz="900" b="1" dirty="0">
                <a:solidFill>
                  <a:srgbClr val="0D1B2A"/>
                </a:solidFill>
              </a:rPr>
              <a:t>Cordialement, Marie Martin</a:t>
            </a:r>
            <a:endParaRPr lang="en-US" sz="900" dirty="0"/>
          </a:p>
        </p:txBody>
      </p:sp>
      <p:sp>
        <p:nvSpPr>
          <p:cNvPr id="19" name="Shape 16"/>
          <p:cNvSpPr/>
          <p:nvPr/>
        </p:nvSpPr>
        <p:spPr>
          <a:xfrm>
            <a:off x="5532120" y="1188720"/>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0" name="Shape 17"/>
          <p:cNvSpPr/>
          <p:nvPr/>
        </p:nvSpPr>
        <p:spPr>
          <a:xfrm>
            <a:off x="5532120" y="1188720"/>
            <a:ext cx="54864" cy="502920"/>
          </a:xfrm>
          <a:prstGeom prst="rect">
            <a:avLst/>
          </a:prstGeom>
          <a:solidFill>
            <a:srgbClr val="10B981"/>
          </a:solidFill>
          <a:ln/>
        </p:spPr>
        <p:txBody>
          <a:bodyPr/>
          <a:lstStyle/>
          <a:p>
            <a:endParaRPr lang="fr-FR"/>
          </a:p>
        </p:txBody>
      </p:sp>
      <p:sp>
        <p:nvSpPr>
          <p:cNvPr id="21" name="Text 18"/>
          <p:cNvSpPr/>
          <p:nvPr/>
        </p:nvSpPr>
        <p:spPr>
          <a:xfrm>
            <a:off x="5650992" y="1225296"/>
            <a:ext cx="3108960" cy="201168"/>
          </a:xfrm>
          <a:prstGeom prst="rect">
            <a:avLst/>
          </a:prstGeom>
          <a:noFill/>
          <a:ln/>
        </p:spPr>
        <p:txBody>
          <a:bodyPr wrap="square" lIns="0" tIns="0" rIns="0" bIns="0" rtlCol="0" anchor="ctr"/>
          <a:lstStyle/>
          <a:p>
            <a:pPr marL="0" indent="0">
              <a:buNone/>
            </a:pPr>
            <a:r>
              <a:rPr lang="en-US" sz="900" b="1" dirty="0">
                <a:solidFill>
                  <a:srgbClr val="10B981"/>
                </a:solidFill>
              </a:rPr>
              <a:t>✅ En-tête pro</a:t>
            </a:r>
            <a:endParaRPr lang="en-US" sz="900" dirty="0"/>
          </a:p>
        </p:txBody>
      </p:sp>
      <p:sp>
        <p:nvSpPr>
          <p:cNvPr id="22" name="Text 19"/>
          <p:cNvSpPr/>
          <p:nvPr/>
        </p:nvSpPr>
        <p:spPr>
          <a:xfrm>
            <a:off x="5650992" y="1435608"/>
            <a:ext cx="3108960" cy="219456"/>
          </a:xfrm>
          <a:prstGeom prst="rect">
            <a:avLst/>
          </a:prstGeom>
          <a:noFill/>
          <a:ln/>
        </p:spPr>
        <p:txBody>
          <a:bodyPr wrap="square" lIns="0" tIns="0" rIns="0" bIns="0" rtlCol="0" anchor="ctr"/>
          <a:lstStyle/>
          <a:p>
            <a:pPr marL="0" indent="0">
              <a:buNone/>
            </a:pPr>
            <a:r>
              <a:rPr lang="en-US" sz="850" dirty="0">
                <a:solidFill>
                  <a:srgbClr val="5A6A7A"/>
                </a:solidFill>
              </a:rPr>
              <a:t>Nom, email, téléphone. Pas d'adresse postale (inutile pour un email).</a:t>
            </a:r>
            <a:endParaRPr lang="en-US" sz="850" dirty="0"/>
          </a:p>
        </p:txBody>
      </p:sp>
      <p:sp>
        <p:nvSpPr>
          <p:cNvPr id="23" name="Shape 20"/>
          <p:cNvSpPr/>
          <p:nvPr/>
        </p:nvSpPr>
        <p:spPr>
          <a:xfrm>
            <a:off x="5532120" y="148132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5532120" y="1481328"/>
            <a:ext cx="54864" cy="502920"/>
          </a:xfrm>
          <a:prstGeom prst="rect">
            <a:avLst/>
          </a:prstGeom>
          <a:solidFill>
            <a:srgbClr val="1565C0"/>
          </a:solidFill>
          <a:ln/>
        </p:spPr>
        <p:txBody>
          <a:bodyPr/>
          <a:lstStyle/>
          <a:p>
            <a:endParaRPr lang="fr-FR"/>
          </a:p>
        </p:txBody>
      </p:sp>
      <p:sp>
        <p:nvSpPr>
          <p:cNvPr id="25" name="Text 22"/>
          <p:cNvSpPr/>
          <p:nvPr/>
        </p:nvSpPr>
        <p:spPr>
          <a:xfrm>
            <a:off x="5650992" y="1517904"/>
            <a:ext cx="3108960" cy="201168"/>
          </a:xfrm>
          <a:prstGeom prst="rect">
            <a:avLst/>
          </a:prstGeom>
          <a:noFill/>
          <a:ln/>
        </p:spPr>
        <p:txBody>
          <a:bodyPr wrap="square" lIns="0" tIns="0" rIns="0" bIns="0" rtlCol="0" anchor="ctr"/>
          <a:lstStyle/>
          <a:p>
            <a:pPr marL="0" indent="0">
              <a:buNone/>
            </a:pPr>
            <a:r>
              <a:rPr lang="en-US" sz="900" b="1" dirty="0">
                <a:solidFill>
                  <a:srgbClr val="1565C0"/>
                </a:solidFill>
              </a:rPr>
              <a:t>✅ Objet clair</a:t>
            </a:r>
            <a:endParaRPr lang="en-US" sz="900" dirty="0"/>
          </a:p>
        </p:txBody>
      </p:sp>
      <p:sp>
        <p:nvSpPr>
          <p:cNvPr id="26" name="Text 23"/>
          <p:cNvSpPr/>
          <p:nvPr/>
        </p:nvSpPr>
        <p:spPr>
          <a:xfrm>
            <a:off x="5650992" y="1728216"/>
            <a:ext cx="3108960" cy="219456"/>
          </a:xfrm>
          <a:prstGeom prst="rect">
            <a:avLst/>
          </a:prstGeom>
          <a:noFill/>
          <a:ln/>
        </p:spPr>
        <p:txBody>
          <a:bodyPr wrap="square" lIns="0" tIns="0" rIns="0" bIns="0" rtlCol="0" anchor="ctr"/>
          <a:lstStyle/>
          <a:p>
            <a:pPr marL="0" indent="0">
              <a:buNone/>
            </a:pPr>
            <a:r>
              <a:rPr lang="en-US" sz="850" dirty="0">
                <a:solidFill>
                  <a:srgbClr val="5A6A7A"/>
                </a:solidFill>
              </a:rPr>
              <a:t>Mentionnez le poste + la référence de l'offre si elle en a une.</a:t>
            </a:r>
            <a:endParaRPr lang="en-US" sz="850" dirty="0"/>
          </a:p>
        </p:txBody>
      </p:sp>
      <p:sp>
        <p:nvSpPr>
          <p:cNvPr id="27" name="Shape 24"/>
          <p:cNvSpPr/>
          <p:nvPr/>
        </p:nvSpPr>
        <p:spPr>
          <a:xfrm>
            <a:off x="5532120" y="1965960"/>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8" name="Shape 25"/>
          <p:cNvSpPr/>
          <p:nvPr/>
        </p:nvSpPr>
        <p:spPr>
          <a:xfrm>
            <a:off x="5532120" y="1965960"/>
            <a:ext cx="54864" cy="502920"/>
          </a:xfrm>
          <a:prstGeom prst="rect">
            <a:avLst/>
          </a:prstGeom>
          <a:solidFill>
            <a:srgbClr val="00796B"/>
          </a:solidFill>
          <a:ln/>
        </p:spPr>
        <p:txBody>
          <a:bodyPr/>
          <a:lstStyle/>
          <a:p>
            <a:endParaRPr lang="fr-FR"/>
          </a:p>
        </p:txBody>
      </p:sp>
      <p:sp>
        <p:nvSpPr>
          <p:cNvPr id="29" name="Text 26"/>
          <p:cNvSpPr/>
          <p:nvPr/>
        </p:nvSpPr>
        <p:spPr>
          <a:xfrm>
            <a:off x="5650992" y="2002536"/>
            <a:ext cx="3108960" cy="201168"/>
          </a:xfrm>
          <a:prstGeom prst="rect">
            <a:avLst/>
          </a:prstGeom>
          <a:noFill/>
          <a:ln/>
        </p:spPr>
        <p:txBody>
          <a:bodyPr wrap="square" lIns="0" tIns="0" rIns="0" bIns="0" rtlCol="0" anchor="ctr"/>
          <a:lstStyle/>
          <a:p>
            <a:pPr marL="0" indent="0">
              <a:buNone/>
            </a:pPr>
            <a:r>
              <a:rPr lang="en-US" sz="900" b="1" dirty="0">
                <a:solidFill>
                  <a:srgbClr val="00796B"/>
                </a:solidFill>
              </a:rPr>
              <a:t>✅ Paragraphe 1 : Qui je suis</a:t>
            </a:r>
            <a:endParaRPr lang="en-US" sz="900" dirty="0"/>
          </a:p>
        </p:txBody>
      </p:sp>
      <p:sp>
        <p:nvSpPr>
          <p:cNvPr id="30" name="Text 27"/>
          <p:cNvSpPr/>
          <p:nvPr/>
        </p:nvSpPr>
        <p:spPr>
          <a:xfrm>
            <a:off x="5650992" y="2212848"/>
            <a:ext cx="3108960" cy="219456"/>
          </a:xfrm>
          <a:prstGeom prst="rect">
            <a:avLst/>
          </a:prstGeom>
          <a:noFill/>
          <a:ln/>
        </p:spPr>
        <p:txBody>
          <a:bodyPr wrap="square" lIns="0" tIns="0" rIns="0" bIns="0" rtlCol="0" anchor="ctr"/>
          <a:lstStyle/>
          <a:p>
            <a:pPr marL="0" indent="0">
              <a:buNone/>
            </a:pPr>
            <a:r>
              <a:rPr lang="en-US" sz="850" dirty="0">
                <a:solidFill>
                  <a:srgbClr val="5A6A7A"/>
                </a:solidFill>
              </a:rPr>
              <a:t>Diplôme + expérience résumés en 1–2 phrases max.</a:t>
            </a:r>
            <a:endParaRPr lang="en-US" sz="850" dirty="0"/>
          </a:p>
        </p:txBody>
      </p:sp>
      <p:sp>
        <p:nvSpPr>
          <p:cNvPr id="31" name="Shape 28"/>
          <p:cNvSpPr/>
          <p:nvPr/>
        </p:nvSpPr>
        <p:spPr>
          <a:xfrm>
            <a:off x="5532120" y="248716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32" name="Shape 29"/>
          <p:cNvSpPr/>
          <p:nvPr/>
        </p:nvSpPr>
        <p:spPr>
          <a:xfrm>
            <a:off x="5532120" y="2487168"/>
            <a:ext cx="54864" cy="502920"/>
          </a:xfrm>
          <a:prstGeom prst="rect">
            <a:avLst/>
          </a:prstGeom>
          <a:solidFill>
            <a:srgbClr val="6A3FA0"/>
          </a:solidFill>
          <a:ln/>
        </p:spPr>
        <p:txBody>
          <a:bodyPr/>
          <a:lstStyle/>
          <a:p>
            <a:endParaRPr lang="fr-FR"/>
          </a:p>
        </p:txBody>
      </p:sp>
      <p:sp>
        <p:nvSpPr>
          <p:cNvPr id="33" name="Text 30"/>
          <p:cNvSpPr/>
          <p:nvPr/>
        </p:nvSpPr>
        <p:spPr>
          <a:xfrm>
            <a:off x="5650992" y="2523744"/>
            <a:ext cx="3108960" cy="201168"/>
          </a:xfrm>
          <a:prstGeom prst="rect">
            <a:avLst/>
          </a:prstGeom>
          <a:noFill/>
          <a:ln/>
        </p:spPr>
        <p:txBody>
          <a:bodyPr wrap="square" lIns="0" tIns="0" rIns="0" bIns="0" rtlCol="0" anchor="ctr"/>
          <a:lstStyle/>
          <a:p>
            <a:pPr marL="0" indent="0">
              <a:buNone/>
            </a:pPr>
            <a:r>
              <a:rPr lang="en-US" sz="900" b="1" dirty="0">
                <a:solidFill>
                  <a:srgbClr val="6A3FA0"/>
                </a:solidFill>
              </a:rPr>
              <a:t>✅ Paragraphe 2 : Ce que j'ai fait</a:t>
            </a:r>
            <a:endParaRPr lang="en-US" sz="900" dirty="0"/>
          </a:p>
        </p:txBody>
      </p:sp>
      <p:sp>
        <p:nvSpPr>
          <p:cNvPr id="34" name="Text 31"/>
          <p:cNvSpPr/>
          <p:nvPr/>
        </p:nvSpPr>
        <p:spPr>
          <a:xfrm>
            <a:off x="5650992" y="2734056"/>
            <a:ext cx="3108960" cy="219456"/>
          </a:xfrm>
          <a:prstGeom prst="rect">
            <a:avLst/>
          </a:prstGeom>
          <a:noFill/>
          <a:ln/>
        </p:spPr>
        <p:txBody>
          <a:bodyPr wrap="square" lIns="0" tIns="0" rIns="0" bIns="0" rtlCol="0" anchor="ctr"/>
          <a:lstStyle/>
          <a:p>
            <a:pPr marL="0" indent="0">
              <a:buNone/>
            </a:pPr>
            <a:r>
              <a:rPr lang="en-US" sz="850" dirty="0">
                <a:solidFill>
                  <a:srgbClr val="5A6A7A"/>
                </a:solidFill>
              </a:rPr>
              <a:t>Expériences concrètes avec PREUVES (titre, chiffres, faits).</a:t>
            </a:r>
            <a:endParaRPr lang="en-US" sz="850" dirty="0"/>
          </a:p>
        </p:txBody>
      </p:sp>
      <p:sp>
        <p:nvSpPr>
          <p:cNvPr id="35" name="Shape 32"/>
          <p:cNvSpPr/>
          <p:nvPr/>
        </p:nvSpPr>
        <p:spPr>
          <a:xfrm>
            <a:off x="5532120" y="312724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36" name="Shape 33"/>
          <p:cNvSpPr/>
          <p:nvPr/>
        </p:nvSpPr>
        <p:spPr>
          <a:xfrm>
            <a:off x="5532120" y="3127248"/>
            <a:ext cx="54864" cy="502920"/>
          </a:xfrm>
          <a:prstGeom prst="rect">
            <a:avLst/>
          </a:prstGeom>
          <a:solidFill>
            <a:srgbClr val="F59E0B"/>
          </a:solidFill>
          <a:ln/>
        </p:spPr>
        <p:txBody>
          <a:bodyPr/>
          <a:lstStyle/>
          <a:p>
            <a:endParaRPr lang="fr-FR"/>
          </a:p>
        </p:txBody>
      </p:sp>
      <p:sp>
        <p:nvSpPr>
          <p:cNvPr id="37" name="Text 34"/>
          <p:cNvSpPr/>
          <p:nvPr/>
        </p:nvSpPr>
        <p:spPr>
          <a:xfrm>
            <a:off x="5650992" y="3163824"/>
            <a:ext cx="3108960" cy="201168"/>
          </a:xfrm>
          <a:prstGeom prst="rect">
            <a:avLst/>
          </a:prstGeom>
          <a:noFill/>
          <a:ln/>
        </p:spPr>
        <p:txBody>
          <a:bodyPr wrap="square" lIns="0" tIns="0" rIns="0" bIns="0" rtlCol="0" anchor="ctr"/>
          <a:lstStyle/>
          <a:p>
            <a:pPr marL="0" indent="0">
              <a:buNone/>
            </a:pPr>
            <a:r>
              <a:rPr lang="en-US" sz="900" b="1" dirty="0">
                <a:solidFill>
                  <a:srgbClr val="F59E0B"/>
                </a:solidFill>
              </a:rPr>
              <a:t>✅ Paragraphe 3 : Pourquoi eux</a:t>
            </a:r>
            <a:endParaRPr lang="en-US" sz="900" dirty="0"/>
          </a:p>
        </p:txBody>
      </p:sp>
      <p:sp>
        <p:nvSpPr>
          <p:cNvPr id="38" name="Text 35"/>
          <p:cNvSpPr/>
          <p:nvPr/>
        </p:nvSpPr>
        <p:spPr>
          <a:xfrm>
            <a:off x="5650992" y="3374136"/>
            <a:ext cx="3108960" cy="219456"/>
          </a:xfrm>
          <a:prstGeom prst="rect">
            <a:avLst/>
          </a:prstGeom>
          <a:noFill/>
          <a:ln/>
        </p:spPr>
        <p:txBody>
          <a:bodyPr wrap="square" lIns="0" tIns="0" rIns="0" bIns="0" rtlCol="0" anchor="ctr"/>
          <a:lstStyle/>
          <a:p>
            <a:pPr marL="0" indent="0">
              <a:buNone/>
            </a:pPr>
            <a:r>
              <a:rPr lang="en-US" sz="850" dirty="0">
                <a:solidFill>
                  <a:srgbClr val="5A6A7A"/>
                </a:solidFill>
              </a:rPr>
              <a:t>Montrez que vous connaissez l'entreprise. 1–2 phrases suffisent.</a:t>
            </a:r>
            <a:endParaRPr lang="en-US" sz="850" dirty="0"/>
          </a:p>
        </p:txBody>
      </p:sp>
      <p:sp>
        <p:nvSpPr>
          <p:cNvPr id="39" name="Shape 36"/>
          <p:cNvSpPr/>
          <p:nvPr/>
        </p:nvSpPr>
        <p:spPr>
          <a:xfrm>
            <a:off x="5532120" y="3547872"/>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40" name="Shape 37"/>
          <p:cNvSpPr/>
          <p:nvPr/>
        </p:nvSpPr>
        <p:spPr>
          <a:xfrm>
            <a:off x="5532120" y="3547872"/>
            <a:ext cx="54864" cy="502920"/>
          </a:xfrm>
          <a:prstGeom prst="rect">
            <a:avLst/>
          </a:prstGeom>
          <a:solidFill>
            <a:srgbClr val="EF5350"/>
          </a:solidFill>
          <a:ln/>
        </p:spPr>
        <p:txBody>
          <a:bodyPr/>
          <a:lstStyle/>
          <a:p>
            <a:endParaRPr lang="fr-FR"/>
          </a:p>
        </p:txBody>
      </p:sp>
      <p:sp>
        <p:nvSpPr>
          <p:cNvPr id="41" name="Text 38"/>
          <p:cNvSpPr/>
          <p:nvPr/>
        </p:nvSpPr>
        <p:spPr>
          <a:xfrm>
            <a:off x="5650992" y="3584448"/>
            <a:ext cx="3108960" cy="201168"/>
          </a:xfrm>
          <a:prstGeom prst="rect">
            <a:avLst/>
          </a:prstGeom>
          <a:noFill/>
          <a:ln/>
        </p:spPr>
        <p:txBody>
          <a:bodyPr wrap="square" lIns="0" tIns="0" rIns="0" bIns="0" rtlCol="0" anchor="ctr"/>
          <a:lstStyle/>
          <a:p>
            <a:pPr marL="0" indent="0">
              <a:buNone/>
            </a:pPr>
            <a:r>
              <a:rPr lang="en-US" sz="900" b="1" dirty="0">
                <a:solidFill>
                  <a:srgbClr val="EF5350"/>
                </a:solidFill>
              </a:rPr>
              <a:t>✅ Conclusion + dispo</a:t>
            </a:r>
            <a:endParaRPr lang="en-US" sz="900" dirty="0"/>
          </a:p>
        </p:txBody>
      </p:sp>
      <p:sp>
        <p:nvSpPr>
          <p:cNvPr id="42" name="Text 39"/>
          <p:cNvSpPr/>
          <p:nvPr/>
        </p:nvSpPr>
        <p:spPr>
          <a:xfrm>
            <a:off x="5650992" y="3794760"/>
            <a:ext cx="3108960" cy="219456"/>
          </a:xfrm>
          <a:prstGeom prst="rect">
            <a:avLst/>
          </a:prstGeom>
          <a:noFill/>
          <a:ln/>
        </p:spPr>
        <p:txBody>
          <a:bodyPr wrap="square" lIns="0" tIns="0" rIns="0" bIns="0" rtlCol="0" anchor="ctr"/>
          <a:lstStyle/>
          <a:p>
            <a:pPr marL="0" indent="0">
              <a:buNone/>
            </a:pPr>
            <a:r>
              <a:rPr lang="en-US" sz="850" dirty="0">
                <a:solidFill>
                  <a:srgbClr val="5A6A7A"/>
                </a:solidFill>
              </a:rPr>
              <a:t>Proposez un entretien. Restez concis.</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spontane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A3FA0"/>
          </a:solidFill>
          <a:ln/>
        </p:spPr>
        <p:txBody>
          <a:bodyPr/>
          <a:lstStyle/>
          <a:p>
            <a:endParaRPr lang="fr-FR"/>
          </a:p>
        </p:txBody>
      </p:sp>
      <p:pic>
        <p:nvPicPr>
          <p:cNvPr id="3" name="Image 0" descr="preencoded.png"/>
          <p:cNvPicPr>
            <a:picLocks noChangeAspect="1"/>
          </p:cNvPicPr>
          <p:nvPr/>
        </p:nvPicPr>
        <p:blipFill>
          <a:blip r:embed="rId2"/>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16</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Exemple de lettre de candidature spontanée</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Quand l'entreprise n'a publié aucune offre</a:t>
            </a:r>
            <a:endParaRPr lang="en-US" sz="900" dirty="0"/>
          </a:p>
        </p:txBody>
      </p:sp>
      <p:sp>
        <p:nvSpPr>
          <p:cNvPr id="7" name="Shape 4"/>
          <p:cNvSpPr/>
          <p:nvPr/>
        </p:nvSpPr>
        <p:spPr>
          <a:xfrm>
            <a:off x="320040" y="960120"/>
            <a:ext cx="5074920" cy="402336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Text 5"/>
          <p:cNvSpPr/>
          <p:nvPr/>
        </p:nvSpPr>
        <p:spPr>
          <a:xfrm>
            <a:off x="457200" y="1005840"/>
            <a:ext cx="1828800" cy="201168"/>
          </a:xfrm>
          <a:prstGeom prst="rect">
            <a:avLst/>
          </a:prstGeom>
          <a:noFill/>
          <a:ln/>
        </p:spPr>
        <p:txBody>
          <a:bodyPr wrap="square" rtlCol="0" anchor="ctr"/>
          <a:lstStyle/>
          <a:p>
            <a:pPr marL="0" indent="0">
              <a:buNone/>
            </a:pPr>
            <a:r>
              <a:rPr lang="en-US" sz="800" b="1" dirty="0">
                <a:solidFill>
                  <a:srgbClr val="5A6A7A"/>
                </a:solidFill>
              </a:rPr>
              <a:t>Expéditeur :</a:t>
            </a:r>
            <a:endParaRPr lang="en-US" sz="800" dirty="0"/>
          </a:p>
        </p:txBody>
      </p:sp>
      <p:sp>
        <p:nvSpPr>
          <p:cNvPr id="9" name="Text 6"/>
          <p:cNvSpPr/>
          <p:nvPr/>
        </p:nvSpPr>
        <p:spPr>
          <a:xfrm>
            <a:off x="457200" y="1188720"/>
            <a:ext cx="4754880" cy="201168"/>
          </a:xfrm>
          <a:prstGeom prst="rect">
            <a:avLst/>
          </a:prstGeom>
          <a:noFill/>
          <a:ln/>
        </p:spPr>
        <p:txBody>
          <a:bodyPr wrap="square" rtlCol="0" anchor="ctr"/>
          <a:lstStyle/>
          <a:p>
            <a:pPr marL="0" indent="0">
              <a:buNone/>
            </a:pPr>
            <a:r>
              <a:rPr lang="en-US" sz="850" dirty="0">
                <a:solidFill>
                  <a:srgbClr val="0D1B2A"/>
                </a:solidFill>
              </a:rPr>
              <a:t>Thomas Garnier — thomas.garnier@gmail.com — 06 23 45 67 89</a:t>
            </a:r>
            <a:endParaRPr lang="en-US" sz="850" dirty="0"/>
          </a:p>
        </p:txBody>
      </p:sp>
      <p:sp>
        <p:nvSpPr>
          <p:cNvPr id="10" name="Shape 7"/>
          <p:cNvSpPr/>
          <p:nvPr/>
        </p:nvSpPr>
        <p:spPr>
          <a:xfrm>
            <a:off x="457200" y="1435608"/>
            <a:ext cx="4754880" cy="0"/>
          </a:xfrm>
          <a:prstGeom prst="line">
            <a:avLst/>
          </a:prstGeom>
          <a:noFill/>
          <a:ln w="6350">
            <a:solidFill>
              <a:srgbClr val="E2EAF4"/>
            </a:solidFill>
            <a:prstDash val="solid"/>
          </a:ln>
        </p:spPr>
        <p:txBody>
          <a:bodyPr/>
          <a:lstStyle/>
          <a:p>
            <a:endParaRPr lang="fr-FR"/>
          </a:p>
        </p:txBody>
      </p:sp>
      <p:sp>
        <p:nvSpPr>
          <p:cNvPr id="11" name="Text 8"/>
          <p:cNvSpPr/>
          <p:nvPr/>
        </p:nvSpPr>
        <p:spPr>
          <a:xfrm>
            <a:off x="457200" y="1481328"/>
            <a:ext cx="4754880" cy="228600"/>
          </a:xfrm>
          <a:prstGeom prst="rect">
            <a:avLst/>
          </a:prstGeom>
          <a:noFill/>
          <a:ln/>
        </p:spPr>
        <p:txBody>
          <a:bodyPr wrap="square" rtlCol="0" anchor="ctr"/>
          <a:lstStyle/>
          <a:p>
            <a:pPr marL="0" indent="0">
              <a:buNone/>
            </a:pPr>
            <a:r>
              <a:rPr lang="en-US" sz="950" b="1" dirty="0">
                <a:solidFill>
                  <a:srgbClr val="0B1F3A"/>
                </a:solidFill>
              </a:rPr>
              <a:t>Objet : Candidature spontanée — Poste de Magasinier</a:t>
            </a:r>
            <a:endParaRPr lang="en-US" sz="950" dirty="0"/>
          </a:p>
        </p:txBody>
      </p:sp>
      <p:sp>
        <p:nvSpPr>
          <p:cNvPr id="12" name="Shape 9"/>
          <p:cNvSpPr/>
          <p:nvPr/>
        </p:nvSpPr>
        <p:spPr>
          <a:xfrm>
            <a:off x="457200" y="1755648"/>
            <a:ext cx="4754880" cy="0"/>
          </a:xfrm>
          <a:prstGeom prst="line">
            <a:avLst/>
          </a:prstGeom>
          <a:noFill/>
          <a:ln w="6350">
            <a:solidFill>
              <a:srgbClr val="E2EAF4"/>
            </a:solidFill>
            <a:prstDash val="solid"/>
          </a:ln>
        </p:spPr>
        <p:txBody>
          <a:bodyPr/>
          <a:lstStyle/>
          <a:p>
            <a:endParaRPr lang="fr-FR"/>
          </a:p>
        </p:txBody>
      </p:sp>
      <p:sp>
        <p:nvSpPr>
          <p:cNvPr id="13" name="Text 10"/>
          <p:cNvSpPr/>
          <p:nvPr/>
        </p:nvSpPr>
        <p:spPr>
          <a:xfrm>
            <a:off x="457200" y="1828800"/>
            <a:ext cx="4800600" cy="201168"/>
          </a:xfrm>
          <a:prstGeom prst="rect">
            <a:avLst/>
          </a:prstGeom>
          <a:noFill/>
          <a:ln/>
        </p:spPr>
        <p:txBody>
          <a:bodyPr wrap="square" rtlCol="0" anchor="ctr"/>
          <a:lstStyle/>
          <a:p>
            <a:pPr marL="0" indent="0">
              <a:lnSpc>
                <a:spcPct val="135000"/>
              </a:lnSpc>
              <a:buNone/>
            </a:pPr>
            <a:r>
              <a:rPr lang="en-US" sz="900" b="1" dirty="0">
                <a:solidFill>
                  <a:srgbClr val="0D1B2A"/>
                </a:solidFill>
              </a:rPr>
              <a:t>Madame, Monsieur,</a:t>
            </a:r>
            <a:endParaRPr lang="en-US" sz="900" dirty="0"/>
          </a:p>
        </p:txBody>
      </p:sp>
      <p:sp>
        <p:nvSpPr>
          <p:cNvPr id="14" name="Text 11"/>
          <p:cNvSpPr/>
          <p:nvPr/>
        </p:nvSpPr>
        <p:spPr>
          <a:xfrm>
            <a:off x="457200" y="2084832"/>
            <a:ext cx="4800600" cy="438912"/>
          </a:xfrm>
          <a:prstGeom prst="rect">
            <a:avLst/>
          </a:prstGeom>
          <a:noFill/>
          <a:ln/>
        </p:spPr>
        <p:txBody>
          <a:bodyPr wrap="square" rtlCol="0" anchor="ctr"/>
          <a:lstStyle/>
          <a:p>
            <a:pPr marL="0" indent="0">
              <a:lnSpc>
                <a:spcPct val="135000"/>
              </a:lnSpc>
              <a:buNone/>
            </a:pPr>
            <a:r>
              <a:rPr lang="en-US" sz="900" dirty="0">
                <a:solidFill>
                  <a:srgbClr val="0D1B2A"/>
                </a:solidFill>
              </a:rPr>
              <a:t>Actuellement à la recherche d'un poste de magasinier-préparateur, je me permets de vous adresser ma candidature spontanée, bien que vous n'ayez pas publié d'offre.</a:t>
            </a:r>
            <a:endParaRPr lang="en-US" sz="900" dirty="0"/>
          </a:p>
        </p:txBody>
      </p:sp>
      <p:sp>
        <p:nvSpPr>
          <p:cNvPr id="15" name="Text 12"/>
          <p:cNvSpPr/>
          <p:nvPr/>
        </p:nvSpPr>
        <p:spPr>
          <a:xfrm>
            <a:off x="457200" y="2578608"/>
            <a:ext cx="4800600" cy="530352"/>
          </a:xfrm>
          <a:prstGeom prst="rect">
            <a:avLst/>
          </a:prstGeom>
          <a:noFill/>
          <a:ln/>
        </p:spPr>
        <p:txBody>
          <a:bodyPr wrap="square" rtlCol="0" anchor="ctr"/>
          <a:lstStyle/>
          <a:p>
            <a:pPr marL="0" indent="0">
              <a:lnSpc>
                <a:spcPct val="135000"/>
              </a:lnSpc>
              <a:buNone/>
            </a:pPr>
            <a:r>
              <a:rPr lang="en-US" sz="900" dirty="0">
                <a:solidFill>
                  <a:srgbClr val="0D1B2A"/>
                </a:solidFill>
              </a:rPr>
              <a:t>Fort de 3 ans d'expérience en préparation de commandes et titulaire des CACES 1, 3 et 5, je maîtrise la gestion des stocks, le picking et l'utilisation du scanner d'inventaire.</a:t>
            </a:r>
            <a:endParaRPr lang="en-US" sz="900" dirty="0"/>
          </a:p>
        </p:txBody>
      </p:sp>
      <p:sp>
        <p:nvSpPr>
          <p:cNvPr id="16" name="Text 13"/>
          <p:cNvSpPr/>
          <p:nvPr/>
        </p:nvSpPr>
        <p:spPr>
          <a:xfrm>
            <a:off x="457200" y="3163824"/>
            <a:ext cx="4800600" cy="320040"/>
          </a:xfrm>
          <a:prstGeom prst="rect">
            <a:avLst/>
          </a:prstGeom>
          <a:noFill/>
          <a:ln/>
        </p:spPr>
        <p:txBody>
          <a:bodyPr wrap="square" rtlCol="0" anchor="ctr"/>
          <a:lstStyle/>
          <a:p>
            <a:pPr marL="0" indent="0">
              <a:lnSpc>
                <a:spcPct val="135000"/>
              </a:lnSpc>
              <a:buNone/>
            </a:pPr>
            <a:r>
              <a:rPr lang="en-US" sz="900" dirty="0">
                <a:solidFill>
                  <a:srgbClr val="0D1B2A"/>
                </a:solidFill>
              </a:rPr>
              <a:t>Votre entreprise, reconnue dans la logistique régionale, m'attire par son sérieux et sa proximité. Je serais fier d'intégrer vos équipes.</a:t>
            </a:r>
            <a:endParaRPr lang="en-US" sz="900" dirty="0"/>
          </a:p>
        </p:txBody>
      </p:sp>
      <p:sp>
        <p:nvSpPr>
          <p:cNvPr id="17" name="Text 14"/>
          <p:cNvSpPr/>
          <p:nvPr/>
        </p:nvSpPr>
        <p:spPr>
          <a:xfrm>
            <a:off x="457200" y="3538728"/>
            <a:ext cx="4800600" cy="201168"/>
          </a:xfrm>
          <a:prstGeom prst="rect">
            <a:avLst/>
          </a:prstGeom>
          <a:noFill/>
          <a:ln/>
        </p:spPr>
        <p:txBody>
          <a:bodyPr wrap="square" rtlCol="0" anchor="ctr"/>
          <a:lstStyle/>
          <a:p>
            <a:pPr marL="0" indent="0">
              <a:lnSpc>
                <a:spcPct val="135000"/>
              </a:lnSpc>
              <a:buNone/>
            </a:pPr>
            <a:r>
              <a:rPr lang="en-US" sz="900" dirty="0">
                <a:solidFill>
                  <a:srgbClr val="0D1B2A"/>
                </a:solidFill>
              </a:rPr>
              <a:t>Je me tiens à votre disposition pour un entretien à votre convenance.</a:t>
            </a:r>
            <a:endParaRPr lang="en-US" sz="900" dirty="0"/>
          </a:p>
        </p:txBody>
      </p:sp>
      <p:sp>
        <p:nvSpPr>
          <p:cNvPr id="18" name="Text 15"/>
          <p:cNvSpPr/>
          <p:nvPr/>
        </p:nvSpPr>
        <p:spPr>
          <a:xfrm>
            <a:off x="457200" y="3794760"/>
            <a:ext cx="4800600" cy="228600"/>
          </a:xfrm>
          <a:prstGeom prst="rect">
            <a:avLst/>
          </a:prstGeom>
          <a:noFill/>
          <a:ln/>
        </p:spPr>
        <p:txBody>
          <a:bodyPr wrap="square" rtlCol="0" anchor="ctr"/>
          <a:lstStyle/>
          <a:p>
            <a:pPr marL="0" indent="0">
              <a:lnSpc>
                <a:spcPct val="135000"/>
              </a:lnSpc>
              <a:buNone/>
            </a:pPr>
            <a:r>
              <a:rPr lang="en-US" sz="900" b="1" dirty="0">
                <a:solidFill>
                  <a:srgbClr val="0D1B2A"/>
                </a:solidFill>
              </a:rPr>
              <a:t>Cordialement, Thomas Garnier</a:t>
            </a:r>
            <a:endParaRPr lang="en-US" sz="900" dirty="0"/>
          </a:p>
        </p:txBody>
      </p:sp>
      <p:sp>
        <p:nvSpPr>
          <p:cNvPr id="19" name="Shape 16"/>
          <p:cNvSpPr/>
          <p:nvPr/>
        </p:nvSpPr>
        <p:spPr>
          <a:xfrm>
            <a:off x="5532120" y="1188720"/>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0" name="Shape 17"/>
          <p:cNvSpPr/>
          <p:nvPr/>
        </p:nvSpPr>
        <p:spPr>
          <a:xfrm>
            <a:off x="5532120" y="1188720"/>
            <a:ext cx="54864" cy="502920"/>
          </a:xfrm>
          <a:prstGeom prst="rect">
            <a:avLst/>
          </a:prstGeom>
          <a:solidFill>
            <a:srgbClr val="10B981"/>
          </a:solidFill>
          <a:ln/>
        </p:spPr>
        <p:txBody>
          <a:bodyPr/>
          <a:lstStyle/>
          <a:p>
            <a:endParaRPr lang="fr-FR"/>
          </a:p>
        </p:txBody>
      </p:sp>
      <p:sp>
        <p:nvSpPr>
          <p:cNvPr id="21" name="Text 18"/>
          <p:cNvSpPr/>
          <p:nvPr/>
        </p:nvSpPr>
        <p:spPr>
          <a:xfrm>
            <a:off x="5650992" y="1225296"/>
            <a:ext cx="3108960" cy="201168"/>
          </a:xfrm>
          <a:prstGeom prst="rect">
            <a:avLst/>
          </a:prstGeom>
          <a:noFill/>
          <a:ln/>
        </p:spPr>
        <p:txBody>
          <a:bodyPr wrap="square" lIns="0" tIns="0" rIns="0" bIns="0" rtlCol="0" anchor="ctr"/>
          <a:lstStyle/>
          <a:p>
            <a:pPr marL="0" indent="0">
              <a:buNone/>
            </a:pPr>
            <a:r>
              <a:rPr lang="en-US" sz="900" b="1" dirty="0">
                <a:solidFill>
                  <a:srgbClr val="10B981"/>
                </a:solidFill>
              </a:rPr>
              <a:t>✅ En-tête pro</a:t>
            </a:r>
            <a:endParaRPr lang="en-US" sz="900" dirty="0"/>
          </a:p>
        </p:txBody>
      </p:sp>
      <p:sp>
        <p:nvSpPr>
          <p:cNvPr id="22" name="Text 19"/>
          <p:cNvSpPr/>
          <p:nvPr/>
        </p:nvSpPr>
        <p:spPr>
          <a:xfrm>
            <a:off x="5650992" y="1435608"/>
            <a:ext cx="3108960" cy="219456"/>
          </a:xfrm>
          <a:prstGeom prst="rect">
            <a:avLst/>
          </a:prstGeom>
          <a:noFill/>
          <a:ln/>
        </p:spPr>
        <p:txBody>
          <a:bodyPr wrap="square" lIns="0" tIns="0" rIns="0" bIns="0" rtlCol="0" anchor="ctr"/>
          <a:lstStyle/>
          <a:p>
            <a:pPr marL="0" indent="0">
              <a:buNone/>
            </a:pPr>
            <a:r>
              <a:rPr lang="en-US" sz="850" dirty="0">
                <a:solidFill>
                  <a:srgbClr val="5A6A7A"/>
                </a:solidFill>
              </a:rPr>
              <a:t>Nom, email, téléphone — comme pour toute candidature.</a:t>
            </a:r>
            <a:endParaRPr lang="en-US" sz="850" dirty="0"/>
          </a:p>
        </p:txBody>
      </p:sp>
      <p:sp>
        <p:nvSpPr>
          <p:cNvPr id="23" name="Shape 20"/>
          <p:cNvSpPr/>
          <p:nvPr/>
        </p:nvSpPr>
        <p:spPr>
          <a:xfrm>
            <a:off x="5532120" y="148132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5532120" y="1481328"/>
            <a:ext cx="54864" cy="502920"/>
          </a:xfrm>
          <a:prstGeom prst="rect">
            <a:avLst/>
          </a:prstGeom>
          <a:solidFill>
            <a:srgbClr val="1565C0"/>
          </a:solidFill>
          <a:ln/>
        </p:spPr>
        <p:txBody>
          <a:bodyPr/>
          <a:lstStyle/>
          <a:p>
            <a:endParaRPr lang="fr-FR"/>
          </a:p>
        </p:txBody>
      </p:sp>
      <p:sp>
        <p:nvSpPr>
          <p:cNvPr id="25" name="Text 22"/>
          <p:cNvSpPr/>
          <p:nvPr/>
        </p:nvSpPr>
        <p:spPr>
          <a:xfrm>
            <a:off x="5650992" y="1517904"/>
            <a:ext cx="3108960" cy="201168"/>
          </a:xfrm>
          <a:prstGeom prst="rect">
            <a:avLst/>
          </a:prstGeom>
          <a:noFill/>
          <a:ln/>
        </p:spPr>
        <p:txBody>
          <a:bodyPr wrap="square" lIns="0" tIns="0" rIns="0" bIns="0" rtlCol="0" anchor="ctr"/>
          <a:lstStyle/>
          <a:p>
            <a:pPr marL="0" indent="0">
              <a:buNone/>
            </a:pPr>
            <a:r>
              <a:rPr lang="en-US" sz="900" b="1" dirty="0">
                <a:solidFill>
                  <a:srgbClr val="1565C0"/>
                </a:solidFill>
              </a:rPr>
              <a:t>✅ Objet : « spontanée »</a:t>
            </a:r>
            <a:endParaRPr lang="en-US" sz="900" dirty="0"/>
          </a:p>
        </p:txBody>
      </p:sp>
      <p:sp>
        <p:nvSpPr>
          <p:cNvPr id="26" name="Text 23"/>
          <p:cNvSpPr/>
          <p:nvPr/>
        </p:nvSpPr>
        <p:spPr>
          <a:xfrm>
            <a:off x="5650992" y="1728216"/>
            <a:ext cx="3108960" cy="219456"/>
          </a:xfrm>
          <a:prstGeom prst="rect">
            <a:avLst/>
          </a:prstGeom>
          <a:noFill/>
          <a:ln/>
        </p:spPr>
        <p:txBody>
          <a:bodyPr wrap="square" lIns="0" tIns="0" rIns="0" bIns="0" rtlCol="0" anchor="ctr"/>
          <a:lstStyle/>
          <a:p>
            <a:pPr marL="0" indent="0">
              <a:buNone/>
            </a:pPr>
            <a:r>
              <a:rPr lang="en-US" sz="850" dirty="0">
                <a:solidFill>
                  <a:srgbClr val="5A6A7A"/>
                </a:solidFill>
              </a:rPr>
              <a:t>Pas de réf. d'offre : écrivez « spontanée » + le poste visé.</a:t>
            </a:r>
            <a:endParaRPr lang="en-US" sz="850" dirty="0"/>
          </a:p>
        </p:txBody>
      </p:sp>
      <p:sp>
        <p:nvSpPr>
          <p:cNvPr id="27" name="Shape 24"/>
          <p:cNvSpPr/>
          <p:nvPr/>
        </p:nvSpPr>
        <p:spPr>
          <a:xfrm>
            <a:off x="5532120" y="1965960"/>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8" name="Shape 25"/>
          <p:cNvSpPr/>
          <p:nvPr/>
        </p:nvSpPr>
        <p:spPr>
          <a:xfrm>
            <a:off x="5532120" y="1965960"/>
            <a:ext cx="54864" cy="502920"/>
          </a:xfrm>
          <a:prstGeom prst="rect">
            <a:avLst/>
          </a:prstGeom>
          <a:solidFill>
            <a:srgbClr val="00796B"/>
          </a:solidFill>
          <a:ln/>
        </p:spPr>
        <p:txBody>
          <a:bodyPr/>
          <a:lstStyle/>
          <a:p>
            <a:endParaRPr lang="fr-FR"/>
          </a:p>
        </p:txBody>
      </p:sp>
      <p:sp>
        <p:nvSpPr>
          <p:cNvPr id="29" name="Text 26"/>
          <p:cNvSpPr/>
          <p:nvPr/>
        </p:nvSpPr>
        <p:spPr>
          <a:xfrm>
            <a:off x="5650992" y="2002536"/>
            <a:ext cx="3108960" cy="201168"/>
          </a:xfrm>
          <a:prstGeom prst="rect">
            <a:avLst/>
          </a:prstGeom>
          <a:noFill/>
          <a:ln/>
        </p:spPr>
        <p:txBody>
          <a:bodyPr wrap="square" lIns="0" tIns="0" rIns="0" bIns="0" rtlCol="0" anchor="ctr"/>
          <a:lstStyle/>
          <a:p>
            <a:pPr marL="0" indent="0">
              <a:buNone/>
            </a:pPr>
            <a:r>
              <a:rPr lang="en-US" sz="900" b="1" dirty="0">
                <a:solidFill>
                  <a:srgbClr val="00796B"/>
                </a:solidFill>
              </a:rPr>
              <a:t>✅ Para 1 : Pourquoi vous écrivez</a:t>
            </a:r>
            <a:endParaRPr lang="en-US" sz="900" dirty="0"/>
          </a:p>
        </p:txBody>
      </p:sp>
      <p:sp>
        <p:nvSpPr>
          <p:cNvPr id="30" name="Text 27"/>
          <p:cNvSpPr/>
          <p:nvPr/>
        </p:nvSpPr>
        <p:spPr>
          <a:xfrm>
            <a:off x="5650992" y="2212848"/>
            <a:ext cx="3108960" cy="219456"/>
          </a:xfrm>
          <a:prstGeom prst="rect">
            <a:avLst/>
          </a:prstGeom>
          <a:noFill/>
          <a:ln/>
        </p:spPr>
        <p:txBody>
          <a:bodyPr wrap="square" lIns="0" tIns="0" rIns="0" bIns="0" rtlCol="0" anchor="ctr"/>
          <a:lstStyle/>
          <a:p>
            <a:pPr marL="0" indent="0">
              <a:buNone/>
            </a:pPr>
            <a:r>
              <a:rPr lang="en-US" sz="850" dirty="0">
                <a:solidFill>
                  <a:srgbClr val="5A6A7A"/>
                </a:solidFill>
              </a:rPr>
              <a:t>Précisez que l'entreprise n'a pas publié d'offre, mais que vous la visez.</a:t>
            </a:r>
            <a:endParaRPr lang="en-US" sz="850" dirty="0"/>
          </a:p>
        </p:txBody>
      </p:sp>
      <p:sp>
        <p:nvSpPr>
          <p:cNvPr id="31" name="Shape 28"/>
          <p:cNvSpPr/>
          <p:nvPr/>
        </p:nvSpPr>
        <p:spPr>
          <a:xfrm>
            <a:off x="5532120" y="248716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32" name="Shape 29"/>
          <p:cNvSpPr/>
          <p:nvPr/>
        </p:nvSpPr>
        <p:spPr>
          <a:xfrm>
            <a:off x="5532120" y="2487168"/>
            <a:ext cx="54864" cy="502920"/>
          </a:xfrm>
          <a:prstGeom prst="rect">
            <a:avLst/>
          </a:prstGeom>
          <a:solidFill>
            <a:srgbClr val="6A3FA0"/>
          </a:solidFill>
          <a:ln/>
        </p:spPr>
        <p:txBody>
          <a:bodyPr/>
          <a:lstStyle/>
          <a:p>
            <a:endParaRPr lang="fr-FR"/>
          </a:p>
        </p:txBody>
      </p:sp>
      <p:sp>
        <p:nvSpPr>
          <p:cNvPr id="33" name="Text 30"/>
          <p:cNvSpPr/>
          <p:nvPr/>
        </p:nvSpPr>
        <p:spPr>
          <a:xfrm>
            <a:off x="5650992" y="2523744"/>
            <a:ext cx="3108960" cy="201168"/>
          </a:xfrm>
          <a:prstGeom prst="rect">
            <a:avLst/>
          </a:prstGeom>
          <a:noFill/>
          <a:ln/>
        </p:spPr>
        <p:txBody>
          <a:bodyPr wrap="square" lIns="0" tIns="0" rIns="0" bIns="0" rtlCol="0" anchor="ctr"/>
          <a:lstStyle/>
          <a:p>
            <a:pPr marL="0" indent="0">
              <a:buNone/>
            </a:pPr>
            <a:r>
              <a:rPr lang="en-US" sz="900" b="1" dirty="0">
                <a:solidFill>
                  <a:srgbClr val="6A3FA0"/>
                </a:solidFill>
              </a:rPr>
              <a:t>✅ Para 2 : Ce que vous apportez</a:t>
            </a:r>
            <a:endParaRPr lang="en-US" sz="900" dirty="0"/>
          </a:p>
        </p:txBody>
      </p:sp>
      <p:sp>
        <p:nvSpPr>
          <p:cNvPr id="34" name="Text 31"/>
          <p:cNvSpPr/>
          <p:nvPr/>
        </p:nvSpPr>
        <p:spPr>
          <a:xfrm>
            <a:off x="5650992" y="2734056"/>
            <a:ext cx="3108960" cy="219456"/>
          </a:xfrm>
          <a:prstGeom prst="rect">
            <a:avLst/>
          </a:prstGeom>
          <a:noFill/>
          <a:ln/>
        </p:spPr>
        <p:txBody>
          <a:bodyPr wrap="square" lIns="0" tIns="0" rIns="0" bIns="0" rtlCol="0" anchor="ctr"/>
          <a:lstStyle/>
          <a:p>
            <a:pPr marL="0" indent="0">
              <a:buNone/>
            </a:pPr>
            <a:r>
              <a:rPr lang="en-US" sz="850" dirty="0">
                <a:solidFill>
                  <a:srgbClr val="5A6A7A"/>
                </a:solidFill>
              </a:rPr>
              <a:t>Diplôme, expérience, compétences concrètes (CACES, chiffres…).</a:t>
            </a:r>
            <a:endParaRPr lang="en-US" sz="850" dirty="0"/>
          </a:p>
        </p:txBody>
      </p:sp>
      <p:sp>
        <p:nvSpPr>
          <p:cNvPr id="35" name="Shape 32"/>
          <p:cNvSpPr/>
          <p:nvPr/>
        </p:nvSpPr>
        <p:spPr>
          <a:xfrm>
            <a:off x="5532120" y="312724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36" name="Shape 33"/>
          <p:cNvSpPr/>
          <p:nvPr/>
        </p:nvSpPr>
        <p:spPr>
          <a:xfrm>
            <a:off x="5532120" y="3127248"/>
            <a:ext cx="54864" cy="502920"/>
          </a:xfrm>
          <a:prstGeom prst="rect">
            <a:avLst/>
          </a:prstGeom>
          <a:solidFill>
            <a:srgbClr val="F59E0B"/>
          </a:solidFill>
          <a:ln/>
        </p:spPr>
        <p:txBody>
          <a:bodyPr/>
          <a:lstStyle/>
          <a:p>
            <a:endParaRPr lang="fr-FR"/>
          </a:p>
        </p:txBody>
      </p:sp>
      <p:sp>
        <p:nvSpPr>
          <p:cNvPr id="37" name="Text 34"/>
          <p:cNvSpPr/>
          <p:nvPr/>
        </p:nvSpPr>
        <p:spPr>
          <a:xfrm>
            <a:off x="5650992" y="3163824"/>
            <a:ext cx="3108960" cy="201168"/>
          </a:xfrm>
          <a:prstGeom prst="rect">
            <a:avLst/>
          </a:prstGeom>
          <a:noFill/>
          <a:ln/>
        </p:spPr>
        <p:txBody>
          <a:bodyPr wrap="square" lIns="0" tIns="0" rIns="0" bIns="0" rtlCol="0" anchor="ctr"/>
          <a:lstStyle/>
          <a:p>
            <a:pPr marL="0" indent="0">
              <a:buNone/>
            </a:pPr>
            <a:r>
              <a:rPr lang="en-US" sz="900" b="1" dirty="0">
                <a:solidFill>
                  <a:srgbClr val="F59E0B"/>
                </a:solidFill>
              </a:rPr>
              <a:t>✅ Para 3 : Pourquoi CETTE entreprise</a:t>
            </a:r>
            <a:endParaRPr lang="en-US" sz="900" dirty="0"/>
          </a:p>
        </p:txBody>
      </p:sp>
      <p:sp>
        <p:nvSpPr>
          <p:cNvPr id="38" name="Text 35"/>
          <p:cNvSpPr/>
          <p:nvPr/>
        </p:nvSpPr>
        <p:spPr>
          <a:xfrm>
            <a:off x="5650992" y="3374136"/>
            <a:ext cx="3108960" cy="219456"/>
          </a:xfrm>
          <a:prstGeom prst="rect">
            <a:avLst/>
          </a:prstGeom>
          <a:noFill/>
          <a:ln/>
        </p:spPr>
        <p:txBody>
          <a:bodyPr wrap="square" lIns="0" tIns="0" rIns="0" bIns="0" rtlCol="0" anchor="ctr"/>
          <a:lstStyle/>
          <a:p>
            <a:pPr marL="0" indent="0">
              <a:buNone/>
            </a:pPr>
            <a:r>
              <a:rPr lang="en-US" sz="850" dirty="0">
                <a:solidFill>
                  <a:srgbClr val="5A6A7A"/>
                </a:solidFill>
              </a:rPr>
              <a:t>Le point clé du spontané : montrez que vous l'avez choisie exprès.</a:t>
            </a:r>
            <a:endParaRPr lang="en-US" sz="850" dirty="0"/>
          </a:p>
        </p:txBody>
      </p:sp>
      <p:sp>
        <p:nvSpPr>
          <p:cNvPr id="39" name="Shape 36"/>
          <p:cNvSpPr/>
          <p:nvPr/>
        </p:nvSpPr>
        <p:spPr>
          <a:xfrm>
            <a:off x="5532120" y="3547872"/>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40" name="Shape 37"/>
          <p:cNvSpPr/>
          <p:nvPr/>
        </p:nvSpPr>
        <p:spPr>
          <a:xfrm>
            <a:off x="5532120" y="3547872"/>
            <a:ext cx="54864" cy="502920"/>
          </a:xfrm>
          <a:prstGeom prst="rect">
            <a:avLst/>
          </a:prstGeom>
          <a:solidFill>
            <a:srgbClr val="EF5350"/>
          </a:solidFill>
          <a:ln/>
        </p:spPr>
        <p:txBody>
          <a:bodyPr/>
          <a:lstStyle/>
          <a:p>
            <a:endParaRPr lang="fr-FR"/>
          </a:p>
        </p:txBody>
      </p:sp>
      <p:sp>
        <p:nvSpPr>
          <p:cNvPr id="41" name="Text 38"/>
          <p:cNvSpPr/>
          <p:nvPr/>
        </p:nvSpPr>
        <p:spPr>
          <a:xfrm>
            <a:off x="5650992" y="3584448"/>
            <a:ext cx="3108960" cy="201168"/>
          </a:xfrm>
          <a:prstGeom prst="rect">
            <a:avLst/>
          </a:prstGeom>
          <a:noFill/>
          <a:ln/>
        </p:spPr>
        <p:txBody>
          <a:bodyPr wrap="square" lIns="0" tIns="0" rIns="0" bIns="0" rtlCol="0" anchor="ctr"/>
          <a:lstStyle/>
          <a:p>
            <a:pPr marL="0" indent="0">
              <a:buNone/>
            </a:pPr>
            <a:r>
              <a:rPr lang="en-US" sz="900" b="1" dirty="0">
                <a:solidFill>
                  <a:srgbClr val="EF5350"/>
                </a:solidFill>
              </a:rPr>
              <a:t>✅ Conclusion + dispo</a:t>
            </a:r>
            <a:endParaRPr lang="en-US" sz="900" dirty="0"/>
          </a:p>
        </p:txBody>
      </p:sp>
      <p:sp>
        <p:nvSpPr>
          <p:cNvPr id="42" name="Text 39"/>
          <p:cNvSpPr/>
          <p:nvPr/>
        </p:nvSpPr>
        <p:spPr>
          <a:xfrm>
            <a:off x="5650992" y="3794760"/>
            <a:ext cx="3108960" cy="219456"/>
          </a:xfrm>
          <a:prstGeom prst="rect">
            <a:avLst/>
          </a:prstGeom>
          <a:noFill/>
          <a:ln/>
        </p:spPr>
        <p:txBody>
          <a:bodyPr wrap="square" lIns="0" tIns="0" rIns="0" bIns="0" rtlCol="0" anchor="ctr"/>
          <a:lstStyle/>
          <a:p>
            <a:pPr marL="0" indent="0">
              <a:buNone/>
            </a:pPr>
            <a:r>
              <a:rPr lang="en-US" sz="850" dirty="0">
                <a:solidFill>
                  <a:srgbClr val="5A6A7A"/>
                </a:solidFill>
              </a:rPr>
              <a:t>Proposez un entretien. Restez disponible et concis.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17</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L'email de candidature — Modèle à recopier</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Comment rédiger l'email qui accompagne votre CV et lettre</a:t>
            </a:r>
            <a:endParaRPr lang="en-US" sz="900" dirty="0"/>
          </a:p>
        </p:txBody>
      </p:sp>
      <p:sp>
        <p:nvSpPr>
          <p:cNvPr id="7" name="Text 4"/>
          <p:cNvSpPr/>
          <p:nvPr/>
        </p:nvSpPr>
        <p:spPr>
          <a:xfrm>
            <a:off x="365760" y="1005840"/>
            <a:ext cx="8412480" cy="320040"/>
          </a:xfrm>
          <a:prstGeom prst="rect">
            <a:avLst/>
          </a:prstGeom>
          <a:noFill/>
          <a:ln/>
        </p:spPr>
        <p:txBody>
          <a:bodyPr wrap="square" rtlCol="0" anchor="ctr"/>
          <a:lstStyle/>
          <a:p>
            <a:pPr marL="0" indent="0">
              <a:buNone/>
            </a:pPr>
            <a:r>
              <a:rPr lang="en-US" sz="1100" dirty="0">
                <a:solidFill>
                  <a:srgbClr val="0D1B2A"/>
                </a:solidFill>
              </a:rPr>
              <a:t>Quand vous postulez par EMAIL (et non via un bouton sur un site), vous devez écrire un email bien rédigé.</a:t>
            </a:r>
            <a:endParaRPr lang="en-US" sz="1100" dirty="0"/>
          </a:p>
        </p:txBody>
      </p:sp>
      <p:sp>
        <p:nvSpPr>
          <p:cNvPr id="8" name="Shape 5"/>
          <p:cNvSpPr/>
          <p:nvPr/>
        </p:nvSpPr>
        <p:spPr>
          <a:xfrm>
            <a:off x="320040" y="1389888"/>
            <a:ext cx="5120640" cy="36576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20040" y="1389888"/>
            <a:ext cx="5120640" cy="384048"/>
          </a:xfrm>
          <a:prstGeom prst="rect">
            <a:avLst/>
          </a:prstGeom>
          <a:solidFill>
            <a:srgbClr val="0B1F3A"/>
          </a:solidFill>
          <a:ln/>
        </p:spPr>
        <p:txBody>
          <a:bodyPr/>
          <a:lstStyle/>
          <a:p>
            <a:endParaRPr lang="fr-FR"/>
          </a:p>
        </p:txBody>
      </p:sp>
      <p:sp>
        <p:nvSpPr>
          <p:cNvPr id="10" name="Text 7"/>
          <p:cNvSpPr/>
          <p:nvPr/>
        </p:nvSpPr>
        <p:spPr>
          <a:xfrm>
            <a:off x="457200" y="1426464"/>
            <a:ext cx="4846320" cy="310896"/>
          </a:xfrm>
          <a:prstGeom prst="rect">
            <a:avLst/>
          </a:prstGeom>
          <a:noFill/>
          <a:ln/>
        </p:spPr>
        <p:txBody>
          <a:bodyPr wrap="square" lIns="0" tIns="0" rIns="0" bIns="0" rtlCol="0" anchor="ctr"/>
          <a:lstStyle/>
          <a:p>
            <a:pPr marL="0" indent="0">
              <a:buNone/>
            </a:pPr>
            <a:r>
              <a:rPr lang="en-US" sz="1100" b="1" dirty="0">
                <a:solidFill>
                  <a:srgbClr val="FFFFFF"/>
                </a:solidFill>
              </a:rPr>
              <a:t>✉  Modèle d'email</a:t>
            </a:r>
            <a:endParaRPr lang="en-US" sz="1100" dirty="0"/>
          </a:p>
        </p:txBody>
      </p:sp>
      <p:sp>
        <p:nvSpPr>
          <p:cNvPr id="11" name="Text 8"/>
          <p:cNvSpPr/>
          <p:nvPr/>
        </p:nvSpPr>
        <p:spPr>
          <a:xfrm>
            <a:off x="457200" y="1828800"/>
            <a:ext cx="548640" cy="274320"/>
          </a:xfrm>
          <a:prstGeom prst="rect">
            <a:avLst/>
          </a:prstGeom>
          <a:noFill/>
          <a:ln/>
        </p:spPr>
        <p:txBody>
          <a:bodyPr wrap="square" rtlCol="0" anchor="ctr"/>
          <a:lstStyle/>
          <a:p>
            <a:pPr marL="0" indent="0">
              <a:buNone/>
            </a:pPr>
            <a:r>
              <a:rPr lang="en-US" sz="950" b="1" dirty="0">
                <a:solidFill>
                  <a:srgbClr val="5A6A7A"/>
                </a:solidFill>
              </a:rPr>
              <a:t>De :</a:t>
            </a:r>
            <a:endParaRPr lang="en-US" sz="950" dirty="0"/>
          </a:p>
        </p:txBody>
      </p:sp>
      <p:sp>
        <p:nvSpPr>
          <p:cNvPr id="12" name="Text 9"/>
          <p:cNvSpPr/>
          <p:nvPr/>
        </p:nvSpPr>
        <p:spPr>
          <a:xfrm>
            <a:off x="1051560" y="1828800"/>
            <a:ext cx="4251960" cy="274320"/>
          </a:xfrm>
          <a:prstGeom prst="rect">
            <a:avLst/>
          </a:prstGeom>
          <a:noFill/>
          <a:ln/>
        </p:spPr>
        <p:txBody>
          <a:bodyPr wrap="square" rtlCol="0" anchor="ctr"/>
          <a:lstStyle/>
          <a:p>
            <a:pPr marL="0" indent="0">
              <a:buNone/>
            </a:pPr>
            <a:r>
              <a:rPr lang="en-US" sz="950" dirty="0">
                <a:solidFill>
                  <a:srgbClr val="0D1B2A"/>
                </a:solidFill>
              </a:rPr>
              <a:t>marie.martin@gmail.com (adresse sérieuse !)</a:t>
            </a:r>
            <a:endParaRPr lang="en-US" sz="950" dirty="0"/>
          </a:p>
        </p:txBody>
      </p:sp>
      <p:sp>
        <p:nvSpPr>
          <p:cNvPr id="13" name="Text 10"/>
          <p:cNvSpPr/>
          <p:nvPr/>
        </p:nvSpPr>
        <p:spPr>
          <a:xfrm>
            <a:off x="457200" y="2148840"/>
            <a:ext cx="548640" cy="274320"/>
          </a:xfrm>
          <a:prstGeom prst="rect">
            <a:avLst/>
          </a:prstGeom>
          <a:noFill/>
          <a:ln/>
        </p:spPr>
        <p:txBody>
          <a:bodyPr wrap="square" rtlCol="0" anchor="ctr"/>
          <a:lstStyle/>
          <a:p>
            <a:pPr marL="0" indent="0">
              <a:buNone/>
            </a:pPr>
            <a:r>
              <a:rPr lang="en-US" sz="950" b="1" dirty="0">
                <a:solidFill>
                  <a:srgbClr val="5A6A7A"/>
                </a:solidFill>
              </a:rPr>
              <a:t>À :</a:t>
            </a:r>
            <a:endParaRPr lang="en-US" sz="950" dirty="0"/>
          </a:p>
        </p:txBody>
      </p:sp>
      <p:sp>
        <p:nvSpPr>
          <p:cNvPr id="14" name="Text 11"/>
          <p:cNvSpPr/>
          <p:nvPr/>
        </p:nvSpPr>
        <p:spPr>
          <a:xfrm>
            <a:off x="1051560" y="2148840"/>
            <a:ext cx="4251960" cy="274320"/>
          </a:xfrm>
          <a:prstGeom prst="rect">
            <a:avLst/>
          </a:prstGeom>
          <a:noFill/>
          <a:ln/>
        </p:spPr>
        <p:txBody>
          <a:bodyPr wrap="square" rtlCol="0" anchor="ctr"/>
          <a:lstStyle/>
          <a:p>
            <a:pPr marL="0" indent="0">
              <a:buNone/>
            </a:pPr>
            <a:r>
              <a:rPr lang="en-US" sz="950" dirty="0">
                <a:solidFill>
                  <a:srgbClr val="0D1B2A"/>
                </a:solidFill>
              </a:rPr>
              <a:t>rh@entreprise.fr (trouvé dans l'offre ou sur le site)</a:t>
            </a:r>
            <a:endParaRPr lang="en-US" sz="950" dirty="0"/>
          </a:p>
        </p:txBody>
      </p:sp>
      <p:sp>
        <p:nvSpPr>
          <p:cNvPr id="15" name="Text 12"/>
          <p:cNvSpPr/>
          <p:nvPr/>
        </p:nvSpPr>
        <p:spPr>
          <a:xfrm>
            <a:off x="457200" y="2468880"/>
            <a:ext cx="548640" cy="274320"/>
          </a:xfrm>
          <a:prstGeom prst="rect">
            <a:avLst/>
          </a:prstGeom>
          <a:noFill/>
          <a:ln/>
        </p:spPr>
        <p:txBody>
          <a:bodyPr wrap="square" rtlCol="0" anchor="ctr"/>
          <a:lstStyle/>
          <a:p>
            <a:pPr marL="0" indent="0">
              <a:buNone/>
            </a:pPr>
            <a:r>
              <a:rPr lang="en-US" sz="950" b="1" dirty="0">
                <a:solidFill>
                  <a:srgbClr val="5A6A7A"/>
                </a:solidFill>
              </a:rPr>
              <a:t>Objet :</a:t>
            </a:r>
            <a:endParaRPr lang="en-US" sz="950" dirty="0"/>
          </a:p>
        </p:txBody>
      </p:sp>
      <p:sp>
        <p:nvSpPr>
          <p:cNvPr id="16" name="Text 13"/>
          <p:cNvSpPr/>
          <p:nvPr/>
        </p:nvSpPr>
        <p:spPr>
          <a:xfrm>
            <a:off x="1051560" y="2468880"/>
            <a:ext cx="4251960" cy="274320"/>
          </a:xfrm>
          <a:prstGeom prst="rect">
            <a:avLst/>
          </a:prstGeom>
          <a:noFill/>
          <a:ln/>
        </p:spPr>
        <p:txBody>
          <a:bodyPr wrap="square" rtlCol="0" anchor="ctr"/>
          <a:lstStyle/>
          <a:p>
            <a:pPr marL="0" indent="0">
              <a:buNone/>
            </a:pPr>
            <a:r>
              <a:rPr lang="en-US" sz="950" dirty="0">
                <a:solidFill>
                  <a:srgbClr val="0D1B2A"/>
                </a:solidFill>
              </a:rPr>
              <a:t>Candidature – Vendeuse – Marie Martin</a:t>
            </a:r>
            <a:endParaRPr lang="en-US" sz="950" dirty="0"/>
          </a:p>
        </p:txBody>
      </p:sp>
      <p:sp>
        <p:nvSpPr>
          <p:cNvPr id="17" name="Shape 14"/>
          <p:cNvSpPr/>
          <p:nvPr/>
        </p:nvSpPr>
        <p:spPr>
          <a:xfrm>
            <a:off x="457200" y="2816352"/>
            <a:ext cx="4846320" cy="0"/>
          </a:xfrm>
          <a:prstGeom prst="line">
            <a:avLst/>
          </a:prstGeom>
          <a:noFill/>
          <a:ln w="6350">
            <a:solidFill>
              <a:srgbClr val="E2EAF4"/>
            </a:solidFill>
            <a:prstDash val="solid"/>
          </a:ln>
        </p:spPr>
        <p:txBody>
          <a:bodyPr/>
          <a:lstStyle/>
          <a:p>
            <a:endParaRPr lang="fr-FR"/>
          </a:p>
        </p:txBody>
      </p:sp>
      <p:sp>
        <p:nvSpPr>
          <p:cNvPr id="18" name="Text 15"/>
          <p:cNvSpPr/>
          <p:nvPr/>
        </p:nvSpPr>
        <p:spPr>
          <a:xfrm>
            <a:off x="457200" y="2880360"/>
            <a:ext cx="4846320" cy="256032"/>
          </a:xfrm>
          <a:prstGeom prst="rect">
            <a:avLst/>
          </a:prstGeom>
          <a:noFill/>
          <a:ln/>
        </p:spPr>
        <p:txBody>
          <a:bodyPr wrap="square" rtlCol="0" anchor="ctr"/>
          <a:lstStyle/>
          <a:p>
            <a:pPr marL="0" indent="0">
              <a:lnSpc>
                <a:spcPct val="135000"/>
              </a:lnSpc>
              <a:buNone/>
            </a:pPr>
            <a:r>
              <a:rPr lang="en-US" sz="900" dirty="0">
                <a:solidFill>
                  <a:srgbClr val="0D1B2A"/>
                </a:solidFill>
              </a:rPr>
              <a:t>Madame, Monsieur,</a:t>
            </a:r>
            <a:endParaRPr lang="en-US" sz="900" dirty="0"/>
          </a:p>
        </p:txBody>
      </p:sp>
      <p:sp>
        <p:nvSpPr>
          <p:cNvPr id="19" name="Text 16"/>
          <p:cNvSpPr/>
          <p:nvPr/>
        </p:nvSpPr>
        <p:spPr>
          <a:xfrm>
            <a:off x="457200" y="3172968"/>
            <a:ext cx="4846320" cy="256032"/>
          </a:xfrm>
          <a:prstGeom prst="rect">
            <a:avLst/>
          </a:prstGeom>
          <a:noFill/>
          <a:ln/>
        </p:spPr>
        <p:txBody>
          <a:bodyPr wrap="square" rtlCol="0" anchor="ctr"/>
          <a:lstStyle/>
          <a:p>
            <a:pPr marL="0" indent="0">
              <a:lnSpc>
                <a:spcPct val="135000"/>
              </a:lnSpc>
              <a:buNone/>
            </a:pPr>
            <a:r>
              <a:rPr lang="en-US" sz="900" dirty="0">
                <a:solidFill>
                  <a:srgbClr val="0D1B2A"/>
                </a:solidFill>
              </a:rPr>
              <a:t>Suite à votre offre d'emploi de Vendeuse parue sur Indeed, je me permets de vous adresser ma candidature.</a:t>
            </a:r>
            <a:endParaRPr lang="en-US" sz="900" dirty="0"/>
          </a:p>
        </p:txBody>
      </p:sp>
      <p:sp>
        <p:nvSpPr>
          <p:cNvPr id="20" name="Text 17"/>
          <p:cNvSpPr/>
          <p:nvPr/>
        </p:nvSpPr>
        <p:spPr>
          <a:xfrm>
            <a:off x="457200" y="3465576"/>
            <a:ext cx="4846320" cy="475488"/>
          </a:xfrm>
          <a:prstGeom prst="rect">
            <a:avLst/>
          </a:prstGeom>
          <a:noFill/>
          <a:ln/>
        </p:spPr>
        <p:txBody>
          <a:bodyPr wrap="square" rtlCol="0" anchor="ctr"/>
          <a:lstStyle/>
          <a:p>
            <a:pPr marL="0" indent="0">
              <a:lnSpc>
                <a:spcPct val="135000"/>
              </a:lnSpc>
              <a:buNone/>
            </a:pPr>
            <a:r>
              <a:rPr lang="en-US" sz="900" dirty="0">
                <a:solidFill>
                  <a:srgbClr val="0D1B2A"/>
                </a:solidFill>
              </a:rPr>
              <a:t>Vous trouverez en pièce jointe :</a:t>
            </a:r>
            <a:endParaRPr lang="en-US" sz="900" dirty="0"/>
          </a:p>
          <a:p>
            <a:pPr marL="0" indent="0">
              <a:lnSpc>
                <a:spcPct val="135000"/>
              </a:lnSpc>
              <a:buNone/>
            </a:pPr>
            <a:r>
              <a:rPr lang="en-US" sz="900" dirty="0">
                <a:solidFill>
                  <a:srgbClr val="0D1B2A"/>
                </a:solidFill>
              </a:rPr>
              <a:t>  – Mon CV (Marie_Martin_CV.pdf)</a:t>
            </a:r>
            <a:endParaRPr lang="en-US" sz="900" dirty="0"/>
          </a:p>
          <a:p>
            <a:pPr marL="0" indent="0">
              <a:lnSpc>
                <a:spcPct val="135000"/>
              </a:lnSpc>
              <a:buNone/>
            </a:pPr>
            <a:r>
              <a:rPr lang="en-US" sz="900" dirty="0">
                <a:solidFill>
                  <a:srgbClr val="0D1B2A"/>
                </a:solidFill>
              </a:rPr>
              <a:t>  – Ma lettre de motivation</a:t>
            </a:r>
            <a:endParaRPr lang="en-US" sz="900" dirty="0"/>
          </a:p>
        </p:txBody>
      </p:sp>
      <p:sp>
        <p:nvSpPr>
          <p:cNvPr id="21" name="Text 18"/>
          <p:cNvSpPr/>
          <p:nvPr/>
        </p:nvSpPr>
        <p:spPr>
          <a:xfrm>
            <a:off x="457200" y="3977640"/>
            <a:ext cx="4846320" cy="256032"/>
          </a:xfrm>
          <a:prstGeom prst="rect">
            <a:avLst/>
          </a:prstGeom>
          <a:noFill/>
          <a:ln/>
        </p:spPr>
        <p:txBody>
          <a:bodyPr wrap="square" rtlCol="0" anchor="ctr"/>
          <a:lstStyle/>
          <a:p>
            <a:pPr marL="0" indent="0">
              <a:lnSpc>
                <a:spcPct val="135000"/>
              </a:lnSpc>
              <a:buNone/>
            </a:pPr>
            <a:r>
              <a:rPr lang="en-US" sz="900" dirty="0">
                <a:solidFill>
                  <a:srgbClr val="0D1B2A"/>
                </a:solidFill>
              </a:rPr>
              <a:t>Je reste disponible pour un entretien selon vos disponibilités.</a:t>
            </a:r>
            <a:endParaRPr lang="en-US" sz="900" dirty="0"/>
          </a:p>
        </p:txBody>
      </p:sp>
      <p:sp>
        <p:nvSpPr>
          <p:cNvPr id="22" name="Text 19"/>
          <p:cNvSpPr/>
          <p:nvPr/>
        </p:nvSpPr>
        <p:spPr>
          <a:xfrm>
            <a:off x="457200" y="4270248"/>
            <a:ext cx="4846320" cy="475488"/>
          </a:xfrm>
          <a:prstGeom prst="rect">
            <a:avLst/>
          </a:prstGeom>
          <a:noFill/>
          <a:ln/>
        </p:spPr>
        <p:txBody>
          <a:bodyPr wrap="square" rtlCol="0" anchor="ctr"/>
          <a:lstStyle/>
          <a:p>
            <a:pPr marL="0" indent="0">
              <a:lnSpc>
                <a:spcPct val="135000"/>
              </a:lnSpc>
              <a:buNone/>
            </a:pPr>
            <a:r>
              <a:rPr lang="en-US" sz="900" dirty="0">
                <a:solidFill>
                  <a:srgbClr val="0D1B2A"/>
                </a:solidFill>
              </a:rPr>
              <a:t>Cordialement,</a:t>
            </a:r>
            <a:endParaRPr lang="en-US" sz="900" dirty="0"/>
          </a:p>
          <a:p>
            <a:pPr marL="0" indent="0">
              <a:lnSpc>
                <a:spcPct val="135000"/>
              </a:lnSpc>
              <a:buNone/>
            </a:pPr>
            <a:r>
              <a:rPr lang="en-US" sz="900" dirty="0">
                <a:solidFill>
                  <a:srgbClr val="0D1B2A"/>
                </a:solidFill>
              </a:rPr>
              <a:t>Marie Martin</a:t>
            </a:r>
            <a:endParaRPr lang="en-US" sz="900" dirty="0"/>
          </a:p>
          <a:p>
            <a:pPr marL="0" indent="0">
              <a:lnSpc>
                <a:spcPct val="135000"/>
              </a:lnSpc>
              <a:buNone/>
            </a:pPr>
            <a:r>
              <a:rPr lang="en-US" sz="900" dirty="0">
                <a:solidFill>
                  <a:srgbClr val="0D1B2A"/>
                </a:solidFill>
              </a:rPr>
              <a:t>📞 06 12 34 56 78</a:t>
            </a:r>
            <a:endParaRPr lang="en-US" sz="900" dirty="0"/>
          </a:p>
        </p:txBody>
      </p:sp>
      <p:sp>
        <p:nvSpPr>
          <p:cNvPr id="23" name="Shape 20"/>
          <p:cNvSpPr/>
          <p:nvPr/>
        </p:nvSpPr>
        <p:spPr>
          <a:xfrm>
            <a:off x="5577840" y="1389888"/>
            <a:ext cx="3291840" cy="36576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5577840" y="1389888"/>
            <a:ext cx="3291840" cy="384048"/>
          </a:xfrm>
          <a:prstGeom prst="rect">
            <a:avLst/>
          </a:prstGeom>
          <a:solidFill>
            <a:srgbClr val="00796B"/>
          </a:solidFill>
          <a:ln/>
        </p:spPr>
        <p:txBody>
          <a:bodyPr/>
          <a:lstStyle/>
          <a:p>
            <a:endParaRPr lang="fr-FR"/>
          </a:p>
        </p:txBody>
      </p:sp>
      <p:sp>
        <p:nvSpPr>
          <p:cNvPr id="25" name="Text 22"/>
          <p:cNvSpPr/>
          <p:nvPr/>
        </p:nvSpPr>
        <p:spPr>
          <a:xfrm>
            <a:off x="5715000" y="1426464"/>
            <a:ext cx="3017520" cy="310896"/>
          </a:xfrm>
          <a:prstGeom prst="rect">
            <a:avLst/>
          </a:prstGeom>
          <a:noFill/>
          <a:ln/>
        </p:spPr>
        <p:txBody>
          <a:bodyPr wrap="square" lIns="0" tIns="0" rIns="0" bIns="0" rtlCol="0" anchor="ctr"/>
          <a:lstStyle/>
          <a:p>
            <a:pPr marL="0" indent="0">
              <a:buNone/>
            </a:pPr>
            <a:r>
              <a:rPr lang="en-US" sz="1100" b="1" dirty="0">
                <a:solidFill>
                  <a:srgbClr val="FFFFFF"/>
                </a:solidFill>
              </a:rPr>
              <a:t>📌 Points importants</a:t>
            </a:r>
            <a:endParaRPr lang="en-US" sz="1100" dirty="0"/>
          </a:p>
        </p:txBody>
      </p:sp>
      <p:sp>
        <p:nvSpPr>
          <p:cNvPr id="26" name="Text 23"/>
          <p:cNvSpPr/>
          <p:nvPr/>
        </p:nvSpPr>
        <p:spPr>
          <a:xfrm>
            <a:off x="5687568" y="1874520"/>
            <a:ext cx="3063240" cy="237744"/>
          </a:xfrm>
          <a:prstGeom prst="rect">
            <a:avLst/>
          </a:prstGeom>
          <a:noFill/>
          <a:ln/>
        </p:spPr>
        <p:txBody>
          <a:bodyPr wrap="square" lIns="0" tIns="0" rIns="0" bIns="0" rtlCol="0" anchor="ctr"/>
          <a:lstStyle/>
          <a:p>
            <a:pPr marL="0" indent="0">
              <a:buNone/>
            </a:pPr>
            <a:r>
              <a:rPr lang="en-US" sz="950" b="1" dirty="0">
                <a:solidFill>
                  <a:srgbClr val="00796B"/>
                </a:solidFill>
              </a:rPr>
              <a:t>✅ Adresse email sérieuse</a:t>
            </a:r>
            <a:endParaRPr lang="en-US" sz="950" dirty="0"/>
          </a:p>
        </p:txBody>
      </p:sp>
      <p:sp>
        <p:nvSpPr>
          <p:cNvPr id="27" name="Text 24"/>
          <p:cNvSpPr/>
          <p:nvPr/>
        </p:nvSpPr>
        <p:spPr>
          <a:xfrm>
            <a:off x="5687568" y="2112264"/>
            <a:ext cx="3063240" cy="292608"/>
          </a:xfrm>
          <a:prstGeom prst="rect">
            <a:avLst/>
          </a:prstGeom>
          <a:noFill/>
          <a:ln/>
        </p:spPr>
        <p:txBody>
          <a:bodyPr wrap="square" rtlCol="0" anchor="ctr"/>
          <a:lstStyle/>
          <a:p>
            <a:pPr marL="0" indent="0">
              <a:lnSpc>
                <a:spcPct val="130000"/>
              </a:lnSpc>
              <a:buNone/>
            </a:pPr>
            <a:r>
              <a:rPr lang="en-US" sz="850" dirty="0">
                <a:solidFill>
                  <a:srgbClr val="5A6A7A"/>
                </a:solidFill>
              </a:rPr>
              <a:t>Évitez les pseudo d'enfance (ex : darkwarrior42@). Créez une adresse pro : prenom.nom@gmail.com</a:t>
            </a:r>
            <a:endParaRPr lang="en-US" sz="850" dirty="0"/>
          </a:p>
        </p:txBody>
      </p:sp>
      <p:sp>
        <p:nvSpPr>
          <p:cNvPr id="28" name="Text 25"/>
          <p:cNvSpPr/>
          <p:nvPr/>
        </p:nvSpPr>
        <p:spPr>
          <a:xfrm>
            <a:off x="5687568" y="2487168"/>
            <a:ext cx="3063240" cy="237744"/>
          </a:xfrm>
          <a:prstGeom prst="rect">
            <a:avLst/>
          </a:prstGeom>
          <a:noFill/>
          <a:ln/>
        </p:spPr>
        <p:txBody>
          <a:bodyPr wrap="square" lIns="0" tIns="0" rIns="0" bIns="0" rtlCol="0" anchor="ctr"/>
          <a:lstStyle/>
          <a:p>
            <a:pPr marL="0" indent="0">
              <a:buNone/>
            </a:pPr>
            <a:r>
              <a:rPr lang="en-US" sz="950" b="1" dirty="0">
                <a:solidFill>
                  <a:srgbClr val="00796B"/>
                </a:solidFill>
              </a:rPr>
              <a:t>✅ Objet clair et court</a:t>
            </a:r>
            <a:endParaRPr lang="en-US" sz="950" dirty="0"/>
          </a:p>
        </p:txBody>
      </p:sp>
      <p:sp>
        <p:nvSpPr>
          <p:cNvPr id="29" name="Text 26"/>
          <p:cNvSpPr/>
          <p:nvPr/>
        </p:nvSpPr>
        <p:spPr>
          <a:xfrm>
            <a:off x="5687568" y="2724912"/>
            <a:ext cx="3063240" cy="292608"/>
          </a:xfrm>
          <a:prstGeom prst="rect">
            <a:avLst/>
          </a:prstGeom>
          <a:noFill/>
          <a:ln/>
        </p:spPr>
        <p:txBody>
          <a:bodyPr wrap="square" rtlCol="0" anchor="ctr"/>
          <a:lstStyle/>
          <a:p>
            <a:pPr marL="0" indent="0">
              <a:lnSpc>
                <a:spcPct val="130000"/>
              </a:lnSpc>
              <a:buNone/>
            </a:pPr>
            <a:r>
              <a:rPr lang="en-US" sz="850" dirty="0">
                <a:solidFill>
                  <a:srgbClr val="5A6A7A"/>
                </a:solidFill>
              </a:rPr>
              <a:t>Toujours mettre : Candidature + Poste + Votre nom. Cela aide le recruteur à vous retrouver.</a:t>
            </a:r>
            <a:endParaRPr lang="en-US" sz="850" dirty="0"/>
          </a:p>
        </p:txBody>
      </p:sp>
      <p:sp>
        <p:nvSpPr>
          <p:cNvPr id="30" name="Text 27"/>
          <p:cNvSpPr/>
          <p:nvPr/>
        </p:nvSpPr>
        <p:spPr>
          <a:xfrm>
            <a:off x="5687568" y="3099816"/>
            <a:ext cx="3063240" cy="237744"/>
          </a:xfrm>
          <a:prstGeom prst="rect">
            <a:avLst/>
          </a:prstGeom>
          <a:noFill/>
          <a:ln/>
        </p:spPr>
        <p:txBody>
          <a:bodyPr wrap="square" lIns="0" tIns="0" rIns="0" bIns="0" rtlCol="0" anchor="ctr"/>
          <a:lstStyle/>
          <a:p>
            <a:pPr marL="0" indent="0">
              <a:buNone/>
            </a:pPr>
            <a:r>
              <a:rPr lang="en-US" sz="950" b="1" dirty="0">
                <a:solidFill>
                  <a:srgbClr val="00796B"/>
                </a:solidFill>
              </a:rPr>
              <a:t>✅ Pièces jointes en PDF</a:t>
            </a:r>
            <a:endParaRPr lang="en-US" sz="950" dirty="0"/>
          </a:p>
        </p:txBody>
      </p:sp>
      <p:sp>
        <p:nvSpPr>
          <p:cNvPr id="31" name="Text 28"/>
          <p:cNvSpPr/>
          <p:nvPr/>
        </p:nvSpPr>
        <p:spPr>
          <a:xfrm>
            <a:off x="5687568" y="3337560"/>
            <a:ext cx="3063240" cy="292608"/>
          </a:xfrm>
          <a:prstGeom prst="rect">
            <a:avLst/>
          </a:prstGeom>
          <a:noFill/>
          <a:ln/>
        </p:spPr>
        <p:txBody>
          <a:bodyPr wrap="square" rtlCol="0" anchor="ctr"/>
          <a:lstStyle/>
          <a:p>
            <a:pPr marL="0" indent="0">
              <a:lnSpc>
                <a:spcPct val="130000"/>
              </a:lnSpc>
              <a:buNone/>
            </a:pPr>
            <a:r>
              <a:rPr lang="en-US" sz="850" dirty="0">
                <a:solidFill>
                  <a:srgbClr val="5A6A7A"/>
                </a:solidFill>
              </a:rPr>
              <a:t>Nommez vos fichiers clairement : Marie_Martin_CV.pdf et non « mon cv (3).docx »</a:t>
            </a:r>
            <a:endParaRPr lang="en-US" sz="850" dirty="0"/>
          </a:p>
        </p:txBody>
      </p:sp>
      <p:sp>
        <p:nvSpPr>
          <p:cNvPr id="32" name="Text 29"/>
          <p:cNvSpPr/>
          <p:nvPr/>
        </p:nvSpPr>
        <p:spPr>
          <a:xfrm>
            <a:off x="5687568" y="3712464"/>
            <a:ext cx="3063240" cy="237744"/>
          </a:xfrm>
          <a:prstGeom prst="rect">
            <a:avLst/>
          </a:prstGeom>
          <a:noFill/>
          <a:ln/>
        </p:spPr>
        <p:txBody>
          <a:bodyPr wrap="square" lIns="0" tIns="0" rIns="0" bIns="0" rtlCol="0" anchor="ctr"/>
          <a:lstStyle/>
          <a:p>
            <a:pPr marL="0" indent="0">
              <a:buNone/>
            </a:pPr>
            <a:r>
              <a:rPr lang="en-US" sz="950" b="1" dirty="0">
                <a:solidFill>
                  <a:srgbClr val="00796B"/>
                </a:solidFill>
              </a:rPr>
              <a:t>✅ Corps court et poli</a:t>
            </a:r>
            <a:endParaRPr lang="en-US" sz="950" dirty="0"/>
          </a:p>
        </p:txBody>
      </p:sp>
      <p:sp>
        <p:nvSpPr>
          <p:cNvPr id="33" name="Text 30"/>
          <p:cNvSpPr/>
          <p:nvPr/>
        </p:nvSpPr>
        <p:spPr>
          <a:xfrm>
            <a:off x="5687568" y="3950208"/>
            <a:ext cx="3063240" cy="292608"/>
          </a:xfrm>
          <a:prstGeom prst="rect">
            <a:avLst/>
          </a:prstGeom>
          <a:noFill/>
          <a:ln/>
        </p:spPr>
        <p:txBody>
          <a:bodyPr wrap="square" rtlCol="0" anchor="ctr"/>
          <a:lstStyle/>
          <a:p>
            <a:pPr marL="0" indent="0">
              <a:lnSpc>
                <a:spcPct val="130000"/>
              </a:lnSpc>
              <a:buNone/>
            </a:pPr>
            <a:r>
              <a:rPr lang="en-US" sz="850" dirty="0">
                <a:solidFill>
                  <a:srgbClr val="5A6A7A"/>
                </a:solidFill>
              </a:rPr>
              <a:t>L'email n'est pas la lettre. Il introduit juste votre candidature en 3–4 phrases.</a:t>
            </a:r>
            <a:endParaRPr lang="en-US" sz="850" dirty="0"/>
          </a:p>
        </p:txBody>
      </p:sp>
      <p:sp>
        <p:nvSpPr>
          <p:cNvPr id="34" name="Text 31"/>
          <p:cNvSpPr/>
          <p:nvPr/>
        </p:nvSpPr>
        <p:spPr>
          <a:xfrm>
            <a:off x="5687568" y="4325112"/>
            <a:ext cx="3063240" cy="237744"/>
          </a:xfrm>
          <a:prstGeom prst="rect">
            <a:avLst/>
          </a:prstGeom>
          <a:noFill/>
          <a:ln/>
        </p:spPr>
        <p:txBody>
          <a:bodyPr wrap="square" lIns="0" tIns="0" rIns="0" bIns="0" rtlCol="0" anchor="ctr"/>
          <a:lstStyle/>
          <a:p>
            <a:pPr marL="0" indent="0">
              <a:buNone/>
            </a:pPr>
            <a:r>
              <a:rPr lang="en-US" sz="950" b="1" dirty="0">
                <a:solidFill>
                  <a:srgbClr val="00796B"/>
                </a:solidFill>
              </a:rPr>
              <a:t>✅ Relecture obligatoire</a:t>
            </a:r>
            <a:endParaRPr lang="en-US" sz="950" dirty="0"/>
          </a:p>
        </p:txBody>
      </p:sp>
      <p:sp>
        <p:nvSpPr>
          <p:cNvPr id="35" name="Text 32"/>
          <p:cNvSpPr/>
          <p:nvPr/>
        </p:nvSpPr>
        <p:spPr>
          <a:xfrm>
            <a:off x="5687568" y="4562856"/>
            <a:ext cx="3063240" cy="292608"/>
          </a:xfrm>
          <a:prstGeom prst="rect">
            <a:avLst/>
          </a:prstGeom>
          <a:noFill/>
          <a:ln/>
        </p:spPr>
        <p:txBody>
          <a:bodyPr wrap="square" rtlCol="0" anchor="ctr"/>
          <a:lstStyle/>
          <a:p>
            <a:pPr marL="0" indent="0">
              <a:lnSpc>
                <a:spcPct val="130000"/>
              </a:lnSpc>
              <a:buNone/>
            </a:pPr>
            <a:r>
              <a:rPr lang="en-US" sz="850" dirty="0">
                <a:solidFill>
                  <a:srgbClr val="5A6A7A"/>
                </a:solidFill>
              </a:rPr>
              <a:t>Relisez 2 fois avant d'envoyer. Une faute dans l'email = mauvaise première impression.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18</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 dossier complet — Tout ce qu'il faut envoyer</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Checklist commentée avec exemples</a:t>
            </a:r>
            <a:endParaRPr lang="en-US" sz="900" dirty="0"/>
          </a:p>
        </p:txBody>
      </p:sp>
      <p:sp>
        <p:nvSpPr>
          <p:cNvPr id="7" name="Shape 4"/>
          <p:cNvSpPr/>
          <p:nvPr/>
        </p:nvSpPr>
        <p:spPr>
          <a:xfrm>
            <a:off x="320040" y="1005840"/>
            <a:ext cx="8503920" cy="896112"/>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54864" cy="896112"/>
          </a:xfrm>
          <a:prstGeom prst="rect">
            <a:avLst/>
          </a:prstGeom>
          <a:solidFill>
            <a:srgbClr val="10B981"/>
          </a:solidFill>
          <a:ln/>
        </p:spPr>
        <p:txBody>
          <a:bodyPr/>
          <a:lstStyle/>
          <a:p>
            <a:endParaRPr lang="fr-FR"/>
          </a:p>
        </p:txBody>
      </p:sp>
      <p:sp>
        <p:nvSpPr>
          <p:cNvPr id="9" name="Text 6"/>
          <p:cNvSpPr/>
          <p:nvPr/>
        </p:nvSpPr>
        <p:spPr>
          <a:xfrm>
            <a:off x="438912" y="1207008"/>
            <a:ext cx="45720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0" name="Text 7"/>
          <p:cNvSpPr/>
          <p:nvPr/>
        </p:nvSpPr>
        <p:spPr>
          <a:xfrm>
            <a:off x="987552" y="1097280"/>
            <a:ext cx="3657600" cy="274320"/>
          </a:xfrm>
          <a:prstGeom prst="rect">
            <a:avLst/>
          </a:prstGeom>
          <a:noFill/>
          <a:ln/>
        </p:spPr>
        <p:txBody>
          <a:bodyPr wrap="square" lIns="0" tIns="0" rIns="0" bIns="0" rtlCol="0" anchor="ctr"/>
          <a:lstStyle/>
          <a:p>
            <a:pPr marL="0" indent="0">
              <a:buNone/>
            </a:pPr>
            <a:r>
              <a:rPr lang="en-US" sz="1200" b="1" dirty="0">
                <a:solidFill>
                  <a:srgbClr val="0D1B2A"/>
                </a:solidFill>
              </a:rPr>
              <a:t>CV (obligatoire)</a:t>
            </a:r>
            <a:endParaRPr lang="en-US" sz="1200" dirty="0"/>
          </a:p>
        </p:txBody>
      </p:sp>
      <p:sp>
        <p:nvSpPr>
          <p:cNvPr id="11" name="Shape 8"/>
          <p:cNvSpPr/>
          <p:nvPr/>
        </p:nvSpPr>
        <p:spPr>
          <a:xfrm>
            <a:off x="4709160" y="1097280"/>
            <a:ext cx="914400" cy="237744"/>
          </a:xfrm>
          <a:prstGeom prst="rect">
            <a:avLst/>
          </a:prstGeom>
          <a:solidFill>
            <a:srgbClr val="E8F5E9"/>
          </a:solidFill>
          <a:ln/>
        </p:spPr>
        <p:txBody>
          <a:bodyPr/>
          <a:lstStyle/>
          <a:p>
            <a:endParaRPr lang="fr-FR"/>
          </a:p>
        </p:txBody>
      </p:sp>
      <p:sp>
        <p:nvSpPr>
          <p:cNvPr id="12" name="Text 9"/>
          <p:cNvSpPr/>
          <p:nvPr/>
        </p:nvSpPr>
        <p:spPr>
          <a:xfrm>
            <a:off x="4709160" y="1097280"/>
            <a:ext cx="914400" cy="237744"/>
          </a:xfrm>
          <a:prstGeom prst="rect">
            <a:avLst/>
          </a:prstGeom>
          <a:noFill/>
          <a:ln/>
        </p:spPr>
        <p:txBody>
          <a:bodyPr wrap="square" rtlCol="0" anchor="ctr"/>
          <a:lstStyle/>
          <a:p>
            <a:pPr marL="0" indent="0" algn="ctr">
              <a:buNone/>
            </a:pPr>
            <a:r>
              <a:rPr lang="en-US" sz="850" b="1" dirty="0">
                <a:solidFill>
                  <a:srgbClr val="10B981"/>
                </a:solidFill>
              </a:rPr>
              <a:t>Requis</a:t>
            </a:r>
            <a:endParaRPr lang="en-US" sz="850" dirty="0"/>
          </a:p>
        </p:txBody>
      </p:sp>
      <p:sp>
        <p:nvSpPr>
          <p:cNvPr id="13" name="Text 10"/>
          <p:cNvSpPr/>
          <p:nvPr/>
        </p:nvSpPr>
        <p:spPr>
          <a:xfrm>
            <a:off x="987552" y="1408176"/>
            <a:ext cx="4526280" cy="438912"/>
          </a:xfrm>
          <a:prstGeom prst="rect">
            <a:avLst/>
          </a:prstGeom>
          <a:noFill/>
          <a:ln/>
        </p:spPr>
        <p:txBody>
          <a:bodyPr wrap="square" rtlCol="0" anchor="ctr"/>
          <a:lstStyle/>
          <a:p>
            <a:pPr marL="0" indent="0">
              <a:lnSpc>
                <a:spcPct val="130000"/>
              </a:lnSpc>
              <a:buNone/>
            </a:pPr>
            <a:r>
              <a:rPr lang="en-US" sz="900" dirty="0">
                <a:solidFill>
                  <a:srgbClr val="5A6A7A"/>
                </a:solidFill>
              </a:rPr>
              <a:t>1 page maximum. Format PDF. Nom du fichier : Prenom_Nom_CV.pdf. Adapté au poste (mettez en avant les compétences demandées).</a:t>
            </a:r>
            <a:endParaRPr lang="en-US" sz="900" dirty="0"/>
          </a:p>
        </p:txBody>
      </p:sp>
      <p:sp>
        <p:nvSpPr>
          <p:cNvPr id="14" name="Shape 11"/>
          <p:cNvSpPr/>
          <p:nvPr/>
        </p:nvSpPr>
        <p:spPr>
          <a:xfrm>
            <a:off x="5742432" y="1078992"/>
            <a:ext cx="2999232" cy="749808"/>
          </a:xfrm>
          <a:prstGeom prst="rect">
            <a:avLst/>
          </a:prstGeom>
          <a:solidFill>
            <a:srgbClr val="E0F7FA"/>
          </a:solidFill>
          <a:ln/>
        </p:spPr>
        <p:txBody>
          <a:bodyPr/>
          <a:lstStyle/>
          <a:p>
            <a:endParaRPr lang="fr-FR"/>
          </a:p>
        </p:txBody>
      </p:sp>
      <p:sp>
        <p:nvSpPr>
          <p:cNvPr id="15" name="Text 12"/>
          <p:cNvSpPr/>
          <p:nvPr/>
        </p:nvSpPr>
        <p:spPr>
          <a:xfrm>
            <a:off x="5815584" y="1115568"/>
            <a:ext cx="2852928" cy="676656"/>
          </a:xfrm>
          <a:prstGeom prst="rect">
            <a:avLst/>
          </a:prstGeom>
          <a:noFill/>
          <a:ln/>
        </p:spPr>
        <p:txBody>
          <a:bodyPr wrap="square" rtlCol="0" anchor="ctr"/>
          <a:lstStyle/>
          <a:p>
            <a:pPr marL="0" indent="0">
              <a:lnSpc>
                <a:spcPct val="130000"/>
              </a:lnSpc>
              <a:buNone/>
            </a:pPr>
            <a:r>
              <a:rPr lang="en-US" sz="850" dirty="0">
                <a:solidFill>
                  <a:srgbClr val="00796B"/>
                </a:solidFill>
              </a:rPr>
              <a:t>📌 Mauvais : « CV_final_v3.docx »</a:t>
            </a:r>
            <a:endParaRPr lang="en-US" sz="850" dirty="0"/>
          </a:p>
          <a:p>
            <a:pPr marL="0" indent="0">
              <a:lnSpc>
                <a:spcPct val="130000"/>
              </a:lnSpc>
              <a:buNone/>
            </a:pPr>
            <a:r>
              <a:rPr lang="en-US" sz="850" dirty="0">
                <a:solidFill>
                  <a:srgbClr val="00796B"/>
                </a:solidFill>
              </a:rPr>
              <a:t>Bon : « Marie_Martin_CV.pdf »</a:t>
            </a:r>
            <a:endParaRPr lang="en-US" sz="850" dirty="0"/>
          </a:p>
        </p:txBody>
      </p:sp>
      <p:sp>
        <p:nvSpPr>
          <p:cNvPr id="16" name="Shape 13"/>
          <p:cNvSpPr/>
          <p:nvPr/>
        </p:nvSpPr>
        <p:spPr>
          <a:xfrm>
            <a:off x="320040" y="1993392"/>
            <a:ext cx="8503920" cy="896112"/>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7" name="Shape 14"/>
          <p:cNvSpPr/>
          <p:nvPr/>
        </p:nvSpPr>
        <p:spPr>
          <a:xfrm>
            <a:off x="320040" y="1993392"/>
            <a:ext cx="54864" cy="896112"/>
          </a:xfrm>
          <a:prstGeom prst="rect">
            <a:avLst/>
          </a:prstGeom>
          <a:solidFill>
            <a:srgbClr val="1565C0"/>
          </a:solidFill>
          <a:ln/>
        </p:spPr>
        <p:txBody>
          <a:bodyPr/>
          <a:lstStyle/>
          <a:p>
            <a:endParaRPr lang="fr-FR"/>
          </a:p>
        </p:txBody>
      </p:sp>
      <p:sp>
        <p:nvSpPr>
          <p:cNvPr id="18" name="Text 15"/>
          <p:cNvSpPr/>
          <p:nvPr/>
        </p:nvSpPr>
        <p:spPr>
          <a:xfrm>
            <a:off x="438912" y="2194560"/>
            <a:ext cx="45720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9" name="Text 16"/>
          <p:cNvSpPr/>
          <p:nvPr/>
        </p:nvSpPr>
        <p:spPr>
          <a:xfrm>
            <a:off x="987552" y="2084832"/>
            <a:ext cx="3657600" cy="274320"/>
          </a:xfrm>
          <a:prstGeom prst="rect">
            <a:avLst/>
          </a:prstGeom>
          <a:noFill/>
          <a:ln/>
        </p:spPr>
        <p:txBody>
          <a:bodyPr wrap="square" lIns="0" tIns="0" rIns="0" bIns="0" rtlCol="0" anchor="ctr"/>
          <a:lstStyle/>
          <a:p>
            <a:pPr marL="0" indent="0">
              <a:buNone/>
            </a:pPr>
            <a:r>
              <a:rPr lang="en-US" sz="1200" b="1" dirty="0">
                <a:solidFill>
                  <a:srgbClr val="0D1B2A"/>
                </a:solidFill>
              </a:rPr>
              <a:t>Lettre de motivation (souvent demandée)</a:t>
            </a:r>
            <a:endParaRPr lang="en-US" sz="1200" dirty="0"/>
          </a:p>
        </p:txBody>
      </p:sp>
      <p:sp>
        <p:nvSpPr>
          <p:cNvPr id="20" name="Shape 17"/>
          <p:cNvSpPr/>
          <p:nvPr/>
        </p:nvSpPr>
        <p:spPr>
          <a:xfrm>
            <a:off x="4709160" y="2084832"/>
            <a:ext cx="914400" cy="237744"/>
          </a:xfrm>
          <a:prstGeom prst="rect">
            <a:avLst/>
          </a:prstGeom>
          <a:solidFill>
            <a:srgbClr val="E8F5E9"/>
          </a:solidFill>
          <a:ln/>
        </p:spPr>
        <p:txBody>
          <a:bodyPr/>
          <a:lstStyle/>
          <a:p>
            <a:endParaRPr lang="fr-FR"/>
          </a:p>
        </p:txBody>
      </p:sp>
      <p:sp>
        <p:nvSpPr>
          <p:cNvPr id="21" name="Text 18"/>
          <p:cNvSpPr/>
          <p:nvPr/>
        </p:nvSpPr>
        <p:spPr>
          <a:xfrm>
            <a:off x="4709160" y="2084832"/>
            <a:ext cx="914400" cy="237744"/>
          </a:xfrm>
          <a:prstGeom prst="rect">
            <a:avLst/>
          </a:prstGeom>
          <a:noFill/>
          <a:ln/>
        </p:spPr>
        <p:txBody>
          <a:bodyPr wrap="square" rtlCol="0" anchor="ctr"/>
          <a:lstStyle/>
          <a:p>
            <a:pPr marL="0" indent="0" algn="ctr">
              <a:buNone/>
            </a:pPr>
            <a:r>
              <a:rPr lang="en-US" sz="850" b="1" dirty="0">
                <a:solidFill>
                  <a:srgbClr val="10B981"/>
                </a:solidFill>
              </a:rPr>
              <a:t>Requis</a:t>
            </a:r>
            <a:endParaRPr lang="en-US" sz="850" dirty="0"/>
          </a:p>
        </p:txBody>
      </p:sp>
      <p:sp>
        <p:nvSpPr>
          <p:cNvPr id="22" name="Text 19"/>
          <p:cNvSpPr/>
          <p:nvPr/>
        </p:nvSpPr>
        <p:spPr>
          <a:xfrm>
            <a:off x="987552" y="2395728"/>
            <a:ext cx="4526280" cy="438912"/>
          </a:xfrm>
          <a:prstGeom prst="rect">
            <a:avLst/>
          </a:prstGeom>
          <a:noFill/>
          <a:ln/>
        </p:spPr>
        <p:txBody>
          <a:bodyPr wrap="square" rtlCol="0" anchor="ctr"/>
          <a:lstStyle/>
          <a:p>
            <a:pPr marL="0" indent="0">
              <a:lnSpc>
                <a:spcPct val="130000"/>
              </a:lnSpc>
              <a:buNone/>
            </a:pPr>
            <a:r>
              <a:rPr lang="en-US" sz="900" dirty="0">
                <a:solidFill>
                  <a:srgbClr val="5A6A7A"/>
                </a:solidFill>
              </a:rPr>
              <a:t>1 page. En PDF. Personnalisée pour CETTE entreprise. Répondez aux 3 questions : qui je suis, pourquoi eux, pourquoi moi.</a:t>
            </a:r>
            <a:endParaRPr lang="en-US" sz="900" dirty="0"/>
          </a:p>
        </p:txBody>
      </p:sp>
      <p:sp>
        <p:nvSpPr>
          <p:cNvPr id="23" name="Shape 20"/>
          <p:cNvSpPr/>
          <p:nvPr/>
        </p:nvSpPr>
        <p:spPr>
          <a:xfrm>
            <a:off x="5742432" y="2066544"/>
            <a:ext cx="2999232" cy="749808"/>
          </a:xfrm>
          <a:prstGeom prst="rect">
            <a:avLst/>
          </a:prstGeom>
          <a:solidFill>
            <a:srgbClr val="E0F7FA"/>
          </a:solidFill>
          <a:ln/>
        </p:spPr>
        <p:txBody>
          <a:bodyPr/>
          <a:lstStyle/>
          <a:p>
            <a:endParaRPr lang="fr-FR"/>
          </a:p>
        </p:txBody>
      </p:sp>
      <p:sp>
        <p:nvSpPr>
          <p:cNvPr id="24" name="Text 21"/>
          <p:cNvSpPr/>
          <p:nvPr/>
        </p:nvSpPr>
        <p:spPr>
          <a:xfrm>
            <a:off x="5815584" y="2103120"/>
            <a:ext cx="2852928" cy="676656"/>
          </a:xfrm>
          <a:prstGeom prst="rect">
            <a:avLst/>
          </a:prstGeom>
          <a:noFill/>
          <a:ln/>
        </p:spPr>
        <p:txBody>
          <a:bodyPr wrap="square" rtlCol="0" anchor="ctr"/>
          <a:lstStyle/>
          <a:p>
            <a:pPr marL="0" indent="0">
              <a:lnSpc>
                <a:spcPct val="130000"/>
              </a:lnSpc>
              <a:buNone/>
            </a:pPr>
            <a:r>
              <a:rPr lang="en-US" sz="850" dirty="0">
                <a:solidFill>
                  <a:srgbClr val="00796B"/>
                </a:solidFill>
              </a:rPr>
              <a:t>📌 Erreur fréquente : copier-coller la même lettre partout → les recruteurs le voient tout de suite.</a:t>
            </a:r>
            <a:endParaRPr lang="en-US" sz="850" dirty="0"/>
          </a:p>
        </p:txBody>
      </p:sp>
      <p:sp>
        <p:nvSpPr>
          <p:cNvPr id="25" name="Shape 22"/>
          <p:cNvSpPr/>
          <p:nvPr/>
        </p:nvSpPr>
        <p:spPr>
          <a:xfrm>
            <a:off x="320040" y="2980944"/>
            <a:ext cx="8503920" cy="896112"/>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6" name="Shape 23"/>
          <p:cNvSpPr/>
          <p:nvPr/>
        </p:nvSpPr>
        <p:spPr>
          <a:xfrm>
            <a:off x="320040" y="2980944"/>
            <a:ext cx="54864" cy="896112"/>
          </a:xfrm>
          <a:prstGeom prst="rect">
            <a:avLst/>
          </a:prstGeom>
          <a:solidFill>
            <a:srgbClr val="6A3FA0"/>
          </a:solidFill>
          <a:ln/>
        </p:spPr>
        <p:txBody>
          <a:bodyPr/>
          <a:lstStyle/>
          <a:p>
            <a:endParaRPr lang="fr-FR"/>
          </a:p>
        </p:txBody>
      </p:sp>
      <p:sp>
        <p:nvSpPr>
          <p:cNvPr id="27" name="Text 24"/>
          <p:cNvSpPr/>
          <p:nvPr/>
        </p:nvSpPr>
        <p:spPr>
          <a:xfrm>
            <a:off x="438912" y="3182112"/>
            <a:ext cx="45720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28" name="Text 25"/>
          <p:cNvSpPr/>
          <p:nvPr/>
        </p:nvSpPr>
        <p:spPr>
          <a:xfrm>
            <a:off x="987552" y="3072384"/>
            <a:ext cx="3657600" cy="274320"/>
          </a:xfrm>
          <a:prstGeom prst="rect">
            <a:avLst/>
          </a:prstGeom>
          <a:noFill/>
          <a:ln/>
        </p:spPr>
        <p:txBody>
          <a:bodyPr wrap="square" lIns="0" tIns="0" rIns="0" bIns="0" rtlCol="0" anchor="ctr"/>
          <a:lstStyle/>
          <a:p>
            <a:pPr marL="0" indent="0">
              <a:buNone/>
            </a:pPr>
            <a:r>
              <a:rPr lang="en-US" sz="1200" b="1" dirty="0">
                <a:solidFill>
                  <a:srgbClr val="0D1B2A"/>
                </a:solidFill>
              </a:rPr>
              <a:t>Portfolio / Liens (si applicable)</a:t>
            </a:r>
            <a:endParaRPr lang="en-US" sz="1200" dirty="0"/>
          </a:p>
        </p:txBody>
      </p:sp>
      <p:sp>
        <p:nvSpPr>
          <p:cNvPr id="29" name="Shape 26"/>
          <p:cNvSpPr/>
          <p:nvPr/>
        </p:nvSpPr>
        <p:spPr>
          <a:xfrm>
            <a:off x="4709160" y="3072384"/>
            <a:ext cx="914400" cy="237744"/>
          </a:xfrm>
          <a:prstGeom prst="rect">
            <a:avLst/>
          </a:prstGeom>
          <a:solidFill>
            <a:srgbClr val="FFF9C4"/>
          </a:solidFill>
          <a:ln/>
        </p:spPr>
        <p:txBody>
          <a:bodyPr/>
          <a:lstStyle/>
          <a:p>
            <a:endParaRPr lang="fr-FR"/>
          </a:p>
        </p:txBody>
      </p:sp>
      <p:sp>
        <p:nvSpPr>
          <p:cNvPr id="30" name="Text 27"/>
          <p:cNvSpPr/>
          <p:nvPr/>
        </p:nvSpPr>
        <p:spPr>
          <a:xfrm>
            <a:off x="4709160" y="3072384"/>
            <a:ext cx="914400" cy="237744"/>
          </a:xfrm>
          <a:prstGeom prst="rect">
            <a:avLst/>
          </a:prstGeom>
          <a:noFill/>
          <a:ln/>
        </p:spPr>
        <p:txBody>
          <a:bodyPr wrap="square" rtlCol="0" anchor="ctr"/>
          <a:lstStyle/>
          <a:p>
            <a:pPr marL="0" indent="0" algn="ctr">
              <a:buNone/>
            </a:pPr>
            <a:r>
              <a:rPr lang="en-US" sz="850" b="1" dirty="0">
                <a:solidFill>
                  <a:srgbClr val="B8860B"/>
                </a:solidFill>
              </a:rPr>
              <a:t>Optionnel</a:t>
            </a:r>
            <a:endParaRPr lang="en-US" sz="850" dirty="0"/>
          </a:p>
        </p:txBody>
      </p:sp>
      <p:sp>
        <p:nvSpPr>
          <p:cNvPr id="31" name="Text 28"/>
          <p:cNvSpPr/>
          <p:nvPr/>
        </p:nvSpPr>
        <p:spPr>
          <a:xfrm>
            <a:off x="987552" y="3383280"/>
            <a:ext cx="4526280" cy="438912"/>
          </a:xfrm>
          <a:prstGeom prst="rect">
            <a:avLst/>
          </a:prstGeom>
          <a:noFill/>
          <a:ln/>
        </p:spPr>
        <p:txBody>
          <a:bodyPr wrap="square" rtlCol="0" anchor="ctr"/>
          <a:lstStyle/>
          <a:p>
            <a:pPr marL="0" indent="0">
              <a:lnSpc>
                <a:spcPct val="130000"/>
              </a:lnSpc>
              <a:buNone/>
            </a:pPr>
            <a:r>
              <a:rPr lang="en-US" sz="900" dirty="0">
                <a:solidFill>
                  <a:srgbClr val="5A6A7A"/>
                </a:solidFill>
              </a:rPr>
              <a:t>Si votre métier le permet (graphisme, web, photo, menuiserie…) : ajoutez un lien vers vos réalisations ou photos de travaux.</a:t>
            </a:r>
            <a:endParaRPr lang="en-US" sz="900" dirty="0"/>
          </a:p>
        </p:txBody>
      </p:sp>
      <p:sp>
        <p:nvSpPr>
          <p:cNvPr id="32" name="Shape 29"/>
          <p:cNvSpPr/>
          <p:nvPr/>
        </p:nvSpPr>
        <p:spPr>
          <a:xfrm>
            <a:off x="5742432" y="3054096"/>
            <a:ext cx="2999232" cy="749808"/>
          </a:xfrm>
          <a:prstGeom prst="rect">
            <a:avLst/>
          </a:prstGeom>
          <a:solidFill>
            <a:srgbClr val="E0F7FA"/>
          </a:solidFill>
          <a:ln/>
        </p:spPr>
        <p:txBody>
          <a:bodyPr/>
          <a:lstStyle/>
          <a:p>
            <a:endParaRPr lang="fr-FR"/>
          </a:p>
        </p:txBody>
      </p:sp>
      <p:sp>
        <p:nvSpPr>
          <p:cNvPr id="33" name="Text 30"/>
          <p:cNvSpPr/>
          <p:nvPr/>
        </p:nvSpPr>
        <p:spPr>
          <a:xfrm>
            <a:off x="5815584" y="3090672"/>
            <a:ext cx="2852928" cy="676656"/>
          </a:xfrm>
          <a:prstGeom prst="rect">
            <a:avLst/>
          </a:prstGeom>
          <a:noFill/>
          <a:ln/>
        </p:spPr>
        <p:txBody>
          <a:bodyPr wrap="square" rtlCol="0" anchor="ctr"/>
          <a:lstStyle/>
          <a:p>
            <a:pPr marL="0" indent="0">
              <a:lnSpc>
                <a:spcPct val="130000"/>
              </a:lnSpc>
              <a:buNone/>
            </a:pPr>
            <a:r>
              <a:rPr lang="en-US" sz="850" dirty="0">
                <a:solidFill>
                  <a:srgbClr val="00796B"/>
                </a:solidFill>
              </a:rPr>
              <a:t>📌 Ex : « Voir mes réalisations : instagram.com/marie_photos »</a:t>
            </a:r>
            <a:endParaRPr lang="en-US" sz="850" dirty="0"/>
          </a:p>
          <a:p>
            <a:pPr marL="0" indent="0">
              <a:lnSpc>
                <a:spcPct val="130000"/>
              </a:lnSpc>
              <a:buNone/>
            </a:pPr>
            <a:r>
              <a:rPr lang="en-US" sz="850" dirty="0">
                <a:solidFill>
                  <a:srgbClr val="00796B"/>
                </a:solidFill>
              </a:rPr>
              <a:t>Ou : « Portfolio : mariedesign.fr »</a:t>
            </a:r>
            <a:endParaRPr lang="en-US" sz="850" dirty="0"/>
          </a:p>
        </p:txBody>
      </p:sp>
      <p:sp>
        <p:nvSpPr>
          <p:cNvPr id="34" name="Shape 31"/>
          <p:cNvSpPr/>
          <p:nvPr/>
        </p:nvSpPr>
        <p:spPr>
          <a:xfrm>
            <a:off x="320040" y="3968496"/>
            <a:ext cx="8503920" cy="896112"/>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35" name="Shape 32"/>
          <p:cNvSpPr/>
          <p:nvPr/>
        </p:nvSpPr>
        <p:spPr>
          <a:xfrm>
            <a:off x="320040" y="3968496"/>
            <a:ext cx="54864" cy="896112"/>
          </a:xfrm>
          <a:prstGeom prst="rect">
            <a:avLst/>
          </a:prstGeom>
          <a:solidFill>
            <a:srgbClr val="F59E0B"/>
          </a:solidFill>
          <a:ln/>
        </p:spPr>
        <p:txBody>
          <a:bodyPr/>
          <a:lstStyle/>
          <a:p>
            <a:endParaRPr lang="fr-FR"/>
          </a:p>
        </p:txBody>
      </p:sp>
      <p:sp>
        <p:nvSpPr>
          <p:cNvPr id="36" name="Text 33"/>
          <p:cNvSpPr/>
          <p:nvPr/>
        </p:nvSpPr>
        <p:spPr>
          <a:xfrm>
            <a:off x="438912" y="4169664"/>
            <a:ext cx="45720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37" name="Text 34"/>
          <p:cNvSpPr/>
          <p:nvPr/>
        </p:nvSpPr>
        <p:spPr>
          <a:xfrm>
            <a:off x="987552" y="4059936"/>
            <a:ext cx="3657600" cy="274320"/>
          </a:xfrm>
          <a:prstGeom prst="rect">
            <a:avLst/>
          </a:prstGeom>
          <a:noFill/>
          <a:ln/>
        </p:spPr>
        <p:txBody>
          <a:bodyPr wrap="square" lIns="0" tIns="0" rIns="0" bIns="0" rtlCol="0" anchor="ctr"/>
          <a:lstStyle/>
          <a:p>
            <a:pPr marL="0" indent="0">
              <a:buNone/>
            </a:pPr>
            <a:r>
              <a:rPr lang="en-US" sz="1200" b="1" dirty="0">
                <a:solidFill>
                  <a:srgbClr val="0D1B2A"/>
                </a:solidFill>
              </a:rPr>
              <a:t>Diplômes / Certificats (si demandés)</a:t>
            </a:r>
            <a:endParaRPr lang="en-US" sz="1200" dirty="0"/>
          </a:p>
        </p:txBody>
      </p:sp>
      <p:sp>
        <p:nvSpPr>
          <p:cNvPr id="38" name="Shape 35"/>
          <p:cNvSpPr/>
          <p:nvPr/>
        </p:nvSpPr>
        <p:spPr>
          <a:xfrm>
            <a:off x="4709160" y="4059936"/>
            <a:ext cx="914400" cy="237744"/>
          </a:xfrm>
          <a:prstGeom prst="rect">
            <a:avLst/>
          </a:prstGeom>
          <a:solidFill>
            <a:srgbClr val="FFF9C4"/>
          </a:solidFill>
          <a:ln/>
        </p:spPr>
        <p:txBody>
          <a:bodyPr/>
          <a:lstStyle/>
          <a:p>
            <a:endParaRPr lang="fr-FR"/>
          </a:p>
        </p:txBody>
      </p:sp>
      <p:sp>
        <p:nvSpPr>
          <p:cNvPr id="39" name="Text 36"/>
          <p:cNvSpPr/>
          <p:nvPr/>
        </p:nvSpPr>
        <p:spPr>
          <a:xfrm>
            <a:off x="4709160" y="4059936"/>
            <a:ext cx="914400" cy="237744"/>
          </a:xfrm>
          <a:prstGeom prst="rect">
            <a:avLst/>
          </a:prstGeom>
          <a:noFill/>
          <a:ln/>
        </p:spPr>
        <p:txBody>
          <a:bodyPr wrap="square" rtlCol="0" anchor="ctr"/>
          <a:lstStyle/>
          <a:p>
            <a:pPr marL="0" indent="0" algn="ctr">
              <a:buNone/>
            </a:pPr>
            <a:r>
              <a:rPr lang="en-US" sz="850" b="1" dirty="0">
                <a:solidFill>
                  <a:srgbClr val="B8860B"/>
                </a:solidFill>
              </a:rPr>
              <a:t>Optionnel</a:t>
            </a:r>
            <a:endParaRPr lang="en-US" sz="850" dirty="0"/>
          </a:p>
        </p:txBody>
      </p:sp>
      <p:sp>
        <p:nvSpPr>
          <p:cNvPr id="40" name="Text 37"/>
          <p:cNvSpPr/>
          <p:nvPr/>
        </p:nvSpPr>
        <p:spPr>
          <a:xfrm>
            <a:off x="987552" y="4370832"/>
            <a:ext cx="4526280" cy="438912"/>
          </a:xfrm>
          <a:prstGeom prst="rect">
            <a:avLst/>
          </a:prstGeom>
          <a:noFill/>
          <a:ln/>
        </p:spPr>
        <p:txBody>
          <a:bodyPr wrap="square" rtlCol="0" anchor="ctr"/>
          <a:lstStyle/>
          <a:p>
            <a:pPr marL="0" indent="0">
              <a:lnSpc>
                <a:spcPct val="130000"/>
              </a:lnSpc>
              <a:buNone/>
            </a:pPr>
            <a:r>
              <a:rPr lang="en-US" sz="900" dirty="0">
                <a:solidFill>
                  <a:srgbClr val="5A6A7A"/>
                </a:solidFill>
              </a:rPr>
              <a:t>Uniquement si l'offre le demande expressément. Scannez-les en PDF. N'envoyez jamais les originaux.</a:t>
            </a:r>
            <a:endParaRPr lang="en-US" sz="900" dirty="0"/>
          </a:p>
        </p:txBody>
      </p:sp>
      <p:sp>
        <p:nvSpPr>
          <p:cNvPr id="41" name="Shape 38"/>
          <p:cNvSpPr/>
          <p:nvPr/>
        </p:nvSpPr>
        <p:spPr>
          <a:xfrm>
            <a:off x="5742432" y="4041648"/>
            <a:ext cx="2999232" cy="749808"/>
          </a:xfrm>
          <a:prstGeom prst="rect">
            <a:avLst/>
          </a:prstGeom>
          <a:solidFill>
            <a:srgbClr val="E0F7FA"/>
          </a:solidFill>
          <a:ln/>
        </p:spPr>
        <p:txBody>
          <a:bodyPr/>
          <a:lstStyle/>
          <a:p>
            <a:endParaRPr lang="fr-FR"/>
          </a:p>
        </p:txBody>
      </p:sp>
      <p:sp>
        <p:nvSpPr>
          <p:cNvPr id="42" name="Text 39"/>
          <p:cNvSpPr/>
          <p:nvPr/>
        </p:nvSpPr>
        <p:spPr>
          <a:xfrm>
            <a:off x="5815584" y="4078224"/>
            <a:ext cx="2852928" cy="676656"/>
          </a:xfrm>
          <a:prstGeom prst="rect">
            <a:avLst/>
          </a:prstGeom>
          <a:noFill/>
          <a:ln/>
        </p:spPr>
        <p:txBody>
          <a:bodyPr wrap="square" rtlCol="0" anchor="ctr"/>
          <a:lstStyle/>
          <a:p>
            <a:pPr marL="0" indent="0">
              <a:lnSpc>
                <a:spcPct val="130000"/>
              </a:lnSpc>
              <a:buNone/>
            </a:pPr>
            <a:r>
              <a:rPr lang="en-US" sz="850" dirty="0">
                <a:solidFill>
                  <a:srgbClr val="00796B"/>
                </a:solidFill>
              </a:rPr>
              <a:t>📌 L'offre dit « Joindre copie du permis CACES » → scannez et joignez en PDF. Sinon, attendez l'entretien.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796B"/>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5 · SLIDE 19</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Suivre ses candidatures — Ne rien oublier</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Un tableau simple pour organiser votre recherche</a:t>
            </a:r>
            <a:endParaRPr lang="en-US" sz="900" dirty="0"/>
          </a:p>
        </p:txBody>
      </p:sp>
      <p:sp>
        <p:nvSpPr>
          <p:cNvPr id="7" name="Text 4"/>
          <p:cNvSpPr/>
          <p:nvPr/>
        </p:nvSpPr>
        <p:spPr>
          <a:xfrm>
            <a:off x="365760" y="987552"/>
            <a:ext cx="8412480" cy="274320"/>
          </a:xfrm>
          <a:prstGeom prst="rect">
            <a:avLst/>
          </a:prstGeom>
          <a:noFill/>
          <a:ln/>
        </p:spPr>
        <p:txBody>
          <a:bodyPr wrap="square" rtlCol="0" anchor="ctr"/>
          <a:lstStyle/>
          <a:p>
            <a:pPr marL="0" indent="0">
              <a:buNone/>
            </a:pPr>
            <a:r>
              <a:rPr lang="en-US" sz="1200" b="1" dirty="0">
                <a:solidFill>
                  <a:srgbClr val="0D1B2A"/>
                </a:solidFill>
              </a:rPr>
              <a:t>Pourquoi tenir un tableau de suivi ?</a:t>
            </a:r>
            <a:endParaRPr lang="en-US" sz="1200" dirty="0"/>
          </a:p>
        </p:txBody>
      </p:sp>
      <p:sp>
        <p:nvSpPr>
          <p:cNvPr id="8" name="Text 5"/>
          <p:cNvSpPr/>
          <p:nvPr/>
        </p:nvSpPr>
        <p:spPr>
          <a:xfrm>
            <a:off x="365760" y="1280160"/>
            <a:ext cx="8412480" cy="411480"/>
          </a:xfrm>
          <a:prstGeom prst="rect">
            <a:avLst/>
          </a:prstGeom>
          <a:noFill/>
          <a:ln/>
        </p:spPr>
        <p:txBody>
          <a:bodyPr wrap="square" rtlCol="0" anchor="ctr"/>
          <a:lstStyle/>
          <a:p>
            <a:pPr marL="0" indent="0">
              <a:lnSpc>
                <a:spcPct val="140000"/>
              </a:lnSpc>
              <a:buNone/>
            </a:pPr>
            <a:r>
              <a:rPr lang="en-US" sz="1050" dirty="0">
                <a:solidFill>
                  <a:srgbClr val="5A6A7A"/>
                </a:solidFill>
              </a:rPr>
              <a:t>Quand on postule à plusieurs offres, on perd vite le fil : « Ai-je déjà postulé là ? Quand ? Ont-ils répondu ? » Un tableau évite les oublis et vous rappelle quand relancer.</a:t>
            </a:r>
            <a:endParaRPr lang="en-US" sz="1050" dirty="0"/>
          </a:p>
        </p:txBody>
      </p:sp>
      <p:sp>
        <p:nvSpPr>
          <p:cNvPr id="9" name="Shape 6"/>
          <p:cNvSpPr/>
          <p:nvPr/>
        </p:nvSpPr>
        <p:spPr>
          <a:xfrm>
            <a:off x="320040" y="1828800"/>
            <a:ext cx="8503920" cy="347472"/>
          </a:xfrm>
          <a:prstGeom prst="rect">
            <a:avLst/>
          </a:prstGeom>
          <a:solidFill>
            <a:srgbClr val="0B1F3A"/>
          </a:solidFill>
          <a:ln/>
        </p:spPr>
        <p:txBody>
          <a:bodyPr/>
          <a:lstStyle/>
          <a:p>
            <a:endParaRPr lang="fr-FR"/>
          </a:p>
        </p:txBody>
      </p:sp>
      <p:sp>
        <p:nvSpPr>
          <p:cNvPr id="10" name="Text 7"/>
          <p:cNvSpPr/>
          <p:nvPr/>
        </p:nvSpPr>
        <p:spPr>
          <a:xfrm>
            <a:off x="347472" y="1847088"/>
            <a:ext cx="1691640" cy="310896"/>
          </a:xfrm>
          <a:prstGeom prst="rect">
            <a:avLst/>
          </a:prstGeom>
          <a:noFill/>
          <a:ln/>
        </p:spPr>
        <p:txBody>
          <a:bodyPr wrap="square" rtlCol="0" anchor="ctr"/>
          <a:lstStyle/>
          <a:p>
            <a:pPr marL="0" indent="0">
              <a:buNone/>
            </a:pPr>
            <a:r>
              <a:rPr lang="en-US" sz="950" b="1" dirty="0">
                <a:solidFill>
                  <a:srgbClr val="FFFFFF"/>
                </a:solidFill>
              </a:rPr>
              <a:t>Entreprise</a:t>
            </a:r>
            <a:endParaRPr lang="en-US" sz="950" dirty="0"/>
          </a:p>
        </p:txBody>
      </p:sp>
      <p:sp>
        <p:nvSpPr>
          <p:cNvPr id="11" name="Text 8"/>
          <p:cNvSpPr/>
          <p:nvPr/>
        </p:nvSpPr>
        <p:spPr>
          <a:xfrm>
            <a:off x="2039112" y="1847088"/>
            <a:ext cx="1417320" cy="310896"/>
          </a:xfrm>
          <a:prstGeom prst="rect">
            <a:avLst/>
          </a:prstGeom>
          <a:noFill/>
          <a:ln/>
        </p:spPr>
        <p:txBody>
          <a:bodyPr wrap="square" rtlCol="0" anchor="ctr"/>
          <a:lstStyle/>
          <a:p>
            <a:pPr marL="0" indent="0">
              <a:buNone/>
            </a:pPr>
            <a:r>
              <a:rPr lang="en-US" sz="950" b="1" dirty="0">
                <a:solidFill>
                  <a:srgbClr val="FFFFFF"/>
                </a:solidFill>
              </a:rPr>
              <a:t>Poste</a:t>
            </a:r>
            <a:endParaRPr lang="en-US" sz="950" dirty="0"/>
          </a:p>
        </p:txBody>
      </p:sp>
      <p:sp>
        <p:nvSpPr>
          <p:cNvPr id="12" name="Text 9"/>
          <p:cNvSpPr/>
          <p:nvPr/>
        </p:nvSpPr>
        <p:spPr>
          <a:xfrm>
            <a:off x="3456432" y="1847088"/>
            <a:ext cx="914400" cy="310896"/>
          </a:xfrm>
          <a:prstGeom prst="rect">
            <a:avLst/>
          </a:prstGeom>
          <a:noFill/>
          <a:ln/>
        </p:spPr>
        <p:txBody>
          <a:bodyPr wrap="square" rtlCol="0" anchor="ctr"/>
          <a:lstStyle/>
          <a:p>
            <a:pPr marL="0" indent="0">
              <a:buNone/>
            </a:pPr>
            <a:r>
              <a:rPr lang="en-US" sz="950" b="1" dirty="0">
                <a:solidFill>
                  <a:srgbClr val="FFFFFF"/>
                </a:solidFill>
              </a:rPr>
              <a:t>Date envoi</a:t>
            </a:r>
            <a:endParaRPr lang="en-US" sz="950" dirty="0"/>
          </a:p>
        </p:txBody>
      </p:sp>
      <p:sp>
        <p:nvSpPr>
          <p:cNvPr id="13" name="Text 10"/>
          <p:cNvSpPr/>
          <p:nvPr/>
        </p:nvSpPr>
        <p:spPr>
          <a:xfrm>
            <a:off x="4370832" y="1847088"/>
            <a:ext cx="1371600" cy="310896"/>
          </a:xfrm>
          <a:prstGeom prst="rect">
            <a:avLst/>
          </a:prstGeom>
          <a:noFill/>
          <a:ln/>
        </p:spPr>
        <p:txBody>
          <a:bodyPr wrap="square" rtlCol="0" anchor="ctr"/>
          <a:lstStyle/>
          <a:p>
            <a:pPr marL="0" indent="0">
              <a:buNone/>
            </a:pPr>
            <a:r>
              <a:rPr lang="en-US" sz="950" b="1" dirty="0">
                <a:solidFill>
                  <a:srgbClr val="FFFFFF"/>
                </a:solidFill>
              </a:rPr>
              <a:t>Plateforme</a:t>
            </a:r>
            <a:endParaRPr lang="en-US" sz="950" dirty="0"/>
          </a:p>
        </p:txBody>
      </p:sp>
      <p:sp>
        <p:nvSpPr>
          <p:cNvPr id="14" name="Text 11"/>
          <p:cNvSpPr/>
          <p:nvPr/>
        </p:nvSpPr>
        <p:spPr>
          <a:xfrm>
            <a:off x="5742432" y="1847088"/>
            <a:ext cx="1325880" cy="310896"/>
          </a:xfrm>
          <a:prstGeom prst="rect">
            <a:avLst/>
          </a:prstGeom>
          <a:noFill/>
          <a:ln/>
        </p:spPr>
        <p:txBody>
          <a:bodyPr wrap="square" rtlCol="0" anchor="ctr"/>
          <a:lstStyle/>
          <a:p>
            <a:pPr marL="0" indent="0">
              <a:buNone/>
            </a:pPr>
            <a:r>
              <a:rPr lang="en-US" sz="950" b="1" dirty="0">
                <a:solidFill>
                  <a:srgbClr val="FFFFFF"/>
                </a:solidFill>
              </a:rPr>
              <a:t>Statut</a:t>
            </a:r>
            <a:endParaRPr lang="en-US" sz="950" dirty="0"/>
          </a:p>
        </p:txBody>
      </p:sp>
      <p:sp>
        <p:nvSpPr>
          <p:cNvPr id="15" name="Text 12"/>
          <p:cNvSpPr/>
          <p:nvPr/>
        </p:nvSpPr>
        <p:spPr>
          <a:xfrm>
            <a:off x="7068312" y="1847088"/>
            <a:ext cx="1371600" cy="310896"/>
          </a:xfrm>
          <a:prstGeom prst="rect">
            <a:avLst/>
          </a:prstGeom>
          <a:noFill/>
          <a:ln/>
        </p:spPr>
        <p:txBody>
          <a:bodyPr wrap="square" rtlCol="0" anchor="ctr"/>
          <a:lstStyle/>
          <a:p>
            <a:pPr marL="0" indent="0">
              <a:buNone/>
            </a:pPr>
            <a:r>
              <a:rPr lang="en-US" sz="950" b="1" dirty="0">
                <a:solidFill>
                  <a:srgbClr val="FFFFFF"/>
                </a:solidFill>
              </a:rPr>
              <a:t>À relancer le</a:t>
            </a:r>
            <a:endParaRPr lang="en-US" sz="950" dirty="0"/>
          </a:p>
        </p:txBody>
      </p:sp>
      <p:sp>
        <p:nvSpPr>
          <p:cNvPr id="16" name="Shape 13"/>
          <p:cNvSpPr/>
          <p:nvPr/>
        </p:nvSpPr>
        <p:spPr>
          <a:xfrm>
            <a:off x="320040" y="2212848"/>
            <a:ext cx="8503920" cy="438912"/>
          </a:xfrm>
          <a:prstGeom prst="rect">
            <a:avLst/>
          </a:prstGeom>
          <a:solidFill>
            <a:srgbClr val="FFFFFF"/>
          </a:solidFill>
          <a:ln/>
        </p:spPr>
        <p:txBody>
          <a:bodyPr/>
          <a:lstStyle/>
          <a:p>
            <a:endParaRPr lang="fr-FR"/>
          </a:p>
        </p:txBody>
      </p:sp>
      <p:sp>
        <p:nvSpPr>
          <p:cNvPr id="17" name="Text 14"/>
          <p:cNvSpPr/>
          <p:nvPr/>
        </p:nvSpPr>
        <p:spPr>
          <a:xfrm>
            <a:off x="347472" y="2304288"/>
            <a:ext cx="1691640" cy="274320"/>
          </a:xfrm>
          <a:prstGeom prst="rect">
            <a:avLst/>
          </a:prstGeom>
          <a:noFill/>
          <a:ln/>
        </p:spPr>
        <p:txBody>
          <a:bodyPr wrap="square" rtlCol="0" anchor="ctr"/>
          <a:lstStyle/>
          <a:p>
            <a:pPr marL="0" indent="0">
              <a:buNone/>
            </a:pPr>
            <a:r>
              <a:rPr lang="en-US" sz="950" dirty="0">
                <a:solidFill>
                  <a:srgbClr val="0D1B2A"/>
                </a:solidFill>
              </a:rPr>
              <a:t>Carrefour Villejuif</a:t>
            </a:r>
            <a:endParaRPr lang="en-US" sz="950" dirty="0"/>
          </a:p>
        </p:txBody>
      </p:sp>
      <p:sp>
        <p:nvSpPr>
          <p:cNvPr id="18" name="Text 15"/>
          <p:cNvSpPr/>
          <p:nvPr/>
        </p:nvSpPr>
        <p:spPr>
          <a:xfrm>
            <a:off x="2039112" y="2304288"/>
            <a:ext cx="1417320" cy="274320"/>
          </a:xfrm>
          <a:prstGeom prst="rect">
            <a:avLst/>
          </a:prstGeom>
          <a:noFill/>
          <a:ln/>
        </p:spPr>
        <p:txBody>
          <a:bodyPr wrap="square" rtlCol="0" anchor="ctr"/>
          <a:lstStyle/>
          <a:p>
            <a:pPr marL="0" indent="0">
              <a:buNone/>
            </a:pPr>
            <a:r>
              <a:rPr lang="en-US" sz="950" dirty="0">
                <a:solidFill>
                  <a:srgbClr val="0D1B2A"/>
                </a:solidFill>
              </a:rPr>
              <a:t>Caissière</a:t>
            </a:r>
            <a:endParaRPr lang="en-US" sz="950" dirty="0"/>
          </a:p>
        </p:txBody>
      </p:sp>
      <p:sp>
        <p:nvSpPr>
          <p:cNvPr id="19" name="Text 16"/>
          <p:cNvSpPr/>
          <p:nvPr/>
        </p:nvSpPr>
        <p:spPr>
          <a:xfrm>
            <a:off x="3456432" y="2304288"/>
            <a:ext cx="914400" cy="274320"/>
          </a:xfrm>
          <a:prstGeom prst="rect">
            <a:avLst/>
          </a:prstGeom>
          <a:noFill/>
          <a:ln/>
        </p:spPr>
        <p:txBody>
          <a:bodyPr wrap="square" rtlCol="0" anchor="ctr"/>
          <a:lstStyle/>
          <a:p>
            <a:pPr marL="0" indent="0">
              <a:buNone/>
            </a:pPr>
            <a:r>
              <a:rPr lang="en-US" sz="950" dirty="0">
                <a:solidFill>
                  <a:srgbClr val="0D1B2A"/>
                </a:solidFill>
              </a:rPr>
              <a:t>02/05/2026</a:t>
            </a:r>
            <a:endParaRPr lang="en-US" sz="950" dirty="0"/>
          </a:p>
        </p:txBody>
      </p:sp>
      <p:sp>
        <p:nvSpPr>
          <p:cNvPr id="20" name="Text 17"/>
          <p:cNvSpPr/>
          <p:nvPr/>
        </p:nvSpPr>
        <p:spPr>
          <a:xfrm>
            <a:off x="4370832" y="2304288"/>
            <a:ext cx="1371600" cy="274320"/>
          </a:xfrm>
          <a:prstGeom prst="rect">
            <a:avLst/>
          </a:prstGeom>
          <a:noFill/>
          <a:ln/>
        </p:spPr>
        <p:txBody>
          <a:bodyPr wrap="square" rtlCol="0" anchor="ctr"/>
          <a:lstStyle/>
          <a:p>
            <a:pPr marL="0" indent="0">
              <a:buNone/>
            </a:pPr>
            <a:r>
              <a:rPr lang="en-US" sz="950" dirty="0">
                <a:solidFill>
                  <a:srgbClr val="0D1B2A"/>
                </a:solidFill>
              </a:rPr>
              <a:t>Pôle Emploi</a:t>
            </a:r>
            <a:endParaRPr lang="en-US" sz="950" dirty="0"/>
          </a:p>
        </p:txBody>
      </p:sp>
      <p:sp>
        <p:nvSpPr>
          <p:cNvPr id="21" name="Text 18"/>
          <p:cNvSpPr/>
          <p:nvPr/>
        </p:nvSpPr>
        <p:spPr>
          <a:xfrm>
            <a:off x="5742432" y="2304288"/>
            <a:ext cx="1325880" cy="274320"/>
          </a:xfrm>
          <a:prstGeom prst="rect">
            <a:avLst/>
          </a:prstGeom>
          <a:noFill/>
          <a:ln/>
        </p:spPr>
        <p:txBody>
          <a:bodyPr wrap="square" rtlCol="0" anchor="ctr"/>
          <a:lstStyle/>
          <a:p>
            <a:pPr marL="0" indent="0">
              <a:buNone/>
            </a:pPr>
            <a:r>
              <a:rPr lang="en-US" sz="950" dirty="0">
                <a:solidFill>
                  <a:srgbClr val="10B981"/>
                </a:solidFill>
              </a:rPr>
              <a:t>✅ Réponse reçue</a:t>
            </a:r>
            <a:endParaRPr lang="en-US" sz="950" dirty="0"/>
          </a:p>
        </p:txBody>
      </p:sp>
      <p:sp>
        <p:nvSpPr>
          <p:cNvPr id="22" name="Text 19"/>
          <p:cNvSpPr/>
          <p:nvPr/>
        </p:nvSpPr>
        <p:spPr>
          <a:xfrm>
            <a:off x="7068312" y="2304288"/>
            <a:ext cx="1371600" cy="274320"/>
          </a:xfrm>
          <a:prstGeom prst="rect">
            <a:avLst/>
          </a:prstGeom>
          <a:noFill/>
          <a:ln/>
        </p:spPr>
        <p:txBody>
          <a:bodyPr wrap="square" rtlCol="0" anchor="ctr"/>
          <a:lstStyle/>
          <a:p>
            <a:pPr marL="0" indent="0">
              <a:buNone/>
            </a:pPr>
            <a:r>
              <a:rPr lang="en-US" sz="950" dirty="0">
                <a:solidFill>
                  <a:srgbClr val="0D1B2A"/>
                </a:solidFill>
              </a:rPr>
              <a:t>—</a:t>
            </a:r>
            <a:endParaRPr lang="en-US" sz="950" dirty="0"/>
          </a:p>
        </p:txBody>
      </p:sp>
      <p:sp>
        <p:nvSpPr>
          <p:cNvPr id="23" name="Shape 20"/>
          <p:cNvSpPr/>
          <p:nvPr/>
        </p:nvSpPr>
        <p:spPr>
          <a:xfrm>
            <a:off x="320040" y="2688336"/>
            <a:ext cx="8503920" cy="438912"/>
          </a:xfrm>
          <a:prstGeom prst="rect">
            <a:avLst/>
          </a:prstGeom>
          <a:solidFill>
            <a:srgbClr val="F4F8FC"/>
          </a:solidFill>
          <a:ln/>
        </p:spPr>
        <p:txBody>
          <a:bodyPr/>
          <a:lstStyle/>
          <a:p>
            <a:endParaRPr lang="fr-FR"/>
          </a:p>
        </p:txBody>
      </p:sp>
      <p:sp>
        <p:nvSpPr>
          <p:cNvPr id="24" name="Text 21"/>
          <p:cNvSpPr/>
          <p:nvPr/>
        </p:nvSpPr>
        <p:spPr>
          <a:xfrm>
            <a:off x="347472" y="2779776"/>
            <a:ext cx="1691640" cy="274320"/>
          </a:xfrm>
          <a:prstGeom prst="rect">
            <a:avLst/>
          </a:prstGeom>
          <a:noFill/>
          <a:ln/>
        </p:spPr>
        <p:txBody>
          <a:bodyPr wrap="square" rtlCol="0" anchor="ctr"/>
          <a:lstStyle/>
          <a:p>
            <a:pPr marL="0" indent="0">
              <a:buNone/>
            </a:pPr>
            <a:r>
              <a:rPr lang="en-US" sz="950" dirty="0">
                <a:solidFill>
                  <a:srgbClr val="0D1B2A"/>
                </a:solidFill>
              </a:rPr>
              <a:t>Monoprix Paris 15</a:t>
            </a:r>
            <a:endParaRPr lang="en-US" sz="950" dirty="0"/>
          </a:p>
        </p:txBody>
      </p:sp>
      <p:sp>
        <p:nvSpPr>
          <p:cNvPr id="25" name="Text 22"/>
          <p:cNvSpPr/>
          <p:nvPr/>
        </p:nvSpPr>
        <p:spPr>
          <a:xfrm>
            <a:off x="2039112" y="2779776"/>
            <a:ext cx="1417320" cy="274320"/>
          </a:xfrm>
          <a:prstGeom prst="rect">
            <a:avLst/>
          </a:prstGeom>
          <a:noFill/>
          <a:ln/>
        </p:spPr>
        <p:txBody>
          <a:bodyPr wrap="square" rtlCol="0" anchor="ctr"/>
          <a:lstStyle/>
          <a:p>
            <a:pPr marL="0" indent="0">
              <a:buNone/>
            </a:pPr>
            <a:r>
              <a:rPr lang="en-US" sz="950" dirty="0">
                <a:solidFill>
                  <a:srgbClr val="0D1B2A"/>
                </a:solidFill>
              </a:rPr>
              <a:t>Vendeuse</a:t>
            </a:r>
            <a:endParaRPr lang="en-US" sz="950" dirty="0"/>
          </a:p>
        </p:txBody>
      </p:sp>
      <p:sp>
        <p:nvSpPr>
          <p:cNvPr id="26" name="Text 23"/>
          <p:cNvSpPr/>
          <p:nvPr/>
        </p:nvSpPr>
        <p:spPr>
          <a:xfrm>
            <a:off x="3456432" y="2779776"/>
            <a:ext cx="914400" cy="274320"/>
          </a:xfrm>
          <a:prstGeom prst="rect">
            <a:avLst/>
          </a:prstGeom>
          <a:noFill/>
          <a:ln/>
        </p:spPr>
        <p:txBody>
          <a:bodyPr wrap="square" rtlCol="0" anchor="ctr"/>
          <a:lstStyle/>
          <a:p>
            <a:pPr marL="0" indent="0">
              <a:buNone/>
            </a:pPr>
            <a:r>
              <a:rPr lang="en-US" sz="950" dirty="0">
                <a:solidFill>
                  <a:srgbClr val="0D1B2A"/>
                </a:solidFill>
              </a:rPr>
              <a:t>05/05/2026</a:t>
            </a:r>
            <a:endParaRPr lang="en-US" sz="950" dirty="0"/>
          </a:p>
        </p:txBody>
      </p:sp>
      <p:sp>
        <p:nvSpPr>
          <p:cNvPr id="27" name="Text 24"/>
          <p:cNvSpPr/>
          <p:nvPr/>
        </p:nvSpPr>
        <p:spPr>
          <a:xfrm>
            <a:off x="4370832" y="2779776"/>
            <a:ext cx="1371600" cy="274320"/>
          </a:xfrm>
          <a:prstGeom prst="rect">
            <a:avLst/>
          </a:prstGeom>
          <a:noFill/>
          <a:ln/>
        </p:spPr>
        <p:txBody>
          <a:bodyPr wrap="square" rtlCol="0" anchor="ctr"/>
          <a:lstStyle/>
          <a:p>
            <a:pPr marL="0" indent="0">
              <a:buNone/>
            </a:pPr>
            <a:r>
              <a:rPr lang="en-US" sz="950" dirty="0">
                <a:solidFill>
                  <a:srgbClr val="0D1B2A"/>
                </a:solidFill>
              </a:rPr>
              <a:t>Indeed</a:t>
            </a:r>
            <a:endParaRPr lang="en-US" sz="950" dirty="0"/>
          </a:p>
        </p:txBody>
      </p:sp>
      <p:sp>
        <p:nvSpPr>
          <p:cNvPr id="28" name="Text 25"/>
          <p:cNvSpPr/>
          <p:nvPr/>
        </p:nvSpPr>
        <p:spPr>
          <a:xfrm>
            <a:off x="5742432" y="2779776"/>
            <a:ext cx="1325880" cy="274320"/>
          </a:xfrm>
          <a:prstGeom prst="rect">
            <a:avLst/>
          </a:prstGeom>
          <a:noFill/>
          <a:ln/>
        </p:spPr>
        <p:txBody>
          <a:bodyPr wrap="square" rtlCol="0" anchor="ctr"/>
          <a:lstStyle/>
          <a:p>
            <a:pPr marL="0" indent="0">
              <a:buNone/>
            </a:pPr>
            <a:r>
              <a:rPr lang="en-US" sz="950" dirty="0">
                <a:solidFill>
                  <a:srgbClr val="F59E0B"/>
                </a:solidFill>
              </a:rPr>
              <a:t>⏳ En attente</a:t>
            </a:r>
            <a:endParaRPr lang="en-US" sz="950" dirty="0"/>
          </a:p>
        </p:txBody>
      </p:sp>
      <p:sp>
        <p:nvSpPr>
          <p:cNvPr id="29" name="Text 26"/>
          <p:cNvSpPr/>
          <p:nvPr/>
        </p:nvSpPr>
        <p:spPr>
          <a:xfrm>
            <a:off x="7068312" y="2779776"/>
            <a:ext cx="1371600" cy="274320"/>
          </a:xfrm>
          <a:prstGeom prst="rect">
            <a:avLst/>
          </a:prstGeom>
          <a:noFill/>
          <a:ln/>
        </p:spPr>
        <p:txBody>
          <a:bodyPr wrap="square" rtlCol="0" anchor="ctr"/>
          <a:lstStyle/>
          <a:p>
            <a:pPr marL="0" indent="0">
              <a:buNone/>
            </a:pPr>
            <a:r>
              <a:rPr lang="en-US" sz="950" dirty="0">
                <a:solidFill>
                  <a:srgbClr val="0D1B2A"/>
                </a:solidFill>
              </a:rPr>
              <a:t>12/05/2026</a:t>
            </a:r>
            <a:endParaRPr lang="en-US" sz="950" dirty="0"/>
          </a:p>
        </p:txBody>
      </p:sp>
      <p:sp>
        <p:nvSpPr>
          <p:cNvPr id="30" name="Shape 27"/>
          <p:cNvSpPr/>
          <p:nvPr/>
        </p:nvSpPr>
        <p:spPr>
          <a:xfrm>
            <a:off x="320040" y="3163824"/>
            <a:ext cx="8503920" cy="438912"/>
          </a:xfrm>
          <a:prstGeom prst="rect">
            <a:avLst/>
          </a:prstGeom>
          <a:solidFill>
            <a:srgbClr val="FFFFFF"/>
          </a:solidFill>
          <a:ln/>
        </p:spPr>
        <p:txBody>
          <a:bodyPr/>
          <a:lstStyle/>
          <a:p>
            <a:endParaRPr lang="fr-FR"/>
          </a:p>
        </p:txBody>
      </p:sp>
      <p:sp>
        <p:nvSpPr>
          <p:cNvPr id="31" name="Text 28"/>
          <p:cNvSpPr/>
          <p:nvPr/>
        </p:nvSpPr>
        <p:spPr>
          <a:xfrm>
            <a:off x="347472" y="3255264"/>
            <a:ext cx="1691640" cy="274320"/>
          </a:xfrm>
          <a:prstGeom prst="rect">
            <a:avLst/>
          </a:prstGeom>
          <a:noFill/>
          <a:ln/>
        </p:spPr>
        <p:txBody>
          <a:bodyPr wrap="square" rtlCol="0" anchor="ctr"/>
          <a:lstStyle/>
          <a:p>
            <a:pPr marL="0" indent="0">
              <a:buNone/>
            </a:pPr>
            <a:r>
              <a:rPr lang="en-US" sz="950" dirty="0">
                <a:solidFill>
                  <a:srgbClr val="0D1B2A"/>
                </a:solidFill>
              </a:rPr>
              <a:t>Fnac Montparnasse</a:t>
            </a:r>
            <a:endParaRPr lang="en-US" sz="950" dirty="0"/>
          </a:p>
        </p:txBody>
      </p:sp>
      <p:sp>
        <p:nvSpPr>
          <p:cNvPr id="32" name="Text 29"/>
          <p:cNvSpPr/>
          <p:nvPr/>
        </p:nvSpPr>
        <p:spPr>
          <a:xfrm>
            <a:off x="2039112" y="3255264"/>
            <a:ext cx="1417320" cy="274320"/>
          </a:xfrm>
          <a:prstGeom prst="rect">
            <a:avLst/>
          </a:prstGeom>
          <a:noFill/>
          <a:ln/>
        </p:spPr>
        <p:txBody>
          <a:bodyPr wrap="square" rtlCol="0" anchor="ctr"/>
          <a:lstStyle/>
          <a:p>
            <a:pPr marL="0" indent="0">
              <a:buNone/>
            </a:pPr>
            <a:r>
              <a:rPr lang="en-US" sz="950" dirty="0">
                <a:solidFill>
                  <a:srgbClr val="0D1B2A"/>
                </a:solidFill>
              </a:rPr>
              <a:t>Conseil vente</a:t>
            </a:r>
            <a:endParaRPr lang="en-US" sz="950" dirty="0"/>
          </a:p>
        </p:txBody>
      </p:sp>
      <p:sp>
        <p:nvSpPr>
          <p:cNvPr id="33" name="Text 30"/>
          <p:cNvSpPr/>
          <p:nvPr/>
        </p:nvSpPr>
        <p:spPr>
          <a:xfrm>
            <a:off x="3456432" y="3255264"/>
            <a:ext cx="914400" cy="274320"/>
          </a:xfrm>
          <a:prstGeom prst="rect">
            <a:avLst/>
          </a:prstGeom>
          <a:noFill/>
          <a:ln/>
        </p:spPr>
        <p:txBody>
          <a:bodyPr wrap="square" rtlCol="0" anchor="ctr"/>
          <a:lstStyle/>
          <a:p>
            <a:pPr marL="0" indent="0">
              <a:buNone/>
            </a:pPr>
            <a:r>
              <a:rPr lang="en-US" sz="950" dirty="0">
                <a:solidFill>
                  <a:srgbClr val="0D1B2A"/>
                </a:solidFill>
              </a:rPr>
              <a:t>07/05/2026</a:t>
            </a:r>
            <a:endParaRPr lang="en-US" sz="950" dirty="0"/>
          </a:p>
        </p:txBody>
      </p:sp>
      <p:sp>
        <p:nvSpPr>
          <p:cNvPr id="34" name="Text 31"/>
          <p:cNvSpPr/>
          <p:nvPr/>
        </p:nvSpPr>
        <p:spPr>
          <a:xfrm>
            <a:off x="4370832" y="3255264"/>
            <a:ext cx="1371600" cy="274320"/>
          </a:xfrm>
          <a:prstGeom prst="rect">
            <a:avLst/>
          </a:prstGeom>
          <a:noFill/>
          <a:ln/>
        </p:spPr>
        <p:txBody>
          <a:bodyPr wrap="square" rtlCol="0" anchor="ctr"/>
          <a:lstStyle/>
          <a:p>
            <a:pPr marL="0" indent="0">
              <a:buNone/>
            </a:pPr>
            <a:r>
              <a:rPr lang="en-US" sz="950" dirty="0">
                <a:solidFill>
                  <a:srgbClr val="0D1B2A"/>
                </a:solidFill>
              </a:rPr>
              <a:t>LinkedIn</a:t>
            </a:r>
            <a:endParaRPr lang="en-US" sz="950" dirty="0"/>
          </a:p>
        </p:txBody>
      </p:sp>
      <p:sp>
        <p:nvSpPr>
          <p:cNvPr id="35" name="Text 32"/>
          <p:cNvSpPr/>
          <p:nvPr/>
        </p:nvSpPr>
        <p:spPr>
          <a:xfrm>
            <a:off x="5742432" y="3255264"/>
            <a:ext cx="1325880" cy="274320"/>
          </a:xfrm>
          <a:prstGeom prst="rect">
            <a:avLst/>
          </a:prstGeom>
          <a:noFill/>
          <a:ln/>
        </p:spPr>
        <p:txBody>
          <a:bodyPr wrap="square" rtlCol="0" anchor="ctr"/>
          <a:lstStyle/>
          <a:p>
            <a:pPr marL="0" indent="0">
              <a:buNone/>
            </a:pPr>
            <a:r>
              <a:rPr lang="en-US" sz="950" dirty="0">
                <a:solidFill>
                  <a:srgbClr val="0D1B2A"/>
                </a:solidFill>
              </a:rPr>
              <a:t>📞 Entretien 20/05</a:t>
            </a:r>
            <a:endParaRPr lang="en-US" sz="950" dirty="0"/>
          </a:p>
        </p:txBody>
      </p:sp>
      <p:sp>
        <p:nvSpPr>
          <p:cNvPr id="36" name="Text 33"/>
          <p:cNvSpPr/>
          <p:nvPr/>
        </p:nvSpPr>
        <p:spPr>
          <a:xfrm>
            <a:off x="7068312" y="3255264"/>
            <a:ext cx="1371600" cy="274320"/>
          </a:xfrm>
          <a:prstGeom prst="rect">
            <a:avLst/>
          </a:prstGeom>
          <a:noFill/>
          <a:ln/>
        </p:spPr>
        <p:txBody>
          <a:bodyPr wrap="square" rtlCol="0" anchor="ctr"/>
          <a:lstStyle/>
          <a:p>
            <a:pPr marL="0" indent="0">
              <a:buNone/>
            </a:pPr>
            <a:r>
              <a:rPr lang="en-US" sz="950" dirty="0">
                <a:solidFill>
                  <a:srgbClr val="0D1B2A"/>
                </a:solidFill>
              </a:rPr>
              <a:t>—</a:t>
            </a:r>
            <a:endParaRPr lang="en-US" sz="950" dirty="0"/>
          </a:p>
        </p:txBody>
      </p:sp>
      <p:sp>
        <p:nvSpPr>
          <p:cNvPr id="37" name="Shape 34"/>
          <p:cNvSpPr/>
          <p:nvPr/>
        </p:nvSpPr>
        <p:spPr>
          <a:xfrm>
            <a:off x="320040" y="3639312"/>
            <a:ext cx="8503920" cy="438912"/>
          </a:xfrm>
          <a:prstGeom prst="rect">
            <a:avLst/>
          </a:prstGeom>
          <a:solidFill>
            <a:srgbClr val="F4F8FC"/>
          </a:solidFill>
          <a:ln/>
        </p:spPr>
        <p:txBody>
          <a:bodyPr/>
          <a:lstStyle/>
          <a:p>
            <a:endParaRPr lang="fr-FR"/>
          </a:p>
        </p:txBody>
      </p:sp>
      <p:sp>
        <p:nvSpPr>
          <p:cNvPr id="38" name="Text 35"/>
          <p:cNvSpPr/>
          <p:nvPr/>
        </p:nvSpPr>
        <p:spPr>
          <a:xfrm>
            <a:off x="347472" y="3730752"/>
            <a:ext cx="1691640" cy="274320"/>
          </a:xfrm>
          <a:prstGeom prst="rect">
            <a:avLst/>
          </a:prstGeom>
          <a:noFill/>
          <a:ln/>
        </p:spPr>
        <p:txBody>
          <a:bodyPr wrap="square" rtlCol="0" anchor="ctr"/>
          <a:lstStyle/>
          <a:p>
            <a:pPr marL="0" indent="0">
              <a:buNone/>
            </a:pPr>
            <a:r>
              <a:rPr lang="en-US" sz="950" dirty="0">
                <a:solidFill>
                  <a:srgbClr val="0D1B2A"/>
                </a:solidFill>
              </a:rPr>
              <a:t>Bio c' Bon Bastille</a:t>
            </a:r>
            <a:endParaRPr lang="en-US" sz="950" dirty="0"/>
          </a:p>
        </p:txBody>
      </p:sp>
      <p:sp>
        <p:nvSpPr>
          <p:cNvPr id="39" name="Text 36"/>
          <p:cNvSpPr/>
          <p:nvPr/>
        </p:nvSpPr>
        <p:spPr>
          <a:xfrm>
            <a:off x="2039112" y="3730752"/>
            <a:ext cx="1417320" cy="274320"/>
          </a:xfrm>
          <a:prstGeom prst="rect">
            <a:avLst/>
          </a:prstGeom>
          <a:noFill/>
          <a:ln/>
        </p:spPr>
        <p:txBody>
          <a:bodyPr wrap="square" rtlCol="0" anchor="ctr"/>
          <a:lstStyle/>
          <a:p>
            <a:pPr marL="0" indent="0">
              <a:buNone/>
            </a:pPr>
            <a:r>
              <a:rPr lang="en-US" sz="950" dirty="0">
                <a:solidFill>
                  <a:srgbClr val="0D1B2A"/>
                </a:solidFill>
              </a:rPr>
              <a:t>Employé(e) libre-service</a:t>
            </a:r>
            <a:endParaRPr lang="en-US" sz="950" dirty="0"/>
          </a:p>
        </p:txBody>
      </p:sp>
      <p:sp>
        <p:nvSpPr>
          <p:cNvPr id="40" name="Text 37"/>
          <p:cNvSpPr/>
          <p:nvPr/>
        </p:nvSpPr>
        <p:spPr>
          <a:xfrm>
            <a:off x="3456432" y="3730752"/>
            <a:ext cx="914400" cy="274320"/>
          </a:xfrm>
          <a:prstGeom prst="rect">
            <a:avLst/>
          </a:prstGeom>
          <a:noFill/>
          <a:ln/>
        </p:spPr>
        <p:txBody>
          <a:bodyPr wrap="square" rtlCol="0" anchor="ctr"/>
          <a:lstStyle/>
          <a:p>
            <a:pPr marL="0" indent="0">
              <a:buNone/>
            </a:pPr>
            <a:r>
              <a:rPr lang="en-US" sz="950" dirty="0">
                <a:solidFill>
                  <a:srgbClr val="0D1B2A"/>
                </a:solidFill>
              </a:rPr>
              <a:t>10/05/2026</a:t>
            </a:r>
            <a:endParaRPr lang="en-US" sz="950" dirty="0"/>
          </a:p>
        </p:txBody>
      </p:sp>
      <p:sp>
        <p:nvSpPr>
          <p:cNvPr id="41" name="Text 38"/>
          <p:cNvSpPr/>
          <p:nvPr/>
        </p:nvSpPr>
        <p:spPr>
          <a:xfrm>
            <a:off x="4370832" y="3730752"/>
            <a:ext cx="1371600" cy="274320"/>
          </a:xfrm>
          <a:prstGeom prst="rect">
            <a:avLst/>
          </a:prstGeom>
          <a:noFill/>
          <a:ln/>
        </p:spPr>
        <p:txBody>
          <a:bodyPr wrap="square" rtlCol="0" anchor="ctr"/>
          <a:lstStyle/>
          <a:p>
            <a:pPr marL="0" indent="0">
              <a:buNone/>
            </a:pPr>
            <a:r>
              <a:rPr lang="en-US" sz="950" dirty="0">
                <a:solidFill>
                  <a:srgbClr val="0D1B2A"/>
                </a:solidFill>
              </a:rPr>
              <a:t>Email direct</a:t>
            </a:r>
            <a:endParaRPr lang="en-US" sz="950" dirty="0"/>
          </a:p>
        </p:txBody>
      </p:sp>
      <p:sp>
        <p:nvSpPr>
          <p:cNvPr id="42" name="Text 39"/>
          <p:cNvSpPr/>
          <p:nvPr/>
        </p:nvSpPr>
        <p:spPr>
          <a:xfrm>
            <a:off x="5742432" y="3730752"/>
            <a:ext cx="1325880" cy="274320"/>
          </a:xfrm>
          <a:prstGeom prst="rect">
            <a:avLst/>
          </a:prstGeom>
          <a:noFill/>
          <a:ln/>
        </p:spPr>
        <p:txBody>
          <a:bodyPr wrap="square" rtlCol="0" anchor="ctr"/>
          <a:lstStyle/>
          <a:p>
            <a:pPr marL="0" indent="0">
              <a:buNone/>
            </a:pPr>
            <a:r>
              <a:rPr lang="en-US" sz="950" dirty="0">
                <a:solidFill>
                  <a:srgbClr val="F59E0B"/>
                </a:solidFill>
              </a:rPr>
              <a:t>⏳ En attente</a:t>
            </a:r>
            <a:endParaRPr lang="en-US" sz="950" dirty="0"/>
          </a:p>
        </p:txBody>
      </p:sp>
      <p:sp>
        <p:nvSpPr>
          <p:cNvPr id="43" name="Text 40"/>
          <p:cNvSpPr/>
          <p:nvPr/>
        </p:nvSpPr>
        <p:spPr>
          <a:xfrm>
            <a:off x="7068312" y="3730752"/>
            <a:ext cx="1371600" cy="274320"/>
          </a:xfrm>
          <a:prstGeom prst="rect">
            <a:avLst/>
          </a:prstGeom>
          <a:noFill/>
          <a:ln/>
        </p:spPr>
        <p:txBody>
          <a:bodyPr wrap="square" rtlCol="0" anchor="ctr"/>
          <a:lstStyle/>
          <a:p>
            <a:pPr marL="0" indent="0">
              <a:buNone/>
            </a:pPr>
            <a:r>
              <a:rPr lang="en-US" sz="950" dirty="0">
                <a:solidFill>
                  <a:srgbClr val="0D1B2A"/>
                </a:solidFill>
              </a:rPr>
              <a:t>17/05/2026</a:t>
            </a:r>
            <a:endParaRPr lang="en-US" sz="950" dirty="0"/>
          </a:p>
        </p:txBody>
      </p:sp>
      <p:sp>
        <p:nvSpPr>
          <p:cNvPr id="44" name="Shape 41"/>
          <p:cNvSpPr/>
          <p:nvPr/>
        </p:nvSpPr>
        <p:spPr>
          <a:xfrm>
            <a:off x="320040" y="4114800"/>
            <a:ext cx="8503920" cy="438912"/>
          </a:xfrm>
          <a:prstGeom prst="rect">
            <a:avLst/>
          </a:prstGeom>
          <a:solidFill>
            <a:srgbClr val="FFFFFF"/>
          </a:solidFill>
          <a:ln/>
        </p:spPr>
        <p:txBody>
          <a:bodyPr/>
          <a:lstStyle/>
          <a:p>
            <a:endParaRPr lang="fr-FR"/>
          </a:p>
        </p:txBody>
      </p:sp>
      <p:sp>
        <p:nvSpPr>
          <p:cNvPr id="45" name="Text 42"/>
          <p:cNvSpPr/>
          <p:nvPr/>
        </p:nvSpPr>
        <p:spPr>
          <a:xfrm>
            <a:off x="347472" y="4206240"/>
            <a:ext cx="1691640" cy="274320"/>
          </a:xfrm>
          <a:prstGeom prst="rect">
            <a:avLst/>
          </a:prstGeom>
          <a:noFill/>
          <a:ln/>
        </p:spPr>
        <p:txBody>
          <a:bodyPr wrap="square" rtlCol="0" anchor="ctr"/>
          <a:lstStyle/>
          <a:p>
            <a:pPr marL="0" indent="0">
              <a:buNone/>
            </a:pPr>
            <a:r>
              <a:rPr lang="en-US" sz="950" dirty="0">
                <a:solidFill>
                  <a:srgbClr val="0D1B2A"/>
                </a:solidFill>
              </a:rPr>
              <a:t>Intermarché Issy</a:t>
            </a:r>
            <a:endParaRPr lang="en-US" sz="950" dirty="0"/>
          </a:p>
        </p:txBody>
      </p:sp>
      <p:sp>
        <p:nvSpPr>
          <p:cNvPr id="46" name="Text 43"/>
          <p:cNvSpPr/>
          <p:nvPr/>
        </p:nvSpPr>
        <p:spPr>
          <a:xfrm>
            <a:off x="2039112" y="4206240"/>
            <a:ext cx="1417320" cy="274320"/>
          </a:xfrm>
          <a:prstGeom prst="rect">
            <a:avLst/>
          </a:prstGeom>
          <a:noFill/>
          <a:ln/>
        </p:spPr>
        <p:txBody>
          <a:bodyPr wrap="square" rtlCol="0" anchor="ctr"/>
          <a:lstStyle/>
          <a:p>
            <a:pPr marL="0" indent="0">
              <a:buNone/>
            </a:pPr>
            <a:r>
              <a:rPr lang="en-US" sz="950" dirty="0">
                <a:solidFill>
                  <a:srgbClr val="0D1B2A"/>
                </a:solidFill>
              </a:rPr>
              <a:t>Caissière CDI</a:t>
            </a:r>
            <a:endParaRPr lang="en-US" sz="950" dirty="0"/>
          </a:p>
        </p:txBody>
      </p:sp>
      <p:sp>
        <p:nvSpPr>
          <p:cNvPr id="47" name="Text 44"/>
          <p:cNvSpPr/>
          <p:nvPr/>
        </p:nvSpPr>
        <p:spPr>
          <a:xfrm>
            <a:off x="3456432" y="4206240"/>
            <a:ext cx="914400" cy="274320"/>
          </a:xfrm>
          <a:prstGeom prst="rect">
            <a:avLst/>
          </a:prstGeom>
          <a:noFill/>
          <a:ln/>
        </p:spPr>
        <p:txBody>
          <a:bodyPr wrap="square" rtlCol="0" anchor="ctr"/>
          <a:lstStyle/>
          <a:p>
            <a:pPr marL="0" indent="0">
              <a:buNone/>
            </a:pPr>
            <a:r>
              <a:rPr lang="en-US" sz="950" dirty="0">
                <a:solidFill>
                  <a:srgbClr val="0D1B2A"/>
                </a:solidFill>
              </a:rPr>
              <a:t>12/05/2026</a:t>
            </a:r>
            <a:endParaRPr lang="en-US" sz="950" dirty="0"/>
          </a:p>
        </p:txBody>
      </p:sp>
      <p:sp>
        <p:nvSpPr>
          <p:cNvPr id="48" name="Text 45"/>
          <p:cNvSpPr/>
          <p:nvPr/>
        </p:nvSpPr>
        <p:spPr>
          <a:xfrm>
            <a:off x="4370832" y="4206240"/>
            <a:ext cx="1371600" cy="274320"/>
          </a:xfrm>
          <a:prstGeom prst="rect">
            <a:avLst/>
          </a:prstGeom>
          <a:noFill/>
          <a:ln/>
        </p:spPr>
        <p:txBody>
          <a:bodyPr wrap="square" rtlCol="0" anchor="ctr"/>
          <a:lstStyle/>
          <a:p>
            <a:pPr marL="0" indent="0">
              <a:buNone/>
            </a:pPr>
            <a:r>
              <a:rPr lang="en-US" sz="950" dirty="0">
                <a:solidFill>
                  <a:srgbClr val="0D1B2A"/>
                </a:solidFill>
              </a:rPr>
              <a:t>Welcome to the Jungle</a:t>
            </a:r>
            <a:endParaRPr lang="en-US" sz="950" dirty="0"/>
          </a:p>
        </p:txBody>
      </p:sp>
      <p:sp>
        <p:nvSpPr>
          <p:cNvPr id="49" name="Text 46"/>
          <p:cNvSpPr/>
          <p:nvPr/>
        </p:nvSpPr>
        <p:spPr>
          <a:xfrm>
            <a:off x="5742432" y="4206240"/>
            <a:ext cx="1325880" cy="274320"/>
          </a:xfrm>
          <a:prstGeom prst="rect">
            <a:avLst/>
          </a:prstGeom>
          <a:noFill/>
          <a:ln/>
        </p:spPr>
        <p:txBody>
          <a:bodyPr wrap="square" rtlCol="0" anchor="ctr"/>
          <a:lstStyle/>
          <a:p>
            <a:pPr marL="0" indent="0">
              <a:buNone/>
            </a:pPr>
            <a:r>
              <a:rPr lang="en-US" sz="950" dirty="0">
                <a:solidFill>
                  <a:srgbClr val="EF5350"/>
                </a:solidFill>
              </a:rPr>
              <a:t>❌ Refus reçu</a:t>
            </a:r>
            <a:endParaRPr lang="en-US" sz="950" dirty="0"/>
          </a:p>
        </p:txBody>
      </p:sp>
      <p:sp>
        <p:nvSpPr>
          <p:cNvPr id="50" name="Text 47"/>
          <p:cNvSpPr/>
          <p:nvPr/>
        </p:nvSpPr>
        <p:spPr>
          <a:xfrm>
            <a:off x="7068312" y="4206240"/>
            <a:ext cx="1371600" cy="274320"/>
          </a:xfrm>
          <a:prstGeom prst="rect">
            <a:avLst/>
          </a:prstGeom>
          <a:noFill/>
          <a:ln/>
        </p:spPr>
        <p:txBody>
          <a:bodyPr wrap="square" rtlCol="0" anchor="ctr"/>
          <a:lstStyle/>
          <a:p>
            <a:pPr marL="0" indent="0">
              <a:buNone/>
            </a:pPr>
            <a:r>
              <a:rPr lang="en-US" sz="950" dirty="0">
                <a:solidFill>
                  <a:srgbClr val="0D1B2A"/>
                </a:solidFill>
              </a:rPr>
              <a:t>—</a:t>
            </a:r>
            <a:endParaRPr lang="en-US" sz="950" dirty="0"/>
          </a:p>
        </p:txBody>
      </p:sp>
      <p:sp>
        <p:nvSpPr>
          <p:cNvPr id="51" name="Shape 48"/>
          <p:cNvSpPr/>
          <p:nvPr/>
        </p:nvSpPr>
        <p:spPr>
          <a:xfrm>
            <a:off x="320040" y="4645152"/>
            <a:ext cx="8503920" cy="347472"/>
          </a:xfrm>
          <a:prstGeom prst="rect">
            <a:avLst/>
          </a:prstGeom>
          <a:solidFill>
            <a:srgbClr val="E0F7FA"/>
          </a:solidFill>
          <a:ln/>
        </p:spPr>
        <p:txBody>
          <a:bodyPr/>
          <a:lstStyle/>
          <a:p>
            <a:endParaRPr lang="fr-FR"/>
          </a:p>
        </p:txBody>
      </p:sp>
      <p:sp>
        <p:nvSpPr>
          <p:cNvPr id="52" name="Text 49"/>
          <p:cNvSpPr/>
          <p:nvPr/>
        </p:nvSpPr>
        <p:spPr>
          <a:xfrm>
            <a:off x="457200" y="4663440"/>
            <a:ext cx="8321040" cy="310896"/>
          </a:xfrm>
          <a:prstGeom prst="rect">
            <a:avLst/>
          </a:prstGeom>
          <a:noFill/>
          <a:ln/>
        </p:spPr>
        <p:txBody>
          <a:bodyPr wrap="square" rtlCol="0" anchor="ctr"/>
          <a:lstStyle/>
          <a:p>
            <a:pPr marL="0" indent="0">
              <a:buNone/>
            </a:pPr>
            <a:r>
              <a:rPr lang="en-US" sz="950" dirty="0">
                <a:solidFill>
                  <a:srgbClr val="00796B"/>
                </a:solidFill>
              </a:rPr>
              <a:t>💡 Outil gratuit : Copiez ce tableau dans Google Sheets (sheets.google.com) ou dans un carnet papier. Mettez-le à jour après chaque candidature envoyée.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796B"/>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5 · SLIDE 20</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Comment relancer après une candidature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La relance = montrer votre motivation. Voici comment bien le faire</a:t>
            </a:r>
            <a:endParaRPr lang="en-US" sz="900" dirty="0"/>
          </a:p>
        </p:txBody>
      </p:sp>
      <p:sp>
        <p:nvSpPr>
          <p:cNvPr id="7" name="Text 4"/>
          <p:cNvSpPr/>
          <p:nvPr/>
        </p:nvSpPr>
        <p:spPr>
          <a:xfrm>
            <a:off x="365760" y="987552"/>
            <a:ext cx="8412480" cy="347472"/>
          </a:xfrm>
          <a:prstGeom prst="rect">
            <a:avLst/>
          </a:prstGeom>
          <a:noFill/>
          <a:ln/>
        </p:spPr>
        <p:txBody>
          <a:bodyPr wrap="square" rtlCol="0" anchor="ctr"/>
          <a:lstStyle/>
          <a:p>
            <a:pPr marL="0" indent="0">
              <a:lnSpc>
                <a:spcPct val="140000"/>
              </a:lnSpc>
              <a:buNone/>
            </a:pPr>
            <a:r>
              <a:rPr lang="en-US" sz="1100" dirty="0">
                <a:solidFill>
                  <a:srgbClr val="0D1B2A"/>
                </a:solidFill>
              </a:rPr>
              <a:t>Si vous n'avez pas de réponse après 7–10 jours ouvrés, vous avez le droit (et même intérêt !) de relancer l'entreprise poliment.</a:t>
            </a:r>
            <a:endParaRPr lang="en-US" sz="1100" dirty="0"/>
          </a:p>
        </p:txBody>
      </p:sp>
      <p:sp>
        <p:nvSpPr>
          <p:cNvPr id="8" name="Shape 5"/>
          <p:cNvSpPr/>
          <p:nvPr/>
        </p:nvSpPr>
        <p:spPr>
          <a:xfrm>
            <a:off x="320040" y="1463040"/>
            <a:ext cx="2029968" cy="20116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20040" y="1463040"/>
            <a:ext cx="2029968" cy="475488"/>
          </a:xfrm>
          <a:prstGeom prst="rect">
            <a:avLst/>
          </a:prstGeom>
          <a:solidFill>
            <a:srgbClr val="1565C0"/>
          </a:solidFill>
          <a:ln/>
        </p:spPr>
        <p:txBody>
          <a:bodyPr/>
          <a:lstStyle/>
          <a:p>
            <a:endParaRPr lang="fr-FR"/>
          </a:p>
        </p:txBody>
      </p:sp>
      <p:sp>
        <p:nvSpPr>
          <p:cNvPr id="10" name="Text 7"/>
          <p:cNvSpPr/>
          <p:nvPr/>
        </p:nvSpPr>
        <p:spPr>
          <a:xfrm>
            <a:off x="320040" y="1463040"/>
            <a:ext cx="2029968" cy="475488"/>
          </a:xfrm>
          <a:prstGeom prst="rect">
            <a:avLst/>
          </a:prstGeom>
          <a:noFill/>
          <a:ln/>
        </p:spPr>
        <p:txBody>
          <a:bodyPr wrap="square" rtlCol="0" anchor="ctr"/>
          <a:lstStyle/>
          <a:p>
            <a:pPr marL="0" indent="0" algn="ctr">
              <a:buNone/>
            </a:pPr>
            <a:r>
              <a:rPr lang="en-US" sz="1200" b="1" dirty="0">
                <a:solidFill>
                  <a:srgbClr val="FFFFFF"/>
                </a:solidFill>
              </a:rPr>
              <a:t>Jour 0</a:t>
            </a:r>
            <a:endParaRPr lang="en-US" sz="1200" dirty="0"/>
          </a:p>
        </p:txBody>
      </p:sp>
      <p:sp>
        <p:nvSpPr>
          <p:cNvPr id="11" name="Text 8"/>
          <p:cNvSpPr/>
          <p:nvPr/>
        </p:nvSpPr>
        <p:spPr>
          <a:xfrm>
            <a:off x="411480" y="1993392"/>
            <a:ext cx="1847088" cy="384048"/>
          </a:xfrm>
          <a:prstGeom prst="rect">
            <a:avLst/>
          </a:prstGeom>
          <a:noFill/>
          <a:ln/>
        </p:spPr>
        <p:txBody>
          <a:bodyPr wrap="square" rtlCol="0" anchor="ctr"/>
          <a:lstStyle/>
          <a:p>
            <a:pPr marL="0" indent="0">
              <a:lnSpc>
                <a:spcPct val="120000"/>
              </a:lnSpc>
              <a:buNone/>
            </a:pPr>
            <a:r>
              <a:rPr lang="en-US" sz="1050" b="1" dirty="0">
                <a:solidFill>
                  <a:srgbClr val="0D1B2A"/>
                </a:solidFill>
              </a:rPr>
              <a:t>Envoi de la candidature</a:t>
            </a:r>
            <a:endParaRPr lang="en-US" sz="1050" dirty="0"/>
          </a:p>
        </p:txBody>
      </p:sp>
      <p:sp>
        <p:nvSpPr>
          <p:cNvPr id="12" name="Text 9"/>
          <p:cNvSpPr/>
          <p:nvPr/>
        </p:nvSpPr>
        <p:spPr>
          <a:xfrm>
            <a:off x="411480" y="2423160"/>
            <a:ext cx="1847088" cy="960120"/>
          </a:xfrm>
          <a:prstGeom prst="rect">
            <a:avLst/>
          </a:prstGeom>
          <a:noFill/>
          <a:ln/>
        </p:spPr>
        <p:txBody>
          <a:bodyPr wrap="square" rtlCol="0" anchor="ctr"/>
          <a:lstStyle/>
          <a:p>
            <a:pPr marL="0" indent="0">
              <a:lnSpc>
                <a:spcPct val="135000"/>
              </a:lnSpc>
              <a:buNone/>
            </a:pPr>
            <a:r>
              <a:rPr lang="en-US" sz="950" dirty="0">
                <a:solidFill>
                  <a:srgbClr val="5A6A7A"/>
                </a:solidFill>
              </a:rPr>
              <a:t>Vous envoyez votre email ou postulez en ligne. Notez la date dans votre tableau.</a:t>
            </a:r>
            <a:endParaRPr lang="en-US" sz="950" dirty="0"/>
          </a:p>
        </p:txBody>
      </p:sp>
      <p:sp>
        <p:nvSpPr>
          <p:cNvPr id="13" name="Shape 10"/>
          <p:cNvSpPr/>
          <p:nvPr/>
        </p:nvSpPr>
        <p:spPr>
          <a:xfrm>
            <a:off x="2496312" y="1463040"/>
            <a:ext cx="2029968" cy="20116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4" name="Shape 11"/>
          <p:cNvSpPr/>
          <p:nvPr/>
        </p:nvSpPr>
        <p:spPr>
          <a:xfrm>
            <a:off x="2496312" y="1463040"/>
            <a:ext cx="2029968" cy="475488"/>
          </a:xfrm>
          <a:prstGeom prst="rect">
            <a:avLst/>
          </a:prstGeom>
          <a:solidFill>
            <a:srgbClr val="00796B"/>
          </a:solidFill>
          <a:ln/>
        </p:spPr>
        <p:txBody>
          <a:bodyPr/>
          <a:lstStyle/>
          <a:p>
            <a:endParaRPr lang="fr-FR"/>
          </a:p>
        </p:txBody>
      </p:sp>
      <p:sp>
        <p:nvSpPr>
          <p:cNvPr id="15" name="Text 12"/>
          <p:cNvSpPr/>
          <p:nvPr/>
        </p:nvSpPr>
        <p:spPr>
          <a:xfrm>
            <a:off x="2496312" y="1463040"/>
            <a:ext cx="2029968" cy="475488"/>
          </a:xfrm>
          <a:prstGeom prst="rect">
            <a:avLst/>
          </a:prstGeom>
          <a:noFill/>
          <a:ln/>
        </p:spPr>
        <p:txBody>
          <a:bodyPr wrap="square" rtlCol="0" anchor="ctr"/>
          <a:lstStyle/>
          <a:p>
            <a:pPr marL="0" indent="0" algn="ctr">
              <a:buNone/>
            </a:pPr>
            <a:r>
              <a:rPr lang="en-US" sz="1200" b="1" dirty="0">
                <a:solidFill>
                  <a:srgbClr val="FFFFFF"/>
                </a:solidFill>
              </a:rPr>
              <a:t>Jour 3–5</a:t>
            </a:r>
            <a:endParaRPr lang="en-US" sz="1200" dirty="0"/>
          </a:p>
        </p:txBody>
      </p:sp>
      <p:sp>
        <p:nvSpPr>
          <p:cNvPr id="16" name="Text 13"/>
          <p:cNvSpPr/>
          <p:nvPr/>
        </p:nvSpPr>
        <p:spPr>
          <a:xfrm>
            <a:off x="2587752" y="1993392"/>
            <a:ext cx="1847088" cy="384048"/>
          </a:xfrm>
          <a:prstGeom prst="rect">
            <a:avLst/>
          </a:prstGeom>
          <a:noFill/>
          <a:ln/>
        </p:spPr>
        <p:txBody>
          <a:bodyPr wrap="square" rtlCol="0" anchor="ctr"/>
          <a:lstStyle/>
          <a:p>
            <a:pPr marL="0" indent="0">
              <a:lnSpc>
                <a:spcPct val="120000"/>
              </a:lnSpc>
              <a:buNone/>
            </a:pPr>
            <a:r>
              <a:rPr lang="en-US" sz="1050" b="1" dirty="0">
                <a:solidFill>
                  <a:srgbClr val="0D1B2A"/>
                </a:solidFill>
              </a:rPr>
              <a:t>Confirmation de réception ?</a:t>
            </a:r>
            <a:endParaRPr lang="en-US" sz="1050" dirty="0"/>
          </a:p>
        </p:txBody>
      </p:sp>
      <p:sp>
        <p:nvSpPr>
          <p:cNvPr id="17" name="Text 14"/>
          <p:cNvSpPr/>
          <p:nvPr/>
        </p:nvSpPr>
        <p:spPr>
          <a:xfrm>
            <a:off x="2587752" y="2423160"/>
            <a:ext cx="1847088" cy="960120"/>
          </a:xfrm>
          <a:prstGeom prst="rect">
            <a:avLst/>
          </a:prstGeom>
          <a:noFill/>
          <a:ln/>
        </p:spPr>
        <p:txBody>
          <a:bodyPr wrap="square" rtlCol="0" anchor="ctr"/>
          <a:lstStyle/>
          <a:p>
            <a:pPr marL="0" indent="0">
              <a:lnSpc>
                <a:spcPct val="135000"/>
              </a:lnSpc>
              <a:buNone/>
            </a:pPr>
            <a:r>
              <a:rPr lang="en-US" sz="950" dirty="0">
                <a:solidFill>
                  <a:srgbClr val="5A6A7A"/>
                </a:solidFill>
              </a:rPr>
              <a:t>Sur certaines plateformes, vous recevez un email automatique de confirmation. Si non, c'est normal.</a:t>
            </a:r>
            <a:endParaRPr lang="en-US" sz="950" dirty="0"/>
          </a:p>
        </p:txBody>
      </p:sp>
      <p:sp>
        <p:nvSpPr>
          <p:cNvPr id="18" name="Shape 15"/>
          <p:cNvSpPr/>
          <p:nvPr/>
        </p:nvSpPr>
        <p:spPr>
          <a:xfrm>
            <a:off x="4672584" y="1463040"/>
            <a:ext cx="2029968" cy="20116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9" name="Shape 16"/>
          <p:cNvSpPr/>
          <p:nvPr/>
        </p:nvSpPr>
        <p:spPr>
          <a:xfrm>
            <a:off x="4672584" y="1463040"/>
            <a:ext cx="2029968" cy="475488"/>
          </a:xfrm>
          <a:prstGeom prst="rect">
            <a:avLst/>
          </a:prstGeom>
          <a:solidFill>
            <a:srgbClr val="F59E0B"/>
          </a:solidFill>
          <a:ln/>
        </p:spPr>
        <p:txBody>
          <a:bodyPr/>
          <a:lstStyle/>
          <a:p>
            <a:endParaRPr lang="fr-FR"/>
          </a:p>
        </p:txBody>
      </p:sp>
      <p:sp>
        <p:nvSpPr>
          <p:cNvPr id="20" name="Text 17"/>
          <p:cNvSpPr/>
          <p:nvPr/>
        </p:nvSpPr>
        <p:spPr>
          <a:xfrm>
            <a:off x="4672584" y="1463040"/>
            <a:ext cx="2029968" cy="475488"/>
          </a:xfrm>
          <a:prstGeom prst="rect">
            <a:avLst/>
          </a:prstGeom>
          <a:noFill/>
          <a:ln/>
        </p:spPr>
        <p:txBody>
          <a:bodyPr wrap="square" rtlCol="0" anchor="ctr"/>
          <a:lstStyle/>
          <a:p>
            <a:pPr marL="0" indent="0" algn="ctr">
              <a:buNone/>
            </a:pPr>
            <a:r>
              <a:rPr lang="en-US" sz="1200" b="1" dirty="0">
                <a:solidFill>
                  <a:srgbClr val="FFFFFF"/>
                </a:solidFill>
              </a:rPr>
              <a:t>Jour 7–10</a:t>
            </a:r>
            <a:endParaRPr lang="en-US" sz="1200" dirty="0"/>
          </a:p>
        </p:txBody>
      </p:sp>
      <p:sp>
        <p:nvSpPr>
          <p:cNvPr id="21" name="Text 18"/>
          <p:cNvSpPr/>
          <p:nvPr/>
        </p:nvSpPr>
        <p:spPr>
          <a:xfrm>
            <a:off x="4764024" y="1993392"/>
            <a:ext cx="1847088" cy="384048"/>
          </a:xfrm>
          <a:prstGeom prst="rect">
            <a:avLst/>
          </a:prstGeom>
          <a:noFill/>
          <a:ln/>
        </p:spPr>
        <p:txBody>
          <a:bodyPr wrap="square" rtlCol="0" anchor="ctr"/>
          <a:lstStyle/>
          <a:p>
            <a:pPr marL="0" indent="0">
              <a:lnSpc>
                <a:spcPct val="120000"/>
              </a:lnSpc>
              <a:buNone/>
            </a:pPr>
            <a:r>
              <a:rPr lang="en-US" sz="1050" b="1" dirty="0">
                <a:solidFill>
                  <a:srgbClr val="0D1B2A"/>
                </a:solidFill>
              </a:rPr>
              <a:t>Pas de réponse → Relancez</a:t>
            </a:r>
            <a:endParaRPr lang="en-US" sz="1050" dirty="0"/>
          </a:p>
        </p:txBody>
      </p:sp>
      <p:sp>
        <p:nvSpPr>
          <p:cNvPr id="22" name="Text 19"/>
          <p:cNvSpPr/>
          <p:nvPr/>
        </p:nvSpPr>
        <p:spPr>
          <a:xfrm>
            <a:off x="4764024" y="2423160"/>
            <a:ext cx="1847088" cy="960120"/>
          </a:xfrm>
          <a:prstGeom prst="rect">
            <a:avLst/>
          </a:prstGeom>
          <a:noFill/>
          <a:ln/>
        </p:spPr>
        <p:txBody>
          <a:bodyPr wrap="square" rtlCol="0" anchor="ctr"/>
          <a:lstStyle/>
          <a:p>
            <a:pPr marL="0" indent="0">
              <a:lnSpc>
                <a:spcPct val="135000"/>
              </a:lnSpc>
              <a:buNone/>
            </a:pPr>
            <a:r>
              <a:rPr lang="en-US" sz="950" dirty="0">
                <a:solidFill>
                  <a:srgbClr val="5A6A7A"/>
                </a:solidFill>
              </a:rPr>
              <a:t>Envoyez un email de relance poli. 1 relance maximum. Ne relancez pas tous les jours.</a:t>
            </a:r>
            <a:endParaRPr lang="en-US" sz="950" dirty="0"/>
          </a:p>
        </p:txBody>
      </p:sp>
      <p:sp>
        <p:nvSpPr>
          <p:cNvPr id="23" name="Shape 20"/>
          <p:cNvSpPr/>
          <p:nvPr/>
        </p:nvSpPr>
        <p:spPr>
          <a:xfrm>
            <a:off x="6848856" y="1463040"/>
            <a:ext cx="2029968" cy="20116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6848856" y="1463040"/>
            <a:ext cx="2029968" cy="475488"/>
          </a:xfrm>
          <a:prstGeom prst="rect">
            <a:avLst/>
          </a:prstGeom>
          <a:solidFill>
            <a:srgbClr val="EF5350"/>
          </a:solidFill>
          <a:ln/>
        </p:spPr>
        <p:txBody>
          <a:bodyPr/>
          <a:lstStyle/>
          <a:p>
            <a:endParaRPr lang="fr-FR"/>
          </a:p>
        </p:txBody>
      </p:sp>
      <p:sp>
        <p:nvSpPr>
          <p:cNvPr id="25" name="Text 22"/>
          <p:cNvSpPr/>
          <p:nvPr/>
        </p:nvSpPr>
        <p:spPr>
          <a:xfrm>
            <a:off x="6848856" y="1463040"/>
            <a:ext cx="2029968" cy="475488"/>
          </a:xfrm>
          <a:prstGeom prst="rect">
            <a:avLst/>
          </a:prstGeom>
          <a:noFill/>
          <a:ln/>
        </p:spPr>
        <p:txBody>
          <a:bodyPr wrap="square" rtlCol="0" anchor="ctr"/>
          <a:lstStyle/>
          <a:p>
            <a:pPr marL="0" indent="0" algn="ctr">
              <a:buNone/>
            </a:pPr>
            <a:r>
              <a:rPr lang="en-US" sz="1200" b="1" dirty="0">
                <a:solidFill>
                  <a:srgbClr val="FFFFFF"/>
                </a:solidFill>
              </a:rPr>
              <a:t>Jour 14+</a:t>
            </a:r>
            <a:endParaRPr lang="en-US" sz="1200" dirty="0"/>
          </a:p>
        </p:txBody>
      </p:sp>
      <p:sp>
        <p:nvSpPr>
          <p:cNvPr id="26" name="Text 23"/>
          <p:cNvSpPr/>
          <p:nvPr/>
        </p:nvSpPr>
        <p:spPr>
          <a:xfrm>
            <a:off x="6940296" y="1993392"/>
            <a:ext cx="1847088" cy="384048"/>
          </a:xfrm>
          <a:prstGeom prst="rect">
            <a:avLst/>
          </a:prstGeom>
          <a:noFill/>
          <a:ln/>
        </p:spPr>
        <p:txBody>
          <a:bodyPr wrap="square" rtlCol="0" anchor="ctr"/>
          <a:lstStyle/>
          <a:p>
            <a:pPr marL="0" indent="0">
              <a:lnSpc>
                <a:spcPct val="120000"/>
              </a:lnSpc>
              <a:buNone/>
            </a:pPr>
            <a:r>
              <a:rPr lang="en-US" sz="1050" b="1" dirty="0">
                <a:solidFill>
                  <a:srgbClr val="0D1B2A"/>
                </a:solidFill>
              </a:rPr>
              <a:t>Toujours rien → Passez à autre chose</a:t>
            </a:r>
            <a:endParaRPr lang="en-US" sz="1050" dirty="0"/>
          </a:p>
        </p:txBody>
      </p:sp>
      <p:sp>
        <p:nvSpPr>
          <p:cNvPr id="27" name="Text 24"/>
          <p:cNvSpPr/>
          <p:nvPr/>
        </p:nvSpPr>
        <p:spPr>
          <a:xfrm>
            <a:off x="6940296" y="2423160"/>
            <a:ext cx="1847088" cy="960120"/>
          </a:xfrm>
          <a:prstGeom prst="rect">
            <a:avLst/>
          </a:prstGeom>
          <a:noFill/>
          <a:ln/>
        </p:spPr>
        <p:txBody>
          <a:bodyPr wrap="square" rtlCol="0" anchor="ctr"/>
          <a:lstStyle/>
          <a:p>
            <a:pPr marL="0" indent="0">
              <a:lnSpc>
                <a:spcPct val="135000"/>
              </a:lnSpc>
              <a:buNone/>
            </a:pPr>
            <a:r>
              <a:rPr lang="en-US" sz="950" dirty="0">
                <a:solidFill>
                  <a:srgbClr val="5A6A7A"/>
                </a:solidFill>
              </a:rPr>
              <a:t>Si vous relancez et n'avez toujours pas de réponse, considérez que c'est un refus implicite. Continuez vos recherches.</a:t>
            </a:r>
            <a:endParaRPr lang="en-US" sz="950" dirty="0"/>
          </a:p>
        </p:txBody>
      </p:sp>
      <p:sp>
        <p:nvSpPr>
          <p:cNvPr id="28" name="Shape 25"/>
          <p:cNvSpPr/>
          <p:nvPr/>
        </p:nvSpPr>
        <p:spPr>
          <a:xfrm>
            <a:off x="320040" y="3566160"/>
            <a:ext cx="8503920" cy="1353312"/>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29" name="Shape 26"/>
          <p:cNvSpPr/>
          <p:nvPr/>
        </p:nvSpPr>
        <p:spPr>
          <a:xfrm>
            <a:off x="320040" y="3566160"/>
            <a:ext cx="54864" cy="1353312"/>
          </a:xfrm>
          <a:prstGeom prst="rect">
            <a:avLst/>
          </a:prstGeom>
          <a:solidFill>
            <a:srgbClr val="00ACC1"/>
          </a:solidFill>
          <a:ln/>
        </p:spPr>
        <p:txBody>
          <a:bodyPr/>
          <a:lstStyle/>
          <a:p>
            <a:endParaRPr lang="fr-FR"/>
          </a:p>
        </p:txBody>
      </p:sp>
      <p:sp>
        <p:nvSpPr>
          <p:cNvPr id="30" name="Text 27"/>
          <p:cNvSpPr/>
          <p:nvPr/>
        </p:nvSpPr>
        <p:spPr>
          <a:xfrm>
            <a:off x="457200" y="3639312"/>
            <a:ext cx="8275320" cy="237744"/>
          </a:xfrm>
          <a:prstGeom prst="rect">
            <a:avLst/>
          </a:prstGeom>
          <a:noFill/>
          <a:ln/>
        </p:spPr>
        <p:txBody>
          <a:bodyPr wrap="square" lIns="0" tIns="0" rIns="0" bIns="0" rtlCol="0" anchor="ctr"/>
          <a:lstStyle/>
          <a:p>
            <a:pPr marL="0" indent="0">
              <a:buNone/>
            </a:pPr>
            <a:r>
              <a:rPr lang="en-US" sz="900" b="1" dirty="0">
                <a:solidFill>
                  <a:srgbClr val="00ACC1"/>
                </a:solidFill>
              </a:rPr>
              <a:t>✏ Email de relance — Modèle à recopier</a:t>
            </a:r>
            <a:endParaRPr lang="en-US" sz="900" dirty="0"/>
          </a:p>
        </p:txBody>
      </p:sp>
      <p:sp>
        <p:nvSpPr>
          <p:cNvPr id="31" name="Text 28"/>
          <p:cNvSpPr/>
          <p:nvPr/>
        </p:nvSpPr>
        <p:spPr>
          <a:xfrm>
            <a:off x="457200" y="3895344"/>
            <a:ext cx="8275320" cy="950976"/>
          </a:xfrm>
          <a:prstGeom prst="rect">
            <a:avLst/>
          </a:prstGeom>
          <a:noFill/>
          <a:ln/>
        </p:spPr>
        <p:txBody>
          <a:bodyPr wrap="square" rtlCol="0" anchor="ctr"/>
          <a:lstStyle/>
          <a:p>
            <a:pPr marL="0" indent="0">
              <a:lnSpc>
                <a:spcPct val="135000"/>
              </a:lnSpc>
              <a:buNone/>
            </a:pPr>
            <a:r>
              <a:rPr lang="en-US" sz="950" dirty="0">
                <a:solidFill>
                  <a:srgbClr val="0D1B2A"/>
                </a:solidFill>
              </a:rPr>
              <a:t>Objet : Relance — Candidature Vendeuse du 05/05/2026 — Marie Martin</a:t>
            </a:r>
            <a:endParaRPr lang="en-US" sz="950" dirty="0"/>
          </a:p>
          <a:p>
            <a:pPr marL="0" indent="0">
              <a:lnSpc>
                <a:spcPct val="135000"/>
              </a:lnSpc>
              <a:buNone/>
            </a:pPr>
            <a:r>
              <a:rPr lang="en-US" sz="950" dirty="0">
                <a:solidFill>
                  <a:srgbClr val="0D1B2A"/>
                </a:solidFill>
              </a:rPr>
              <a:t>Madame, Monsieur,</a:t>
            </a:r>
            <a:endParaRPr lang="en-US" sz="950" dirty="0"/>
          </a:p>
          <a:p>
            <a:pPr marL="0" indent="0">
              <a:lnSpc>
                <a:spcPct val="135000"/>
              </a:lnSpc>
              <a:buNone/>
            </a:pPr>
            <a:r>
              <a:rPr lang="en-US" sz="950" dirty="0">
                <a:solidFill>
                  <a:srgbClr val="0D1B2A"/>
                </a:solidFill>
              </a:rPr>
              <a:t>Suite à ma candidature envoyée le 5 mai pour le poste de Vendeuse (réf. VNT-2026), je me permets de vous relancer afin de vérifier que vous l'avez bien reçue. Je reste très motivée par cette opportunité et me tiens disponible pour un entretien à votre convenance.</a:t>
            </a:r>
            <a:endParaRPr lang="en-US" sz="950" dirty="0"/>
          </a:p>
          <a:p>
            <a:pPr marL="0" indent="0">
              <a:lnSpc>
                <a:spcPct val="135000"/>
              </a:lnSpc>
              <a:buNone/>
            </a:pPr>
            <a:r>
              <a:rPr lang="en-US" sz="950" dirty="0" err="1">
                <a:solidFill>
                  <a:srgbClr val="0D1B2A"/>
                </a:solidFill>
              </a:rPr>
              <a:t>Cordialement</a:t>
            </a:r>
            <a:r>
              <a:rPr lang="en-US" sz="950" dirty="0">
                <a:solidFill>
                  <a:srgbClr val="0D1B2A"/>
                </a:solidFill>
              </a:rPr>
              <a:t>,</a:t>
            </a:r>
            <a:endParaRPr lang="en-US" sz="950" dirty="0"/>
          </a:p>
          <a:p>
            <a:pPr marL="0" indent="0">
              <a:lnSpc>
                <a:spcPct val="135000"/>
              </a:lnSpc>
              <a:buNone/>
            </a:pPr>
            <a:r>
              <a:rPr lang="en-US" sz="950" dirty="0">
                <a:solidFill>
                  <a:srgbClr val="0D1B2A"/>
                </a:solidFill>
              </a:rPr>
              <a:t>Marie Martin — 06 00 00 00 00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5 · SLIDE 21</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Les erreurs des débutants — Et comment les éviter</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Les 10 erreurs les plus fréquentes avec la solution à chaque fois</a:t>
            </a:r>
            <a:endParaRPr lang="en-US" sz="900" dirty="0"/>
          </a:p>
        </p:txBody>
      </p:sp>
      <p:sp>
        <p:nvSpPr>
          <p:cNvPr id="7" name="Shape 4"/>
          <p:cNvSpPr/>
          <p:nvPr/>
        </p:nvSpPr>
        <p:spPr>
          <a:xfrm>
            <a:off x="320040" y="100584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8" name="Text 5"/>
          <p:cNvSpPr/>
          <p:nvPr/>
        </p:nvSpPr>
        <p:spPr>
          <a:xfrm>
            <a:off x="429768" y="106070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CV de 2–3 pages</a:t>
            </a:r>
            <a:endParaRPr lang="en-US" sz="1000" dirty="0"/>
          </a:p>
        </p:txBody>
      </p:sp>
      <p:sp>
        <p:nvSpPr>
          <p:cNvPr id="9" name="Text 6"/>
          <p:cNvSpPr/>
          <p:nvPr/>
        </p:nvSpPr>
        <p:spPr>
          <a:xfrm>
            <a:off x="429768" y="135331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1 page maximum. Soyez concis, les recruteurs ont 30 secondes.</a:t>
            </a:r>
            <a:endParaRPr lang="en-US" sz="950" dirty="0"/>
          </a:p>
        </p:txBody>
      </p:sp>
      <p:sp>
        <p:nvSpPr>
          <p:cNvPr id="10" name="Shape 7"/>
          <p:cNvSpPr/>
          <p:nvPr/>
        </p:nvSpPr>
        <p:spPr>
          <a:xfrm>
            <a:off x="320040" y="182880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1" name="Text 8"/>
          <p:cNvSpPr/>
          <p:nvPr/>
        </p:nvSpPr>
        <p:spPr>
          <a:xfrm>
            <a:off x="429768" y="188366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Envoyer un CV en Word (.docx)</a:t>
            </a:r>
            <a:endParaRPr lang="en-US" sz="1000" dirty="0"/>
          </a:p>
        </p:txBody>
      </p:sp>
      <p:sp>
        <p:nvSpPr>
          <p:cNvPr id="12" name="Text 9"/>
          <p:cNvSpPr/>
          <p:nvPr/>
        </p:nvSpPr>
        <p:spPr>
          <a:xfrm>
            <a:off x="429768" y="217627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Toujours exporter en PDF. Le Word peut se déformer sur d'autres ordinateurs.</a:t>
            </a:r>
            <a:endParaRPr lang="en-US" sz="950" dirty="0"/>
          </a:p>
        </p:txBody>
      </p:sp>
      <p:sp>
        <p:nvSpPr>
          <p:cNvPr id="13" name="Shape 10"/>
          <p:cNvSpPr/>
          <p:nvPr/>
        </p:nvSpPr>
        <p:spPr>
          <a:xfrm>
            <a:off x="320040" y="265176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4" name="Text 11"/>
          <p:cNvSpPr/>
          <p:nvPr/>
        </p:nvSpPr>
        <p:spPr>
          <a:xfrm>
            <a:off x="429768" y="270662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Mauvais nom de fichier (ex : cv_final_VRAI.pdf)</a:t>
            </a:r>
            <a:endParaRPr lang="en-US" sz="1000" dirty="0"/>
          </a:p>
        </p:txBody>
      </p:sp>
      <p:sp>
        <p:nvSpPr>
          <p:cNvPr id="15" name="Text 12"/>
          <p:cNvSpPr/>
          <p:nvPr/>
        </p:nvSpPr>
        <p:spPr>
          <a:xfrm>
            <a:off x="429768" y="299923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Nommez : Prenom_Nom_CV.pdf → Marie_Martin_CV.pdf</a:t>
            </a:r>
            <a:endParaRPr lang="en-US" sz="950" dirty="0"/>
          </a:p>
        </p:txBody>
      </p:sp>
      <p:sp>
        <p:nvSpPr>
          <p:cNvPr id="16" name="Shape 13"/>
          <p:cNvSpPr/>
          <p:nvPr/>
        </p:nvSpPr>
        <p:spPr>
          <a:xfrm>
            <a:off x="320040" y="347472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7" name="Text 14"/>
          <p:cNvSpPr/>
          <p:nvPr/>
        </p:nvSpPr>
        <p:spPr>
          <a:xfrm>
            <a:off x="429768" y="352958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Même lettre envoyée partout</a:t>
            </a:r>
            <a:endParaRPr lang="en-US" sz="1000" dirty="0"/>
          </a:p>
        </p:txBody>
      </p:sp>
      <p:sp>
        <p:nvSpPr>
          <p:cNvPr id="18" name="Text 15"/>
          <p:cNvSpPr/>
          <p:nvPr/>
        </p:nvSpPr>
        <p:spPr>
          <a:xfrm>
            <a:off x="429768" y="382219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Adaptez au moins l'entreprise et le poste dans chaque lettre.</a:t>
            </a:r>
            <a:endParaRPr lang="en-US" sz="950" dirty="0"/>
          </a:p>
        </p:txBody>
      </p:sp>
      <p:sp>
        <p:nvSpPr>
          <p:cNvPr id="19" name="Shape 16"/>
          <p:cNvSpPr/>
          <p:nvPr/>
        </p:nvSpPr>
        <p:spPr>
          <a:xfrm>
            <a:off x="320040" y="429768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0" name="Text 17"/>
          <p:cNvSpPr/>
          <p:nvPr/>
        </p:nvSpPr>
        <p:spPr>
          <a:xfrm>
            <a:off x="429768" y="435254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Adresse email non sérieuse</a:t>
            </a:r>
            <a:endParaRPr lang="en-US" sz="1000" dirty="0"/>
          </a:p>
        </p:txBody>
      </p:sp>
      <p:sp>
        <p:nvSpPr>
          <p:cNvPr id="21" name="Text 18"/>
          <p:cNvSpPr/>
          <p:nvPr/>
        </p:nvSpPr>
        <p:spPr>
          <a:xfrm>
            <a:off x="429768" y="464515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Créez prenom.nom@gmail.com avant de postuler.</a:t>
            </a:r>
            <a:endParaRPr lang="en-US" sz="950" dirty="0"/>
          </a:p>
        </p:txBody>
      </p:sp>
      <p:sp>
        <p:nvSpPr>
          <p:cNvPr id="22" name="Shape 19"/>
          <p:cNvSpPr/>
          <p:nvPr/>
        </p:nvSpPr>
        <p:spPr>
          <a:xfrm>
            <a:off x="4754880" y="100584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3" name="Text 20"/>
          <p:cNvSpPr/>
          <p:nvPr/>
        </p:nvSpPr>
        <p:spPr>
          <a:xfrm>
            <a:off x="4864608" y="106070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Fautes dans l'email ou la lettre</a:t>
            </a:r>
            <a:endParaRPr lang="en-US" sz="1000" dirty="0"/>
          </a:p>
        </p:txBody>
      </p:sp>
      <p:sp>
        <p:nvSpPr>
          <p:cNvPr id="24" name="Text 21"/>
          <p:cNvSpPr/>
          <p:nvPr/>
        </p:nvSpPr>
        <p:spPr>
          <a:xfrm>
            <a:off x="4864608" y="135331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Relisez 2 fois. Utilisez le correcteur orthographique.</a:t>
            </a:r>
            <a:endParaRPr lang="en-US" sz="950" dirty="0"/>
          </a:p>
        </p:txBody>
      </p:sp>
      <p:sp>
        <p:nvSpPr>
          <p:cNvPr id="25" name="Shape 22"/>
          <p:cNvSpPr/>
          <p:nvPr/>
        </p:nvSpPr>
        <p:spPr>
          <a:xfrm>
            <a:off x="4754880" y="182880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6" name="Text 23"/>
          <p:cNvSpPr/>
          <p:nvPr/>
        </p:nvSpPr>
        <p:spPr>
          <a:xfrm>
            <a:off x="4864608" y="188366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Postuler sans lire l'offre</a:t>
            </a:r>
            <a:endParaRPr lang="en-US" sz="1000" dirty="0"/>
          </a:p>
        </p:txBody>
      </p:sp>
      <p:sp>
        <p:nvSpPr>
          <p:cNvPr id="27" name="Text 24"/>
          <p:cNvSpPr/>
          <p:nvPr/>
        </p:nvSpPr>
        <p:spPr>
          <a:xfrm>
            <a:off x="4864608" y="217627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Lisez l'offre en entier. Vérifiez que vous avez les qualifications demandées.</a:t>
            </a:r>
            <a:endParaRPr lang="en-US" sz="950" dirty="0"/>
          </a:p>
        </p:txBody>
      </p:sp>
      <p:sp>
        <p:nvSpPr>
          <p:cNvPr id="28" name="Shape 25"/>
          <p:cNvSpPr/>
          <p:nvPr/>
        </p:nvSpPr>
        <p:spPr>
          <a:xfrm>
            <a:off x="4754880" y="265176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9" name="Text 26"/>
          <p:cNvSpPr/>
          <p:nvPr/>
        </p:nvSpPr>
        <p:spPr>
          <a:xfrm>
            <a:off x="4864608" y="270662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Oublier de relancer</a:t>
            </a:r>
            <a:endParaRPr lang="en-US" sz="1000" dirty="0"/>
          </a:p>
        </p:txBody>
      </p:sp>
      <p:sp>
        <p:nvSpPr>
          <p:cNvPr id="30" name="Text 27"/>
          <p:cNvSpPr/>
          <p:nvPr/>
        </p:nvSpPr>
        <p:spPr>
          <a:xfrm>
            <a:off x="4864608" y="299923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Notez vos candidatures et relancez après 7–10 jours si pas de réponse.</a:t>
            </a:r>
            <a:endParaRPr lang="en-US" sz="950" dirty="0"/>
          </a:p>
        </p:txBody>
      </p:sp>
      <p:sp>
        <p:nvSpPr>
          <p:cNvPr id="31" name="Shape 28"/>
          <p:cNvSpPr/>
          <p:nvPr/>
        </p:nvSpPr>
        <p:spPr>
          <a:xfrm>
            <a:off x="4754880" y="347472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2" name="Text 29"/>
          <p:cNvSpPr/>
          <p:nvPr/>
        </p:nvSpPr>
        <p:spPr>
          <a:xfrm>
            <a:off x="4864608" y="352958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Photo non professionnelle</a:t>
            </a:r>
            <a:endParaRPr lang="en-US" sz="1000" dirty="0"/>
          </a:p>
        </p:txBody>
      </p:sp>
      <p:sp>
        <p:nvSpPr>
          <p:cNvPr id="33" name="Text 30"/>
          <p:cNvSpPr/>
          <p:nvPr/>
        </p:nvSpPr>
        <p:spPr>
          <a:xfrm>
            <a:off x="4864608" y="382219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Photo sobre, sourire, fond neutre. Pas de selfie de soirée !</a:t>
            </a:r>
            <a:endParaRPr lang="en-US" sz="950" dirty="0"/>
          </a:p>
        </p:txBody>
      </p:sp>
      <p:sp>
        <p:nvSpPr>
          <p:cNvPr id="34" name="Shape 31"/>
          <p:cNvSpPr/>
          <p:nvPr/>
        </p:nvSpPr>
        <p:spPr>
          <a:xfrm>
            <a:off x="4754880" y="429768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5" name="Text 32"/>
          <p:cNvSpPr/>
          <p:nvPr/>
        </p:nvSpPr>
        <p:spPr>
          <a:xfrm>
            <a:off x="4864608" y="435254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Ne pas personnaliser LinkedIn</a:t>
            </a:r>
            <a:endParaRPr lang="en-US" sz="1000" dirty="0"/>
          </a:p>
        </p:txBody>
      </p:sp>
      <p:sp>
        <p:nvSpPr>
          <p:cNvPr id="36" name="Text 33"/>
          <p:cNvSpPr/>
          <p:nvPr/>
        </p:nvSpPr>
        <p:spPr>
          <a:xfrm>
            <a:off x="4864608" y="464515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Complétez votre profil à 100% et activez « Open to Work ».</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5 · SLIDE 22</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Préparer l'entretien — Même si c'est en visio</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De plus en plus d'entretiens se font par vidéo (Zoom, Teams, Google Meet)</a:t>
            </a:r>
            <a:endParaRPr lang="en-US" sz="900" dirty="0"/>
          </a:p>
        </p:txBody>
      </p:sp>
      <p:sp>
        <p:nvSpPr>
          <p:cNvPr id="7" name="Shape 4"/>
          <p:cNvSpPr/>
          <p:nvPr/>
        </p:nvSpPr>
        <p:spPr>
          <a:xfrm>
            <a:off x="320040" y="1005840"/>
            <a:ext cx="4206240" cy="36118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4206240" cy="411480"/>
          </a:xfrm>
          <a:prstGeom prst="rect">
            <a:avLst/>
          </a:prstGeom>
          <a:solidFill>
            <a:srgbClr val="1565C0"/>
          </a:solidFill>
          <a:ln/>
        </p:spPr>
        <p:txBody>
          <a:bodyPr/>
          <a:lstStyle/>
          <a:p>
            <a:endParaRPr lang="fr-FR"/>
          </a:p>
        </p:txBody>
      </p:sp>
      <p:sp>
        <p:nvSpPr>
          <p:cNvPr id="9" name="Text 6"/>
          <p:cNvSpPr/>
          <p:nvPr/>
        </p:nvSpPr>
        <p:spPr>
          <a:xfrm>
            <a:off x="457200" y="1024128"/>
            <a:ext cx="3931920" cy="374904"/>
          </a:xfrm>
          <a:prstGeom prst="rect">
            <a:avLst/>
          </a:prstGeom>
          <a:noFill/>
          <a:ln/>
        </p:spPr>
        <p:txBody>
          <a:bodyPr wrap="square" lIns="0" tIns="0" rIns="0" bIns="0" rtlCol="0" anchor="ctr"/>
          <a:lstStyle/>
          <a:p>
            <a:pPr marL="0" indent="0">
              <a:buNone/>
            </a:pPr>
            <a:r>
              <a:rPr lang="en-US" sz="1300" b="1" dirty="0">
                <a:solidFill>
                  <a:srgbClr val="FFFFFF"/>
                </a:solidFill>
              </a:rPr>
              <a:t>Avant l'entretien</a:t>
            </a:r>
            <a:endParaRPr lang="en-US" sz="1300" dirty="0"/>
          </a:p>
        </p:txBody>
      </p:sp>
      <p:sp>
        <p:nvSpPr>
          <p:cNvPr id="10" name="Shape 7"/>
          <p:cNvSpPr/>
          <p:nvPr/>
        </p:nvSpPr>
        <p:spPr>
          <a:xfrm>
            <a:off x="429768" y="153619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1" name="Text 8"/>
          <p:cNvSpPr/>
          <p:nvPr/>
        </p:nvSpPr>
        <p:spPr>
          <a:xfrm>
            <a:off x="539496" y="160934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Renseignez-vous sur l'entreprise</a:t>
            </a:r>
            <a:endParaRPr lang="en-US" sz="1100" dirty="0"/>
          </a:p>
        </p:txBody>
      </p:sp>
      <p:sp>
        <p:nvSpPr>
          <p:cNvPr id="12" name="Text 9"/>
          <p:cNvSpPr/>
          <p:nvPr/>
        </p:nvSpPr>
        <p:spPr>
          <a:xfrm>
            <a:off x="539496" y="190195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Lisez leur site web, leurs réseaux sociaux. Préparez 1–2 questions à poser sur l'entreprise.</a:t>
            </a:r>
            <a:endParaRPr lang="en-US" sz="950" dirty="0"/>
          </a:p>
        </p:txBody>
      </p:sp>
      <p:sp>
        <p:nvSpPr>
          <p:cNvPr id="13" name="Shape 10"/>
          <p:cNvSpPr/>
          <p:nvPr/>
        </p:nvSpPr>
        <p:spPr>
          <a:xfrm>
            <a:off x="429768" y="254203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4" name="Text 11"/>
          <p:cNvSpPr/>
          <p:nvPr/>
        </p:nvSpPr>
        <p:spPr>
          <a:xfrm>
            <a:off x="539496" y="261518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Relisez votre CV</a:t>
            </a:r>
            <a:endParaRPr lang="en-US" sz="1100" dirty="0"/>
          </a:p>
        </p:txBody>
      </p:sp>
      <p:sp>
        <p:nvSpPr>
          <p:cNvPr id="15" name="Text 12"/>
          <p:cNvSpPr/>
          <p:nvPr/>
        </p:nvSpPr>
        <p:spPr>
          <a:xfrm>
            <a:off x="539496" y="290779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Soyez prêt(e) à parler de chaque point inscrit dans votre CV.</a:t>
            </a:r>
            <a:endParaRPr lang="en-US" sz="950" dirty="0"/>
          </a:p>
        </p:txBody>
      </p:sp>
      <p:sp>
        <p:nvSpPr>
          <p:cNvPr id="16" name="Shape 13"/>
          <p:cNvSpPr/>
          <p:nvPr/>
        </p:nvSpPr>
        <p:spPr>
          <a:xfrm>
            <a:off x="429768" y="354787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7" name="Text 14"/>
          <p:cNvSpPr/>
          <p:nvPr/>
        </p:nvSpPr>
        <p:spPr>
          <a:xfrm>
            <a:off x="539496" y="362102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Préparez vos réponses</a:t>
            </a:r>
            <a:endParaRPr lang="en-US" sz="1100" dirty="0"/>
          </a:p>
        </p:txBody>
      </p:sp>
      <p:sp>
        <p:nvSpPr>
          <p:cNvPr id="18" name="Text 15"/>
          <p:cNvSpPr/>
          <p:nvPr/>
        </p:nvSpPr>
        <p:spPr>
          <a:xfrm>
            <a:off x="539496" y="391363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Préparez réponses à : « Parlez-moi de vous » et « Pourquoi ce poste ? »</a:t>
            </a:r>
            <a:endParaRPr lang="en-US" sz="950" dirty="0"/>
          </a:p>
        </p:txBody>
      </p:sp>
      <p:sp>
        <p:nvSpPr>
          <p:cNvPr id="19" name="Shape 16"/>
          <p:cNvSpPr/>
          <p:nvPr/>
        </p:nvSpPr>
        <p:spPr>
          <a:xfrm>
            <a:off x="4754880" y="1005840"/>
            <a:ext cx="4206240" cy="36118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0" name="Shape 17"/>
          <p:cNvSpPr/>
          <p:nvPr/>
        </p:nvSpPr>
        <p:spPr>
          <a:xfrm>
            <a:off x="4754880" y="1005840"/>
            <a:ext cx="4206240" cy="411480"/>
          </a:xfrm>
          <a:prstGeom prst="rect">
            <a:avLst/>
          </a:prstGeom>
          <a:solidFill>
            <a:srgbClr val="00796B"/>
          </a:solidFill>
          <a:ln/>
        </p:spPr>
        <p:txBody>
          <a:bodyPr/>
          <a:lstStyle/>
          <a:p>
            <a:endParaRPr lang="fr-FR"/>
          </a:p>
        </p:txBody>
      </p:sp>
      <p:sp>
        <p:nvSpPr>
          <p:cNvPr id="21" name="Text 18"/>
          <p:cNvSpPr/>
          <p:nvPr/>
        </p:nvSpPr>
        <p:spPr>
          <a:xfrm>
            <a:off x="4892040" y="1024128"/>
            <a:ext cx="3931920" cy="374904"/>
          </a:xfrm>
          <a:prstGeom prst="rect">
            <a:avLst/>
          </a:prstGeom>
          <a:noFill/>
          <a:ln/>
        </p:spPr>
        <p:txBody>
          <a:bodyPr wrap="square" lIns="0" tIns="0" rIns="0" bIns="0" rtlCol="0" anchor="ctr"/>
          <a:lstStyle/>
          <a:p>
            <a:pPr marL="0" indent="0">
              <a:buNone/>
            </a:pPr>
            <a:r>
              <a:rPr lang="en-US" sz="1300" b="1" dirty="0">
                <a:solidFill>
                  <a:srgbClr val="FFFFFF"/>
                </a:solidFill>
              </a:rPr>
              <a:t>Pendant l'entretien</a:t>
            </a:r>
            <a:endParaRPr lang="en-US" sz="1300" dirty="0"/>
          </a:p>
        </p:txBody>
      </p:sp>
      <p:sp>
        <p:nvSpPr>
          <p:cNvPr id="22" name="Shape 19"/>
          <p:cNvSpPr/>
          <p:nvPr/>
        </p:nvSpPr>
        <p:spPr>
          <a:xfrm>
            <a:off x="4864608" y="153619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3" name="Text 20"/>
          <p:cNvSpPr/>
          <p:nvPr/>
        </p:nvSpPr>
        <p:spPr>
          <a:xfrm>
            <a:off x="4974336" y="160934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Habillez-vous professionnellement</a:t>
            </a:r>
            <a:endParaRPr lang="en-US" sz="1100" dirty="0"/>
          </a:p>
        </p:txBody>
      </p:sp>
      <p:sp>
        <p:nvSpPr>
          <p:cNvPr id="24" name="Text 21"/>
          <p:cNvSpPr/>
          <p:nvPr/>
        </p:nvSpPr>
        <p:spPr>
          <a:xfrm>
            <a:off x="4974336" y="190195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Même en visio ! Le haut du corps doit être soigné.</a:t>
            </a:r>
            <a:endParaRPr lang="en-US" sz="950" dirty="0"/>
          </a:p>
        </p:txBody>
      </p:sp>
      <p:sp>
        <p:nvSpPr>
          <p:cNvPr id="25" name="Shape 22"/>
          <p:cNvSpPr/>
          <p:nvPr/>
        </p:nvSpPr>
        <p:spPr>
          <a:xfrm>
            <a:off x="4864608" y="254203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6" name="Text 23"/>
          <p:cNvSpPr/>
          <p:nvPr/>
        </p:nvSpPr>
        <p:spPr>
          <a:xfrm>
            <a:off x="4974336" y="261518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Regardez la caméra</a:t>
            </a:r>
            <a:endParaRPr lang="en-US" sz="1100" dirty="0"/>
          </a:p>
        </p:txBody>
      </p:sp>
      <p:sp>
        <p:nvSpPr>
          <p:cNvPr id="27" name="Text 24"/>
          <p:cNvSpPr/>
          <p:nvPr/>
        </p:nvSpPr>
        <p:spPr>
          <a:xfrm>
            <a:off x="4974336" y="290779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Pas l'écran. La caméra = les yeux de votre interlocuteur.</a:t>
            </a:r>
            <a:endParaRPr lang="en-US" sz="950" dirty="0"/>
          </a:p>
        </p:txBody>
      </p:sp>
      <p:sp>
        <p:nvSpPr>
          <p:cNvPr id="28" name="Shape 25"/>
          <p:cNvSpPr/>
          <p:nvPr/>
        </p:nvSpPr>
        <p:spPr>
          <a:xfrm>
            <a:off x="4864608" y="354787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9" name="Text 26"/>
          <p:cNvSpPr/>
          <p:nvPr/>
        </p:nvSpPr>
        <p:spPr>
          <a:xfrm>
            <a:off x="4974336" y="362102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Soyez calme et souriant(e)</a:t>
            </a:r>
            <a:endParaRPr lang="en-US" sz="1100" dirty="0"/>
          </a:p>
        </p:txBody>
      </p:sp>
      <p:sp>
        <p:nvSpPr>
          <p:cNvPr id="30" name="Text 27"/>
          <p:cNvSpPr/>
          <p:nvPr/>
        </p:nvSpPr>
        <p:spPr>
          <a:xfrm>
            <a:off x="4974336" y="391363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Respirez. Prenez le temps de réfléchir avant de répondre.</a:t>
            </a:r>
            <a:endParaRPr lang="en-US" sz="950" dirty="0"/>
          </a:p>
        </p:txBody>
      </p:sp>
      <p:sp>
        <p:nvSpPr>
          <p:cNvPr id="31" name="CalloutBox"/>
          <p:cNvSpPr/>
          <p:nvPr/>
        </p:nvSpPr>
        <p:spPr>
          <a:xfrm>
            <a:off x="320040" y="4500000"/>
            <a:ext cx="8503920" cy="560000"/>
          </a:xfrm>
          <a:prstGeom prst="roundRect">
            <a:avLst>
              <a:gd name="adj" fmla="val 8000"/>
            </a:avLst>
          </a:prstGeom>
          <a:solidFill>
            <a:srgbClr val="EBF5FB"/>
          </a:solidFill>
          <a:ln w="12700">
            <a:solidFill>
              <a:srgbClr val="00ACC1">
                <a:alpha val="45000"/>
              </a:srgbClr>
            </a:solidFill>
          </a:ln>
          <a:effectLst>
            <a:outerShdw blurRad="63500" dist="25400" dir="8100000" algn="bl" rotWithShape="0">
              <a:srgbClr val="000000">
                <a:alpha val="10000"/>
              </a:srgbClr>
            </a:outerShdw>
          </a:effectLst>
        </p:spPr>
        <p:txBody>
          <a:bodyPr/>
          <a:lstStyle/>
          <a:p>
            <a:endParaRPr lang="fr-FR"/>
          </a:p>
        </p:txBody>
      </p:sp>
      <p:sp>
        <p:nvSpPr>
          <p:cNvPr id="33" name="CalloutText"/>
          <p:cNvSpPr/>
          <p:nvPr/>
        </p:nvSpPr>
        <p:spPr>
          <a:xfrm>
            <a:off x="502920" y="4558000"/>
            <a:ext cx="8138160" cy="448000"/>
          </a:xfrm>
          <a:prstGeom prst="rect">
            <a:avLst/>
          </a:prstGeom>
          <a:noFill/>
        </p:spPr>
        <p:txBody>
          <a:bodyPr wrap="square" lIns="0" tIns="0" rIns="0" bIns="0" rtlCol="0" anchor="t"/>
          <a:lstStyle/>
          <a:p>
            <a:pPr marL="0" indent="0">
              <a:lnSpc>
                <a:spcPct val="100000"/>
              </a:lnSpc>
              <a:spcAft>
                <a:spcPts val="300"/>
              </a:spcAft>
              <a:buNone/>
            </a:pPr>
            <a:r>
              <a:rPr lang="fr-FR" sz="950" b="1" dirty="0">
                <a:solidFill>
                  <a:srgbClr val="00838F"/>
                </a:solidFill>
              </a:rPr>
              <a:t>✏ Question piège fréquente et réponse type</a:t>
            </a:r>
          </a:p>
          <a:p>
            <a:pPr marL="0" indent="0">
              <a:lnSpc>
                <a:spcPct val="106000"/>
              </a:lnSpc>
              <a:buNone/>
            </a:pPr>
            <a:r>
              <a:rPr lang="fr-FR" sz="850" dirty="0">
                <a:solidFill>
                  <a:srgbClr val="0D1B2A"/>
                </a:solidFill>
              </a:rPr>
              <a:t>« Quels sont vos défauts ? » → Citez un défaut réel mais que vous travaillez à améliorer. Ex : « J'ai tendance à être perfectionniste, mais j'apprends à prioriser pour tenir les délais.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0B981"/>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5 · SLIDE 23</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Ressources gratuites pour aller plus loin</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Des sites, outils et formations 100% gratuits pour progresser</a:t>
            </a:r>
            <a:endParaRPr lang="en-US" sz="900" dirty="0"/>
          </a:p>
        </p:txBody>
      </p:sp>
      <p:sp>
        <p:nvSpPr>
          <p:cNvPr id="7" name="Shape 4"/>
          <p:cNvSpPr/>
          <p:nvPr/>
        </p:nvSpPr>
        <p:spPr>
          <a:xfrm>
            <a:off x="320040" y="1005840"/>
            <a:ext cx="4206240" cy="1874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4206240" cy="384048"/>
          </a:xfrm>
          <a:prstGeom prst="rect">
            <a:avLst/>
          </a:prstGeom>
          <a:solidFill>
            <a:srgbClr val="1565C0"/>
          </a:solidFill>
          <a:ln/>
        </p:spPr>
        <p:txBody>
          <a:bodyPr/>
          <a:lstStyle/>
          <a:p>
            <a:endParaRPr lang="fr-FR"/>
          </a:p>
        </p:txBody>
      </p:sp>
      <p:sp>
        <p:nvSpPr>
          <p:cNvPr id="9" name="Text 6"/>
          <p:cNvSpPr/>
          <p:nvPr/>
        </p:nvSpPr>
        <p:spPr>
          <a:xfrm>
            <a:off x="429768" y="1060704"/>
            <a:ext cx="3931920" cy="274320"/>
          </a:xfrm>
          <a:prstGeom prst="rect">
            <a:avLst/>
          </a:prstGeom>
          <a:noFill/>
          <a:ln/>
        </p:spPr>
        <p:txBody>
          <a:bodyPr wrap="square" lIns="0" tIns="0" rIns="0" bIns="0" rtlCol="0" anchor="ctr"/>
          <a:lstStyle/>
          <a:p>
            <a:pPr marL="0" indent="0">
              <a:buNone/>
            </a:pPr>
            <a:r>
              <a:rPr lang="en-US" sz="1200" b="1" dirty="0">
                <a:solidFill>
                  <a:srgbClr val="FFFFFF"/>
                </a:solidFill>
              </a:rPr>
              <a:t>📂 Créer un CV</a:t>
            </a:r>
            <a:endParaRPr lang="en-US" sz="1200" dirty="0"/>
          </a:p>
        </p:txBody>
      </p:sp>
      <p:sp>
        <p:nvSpPr>
          <p:cNvPr id="10" name="Text 7"/>
          <p:cNvSpPr/>
          <p:nvPr/>
        </p:nvSpPr>
        <p:spPr>
          <a:xfrm>
            <a:off x="429768" y="1508760"/>
            <a:ext cx="3931920" cy="219456"/>
          </a:xfrm>
          <a:prstGeom prst="rect">
            <a:avLst/>
          </a:prstGeom>
          <a:noFill/>
          <a:ln/>
        </p:spPr>
        <p:txBody>
          <a:bodyPr wrap="square" lIns="0" tIns="0" rIns="0" bIns="0" rtlCol="0" anchor="ctr"/>
          <a:lstStyle/>
          <a:p>
            <a:pPr marL="0" indent="0">
              <a:buNone/>
            </a:pPr>
            <a:r>
              <a:rPr lang="en-US" sz="1000" b="1" dirty="0">
                <a:solidFill>
                  <a:srgbClr val="1565C0"/>
                </a:solidFill>
              </a:rPr>
              <a:t>🔗 canva.com</a:t>
            </a:r>
            <a:endParaRPr lang="en-US" sz="1000" dirty="0"/>
          </a:p>
        </p:txBody>
      </p:sp>
      <p:sp>
        <p:nvSpPr>
          <p:cNvPr id="11" name="Text 8"/>
          <p:cNvSpPr/>
          <p:nvPr/>
        </p:nvSpPr>
        <p:spPr>
          <a:xfrm>
            <a:off x="429768" y="1709928"/>
            <a:ext cx="3931920" cy="182880"/>
          </a:xfrm>
          <a:prstGeom prst="rect">
            <a:avLst/>
          </a:prstGeom>
          <a:noFill/>
          <a:ln/>
        </p:spPr>
        <p:txBody>
          <a:bodyPr wrap="square" lIns="0" tIns="0" rIns="0" bIns="0" rtlCol="0" anchor="ctr"/>
          <a:lstStyle/>
          <a:p>
            <a:pPr marL="0" indent="0">
              <a:buNone/>
            </a:pPr>
            <a:r>
              <a:rPr lang="en-US" sz="900" dirty="0">
                <a:solidFill>
                  <a:srgbClr val="5A6A7A"/>
                </a:solidFill>
              </a:rPr>
              <a:t>Créer son CV gratuitement (modèles, PDF)</a:t>
            </a:r>
            <a:endParaRPr lang="en-US" sz="900" dirty="0"/>
          </a:p>
        </p:txBody>
      </p:sp>
      <p:sp>
        <p:nvSpPr>
          <p:cNvPr id="12" name="Text 9"/>
          <p:cNvSpPr/>
          <p:nvPr/>
        </p:nvSpPr>
        <p:spPr>
          <a:xfrm>
            <a:off x="429768" y="1947672"/>
            <a:ext cx="3931920" cy="219456"/>
          </a:xfrm>
          <a:prstGeom prst="rect">
            <a:avLst/>
          </a:prstGeom>
          <a:noFill/>
          <a:ln/>
        </p:spPr>
        <p:txBody>
          <a:bodyPr wrap="square" lIns="0" tIns="0" rIns="0" bIns="0" rtlCol="0" anchor="ctr"/>
          <a:lstStyle/>
          <a:p>
            <a:pPr marL="0" indent="0">
              <a:buNone/>
            </a:pPr>
            <a:r>
              <a:rPr lang="en-US" sz="1000" b="1" dirty="0">
                <a:solidFill>
                  <a:srgbClr val="1565C0"/>
                </a:solidFill>
              </a:rPr>
              <a:t>🔗 cvdesignr.com</a:t>
            </a:r>
            <a:endParaRPr lang="en-US" sz="1000" dirty="0"/>
          </a:p>
        </p:txBody>
      </p:sp>
      <p:sp>
        <p:nvSpPr>
          <p:cNvPr id="13" name="Text 10"/>
          <p:cNvSpPr/>
          <p:nvPr/>
        </p:nvSpPr>
        <p:spPr>
          <a:xfrm>
            <a:off x="429768" y="2148840"/>
            <a:ext cx="3931920" cy="182880"/>
          </a:xfrm>
          <a:prstGeom prst="rect">
            <a:avLst/>
          </a:prstGeom>
          <a:noFill/>
          <a:ln/>
        </p:spPr>
        <p:txBody>
          <a:bodyPr wrap="square" lIns="0" tIns="0" rIns="0" bIns="0" rtlCol="0" anchor="ctr"/>
          <a:lstStyle/>
          <a:p>
            <a:pPr marL="0" indent="0">
              <a:buNone/>
            </a:pPr>
            <a:r>
              <a:rPr lang="en-US" sz="900" dirty="0">
                <a:solidFill>
                  <a:srgbClr val="5A6A7A"/>
                </a:solidFill>
              </a:rPr>
              <a:t>Alternative française, très simple</a:t>
            </a:r>
            <a:endParaRPr lang="en-US" sz="900" dirty="0"/>
          </a:p>
        </p:txBody>
      </p:sp>
      <p:sp>
        <p:nvSpPr>
          <p:cNvPr id="14" name="Text 11"/>
          <p:cNvSpPr/>
          <p:nvPr/>
        </p:nvSpPr>
        <p:spPr>
          <a:xfrm>
            <a:off x="429768" y="2386584"/>
            <a:ext cx="3931920" cy="219456"/>
          </a:xfrm>
          <a:prstGeom prst="rect">
            <a:avLst/>
          </a:prstGeom>
          <a:noFill/>
          <a:ln/>
        </p:spPr>
        <p:txBody>
          <a:bodyPr wrap="square" lIns="0" tIns="0" rIns="0" bIns="0" rtlCol="0" anchor="ctr"/>
          <a:lstStyle/>
          <a:p>
            <a:pPr marL="0" indent="0">
              <a:buNone/>
            </a:pPr>
            <a:r>
              <a:rPr lang="en-US" sz="1000" b="1" dirty="0">
                <a:solidFill>
                  <a:srgbClr val="1565C0"/>
                </a:solidFill>
              </a:rPr>
              <a:t>🔗 jobscan.co</a:t>
            </a:r>
            <a:endParaRPr lang="en-US" sz="1000" dirty="0"/>
          </a:p>
        </p:txBody>
      </p:sp>
      <p:sp>
        <p:nvSpPr>
          <p:cNvPr id="15" name="Text 12"/>
          <p:cNvSpPr/>
          <p:nvPr/>
        </p:nvSpPr>
        <p:spPr>
          <a:xfrm>
            <a:off x="429768" y="2587752"/>
            <a:ext cx="3931920" cy="182880"/>
          </a:xfrm>
          <a:prstGeom prst="rect">
            <a:avLst/>
          </a:prstGeom>
          <a:noFill/>
          <a:ln/>
        </p:spPr>
        <p:txBody>
          <a:bodyPr wrap="square" lIns="0" tIns="0" rIns="0" bIns="0" rtlCol="0" anchor="ctr"/>
          <a:lstStyle/>
          <a:p>
            <a:pPr marL="0" indent="0">
              <a:buNone/>
            </a:pPr>
            <a:r>
              <a:rPr lang="en-US" sz="900" dirty="0">
                <a:solidFill>
                  <a:srgbClr val="5A6A7A"/>
                </a:solidFill>
              </a:rPr>
              <a:t>Tester si votre CV passe les filtres automatiques ATS</a:t>
            </a:r>
            <a:endParaRPr lang="en-US" sz="900" dirty="0"/>
          </a:p>
        </p:txBody>
      </p:sp>
      <p:sp>
        <p:nvSpPr>
          <p:cNvPr id="16" name="Shape 13"/>
          <p:cNvSpPr/>
          <p:nvPr/>
        </p:nvSpPr>
        <p:spPr>
          <a:xfrm>
            <a:off x="4754880" y="1005840"/>
            <a:ext cx="4206240" cy="1874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7" name="Shape 14"/>
          <p:cNvSpPr/>
          <p:nvPr/>
        </p:nvSpPr>
        <p:spPr>
          <a:xfrm>
            <a:off x="4754880" y="1005840"/>
            <a:ext cx="4206240" cy="384048"/>
          </a:xfrm>
          <a:prstGeom prst="rect">
            <a:avLst/>
          </a:prstGeom>
          <a:solidFill>
            <a:srgbClr val="00796B"/>
          </a:solidFill>
          <a:ln/>
        </p:spPr>
        <p:txBody>
          <a:bodyPr/>
          <a:lstStyle/>
          <a:p>
            <a:endParaRPr lang="fr-FR"/>
          </a:p>
        </p:txBody>
      </p:sp>
      <p:sp>
        <p:nvSpPr>
          <p:cNvPr id="18" name="Text 15"/>
          <p:cNvSpPr/>
          <p:nvPr/>
        </p:nvSpPr>
        <p:spPr>
          <a:xfrm>
            <a:off x="4864608" y="1060704"/>
            <a:ext cx="3931920" cy="274320"/>
          </a:xfrm>
          <a:prstGeom prst="rect">
            <a:avLst/>
          </a:prstGeom>
          <a:noFill/>
          <a:ln/>
        </p:spPr>
        <p:txBody>
          <a:bodyPr wrap="square" lIns="0" tIns="0" rIns="0" bIns="0" rtlCol="0" anchor="ctr"/>
          <a:lstStyle/>
          <a:p>
            <a:pPr marL="0" indent="0">
              <a:buNone/>
            </a:pPr>
            <a:r>
              <a:rPr lang="en-US" sz="1200" b="1" dirty="0">
                <a:solidFill>
                  <a:srgbClr val="FFFFFF"/>
                </a:solidFill>
              </a:rPr>
              <a:t>📂 Chercher un emploi</a:t>
            </a:r>
            <a:endParaRPr lang="en-US" sz="1200" dirty="0"/>
          </a:p>
        </p:txBody>
      </p:sp>
      <p:sp>
        <p:nvSpPr>
          <p:cNvPr id="19" name="Text 16"/>
          <p:cNvSpPr/>
          <p:nvPr/>
        </p:nvSpPr>
        <p:spPr>
          <a:xfrm>
            <a:off x="4864608" y="1508760"/>
            <a:ext cx="3931920" cy="219456"/>
          </a:xfrm>
          <a:prstGeom prst="rect">
            <a:avLst/>
          </a:prstGeom>
          <a:noFill/>
          <a:ln/>
        </p:spPr>
        <p:txBody>
          <a:bodyPr wrap="square" lIns="0" tIns="0" rIns="0" bIns="0" rtlCol="0" anchor="ctr"/>
          <a:lstStyle/>
          <a:p>
            <a:pPr marL="0" indent="0">
              <a:buNone/>
            </a:pPr>
            <a:r>
              <a:rPr lang="en-US" sz="1000" b="1" dirty="0">
                <a:solidFill>
                  <a:srgbClr val="00796B"/>
                </a:solidFill>
              </a:rPr>
              <a:t>🔗 francetravail.fr</a:t>
            </a:r>
            <a:endParaRPr lang="en-US" sz="1000" dirty="0"/>
          </a:p>
        </p:txBody>
      </p:sp>
      <p:sp>
        <p:nvSpPr>
          <p:cNvPr id="20" name="Text 17"/>
          <p:cNvSpPr/>
          <p:nvPr/>
        </p:nvSpPr>
        <p:spPr>
          <a:xfrm>
            <a:off x="4864608" y="1709928"/>
            <a:ext cx="3931920" cy="182880"/>
          </a:xfrm>
          <a:prstGeom prst="rect">
            <a:avLst/>
          </a:prstGeom>
          <a:noFill/>
          <a:ln/>
        </p:spPr>
        <p:txBody>
          <a:bodyPr wrap="square" lIns="0" tIns="0" rIns="0" bIns="0" rtlCol="0" anchor="ctr"/>
          <a:lstStyle/>
          <a:p>
            <a:pPr marL="0" indent="0">
              <a:buNone/>
            </a:pPr>
            <a:r>
              <a:rPr lang="en-US" sz="900" dirty="0">
                <a:solidFill>
                  <a:srgbClr val="5A6A7A"/>
                </a:solidFill>
              </a:rPr>
              <a:t>Portail officiel Pôle Emploi</a:t>
            </a:r>
            <a:endParaRPr lang="en-US" sz="900" dirty="0"/>
          </a:p>
        </p:txBody>
      </p:sp>
      <p:sp>
        <p:nvSpPr>
          <p:cNvPr id="21" name="Text 18"/>
          <p:cNvSpPr/>
          <p:nvPr/>
        </p:nvSpPr>
        <p:spPr>
          <a:xfrm>
            <a:off x="4864608" y="1947672"/>
            <a:ext cx="3931920" cy="219456"/>
          </a:xfrm>
          <a:prstGeom prst="rect">
            <a:avLst/>
          </a:prstGeom>
          <a:noFill/>
          <a:ln/>
        </p:spPr>
        <p:txBody>
          <a:bodyPr wrap="square" lIns="0" tIns="0" rIns="0" bIns="0" rtlCol="0" anchor="ctr"/>
          <a:lstStyle/>
          <a:p>
            <a:pPr marL="0" indent="0">
              <a:buNone/>
            </a:pPr>
            <a:r>
              <a:rPr lang="en-US" sz="1000" b="1" dirty="0">
                <a:solidFill>
                  <a:srgbClr val="00796B"/>
                </a:solidFill>
              </a:rPr>
              <a:t>🔗 indeed.fr</a:t>
            </a:r>
            <a:endParaRPr lang="en-US" sz="1000" dirty="0"/>
          </a:p>
        </p:txBody>
      </p:sp>
      <p:sp>
        <p:nvSpPr>
          <p:cNvPr id="22" name="Text 19"/>
          <p:cNvSpPr/>
          <p:nvPr/>
        </p:nvSpPr>
        <p:spPr>
          <a:xfrm>
            <a:off x="4864608" y="2148840"/>
            <a:ext cx="3931920" cy="182880"/>
          </a:xfrm>
          <a:prstGeom prst="rect">
            <a:avLst/>
          </a:prstGeom>
          <a:noFill/>
          <a:ln/>
        </p:spPr>
        <p:txBody>
          <a:bodyPr wrap="square" lIns="0" tIns="0" rIns="0" bIns="0" rtlCol="0" anchor="ctr"/>
          <a:lstStyle/>
          <a:p>
            <a:pPr marL="0" indent="0">
              <a:buNone/>
            </a:pPr>
            <a:r>
              <a:rPr lang="en-US" sz="900" dirty="0">
                <a:solidFill>
                  <a:srgbClr val="5A6A7A"/>
                </a:solidFill>
              </a:rPr>
              <a:t>Moteur de recherche toutes offres confondues</a:t>
            </a:r>
            <a:endParaRPr lang="en-US" sz="900" dirty="0"/>
          </a:p>
        </p:txBody>
      </p:sp>
      <p:sp>
        <p:nvSpPr>
          <p:cNvPr id="23" name="Text 20"/>
          <p:cNvSpPr/>
          <p:nvPr/>
        </p:nvSpPr>
        <p:spPr>
          <a:xfrm>
            <a:off x="4864608" y="2386584"/>
            <a:ext cx="3931920" cy="219456"/>
          </a:xfrm>
          <a:prstGeom prst="rect">
            <a:avLst/>
          </a:prstGeom>
          <a:noFill/>
          <a:ln/>
        </p:spPr>
        <p:txBody>
          <a:bodyPr wrap="square" lIns="0" tIns="0" rIns="0" bIns="0" rtlCol="0" anchor="ctr"/>
          <a:lstStyle/>
          <a:p>
            <a:pPr marL="0" indent="0">
              <a:buNone/>
            </a:pPr>
            <a:r>
              <a:rPr lang="en-US" sz="1000" b="1" dirty="0">
                <a:solidFill>
                  <a:srgbClr val="00796B"/>
                </a:solidFill>
              </a:rPr>
              <a:t>🔗 linkedin.com</a:t>
            </a:r>
            <a:endParaRPr lang="en-US" sz="1000" dirty="0"/>
          </a:p>
        </p:txBody>
      </p:sp>
      <p:sp>
        <p:nvSpPr>
          <p:cNvPr id="24" name="Text 21"/>
          <p:cNvSpPr/>
          <p:nvPr/>
        </p:nvSpPr>
        <p:spPr>
          <a:xfrm>
            <a:off x="4864608" y="2587752"/>
            <a:ext cx="3931920" cy="182880"/>
          </a:xfrm>
          <a:prstGeom prst="rect">
            <a:avLst/>
          </a:prstGeom>
          <a:noFill/>
          <a:ln/>
        </p:spPr>
        <p:txBody>
          <a:bodyPr wrap="square" lIns="0" tIns="0" rIns="0" bIns="0" rtlCol="0" anchor="ctr"/>
          <a:lstStyle/>
          <a:p>
            <a:pPr marL="0" indent="0">
              <a:buNone/>
            </a:pPr>
            <a:r>
              <a:rPr lang="en-US" sz="900" dirty="0">
                <a:solidFill>
                  <a:srgbClr val="5A6A7A"/>
                </a:solidFill>
              </a:rPr>
              <a:t>Réseau pro + offres + contact recruteurs</a:t>
            </a:r>
            <a:endParaRPr lang="en-US" sz="900" dirty="0"/>
          </a:p>
        </p:txBody>
      </p:sp>
      <p:sp>
        <p:nvSpPr>
          <p:cNvPr id="25" name="Shape 22"/>
          <p:cNvSpPr/>
          <p:nvPr/>
        </p:nvSpPr>
        <p:spPr>
          <a:xfrm>
            <a:off x="320040" y="3017520"/>
            <a:ext cx="4206240" cy="1874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6" name="Shape 23"/>
          <p:cNvSpPr/>
          <p:nvPr/>
        </p:nvSpPr>
        <p:spPr>
          <a:xfrm>
            <a:off x="320040" y="3017520"/>
            <a:ext cx="4206240" cy="384048"/>
          </a:xfrm>
          <a:prstGeom prst="rect">
            <a:avLst/>
          </a:prstGeom>
          <a:solidFill>
            <a:srgbClr val="6A3FA0"/>
          </a:solidFill>
          <a:ln/>
        </p:spPr>
        <p:txBody>
          <a:bodyPr/>
          <a:lstStyle/>
          <a:p>
            <a:endParaRPr lang="fr-FR"/>
          </a:p>
        </p:txBody>
      </p:sp>
      <p:sp>
        <p:nvSpPr>
          <p:cNvPr id="27" name="Text 24"/>
          <p:cNvSpPr/>
          <p:nvPr/>
        </p:nvSpPr>
        <p:spPr>
          <a:xfrm>
            <a:off x="429768" y="3072384"/>
            <a:ext cx="3931920" cy="274320"/>
          </a:xfrm>
          <a:prstGeom prst="rect">
            <a:avLst/>
          </a:prstGeom>
          <a:noFill/>
          <a:ln/>
        </p:spPr>
        <p:txBody>
          <a:bodyPr wrap="square" lIns="0" tIns="0" rIns="0" bIns="0" rtlCol="0" anchor="ctr"/>
          <a:lstStyle/>
          <a:p>
            <a:pPr marL="0" indent="0">
              <a:buNone/>
            </a:pPr>
            <a:r>
              <a:rPr lang="en-US" sz="1200" b="1" dirty="0">
                <a:solidFill>
                  <a:srgbClr val="FFFFFF"/>
                </a:solidFill>
              </a:rPr>
              <a:t>📂 Se former gratuitement</a:t>
            </a:r>
            <a:endParaRPr lang="en-US" sz="1200" dirty="0"/>
          </a:p>
        </p:txBody>
      </p:sp>
      <p:sp>
        <p:nvSpPr>
          <p:cNvPr id="28" name="Text 25"/>
          <p:cNvSpPr/>
          <p:nvPr/>
        </p:nvSpPr>
        <p:spPr>
          <a:xfrm>
            <a:off x="429768" y="3520440"/>
            <a:ext cx="3931920" cy="219456"/>
          </a:xfrm>
          <a:prstGeom prst="rect">
            <a:avLst/>
          </a:prstGeom>
          <a:noFill/>
          <a:ln/>
        </p:spPr>
        <p:txBody>
          <a:bodyPr wrap="square" lIns="0" tIns="0" rIns="0" bIns="0" rtlCol="0" anchor="ctr"/>
          <a:lstStyle/>
          <a:p>
            <a:pPr marL="0" indent="0">
              <a:buNone/>
            </a:pPr>
            <a:r>
              <a:rPr lang="en-US" sz="1000" b="1" dirty="0">
                <a:solidFill>
                  <a:srgbClr val="6A3FA0"/>
                </a:solidFill>
              </a:rPr>
              <a:t>🔗 mymooc.com</a:t>
            </a:r>
            <a:endParaRPr lang="en-US" sz="1000" dirty="0"/>
          </a:p>
        </p:txBody>
      </p:sp>
      <p:sp>
        <p:nvSpPr>
          <p:cNvPr id="29" name="Text 26"/>
          <p:cNvSpPr/>
          <p:nvPr/>
        </p:nvSpPr>
        <p:spPr>
          <a:xfrm>
            <a:off x="429768" y="3721608"/>
            <a:ext cx="3931920" cy="182880"/>
          </a:xfrm>
          <a:prstGeom prst="rect">
            <a:avLst/>
          </a:prstGeom>
          <a:noFill/>
          <a:ln/>
        </p:spPr>
        <p:txBody>
          <a:bodyPr wrap="square" lIns="0" tIns="0" rIns="0" bIns="0" rtlCol="0" anchor="ctr"/>
          <a:lstStyle/>
          <a:p>
            <a:pPr marL="0" indent="0">
              <a:buNone/>
            </a:pPr>
            <a:r>
              <a:rPr lang="en-US" sz="900" dirty="0">
                <a:solidFill>
                  <a:srgbClr val="5A6A7A"/>
                </a:solidFill>
              </a:rPr>
              <a:t>Formations en ligne gratuites</a:t>
            </a:r>
            <a:endParaRPr lang="en-US" sz="900" dirty="0"/>
          </a:p>
        </p:txBody>
      </p:sp>
      <p:sp>
        <p:nvSpPr>
          <p:cNvPr id="30" name="Text 27"/>
          <p:cNvSpPr/>
          <p:nvPr/>
        </p:nvSpPr>
        <p:spPr>
          <a:xfrm>
            <a:off x="429768" y="3959352"/>
            <a:ext cx="3931920" cy="219456"/>
          </a:xfrm>
          <a:prstGeom prst="rect">
            <a:avLst/>
          </a:prstGeom>
          <a:noFill/>
          <a:ln/>
        </p:spPr>
        <p:txBody>
          <a:bodyPr wrap="square" lIns="0" tIns="0" rIns="0" bIns="0" rtlCol="0" anchor="ctr"/>
          <a:lstStyle/>
          <a:p>
            <a:pPr marL="0" indent="0">
              <a:buNone/>
            </a:pPr>
            <a:r>
              <a:rPr lang="en-US" sz="1000" b="1" dirty="0">
                <a:solidFill>
                  <a:srgbClr val="6A3FA0"/>
                </a:solidFill>
              </a:rPr>
              <a:t>🔗 openclassrooms.com</a:t>
            </a:r>
            <a:endParaRPr lang="en-US" sz="1000" dirty="0"/>
          </a:p>
        </p:txBody>
      </p:sp>
      <p:sp>
        <p:nvSpPr>
          <p:cNvPr id="31" name="Text 28"/>
          <p:cNvSpPr/>
          <p:nvPr/>
        </p:nvSpPr>
        <p:spPr>
          <a:xfrm>
            <a:off x="429768" y="4160520"/>
            <a:ext cx="3931920" cy="182880"/>
          </a:xfrm>
          <a:prstGeom prst="rect">
            <a:avLst/>
          </a:prstGeom>
          <a:noFill/>
          <a:ln/>
        </p:spPr>
        <p:txBody>
          <a:bodyPr wrap="square" lIns="0" tIns="0" rIns="0" bIns="0" rtlCol="0" anchor="ctr"/>
          <a:lstStyle/>
          <a:p>
            <a:pPr marL="0" indent="0">
              <a:buNone/>
            </a:pPr>
            <a:r>
              <a:rPr lang="en-US" sz="900" dirty="0">
                <a:solidFill>
                  <a:srgbClr val="5A6A7A"/>
                </a:solidFill>
              </a:rPr>
              <a:t>Cours tech, marketing, design (OPCO)</a:t>
            </a:r>
            <a:endParaRPr lang="en-US" sz="900" dirty="0"/>
          </a:p>
        </p:txBody>
      </p:sp>
      <p:sp>
        <p:nvSpPr>
          <p:cNvPr id="32" name="Text 29"/>
          <p:cNvSpPr/>
          <p:nvPr/>
        </p:nvSpPr>
        <p:spPr>
          <a:xfrm>
            <a:off x="429768" y="4398264"/>
            <a:ext cx="3931920" cy="219456"/>
          </a:xfrm>
          <a:prstGeom prst="rect">
            <a:avLst/>
          </a:prstGeom>
          <a:noFill/>
          <a:ln/>
        </p:spPr>
        <p:txBody>
          <a:bodyPr wrap="square" lIns="0" tIns="0" rIns="0" bIns="0" rtlCol="0" anchor="ctr"/>
          <a:lstStyle/>
          <a:p>
            <a:pPr marL="0" indent="0">
              <a:buNone/>
            </a:pPr>
            <a:r>
              <a:rPr lang="en-US" sz="1000" b="1" dirty="0">
                <a:solidFill>
                  <a:srgbClr val="6A3FA0"/>
                </a:solidFill>
              </a:rPr>
              <a:t>🔗 1jeune1solution.gouv.fr</a:t>
            </a:r>
            <a:endParaRPr lang="en-US" sz="1000" dirty="0"/>
          </a:p>
        </p:txBody>
      </p:sp>
      <p:sp>
        <p:nvSpPr>
          <p:cNvPr id="33" name="Text 30"/>
          <p:cNvSpPr/>
          <p:nvPr/>
        </p:nvSpPr>
        <p:spPr>
          <a:xfrm>
            <a:off x="429768" y="4599432"/>
            <a:ext cx="3931920" cy="182880"/>
          </a:xfrm>
          <a:prstGeom prst="rect">
            <a:avLst/>
          </a:prstGeom>
          <a:noFill/>
          <a:ln/>
        </p:spPr>
        <p:txBody>
          <a:bodyPr wrap="square" lIns="0" tIns="0" rIns="0" bIns="0" rtlCol="0" anchor="ctr"/>
          <a:lstStyle/>
          <a:p>
            <a:pPr marL="0" indent="0">
              <a:buNone/>
            </a:pPr>
            <a:r>
              <a:rPr lang="en-US" sz="900" dirty="0">
                <a:solidFill>
                  <a:srgbClr val="5A6A7A"/>
                </a:solidFill>
              </a:rPr>
              <a:t>Aides emploi pour moins de 26 ans</a:t>
            </a:r>
            <a:endParaRPr lang="en-US" sz="900" dirty="0"/>
          </a:p>
        </p:txBody>
      </p:sp>
      <p:sp>
        <p:nvSpPr>
          <p:cNvPr id="34" name="Shape 31"/>
          <p:cNvSpPr/>
          <p:nvPr/>
        </p:nvSpPr>
        <p:spPr>
          <a:xfrm>
            <a:off x="4754880" y="3017520"/>
            <a:ext cx="4206240" cy="1874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5" name="Shape 32"/>
          <p:cNvSpPr/>
          <p:nvPr/>
        </p:nvSpPr>
        <p:spPr>
          <a:xfrm>
            <a:off x="4754880" y="3017520"/>
            <a:ext cx="4206240" cy="384048"/>
          </a:xfrm>
          <a:prstGeom prst="rect">
            <a:avLst/>
          </a:prstGeom>
          <a:solidFill>
            <a:srgbClr val="F59E0B"/>
          </a:solidFill>
          <a:ln/>
        </p:spPr>
        <p:txBody>
          <a:bodyPr/>
          <a:lstStyle/>
          <a:p>
            <a:endParaRPr lang="fr-FR"/>
          </a:p>
        </p:txBody>
      </p:sp>
      <p:sp>
        <p:nvSpPr>
          <p:cNvPr id="36" name="Text 33"/>
          <p:cNvSpPr/>
          <p:nvPr/>
        </p:nvSpPr>
        <p:spPr>
          <a:xfrm>
            <a:off x="4864608" y="3072384"/>
            <a:ext cx="3931920" cy="274320"/>
          </a:xfrm>
          <a:prstGeom prst="rect">
            <a:avLst/>
          </a:prstGeom>
          <a:noFill/>
          <a:ln/>
        </p:spPr>
        <p:txBody>
          <a:bodyPr wrap="square" lIns="0" tIns="0" rIns="0" bIns="0" rtlCol="0" anchor="ctr"/>
          <a:lstStyle/>
          <a:p>
            <a:pPr marL="0" indent="0">
              <a:buNone/>
            </a:pPr>
            <a:r>
              <a:rPr lang="en-US" sz="1200" b="1" dirty="0">
                <a:solidFill>
                  <a:srgbClr val="FFFFFF"/>
                </a:solidFill>
              </a:rPr>
              <a:t>📂 Préparer l'entretien</a:t>
            </a:r>
            <a:endParaRPr lang="en-US" sz="1200" dirty="0"/>
          </a:p>
        </p:txBody>
      </p:sp>
      <p:sp>
        <p:nvSpPr>
          <p:cNvPr id="37" name="Text 34"/>
          <p:cNvSpPr/>
          <p:nvPr/>
        </p:nvSpPr>
        <p:spPr>
          <a:xfrm>
            <a:off x="4864608" y="3520440"/>
            <a:ext cx="3931920" cy="219456"/>
          </a:xfrm>
          <a:prstGeom prst="rect">
            <a:avLst/>
          </a:prstGeom>
          <a:noFill/>
          <a:ln/>
        </p:spPr>
        <p:txBody>
          <a:bodyPr wrap="square" lIns="0" tIns="0" rIns="0" bIns="0" rtlCol="0" anchor="ctr"/>
          <a:lstStyle/>
          <a:p>
            <a:pPr marL="0" indent="0">
              <a:buNone/>
            </a:pPr>
            <a:r>
              <a:rPr lang="en-US" sz="1000" b="1" dirty="0">
                <a:solidFill>
                  <a:srgbClr val="F59E0B"/>
                </a:solidFill>
              </a:rPr>
              <a:t>🔗 YouTube : « Entretien d'embauche »</a:t>
            </a:r>
            <a:endParaRPr lang="en-US" sz="1000" dirty="0"/>
          </a:p>
        </p:txBody>
      </p:sp>
      <p:sp>
        <p:nvSpPr>
          <p:cNvPr id="38" name="Text 35"/>
          <p:cNvSpPr/>
          <p:nvPr/>
        </p:nvSpPr>
        <p:spPr>
          <a:xfrm>
            <a:off x="4864608" y="3721608"/>
            <a:ext cx="3931920" cy="182880"/>
          </a:xfrm>
          <a:prstGeom prst="rect">
            <a:avLst/>
          </a:prstGeom>
          <a:noFill/>
          <a:ln/>
        </p:spPr>
        <p:txBody>
          <a:bodyPr wrap="square" lIns="0" tIns="0" rIns="0" bIns="0" rtlCol="0" anchor="ctr"/>
          <a:lstStyle/>
          <a:p>
            <a:pPr marL="0" indent="0">
              <a:buNone/>
            </a:pPr>
            <a:r>
              <a:rPr lang="en-US" sz="900" dirty="0">
                <a:solidFill>
                  <a:srgbClr val="5A6A7A"/>
                </a:solidFill>
              </a:rPr>
              <a:t>Des dizaines de conseils vidéo gratuits</a:t>
            </a:r>
            <a:endParaRPr lang="en-US" sz="900" dirty="0"/>
          </a:p>
        </p:txBody>
      </p:sp>
      <p:sp>
        <p:nvSpPr>
          <p:cNvPr id="39" name="Text 36"/>
          <p:cNvSpPr/>
          <p:nvPr/>
        </p:nvSpPr>
        <p:spPr>
          <a:xfrm>
            <a:off x="4864608" y="3959352"/>
            <a:ext cx="3931920" cy="219456"/>
          </a:xfrm>
          <a:prstGeom prst="rect">
            <a:avLst/>
          </a:prstGeom>
          <a:noFill/>
          <a:ln/>
        </p:spPr>
        <p:txBody>
          <a:bodyPr wrap="square" lIns="0" tIns="0" rIns="0" bIns="0" rtlCol="0" anchor="ctr"/>
          <a:lstStyle/>
          <a:p>
            <a:pPr marL="0" indent="0">
              <a:buNone/>
            </a:pPr>
            <a:r>
              <a:rPr lang="en-US" sz="1000" b="1" dirty="0">
                <a:solidFill>
                  <a:srgbClr val="F59E0B"/>
                </a:solidFill>
              </a:rPr>
              <a:t>🔗 glassdoor.fr</a:t>
            </a:r>
            <a:endParaRPr lang="en-US" sz="1000" dirty="0"/>
          </a:p>
        </p:txBody>
      </p:sp>
      <p:sp>
        <p:nvSpPr>
          <p:cNvPr id="40" name="Text 37"/>
          <p:cNvSpPr/>
          <p:nvPr/>
        </p:nvSpPr>
        <p:spPr>
          <a:xfrm>
            <a:off x="4864608" y="4160520"/>
            <a:ext cx="3931920" cy="182880"/>
          </a:xfrm>
          <a:prstGeom prst="rect">
            <a:avLst/>
          </a:prstGeom>
          <a:noFill/>
          <a:ln/>
        </p:spPr>
        <p:txBody>
          <a:bodyPr wrap="square" lIns="0" tIns="0" rIns="0" bIns="0" rtlCol="0" anchor="ctr"/>
          <a:lstStyle/>
          <a:p>
            <a:pPr marL="0" indent="0">
              <a:buNone/>
            </a:pPr>
            <a:r>
              <a:rPr lang="en-US" sz="900" dirty="0">
                <a:solidFill>
                  <a:srgbClr val="5A6A7A"/>
                </a:solidFill>
              </a:rPr>
              <a:t>Lire les avis sur les entreprises + salaires</a:t>
            </a:r>
            <a:endParaRPr lang="en-US" sz="900" dirty="0"/>
          </a:p>
        </p:txBody>
      </p:sp>
      <p:sp>
        <p:nvSpPr>
          <p:cNvPr id="41" name="Text 38"/>
          <p:cNvSpPr/>
          <p:nvPr/>
        </p:nvSpPr>
        <p:spPr>
          <a:xfrm>
            <a:off x="4864608" y="4398264"/>
            <a:ext cx="3931920" cy="219456"/>
          </a:xfrm>
          <a:prstGeom prst="rect">
            <a:avLst/>
          </a:prstGeom>
          <a:noFill/>
          <a:ln/>
        </p:spPr>
        <p:txBody>
          <a:bodyPr wrap="square" lIns="0" tIns="0" rIns="0" bIns="0" rtlCol="0" anchor="ctr"/>
          <a:lstStyle/>
          <a:p>
            <a:pPr marL="0" indent="0">
              <a:buNone/>
            </a:pPr>
            <a:r>
              <a:rPr lang="en-US" sz="1000" b="1" dirty="0">
                <a:solidFill>
                  <a:srgbClr val="F59E0B"/>
                </a:solidFill>
              </a:rPr>
              <a:t>🔗 interview warmup (Google)</a:t>
            </a:r>
            <a:endParaRPr lang="en-US" sz="1000" dirty="0"/>
          </a:p>
        </p:txBody>
      </p:sp>
      <p:sp>
        <p:nvSpPr>
          <p:cNvPr id="42" name="Text 39"/>
          <p:cNvSpPr/>
          <p:nvPr/>
        </p:nvSpPr>
        <p:spPr>
          <a:xfrm>
            <a:off x="4864608" y="4599432"/>
            <a:ext cx="3931920" cy="182880"/>
          </a:xfrm>
          <a:prstGeom prst="rect">
            <a:avLst/>
          </a:prstGeom>
          <a:noFill/>
          <a:ln/>
        </p:spPr>
        <p:txBody>
          <a:bodyPr wrap="square" lIns="0" tIns="0" rIns="0" bIns="0" rtlCol="0" anchor="ctr"/>
          <a:lstStyle/>
          <a:p>
            <a:pPr marL="0" indent="0">
              <a:buNone/>
            </a:pPr>
            <a:r>
              <a:rPr lang="en-US" sz="900" dirty="0">
                <a:solidFill>
                  <a:srgbClr val="5A6A7A"/>
                </a:solidFill>
              </a:rPr>
              <a:t>S'entraîner à l'oral avec l'IA gratuitement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Videos">
    <p:bg>
      <p:bgPr>
        <a:solidFill>
          <a:srgbClr val="FFFFFF"/>
        </a:solidFill>
        <a:effectLst/>
      </p:bgPr>
    </p:bg>
    <p:spTree>
      <p:nvGrpSpPr>
        <p:cNvPr id="1" name=""/>
        <p:cNvGrpSpPr/>
        <p:nvPr/>
      </p:nvGrpSpPr>
      <p:grpSpPr>
        <a:xfrm>
          <a:off x="0" y="0"/>
          <a:ext cx="0" cy="0"/>
          <a:chOff x="0" y="0"/>
          <a:chExt cx="0" cy="0"/>
        </a:xfrm>
      </p:grpSpPr>
      <p:sp>
        <p:nvSpPr>
          <p:cNvPr id="2" name="HeaderBar"/>
          <p:cNvSpPr/>
          <p:nvPr/>
        </p:nvSpPr>
        <p:spPr>
          <a:xfrm>
            <a:off x="0" y="0"/>
            <a:ext cx="9144000" cy="914400"/>
          </a:xfrm>
          <a:prstGeom prst="rect">
            <a:avLst/>
          </a:prstGeom>
          <a:solidFill>
            <a:srgbClr val="10B981"/>
          </a:solidFill>
          <a:ln/>
        </p:spPr>
        <p:txBody>
          <a:bodyPr/>
          <a:lstStyle/>
          <a:p>
            <a:endParaRPr lang="fr-FR"/>
          </a:p>
        </p:txBody>
      </p:sp>
      <p:sp>
        <p:nvSpPr>
          <p:cNvPr id="3" name="Kicker"/>
          <p:cNvSpPr/>
          <p:nvPr/>
        </p:nvSpPr>
        <p:spPr>
          <a:xfrm>
            <a:off x="457200" y="150000"/>
            <a:ext cx="8229600" cy="240000"/>
          </a:xfrm>
          <a:prstGeom prst="rect">
            <a:avLst/>
          </a:prstGeom>
          <a:noFill/>
        </p:spPr>
        <p:txBody>
          <a:bodyPr wrap="square" lIns="0" tIns="0" rIns="0" bIns="0" anchor="ctr"/>
          <a:lstStyle/>
          <a:p>
            <a:pPr marL="0" indent="0">
              <a:buNone/>
            </a:pPr>
            <a:r>
              <a:rPr lang="fr-FR" sz="950" b="1" spc="300" dirty="0">
                <a:solidFill>
                  <a:srgbClr val="E6FBF3"/>
                </a:solidFill>
              </a:rPr>
              <a:t>PARTIE 5 · SLIDE 24 · CV</a:t>
            </a:r>
          </a:p>
        </p:txBody>
      </p:sp>
      <p:sp>
        <p:nvSpPr>
          <p:cNvPr id="4" name="Title"/>
          <p:cNvSpPr/>
          <p:nvPr/>
        </p:nvSpPr>
        <p:spPr>
          <a:xfrm>
            <a:off x="457200" y="400000"/>
            <a:ext cx="8229600" cy="430000"/>
          </a:xfrm>
          <a:prstGeom prst="rect">
            <a:avLst/>
          </a:prstGeom>
          <a:noFill/>
        </p:spPr>
        <p:txBody>
          <a:bodyPr wrap="square" lIns="0" tIns="0" rIns="0" bIns="0" anchor="ctr"/>
          <a:lstStyle/>
          <a:p>
            <a:pPr marL="0" indent="0">
              <a:buNone/>
            </a:pPr>
            <a:r>
              <a:rPr lang="fr-FR" sz="2000" b="1" dirty="0">
                <a:solidFill>
                  <a:srgbClr val="FFFFFF"/>
                </a:solidFill>
              </a:rPr>
              <a:t>Vidéos pour aller plus loin</a:t>
            </a:r>
          </a:p>
        </p:txBody>
      </p:sp>
      <p:sp>
        <p:nvSpPr>
          <p:cNvPr id="5" name="Subtitle"/>
          <p:cNvSpPr/>
          <p:nvPr/>
        </p:nvSpPr>
        <p:spPr>
          <a:xfrm>
            <a:off x="457200" y="1010000"/>
            <a:ext cx="8229600" cy="300000"/>
          </a:xfrm>
          <a:prstGeom prst="rect">
            <a:avLst/>
          </a:prstGeom>
          <a:noFill/>
        </p:spPr>
        <p:txBody>
          <a:bodyPr wrap="square" lIns="0" tIns="0" rIns="0" bIns="0" anchor="ctr"/>
          <a:lstStyle/>
          <a:p>
            <a:pPr marL="0" indent="0">
              <a:buNone/>
            </a:pPr>
            <a:r>
              <a:rPr lang="fr-FR" sz="1150" i="1" dirty="0">
                <a:solidFill>
                  <a:srgbClr val="4A5568"/>
                </a:solidFill>
              </a:rPr>
              <a:t>Cliquez sur une vidéo pour la lancer — lecture intégrée, sans quitter la slide.</a:t>
            </a:r>
          </a:p>
        </p:txBody>
      </p:sp>
      <p:sp>
        <p:nvSpPr>
          <p:cNvPr id="10" name="Frame0">
            <a:hlinkClick r:id="rId2"/>
          </p:cNvPr>
          <p:cNvSpPr/>
          <p:nvPr/>
        </p:nvSpPr>
        <p:spPr>
          <a:xfrm>
            <a:off x="457200" y="1480000"/>
            <a:ext cx="3934800" cy="2213325"/>
          </a:xfrm>
          <a:prstGeom prst="roundRect">
            <a:avLst>
              <a:gd name="adj" fmla="val 5000"/>
            </a:avLst>
          </a:prstGeom>
          <a:gradFill>
            <a:gsLst>
              <a:gs pos="0">
                <a:srgbClr val="1B2A4A"/>
              </a:gs>
              <a:gs pos="100000">
                <a:srgbClr val="0C1626"/>
              </a:gs>
            </a:gsLst>
            <a:lin ang="5400000" scaled="1"/>
          </a:gradFill>
          <a:ln w="12700">
            <a:solidFill>
              <a:srgbClr val="10B981">
                <a:alpha val="55000"/>
              </a:srgbClr>
            </a:solidFill>
          </a:ln>
          <a:effectLst>
            <a:outerShdw blurRad="90000" dist="25400" dir="5400000" rotWithShape="0">
              <a:srgbClr val="000000">
                <a:alpha val="22000"/>
              </a:srgbClr>
            </a:outerShdw>
          </a:effectLst>
        </p:spPr>
        <p:txBody>
          <a:bodyPr/>
          <a:lstStyle/>
          <a:p>
            <a:endParaRPr lang="fr-FR"/>
          </a:p>
        </p:txBody>
      </p:sp>
      <p:sp>
        <p:nvSpPr>
          <p:cNvPr id="11" name="PlayC0">
            <a:hlinkClick r:id="rId2"/>
          </p:cNvPr>
          <p:cNvSpPr/>
          <p:nvPr/>
        </p:nvSpPr>
        <p:spPr>
          <a:xfrm>
            <a:off x="2094600" y="2096662"/>
            <a:ext cx="660000" cy="660000"/>
          </a:xfrm>
          <a:prstGeom prst="ellipse">
            <a:avLst/>
          </a:prstGeom>
          <a:solidFill>
            <a:srgbClr val="FFFFFF">
              <a:alpha val="92000"/>
            </a:srgbClr>
          </a:solidFill>
          <a:ln/>
          <a:effectLst>
            <a:outerShdw blurRad="120000" rotWithShape="0">
              <a:srgbClr val="10B981">
                <a:alpha val="55000"/>
              </a:srgbClr>
            </a:outerShdw>
          </a:effectLst>
        </p:spPr>
        <p:txBody>
          <a:bodyPr wrap="square" lIns="0" tIns="0" rIns="0" bIns="0" anchor="ctr"/>
          <a:lstStyle/>
          <a:p>
            <a:pPr marL="0" indent="0" algn="ctr">
              <a:buNone/>
            </a:pPr>
            <a:r>
              <a:rPr lang="fr-FR" sz="2400" dirty="0">
                <a:solidFill>
                  <a:srgbClr val="0E7C5A"/>
                </a:solidFill>
              </a:rPr>
              <a:t>▶</a:t>
            </a:r>
          </a:p>
        </p:txBody>
      </p:sp>
      <p:sp>
        <p:nvSpPr>
          <p:cNvPr id="12" name="FTitle0"/>
          <p:cNvSpPr/>
          <p:nvPr/>
        </p:nvSpPr>
        <p:spPr>
          <a:xfrm>
            <a:off x="617200" y="3133325"/>
            <a:ext cx="3614800" cy="460000"/>
          </a:xfrm>
          <a:prstGeom prst="rect">
            <a:avLst/>
          </a:prstGeom>
          <a:noFill/>
        </p:spPr>
        <p:txBody>
          <a:bodyPr wrap="square" lIns="0" tIns="0" rIns="0" bIns="0" anchor="b"/>
          <a:lstStyle/>
          <a:p>
            <a:pPr marL="0" indent="0" algn="ctr">
              <a:lnSpc>
                <a:spcPct val="105000"/>
              </a:lnSpc>
              <a:buNone/>
            </a:pPr>
            <a:r>
              <a:rPr lang="fr-FR" sz="1200" b="1" dirty="0">
                <a:solidFill>
                  <a:srgbClr val="FFFFFF"/>
                </a:solidFill>
              </a:rPr>
              <a:t>Créer son CV sur Canva (débutants)</a:t>
            </a:r>
          </a:p>
        </p:txBody>
      </p:sp>
      <p:pic>
        <p:nvPicPr>
          <p:cNvPr id="13" name="QR0" descr="qr"/>
          <p:cNvPicPr>
            <a:picLocks noChangeAspect="1"/>
          </p:cNvPicPr>
          <p:nvPr/>
        </p:nvPicPr>
        <p:blipFill>
          <a:blip r:embed="rId3"/>
          <a:stretch>
            <a:fillRect/>
          </a:stretch>
        </p:blipFill>
        <p:spPr>
          <a:xfrm>
            <a:off x="457200" y="3850000"/>
            <a:ext cx="620000" cy="620000"/>
          </a:xfrm>
          <a:prstGeom prst="rect">
            <a:avLst/>
          </a:prstGeom>
        </p:spPr>
      </p:pic>
      <p:sp>
        <p:nvSpPr>
          <p:cNvPr id="14" name="Link0"/>
          <p:cNvSpPr/>
          <p:nvPr/>
        </p:nvSpPr>
        <p:spPr>
          <a:xfrm>
            <a:off x="1177200" y="3850000"/>
            <a:ext cx="3214800" cy="620000"/>
          </a:xfrm>
          <a:prstGeom prst="rect">
            <a:avLst/>
          </a:prstGeom>
          <a:noFill/>
        </p:spPr>
        <p:txBody>
          <a:bodyPr wrap="square" lIns="0" tIns="0" rIns="0" bIns="0" anchor="ctr"/>
          <a:lstStyle/>
          <a:p>
            <a:pPr marL="0" indent="0">
              <a:buNone/>
            </a:pPr>
            <a:r>
              <a:rPr lang="fr-FR" sz="900" b="1" dirty="0">
                <a:solidFill>
                  <a:srgbClr val="0E7C5A"/>
                </a:solidFill>
              </a:rPr>
              <a:t>Scannez le QR code</a:t>
            </a:r>
          </a:p>
          <a:p>
            <a:pPr marL="0" indent="0">
              <a:buNone/>
            </a:pPr>
            <a:r>
              <a:rPr lang="fr-FR" sz="800" dirty="0">
                <a:solidFill>
                  <a:srgbClr val="4A5568"/>
                </a:solidFill>
              </a:rPr>
              <a:t>youtube.com/watch?v=KfyiBQWVbx4</a:t>
            </a:r>
          </a:p>
        </p:txBody>
      </p:sp>
      <p:sp>
        <p:nvSpPr>
          <p:cNvPr id="15" name="Frame1">
            <a:hlinkClick r:id="rId4"/>
          </p:cNvPr>
          <p:cNvSpPr/>
          <p:nvPr/>
        </p:nvSpPr>
        <p:spPr>
          <a:xfrm>
            <a:off x="4752000" y="1480000"/>
            <a:ext cx="3934800" cy="2213325"/>
          </a:xfrm>
          <a:prstGeom prst="roundRect">
            <a:avLst>
              <a:gd name="adj" fmla="val 5000"/>
            </a:avLst>
          </a:prstGeom>
          <a:gradFill>
            <a:gsLst>
              <a:gs pos="0">
                <a:srgbClr val="1B2A4A"/>
              </a:gs>
              <a:gs pos="100000">
                <a:srgbClr val="0C1626"/>
              </a:gs>
            </a:gsLst>
            <a:lin ang="5400000" scaled="1"/>
          </a:gradFill>
          <a:ln w="12700">
            <a:solidFill>
              <a:srgbClr val="10B981">
                <a:alpha val="55000"/>
              </a:srgbClr>
            </a:solidFill>
          </a:ln>
          <a:effectLst>
            <a:outerShdw blurRad="90000" dist="25400" dir="5400000" rotWithShape="0">
              <a:srgbClr val="000000">
                <a:alpha val="22000"/>
              </a:srgbClr>
            </a:outerShdw>
          </a:effectLst>
        </p:spPr>
        <p:txBody>
          <a:bodyPr/>
          <a:lstStyle/>
          <a:p>
            <a:endParaRPr lang="fr-FR"/>
          </a:p>
        </p:txBody>
      </p:sp>
      <p:sp>
        <p:nvSpPr>
          <p:cNvPr id="16" name="PlayC1">
            <a:hlinkClick r:id="rId4"/>
          </p:cNvPr>
          <p:cNvSpPr/>
          <p:nvPr/>
        </p:nvSpPr>
        <p:spPr>
          <a:xfrm>
            <a:off x="6389400" y="2096662"/>
            <a:ext cx="660000" cy="660000"/>
          </a:xfrm>
          <a:prstGeom prst="ellipse">
            <a:avLst/>
          </a:prstGeom>
          <a:solidFill>
            <a:srgbClr val="FFFFFF">
              <a:alpha val="92000"/>
            </a:srgbClr>
          </a:solidFill>
          <a:ln/>
          <a:effectLst>
            <a:outerShdw blurRad="120000" rotWithShape="0">
              <a:srgbClr val="10B981">
                <a:alpha val="55000"/>
              </a:srgbClr>
            </a:outerShdw>
          </a:effectLst>
        </p:spPr>
        <p:txBody>
          <a:bodyPr wrap="square" lIns="0" tIns="0" rIns="0" bIns="0" anchor="ctr"/>
          <a:lstStyle/>
          <a:p>
            <a:pPr marL="0" indent="0" algn="ctr">
              <a:buNone/>
            </a:pPr>
            <a:r>
              <a:rPr lang="fr-FR" sz="2400" dirty="0">
                <a:solidFill>
                  <a:srgbClr val="0E7C5A"/>
                </a:solidFill>
              </a:rPr>
              <a:t>▶</a:t>
            </a:r>
          </a:p>
        </p:txBody>
      </p:sp>
      <p:sp>
        <p:nvSpPr>
          <p:cNvPr id="17" name="FTitle1"/>
          <p:cNvSpPr/>
          <p:nvPr/>
        </p:nvSpPr>
        <p:spPr>
          <a:xfrm>
            <a:off x="4912000" y="3133325"/>
            <a:ext cx="3614800" cy="460000"/>
          </a:xfrm>
          <a:prstGeom prst="rect">
            <a:avLst/>
          </a:prstGeom>
          <a:noFill/>
        </p:spPr>
        <p:txBody>
          <a:bodyPr wrap="square" lIns="0" tIns="0" rIns="0" bIns="0" anchor="b"/>
          <a:lstStyle/>
          <a:p>
            <a:pPr marL="0" indent="0" algn="ctr">
              <a:lnSpc>
                <a:spcPct val="105000"/>
              </a:lnSpc>
              <a:buNone/>
            </a:pPr>
            <a:r>
              <a:rPr lang="fr-FR" sz="1200" b="1" dirty="0">
                <a:solidFill>
                  <a:srgbClr val="FFFFFF"/>
                </a:solidFill>
              </a:rPr>
              <a:t>CV pro avec Canva en 10 minutes</a:t>
            </a:r>
          </a:p>
        </p:txBody>
      </p:sp>
      <p:pic>
        <p:nvPicPr>
          <p:cNvPr id="18" name="QR1" descr="qr"/>
          <p:cNvPicPr>
            <a:picLocks noChangeAspect="1"/>
          </p:cNvPicPr>
          <p:nvPr/>
        </p:nvPicPr>
        <p:blipFill>
          <a:blip r:embed="rId5"/>
          <a:stretch>
            <a:fillRect/>
          </a:stretch>
        </p:blipFill>
        <p:spPr>
          <a:xfrm>
            <a:off x="4752000" y="3850000"/>
            <a:ext cx="620000" cy="620000"/>
          </a:xfrm>
          <a:prstGeom prst="rect">
            <a:avLst/>
          </a:prstGeom>
        </p:spPr>
      </p:pic>
      <p:sp>
        <p:nvSpPr>
          <p:cNvPr id="19" name="Link1"/>
          <p:cNvSpPr/>
          <p:nvPr/>
        </p:nvSpPr>
        <p:spPr>
          <a:xfrm>
            <a:off x="5472000" y="3850000"/>
            <a:ext cx="3214800" cy="620000"/>
          </a:xfrm>
          <a:prstGeom prst="rect">
            <a:avLst/>
          </a:prstGeom>
          <a:noFill/>
        </p:spPr>
        <p:txBody>
          <a:bodyPr wrap="square" lIns="0" tIns="0" rIns="0" bIns="0" anchor="ctr"/>
          <a:lstStyle/>
          <a:p>
            <a:pPr marL="0" indent="0">
              <a:buNone/>
            </a:pPr>
            <a:r>
              <a:rPr lang="fr-FR" sz="900" b="1" dirty="0">
                <a:solidFill>
                  <a:srgbClr val="0E7C5A"/>
                </a:solidFill>
              </a:rPr>
              <a:t>Scannez le QR code</a:t>
            </a:r>
          </a:p>
          <a:p>
            <a:pPr marL="0" indent="0">
              <a:buNone/>
            </a:pPr>
            <a:r>
              <a:rPr lang="fr-FR" sz="800" dirty="0">
                <a:solidFill>
                  <a:srgbClr val="4A5568"/>
                </a:solidFill>
              </a:rPr>
              <a:t>youtube.com/watch?v=Wjvozlbs9Rw</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Videos">
    <p:bg>
      <p:bgPr>
        <a:solidFill>
          <a:srgbClr val="FFFFFF"/>
        </a:solidFill>
        <a:effectLst/>
      </p:bgPr>
    </p:bg>
    <p:spTree>
      <p:nvGrpSpPr>
        <p:cNvPr id="1" name=""/>
        <p:cNvGrpSpPr/>
        <p:nvPr/>
      </p:nvGrpSpPr>
      <p:grpSpPr>
        <a:xfrm>
          <a:off x="0" y="0"/>
          <a:ext cx="0" cy="0"/>
          <a:chOff x="0" y="0"/>
          <a:chExt cx="0" cy="0"/>
        </a:xfrm>
      </p:grpSpPr>
      <p:sp>
        <p:nvSpPr>
          <p:cNvPr id="2" name="HeaderBar"/>
          <p:cNvSpPr/>
          <p:nvPr/>
        </p:nvSpPr>
        <p:spPr>
          <a:xfrm>
            <a:off x="0" y="0"/>
            <a:ext cx="9144000" cy="914400"/>
          </a:xfrm>
          <a:prstGeom prst="rect">
            <a:avLst/>
          </a:prstGeom>
          <a:solidFill>
            <a:srgbClr val="10B981"/>
          </a:solidFill>
          <a:ln/>
        </p:spPr>
        <p:txBody>
          <a:bodyPr/>
          <a:lstStyle/>
          <a:p>
            <a:endParaRPr lang="fr-FR"/>
          </a:p>
        </p:txBody>
      </p:sp>
      <p:sp>
        <p:nvSpPr>
          <p:cNvPr id="3" name="Kicker"/>
          <p:cNvSpPr/>
          <p:nvPr/>
        </p:nvSpPr>
        <p:spPr>
          <a:xfrm>
            <a:off x="457200" y="150000"/>
            <a:ext cx="8229600" cy="240000"/>
          </a:xfrm>
          <a:prstGeom prst="rect">
            <a:avLst/>
          </a:prstGeom>
          <a:noFill/>
        </p:spPr>
        <p:txBody>
          <a:bodyPr wrap="square" lIns="0" tIns="0" rIns="0" bIns="0" anchor="ctr"/>
          <a:lstStyle/>
          <a:p>
            <a:pPr marL="0" indent="0">
              <a:buNone/>
            </a:pPr>
            <a:r>
              <a:rPr lang="fr-FR" sz="950" b="1" spc="300" dirty="0">
                <a:solidFill>
                  <a:srgbClr val="E6FBF3"/>
                </a:solidFill>
              </a:rPr>
              <a:t>PARTIE 5 · SLIDE 25 · LETTRE</a:t>
            </a:r>
          </a:p>
        </p:txBody>
      </p:sp>
      <p:sp>
        <p:nvSpPr>
          <p:cNvPr id="4" name="Title"/>
          <p:cNvSpPr/>
          <p:nvPr/>
        </p:nvSpPr>
        <p:spPr>
          <a:xfrm>
            <a:off x="457200" y="400000"/>
            <a:ext cx="8229600" cy="430000"/>
          </a:xfrm>
          <a:prstGeom prst="rect">
            <a:avLst/>
          </a:prstGeom>
          <a:noFill/>
        </p:spPr>
        <p:txBody>
          <a:bodyPr wrap="square" lIns="0" tIns="0" rIns="0" bIns="0" anchor="ctr"/>
          <a:lstStyle/>
          <a:p>
            <a:pPr marL="0" indent="0">
              <a:buNone/>
            </a:pPr>
            <a:r>
              <a:rPr lang="fr-FR" sz="2000" b="1" dirty="0">
                <a:solidFill>
                  <a:srgbClr val="FFFFFF"/>
                </a:solidFill>
              </a:rPr>
              <a:t>Vidéos pour aller plus loin</a:t>
            </a:r>
          </a:p>
        </p:txBody>
      </p:sp>
      <p:sp>
        <p:nvSpPr>
          <p:cNvPr id="5" name="Subtitle"/>
          <p:cNvSpPr/>
          <p:nvPr/>
        </p:nvSpPr>
        <p:spPr>
          <a:xfrm>
            <a:off x="457200" y="1010000"/>
            <a:ext cx="8229600" cy="300000"/>
          </a:xfrm>
          <a:prstGeom prst="rect">
            <a:avLst/>
          </a:prstGeom>
          <a:noFill/>
        </p:spPr>
        <p:txBody>
          <a:bodyPr wrap="square" lIns="0" tIns="0" rIns="0" bIns="0" anchor="ctr"/>
          <a:lstStyle/>
          <a:p>
            <a:pPr marL="0" indent="0">
              <a:buNone/>
            </a:pPr>
            <a:r>
              <a:rPr lang="fr-FR" sz="1150" i="1" dirty="0">
                <a:solidFill>
                  <a:srgbClr val="4A5568"/>
                </a:solidFill>
              </a:rPr>
              <a:t>Cliquez sur une vidéo pour la lancer — lecture intégrée, sans quitter la slide.</a:t>
            </a:r>
          </a:p>
        </p:txBody>
      </p:sp>
      <p:sp>
        <p:nvSpPr>
          <p:cNvPr id="10" name="Frame0">
            <a:hlinkClick r:id="rId2"/>
          </p:cNvPr>
          <p:cNvSpPr/>
          <p:nvPr/>
        </p:nvSpPr>
        <p:spPr>
          <a:xfrm>
            <a:off x="457200" y="1480000"/>
            <a:ext cx="3934800" cy="2213325"/>
          </a:xfrm>
          <a:prstGeom prst="roundRect">
            <a:avLst>
              <a:gd name="adj" fmla="val 5000"/>
            </a:avLst>
          </a:prstGeom>
          <a:gradFill>
            <a:gsLst>
              <a:gs pos="0">
                <a:srgbClr val="1B2A4A"/>
              </a:gs>
              <a:gs pos="100000">
                <a:srgbClr val="0C1626"/>
              </a:gs>
            </a:gsLst>
            <a:lin ang="5400000" scaled="1"/>
          </a:gradFill>
          <a:ln w="12700">
            <a:solidFill>
              <a:srgbClr val="10B981">
                <a:alpha val="55000"/>
              </a:srgbClr>
            </a:solidFill>
          </a:ln>
          <a:effectLst>
            <a:outerShdw blurRad="90000" dist="25400" dir="5400000" rotWithShape="0">
              <a:srgbClr val="000000">
                <a:alpha val="22000"/>
              </a:srgbClr>
            </a:outerShdw>
          </a:effectLst>
        </p:spPr>
        <p:txBody>
          <a:bodyPr/>
          <a:lstStyle/>
          <a:p>
            <a:endParaRPr lang="fr-FR"/>
          </a:p>
        </p:txBody>
      </p:sp>
      <p:sp>
        <p:nvSpPr>
          <p:cNvPr id="11" name="PlayC0">
            <a:hlinkClick r:id="rId2"/>
          </p:cNvPr>
          <p:cNvSpPr/>
          <p:nvPr/>
        </p:nvSpPr>
        <p:spPr>
          <a:xfrm>
            <a:off x="2094600" y="2096662"/>
            <a:ext cx="660000" cy="660000"/>
          </a:xfrm>
          <a:prstGeom prst="ellipse">
            <a:avLst/>
          </a:prstGeom>
          <a:solidFill>
            <a:srgbClr val="FFFFFF">
              <a:alpha val="92000"/>
            </a:srgbClr>
          </a:solidFill>
          <a:ln/>
          <a:effectLst>
            <a:outerShdw blurRad="120000" rotWithShape="0">
              <a:srgbClr val="10B981">
                <a:alpha val="55000"/>
              </a:srgbClr>
            </a:outerShdw>
          </a:effectLst>
        </p:spPr>
        <p:txBody>
          <a:bodyPr wrap="square" lIns="0" tIns="0" rIns="0" bIns="0" anchor="ctr"/>
          <a:lstStyle/>
          <a:p>
            <a:pPr marL="0" indent="0" algn="ctr">
              <a:buNone/>
            </a:pPr>
            <a:r>
              <a:rPr lang="fr-FR" sz="2400" dirty="0">
                <a:solidFill>
                  <a:srgbClr val="0E7C5A"/>
                </a:solidFill>
              </a:rPr>
              <a:t>▶</a:t>
            </a:r>
          </a:p>
        </p:txBody>
      </p:sp>
      <p:sp>
        <p:nvSpPr>
          <p:cNvPr id="12" name="FTitle0"/>
          <p:cNvSpPr/>
          <p:nvPr/>
        </p:nvSpPr>
        <p:spPr>
          <a:xfrm>
            <a:off x="617200" y="3133325"/>
            <a:ext cx="3614800" cy="460000"/>
          </a:xfrm>
          <a:prstGeom prst="rect">
            <a:avLst/>
          </a:prstGeom>
          <a:noFill/>
        </p:spPr>
        <p:txBody>
          <a:bodyPr wrap="square" lIns="0" tIns="0" rIns="0" bIns="0" anchor="b"/>
          <a:lstStyle/>
          <a:p>
            <a:pPr marL="0" indent="0" algn="ctr">
              <a:lnSpc>
                <a:spcPct val="105000"/>
              </a:lnSpc>
              <a:buNone/>
            </a:pPr>
            <a:r>
              <a:rPr lang="fr-FR" sz="1200" b="1" dirty="0">
                <a:solidFill>
                  <a:srgbClr val="FFFFFF"/>
                </a:solidFill>
              </a:rPr>
              <a:t>Lettre de motivation (CIDJ)</a:t>
            </a:r>
          </a:p>
        </p:txBody>
      </p:sp>
      <p:pic>
        <p:nvPicPr>
          <p:cNvPr id="13" name="QR0" descr="qr"/>
          <p:cNvPicPr>
            <a:picLocks noChangeAspect="1"/>
          </p:cNvPicPr>
          <p:nvPr/>
        </p:nvPicPr>
        <p:blipFill>
          <a:blip r:embed="rId3"/>
          <a:stretch>
            <a:fillRect/>
          </a:stretch>
        </p:blipFill>
        <p:spPr>
          <a:xfrm>
            <a:off x="457200" y="3850000"/>
            <a:ext cx="620000" cy="620000"/>
          </a:xfrm>
          <a:prstGeom prst="rect">
            <a:avLst/>
          </a:prstGeom>
        </p:spPr>
      </p:pic>
      <p:sp>
        <p:nvSpPr>
          <p:cNvPr id="14" name="Link0"/>
          <p:cNvSpPr/>
          <p:nvPr/>
        </p:nvSpPr>
        <p:spPr>
          <a:xfrm>
            <a:off x="1177200" y="3850000"/>
            <a:ext cx="3214800" cy="620000"/>
          </a:xfrm>
          <a:prstGeom prst="rect">
            <a:avLst/>
          </a:prstGeom>
          <a:noFill/>
        </p:spPr>
        <p:txBody>
          <a:bodyPr wrap="square" lIns="0" tIns="0" rIns="0" bIns="0" anchor="ctr"/>
          <a:lstStyle/>
          <a:p>
            <a:pPr marL="0" indent="0">
              <a:buNone/>
            </a:pPr>
            <a:r>
              <a:rPr lang="fr-FR" sz="900" b="1" dirty="0">
                <a:solidFill>
                  <a:srgbClr val="0E7C5A"/>
                </a:solidFill>
              </a:rPr>
              <a:t>Scannez le QR code</a:t>
            </a:r>
          </a:p>
          <a:p>
            <a:pPr marL="0" indent="0">
              <a:buNone/>
            </a:pPr>
            <a:r>
              <a:rPr lang="fr-FR" sz="800" dirty="0">
                <a:solidFill>
                  <a:srgbClr val="4A5568"/>
                </a:solidFill>
              </a:rPr>
              <a:t>youtube.com/watch?v=7okfsfKaV3I</a:t>
            </a:r>
          </a:p>
        </p:txBody>
      </p:sp>
      <p:sp>
        <p:nvSpPr>
          <p:cNvPr id="15" name="Frame1">
            <a:hlinkClick r:id="rId4"/>
          </p:cNvPr>
          <p:cNvSpPr/>
          <p:nvPr/>
        </p:nvSpPr>
        <p:spPr>
          <a:xfrm>
            <a:off x="4752000" y="1480000"/>
            <a:ext cx="3934800" cy="2213325"/>
          </a:xfrm>
          <a:prstGeom prst="roundRect">
            <a:avLst>
              <a:gd name="adj" fmla="val 5000"/>
            </a:avLst>
          </a:prstGeom>
          <a:gradFill>
            <a:gsLst>
              <a:gs pos="0">
                <a:srgbClr val="1B2A4A"/>
              </a:gs>
              <a:gs pos="100000">
                <a:srgbClr val="0C1626"/>
              </a:gs>
            </a:gsLst>
            <a:lin ang="5400000" scaled="1"/>
          </a:gradFill>
          <a:ln w="12700">
            <a:solidFill>
              <a:srgbClr val="10B981">
                <a:alpha val="55000"/>
              </a:srgbClr>
            </a:solidFill>
          </a:ln>
          <a:effectLst>
            <a:outerShdw blurRad="90000" dist="25400" dir="5400000" rotWithShape="0">
              <a:srgbClr val="000000">
                <a:alpha val="22000"/>
              </a:srgbClr>
            </a:outerShdw>
          </a:effectLst>
        </p:spPr>
        <p:txBody>
          <a:bodyPr/>
          <a:lstStyle/>
          <a:p>
            <a:endParaRPr lang="fr-FR"/>
          </a:p>
        </p:txBody>
      </p:sp>
      <p:sp>
        <p:nvSpPr>
          <p:cNvPr id="16" name="PlayC1">
            <a:hlinkClick r:id="rId4"/>
          </p:cNvPr>
          <p:cNvSpPr/>
          <p:nvPr/>
        </p:nvSpPr>
        <p:spPr>
          <a:xfrm>
            <a:off x="6389400" y="2096662"/>
            <a:ext cx="660000" cy="660000"/>
          </a:xfrm>
          <a:prstGeom prst="ellipse">
            <a:avLst/>
          </a:prstGeom>
          <a:solidFill>
            <a:srgbClr val="FFFFFF">
              <a:alpha val="92000"/>
            </a:srgbClr>
          </a:solidFill>
          <a:ln/>
          <a:effectLst>
            <a:outerShdw blurRad="120000" rotWithShape="0">
              <a:srgbClr val="10B981">
                <a:alpha val="55000"/>
              </a:srgbClr>
            </a:outerShdw>
          </a:effectLst>
        </p:spPr>
        <p:txBody>
          <a:bodyPr wrap="square" lIns="0" tIns="0" rIns="0" bIns="0" anchor="ctr"/>
          <a:lstStyle/>
          <a:p>
            <a:pPr marL="0" indent="0" algn="ctr">
              <a:buNone/>
            </a:pPr>
            <a:r>
              <a:rPr lang="fr-FR" sz="2400" dirty="0">
                <a:solidFill>
                  <a:srgbClr val="0E7C5A"/>
                </a:solidFill>
              </a:rPr>
              <a:t>▶</a:t>
            </a:r>
          </a:p>
        </p:txBody>
      </p:sp>
      <p:sp>
        <p:nvSpPr>
          <p:cNvPr id="17" name="FTitle1"/>
          <p:cNvSpPr/>
          <p:nvPr/>
        </p:nvSpPr>
        <p:spPr>
          <a:xfrm>
            <a:off x="4912000" y="3133325"/>
            <a:ext cx="3614800" cy="460000"/>
          </a:xfrm>
          <a:prstGeom prst="rect">
            <a:avLst/>
          </a:prstGeom>
          <a:noFill/>
        </p:spPr>
        <p:txBody>
          <a:bodyPr wrap="square" lIns="0" tIns="0" rIns="0" bIns="0" anchor="b"/>
          <a:lstStyle/>
          <a:p>
            <a:pPr marL="0" indent="0" algn="ctr">
              <a:lnSpc>
                <a:spcPct val="105000"/>
              </a:lnSpc>
              <a:buNone/>
            </a:pPr>
            <a:r>
              <a:rPr lang="fr-FR" sz="1200" b="1" dirty="0">
                <a:solidFill>
                  <a:srgbClr val="FFFFFF"/>
                </a:solidFill>
              </a:rPr>
              <a:t>Une lettre qui décroche le poste</a:t>
            </a:r>
          </a:p>
        </p:txBody>
      </p:sp>
      <p:pic>
        <p:nvPicPr>
          <p:cNvPr id="18" name="QR1" descr="qr"/>
          <p:cNvPicPr>
            <a:picLocks noChangeAspect="1"/>
          </p:cNvPicPr>
          <p:nvPr/>
        </p:nvPicPr>
        <p:blipFill>
          <a:blip r:embed="rId5"/>
          <a:stretch>
            <a:fillRect/>
          </a:stretch>
        </p:blipFill>
        <p:spPr>
          <a:xfrm>
            <a:off x="4752000" y="3850000"/>
            <a:ext cx="620000" cy="620000"/>
          </a:xfrm>
          <a:prstGeom prst="rect">
            <a:avLst/>
          </a:prstGeom>
        </p:spPr>
      </p:pic>
      <p:sp>
        <p:nvSpPr>
          <p:cNvPr id="19" name="Link1"/>
          <p:cNvSpPr/>
          <p:nvPr/>
        </p:nvSpPr>
        <p:spPr>
          <a:xfrm>
            <a:off x="5472000" y="3850000"/>
            <a:ext cx="3214800" cy="620000"/>
          </a:xfrm>
          <a:prstGeom prst="rect">
            <a:avLst/>
          </a:prstGeom>
          <a:noFill/>
        </p:spPr>
        <p:txBody>
          <a:bodyPr wrap="square" lIns="0" tIns="0" rIns="0" bIns="0" anchor="ctr"/>
          <a:lstStyle/>
          <a:p>
            <a:pPr marL="0" indent="0">
              <a:buNone/>
            </a:pPr>
            <a:r>
              <a:rPr lang="fr-FR" sz="900" b="1" dirty="0">
                <a:solidFill>
                  <a:srgbClr val="0E7C5A"/>
                </a:solidFill>
              </a:rPr>
              <a:t>Scannez le QR code</a:t>
            </a:r>
          </a:p>
          <a:p>
            <a:pPr marL="0" indent="0">
              <a:buNone/>
            </a:pPr>
            <a:r>
              <a:rPr lang="fr-FR" sz="800" dirty="0">
                <a:solidFill>
                  <a:srgbClr val="4A5568"/>
                </a:solidFill>
              </a:rPr>
              <a:t>youtube.com/watch?v=8F3v6u0uGmk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371600" y="3200400"/>
            <a:ext cx="4114800" cy="4114800"/>
          </a:xfrm>
          <a:prstGeom prst="ellipse">
            <a:avLst/>
          </a:prstGeom>
          <a:solidFill>
            <a:srgbClr val="1565C0">
              <a:alpha val="20000"/>
            </a:srgbClr>
          </a:solidFill>
          <a:ln/>
        </p:spPr>
        <p:txBody>
          <a:bodyPr/>
          <a:lstStyle/>
          <a:p>
            <a:endParaRPr lang="fr-FR"/>
          </a:p>
        </p:txBody>
      </p:sp>
      <p:sp>
        <p:nvSpPr>
          <p:cNvPr id="3" name="Shape 1"/>
          <p:cNvSpPr/>
          <p:nvPr/>
        </p:nvSpPr>
        <p:spPr>
          <a:xfrm>
            <a:off x="6858000" y="-1097280"/>
            <a:ext cx="4114800" cy="4114800"/>
          </a:xfrm>
          <a:prstGeom prst="ellipse">
            <a:avLst/>
          </a:prstGeom>
          <a:solidFill>
            <a:srgbClr val="00ACC1">
              <a:alpha val="18000"/>
            </a:srgbClr>
          </a:solidFill>
          <a:ln/>
        </p:spPr>
        <p:txBody>
          <a:bodyPr/>
          <a:lstStyle/>
          <a:p>
            <a:endParaRPr lang="fr-FR"/>
          </a:p>
        </p:txBody>
      </p:sp>
      <p:pic>
        <p:nvPicPr>
          <p:cNvPr id="4" name="Image 0" descr="preencoded.png"/>
          <p:cNvPicPr>
            <a:picLocks noChangeAspect="1"/>
          </p:cNvPicPr>
          <p:nvPr/>
        </p:nvPicPr>
        <p:blipFill>
          <a:blip r:embed="rId3"/>
          <a:stretch>
            <a:fillRect/>
          </a:stretch>
        </p:blipFill>
        <p:spPr>
          <a:xfrm>
            <a:off x="3749040" y="228600"/>
            <a:ext cx="1645920" cy="1645920"/>
          </a:xfrm>
          <a:prstGeom prst="rect">
            <a:avLst/>
          </a:prstGeom>
        </p:spPr>
      </p:pic>
      <p:sp>
        <p:nvSpPr>
          <p:cNvPr id="5" name="Text 2"/>
          <p:cNvSpPr/>
          <p:nvPr/>
        </p:nvSpPr>
        <p:spPr>
          <a:xfrm>
            <a:off x="457200" y="1965960"/>
            <a:ext cx="8229600" cy="457200"/>
          </a:xfrm>
          <a:prstGeom prst="rect">
            <a:avLst/>
          </a:prstGeom>
          <a:noFill/>
          <a:ln/>
        </p:spPr>
        <p:txBody>
          <a:bodyPr wrap="square" rtlCol="0" anchor="ctr"/>
          <a:lstStyle/>
          <a:p>
            <a:pPr marL="0" indent="0" algn="ctr">
              <a:buNone/>
            </a:pPr>
            <a:r>
              <a:rPr lang="en-US" sz="2200" b="1" dirty="0">
                <a:solidFill>
                  <a:srgbClr val="FFFFFF"/>
                </a:solidFill>
              </a:rPr>
              <a:t>Récapitulatif — Ce que vous avez appris</a:t>
            </a:r>
            <a:endParaRPr lang="en-US" sz="2200" dirty="0"/>
          </a:p>
        </p:txBody>
      </p:sp>
      <p:sp>
        <p:nvSpPr>
          <p:cNvPr id="6" name="Shape 3"/>
          <p:cNvSpPr/>
          <p:nvPr/>
        </p:nvSpPr>
        <p:spPr>
          <a:xfrm>
            <a:off x="320040" y="2606040"/>
            <a:ext cx="1572768" cy="233172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7" name="Shape 4"/>
          <p:cNvSpPr/>
          <p:nvPr/>
        </p:nvSpPr>
        <p:spPr>
          <a:xfrm>
            <a:off x="320040" y="2606040"/>
            <a:ext cx="1572768" cy="457200"/>
          </a:xfrm>
          <a:prstGeom prst="rect">
            <a:avLst/>
          </a:prstGeom>
          <a:solidFill>
            <a:srgbClr val="1565C0"/>
          </a:solidFill>
          <a:ln/>
        </p:spPr>
        <p:txBody>
          <a:bodyPr/>
          <a:lstStyle/>
          <a:p>
            <a:endParaRPr lang="fr-FR"/>
          </a:p>
        </p:txBody>
      </p:sp>
      <p:sp>
        <p:nvSpPr>
          <p:cNvPr id="8" name="Text 5"/>
          <p:cNvSpPr/>
          <p:nvPr/>
        </p:nvSpPr>
        <p:spPr>
          <a:xfrm>
            <a:off x="320040" y="2606040"/>
            <a:ext cx="1572768" cy="457200"/>
          </a:xfrm>
          <a:prstGeom prst="rect">
            <a:avLst/>
          </a:prstGeom>
          <a:noFill/>
          <a:ln/>
        </p:spPr>
        <p:txBody>
          <a:bodyPr wrap="square" rtlCol="0" anchor="ctr"/>
          <a:lstStyle/>
          <a:p>
            <a:pPr marL="0" indent="0" algn="ctr">
              <a:buNone/>
            </a:pPr>
            <a:r>
              <a:rPr lang="en-US" sz="1800" b="1" dirty="0">
                <a:solidFill>
                  <a:srgbClr val="FFFFFF"/>
                </a:solidFill>
              </a:rPr>
              <a:t>1</a:t>
            </a:r>
            <a:endParaRPr lang="en-US" sz="1800" dirty="0"/>
          </a:p>
        </p:txBody>
      </p:sp>
      <p:sp>
        <p:nvSpPr>
          <p:cNvPr id="9" name="Text 6"/>
          <p:cNvSpPr/>
          <p:nvPr/>
        </p:nvSpPr>
        <p:spPr>
          <a:xfrm>
            <a:off x="411480" y="3127248"/>
            <a:ext cx="1389888" cy="347472"/>
          </a:xfrm>
          <a:prstGeom prst="rect">
            <a:avLst/>
          </a:prstGeom>
          <a:noFill/>
          <a:ln/>
        </p:spPr>
        <p:txBody>
          <a:bodyPr wrap="square" rtlCol="0" anchor="ctr"/>
          <a:lstStyle/>
          <a:p>
            <a:pPr marL="0" indent="0">
              <a:lnSpc>
                <a:spcPct val="110000"/>
              </a:lnSpc>
              <a:buNone/>
            </a:pPr>
            <a:r>
              <a:rPr lang="en-US" sz="1050" b="1" dirty="0">
                <a:solidFill>
                  <a:srgbClr val="FFFFFF"/>
                </a:solidFill>
              </a:rPr>
              <a:t>Recherche en ligne</a:t>
            </a:r>
            <a:endParaRPr lang="en-US" sz="1050" dirty="0"/>
          </a:p>
        </p:txBody>
      </p:sp>
      <p:sp>
        <p:nvSpPr>
          <p:cNvPr id="10" name="Text 7"/>
          <p:cNvSpPr/>
          <p:nvPr/>
        </p:nvSpPr>
        <p:spPr>
          <a:xfrm>
            <a:off x="411480" y="3529584"/>
            <a:ext cx="1389888" cy="1298448"/>
          </a:xfrm>
          <a:prstGeom prst="rect">
            <a:avLst/>
          </a:prstGeom>
          <a:noFill/>
          <a:ln/>
        </p:spPr>
        <p:txBody>
          <a:bodyPr wrap="square" rtlCol="0" anchor="ctr"/>
          <a:lstStyle/>
          <a:p>
            <a:pPr marL="0" indent="0">
              <a:lnSpc>
                <a:spcPct val="135000"/>
              </a:lnSpc>
              <a:buNone/>
            </a:pPr>
            <a:r>
              <a:rPr lang="en-US" sz="900" dirty="0">
                <a:solidFill>
                  <a:srgbClr val="A8C8E8"/>
                </a:solidFill>
              </a:rPr>
              <a:t>Définir son objectif, utiliser les mots-clés, activer des alertes.</a:t>
            </a:r>
            <a:endParaRPr lang="en-US" sz="900" dirty="0"/>
          </a:p>
        </p:txBody>
      </p:sp>
      <p:sp>
        <p:nvSpPr>
          <p:cNvPr id="11" name="Shape 8"/>
          <p:cNvSpPr/>
          <p:nvPr/>
        </p:nvSpPr>
        <p:spPr>
          <a:xfrm>
            <a:off x="2039112" y="2606040"/>
            <a:ext cx="1572768" cy="233172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12" name="Shape 9"/>
          <p:cNvSpPr/>
          <p:nvPr/>
        </p:nvSpPr>
        <p:spPr>
          <a:xfrm>
            <a:off x="2039112" y="2606040"/>
            <a:ext cx="1572768" cy="457200"/>
          </a:xfrm>
          <a:prstGeom prst="rect">
            <a:avLst/>
          </a:prstGeom>
          <a:solidFill>
            <a:srgbClr val="00796B"/>
          </a:solidFill>
          <a:ln/>
        </p:spPr>
        <p:txBody>
          <a:bodyPr/>
          <a:lstStyle/>
          <a:p>
            <a:endParaRPr lang="fr-FR"/>
          </a:p>
        </p:txBody>
      </p:sp>
      <p:sp>
        <p:nvSpPr>
          <p:cNvPr id="13" name="Text 10"/>
          <p:cNvSpPr/>
          <p:nvPr/>
        </p:nvSpPr>
        <p:spPr>
          <a:xfrm>
            <a:off x="2039112" y="2606040"/>
            <a:ext cx="1572768" cy="457200"/>
          </a:xfrm>
          <a:prstGeom prst="rect">
            <a:avLst/>
          </a:prstGeom>
          <a:noFill/>
          <a:ln/>
        </p:spPr>
        <p:txBody>
          <a:bodyPr wrap="square" rtlCol="0" anchor="ctr"/>
          <a:lstStyle/>
          <a:p>
            <a:pPr marL="0" indent="0" algn="ctr">
              <a:buNone/>
            </a:pPr>
            <a:r>
              <a:rPr lang="en-US" sz="1800" b="1" dirty="0">
                <a:solidFill>
                  <a:srgbClr val="FFFFFF"/>
                </a:solidFill>
              </a:rPr>
              <a:t>2</a:t>
            </a:r>
            <a:endParaRPr lang="en-US" sz="1800" dirty="0"/>
          </a:p>
        </p:txBody>
      </p:sp>
      <p:sp>
        <p:nvSpPr>
          <p:cNvPr id="14" name="Text 11"/>
          <p:cNvSpPr/>
          <p:nvPr/>
        </p:nvSpPr>
        <p:spPr>
          <a:xfrm>
            <a:off x="2130552" y="3127248"/>
            <a:ext cx="1389888" cy="347472"/>
          </a:xfrm>
          <a:prstGeom prst="rect">
            <a:avLst/>
          </a:prstGeom>
          <a:noFill/>
          <a:ln/>
        </p:spPr>
        <p:txBody>
          <a:bodyPr wrap="square" rtlCol="0" anchor="ctr"/>
          <a:lstStyle/>
          <a:p>
            <a:pPr marL="0" indent="0">
              <a:lnSpc>
                <a:spcPct val="110000"/>
              </a:lnSpc>
              <a:buNone/>
            </a:pPr>
            <a:r>
              <a:rPr lang="en-US" sz="1050" b="1" dirty="0">
                <a:solidFill>
                  <a:srgbClr val="FFFFFF"/>
                </a:solidFill>
              </a:rPr>
              <a:t>CV en ligne</a:t>
            </a:r>
            <a:endParaRPr lang="en-US" sz="1050" dirty="0"/>
          </a:p>
        </p:txBody>
      </p:sp>
      <p:sp>
        <p:nvSpPr>
          <p:cNvPr id="15" name="Text 12"/>
          <p:cNvSpPr/>
          <p:nvPr/>
        </p:nvSpPr>
        <p:spPr>
          <a:xfrm>
            <a:off x="2130552" y="3529584"/>
            <a:ext cx="1389888" cy="1298448"/>
          </a:xfrm>
          <a:prstGeom prst="rect">
            <a:avLst/>
          </a:prstGeom>
          <a:noFill/>
          <a:ln/>
        </p:spPr>
        <p:txBody>
          <a:bodyPr wrap="square" rtlCol="0" anchor="ctr"/>
          <a:lstStyle/>
          <a:p>
            <a:pPr marL="0" indent="0">
              <a:lnSpc>
                <a:spcPct val="135000"/>
              </a:lnSpc>
              <a:buNone/>
            </a:pPr>
            <a:r>
              <a:rPr lang="en-US" sz="900" dirty="0">
                <a:solidFill>
                  <a:srgbClr val="A8C8E8"/>
                </a:solidFill>
              </a:rPr>
              <a:t>Créer sur Canva, 1 page max, export PDF, nom de fichier propre.</a:t>
            </a:r>
            <a:endParaRPr lang="en-US" sz="900" dirty="0"/>
          </a:p>
        </p:txBody>
      </p:sp>
      <p:sp>
        <p:nvSpPr>
          <p:cNvPr id="16" name="Shape 13"/>
          <p:cNvSpPr/>
          <p:nvPr/>
        </p:nvSpPr>
        <p:spPr>
          <a:xfrm>
            <a:off x="3758184" y="2606040"/>
            <a:ext cx="1572768" cy="233172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17" name="Shape 14"/>
          <p:cNvSpPr/>
          <p:nvPr/>
        </p:nvSpPr>
        <p:spPr>
          <a:xfrm>
            <a:off x="3758184" y="2606040"/>
            <a:ext cx="1572768" cy="457200"/>
          </a:xfrm>
          <a:prstGeom prst="rect">
            <a:avLst/>
          </a:prstGeom>
          <a:solidFill>
            <a:srgbClr val="6A3FA0"/>
          </a:solidFill>
          <a:ln/>
        </p:spPr>
        <p:txBody>
          <a:bodyPr/>
          <a:lstStyle/>
          <a:p>
            <a:endParaRPr lang="fr-FR"/>
          </a:p>
        </p:txBody>
      </p:sp>
      <p:sp>
        <p:nvSpPr>
          <p:cNvPr id="18" name="Text 15"/>
          <p:cNvSpPr/>
          <p:nvPr/>
        </p:nvSpPr>
        <p:spPr>
          <a:xfrm>
            <a:off x="3758184" y="2606040"/>
            <a:ext cx="1572768" cy="457200"/>
          </a:xfrm>
          <a:prstGeom prst="rect">
            <a:avLst/>
          </a:prstGeom>
          <a:noFill/>
          <a:ln/>
        </p:spPr>
        <p:txBody>
          <a:bodyPr wrap="square" rtlCol="0" anchor="ctr"/>
          <a:lstStyle/>
          <a:p>
            <a:pPr marL="0" indent="0" algn="ctr">
              <a:buNone/>
            </a:pPr>
            <a:r>
              <a:rPr lang="en-US" sz="1800" b="1" dirty="0">
                <a:solidFill>
                  <a:srgbClr val="FFFFFF"/>
                </a:solidFill>
              </a:rPr>
              <a:t>3</a:t>
            </a:r>
            <a:endParaRPr lang="en-US" sz="1800" dirty="0"/>
          </a:p>
        </p:txBody>
      </p:sp>
      <p:sp>
        <p:nvSpPr>
          <p:cNvPr id="19" name="Text 16"/>
          <p:cNvSpPr/>
          <p:nvPr/>
        </p:nvSpPr>
        <p:spPr>
          <a:xfrm>
            <a:off x="3849624" y="3127248"/>
            <a:ext cx="1389888" cy="347472"/>
          </a:xfrm>
          <a:prstGeom prst="rect">
            <a:avLst/>
          </a:prstGeom>
          <a:noFill/>
          <a:ln/>
        </p:spPr>
        <p:txBody>
          <a:bodyPr wrap="square" rtlCol="0" anchor="ctr"/>
          <a:lstStyle/>
          <a:p>
            <a:pPr marL="0" indent="0">
              <a:lnSpc>
                <a:spcPct val="110000"/>
              </a:lnSpc>
              <a:buNone/>
            </a:pPr>
            <a:r>
              <a:rPr lang="en-US" sz="1050" b="1" dirty="0">
                <a:solidFill>
                  <a:srgbClr val="FFFFFF"/>
                </a:solidFill>
              </a:rPr>
              <a:t>Plateformes</a:t>
            </a:r>
            <a:endParaRPr lang="en-US" sz="1050" dirty="0"/>
          </a:p>
        </p:txBody>
      </p:sp>
      <p:sp>
        <p:nvSpPr>
          <p:cNvPr id="20" name="Text 17"/>
          <p:cNvSpPr/>
          <p:nvPr/>
        </p:nvSpPr>
        <p:spPr>
          <a:xfrm>
            <a:off x="3849624" y="3529584"/>
            <a:ext cx="1389888" cy="1298448"/>
          </a:xfrm>
          <a:prstGeom prst="rect">
            <a:avLst/>
          </a:prstGeom>
          <a:noFill/>
          <a:ln/>
        </p:spPr>
        <p:txBody>
          <a:bodyPr wrap="square" rtlCol="0" anchor="ctr"/>
          <a:lstStyle/>
          <a:p>
            <a:pPr marL="0" indent="0">
              <a:lnSpc>
                <a:spcPct val="135000"/>
              </a:lnSpc>
              <a:buNone/>
            </a:pPr>
            <a:r>
              <a:rPr lang="en-US" sz="900" dirty="0">
                <a:solidFill>
                  <a:srgbClr val="A8C8E8"/>
                </a:solidFill>
              </a:rPr>
              <a:t>Pôle Emploi + Indeed pour débuter, LinkedIn pour le réseau.</a:t>
            </a:r>
            <a:endParaRPr lang="en-US" sz="900" dirty="0"/>
          </a:p>
        </p:txBody>
      </p:sp>
      <p:sp>
        <p:nvSpPr>
          <p:cNvPr id="21" name="Shape 18"/>
          <p:cNvSpPr/>
          <p:nvPr/>
        </p:nvSpPr>
        <p:spPr>
          <a:xfrm>
            <a:off x="5477256" y="2606040"/>
            <a:ext cx="1572768" cy="233172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5477256" y="2606040"/>
            <a:ext cx="1572768" cy="457200"/>
          </a:xfrm>
          <a:prstGeom prst="rect">
            <a:avLst/>
          </a:prstGeom>
          <a:solidFill>
            <a:srgbClr val="F59E0B"/>
          </a:solidFill>
          <a:ln/>
        </p:spPr>
        <p:txBody>
          <a:bodyPr/>
          <a:lstStyle/>
          <a:p>
            <a:endParaRPr lang="fr-FR"/>
          </a:p>
        </p:txBody>
      </p:sp>
      <p:sp>
        <p:nvSpPr>
          <p:cNvPr id="23" name="Text 20"/>
          <p:cNvSpPr/>
          <p:nvPr/>
        </p:nvSpPr>
        <p:spPr>
          <a:xfrm>
            <a:off x="5477256" y="2606040"/>
            <a:ext cx="1572768" cy="457200"/>
          </a:xfrm>
          <a:prstGeom prst="rect">
            <a:avLst/>
          </a:prstGeom>
          <a:noFill/>
          <a:ln/>
        </p:spPr>
        <p:txBody>
          <a:bodyPr wrap="square" rtlCol="0" anchor="ctr"/>
          <a:lstStyle/>
          <a:p>
            <a:pPr marL="0" indent="0" algn="ctr">
              <a:buNone/>
            </a:pPr>
            <a:r>
              <a:rPr lang="en-US" sz="1800" b="1" dirty="0">
                <a:solidFill>
                  <a:srgbClr val="FFFFFF"/>
                </a:solidFill>
              </a:rPr>
              <a:t>4</a:t>
            </a:r>
            <a:endParaRPr lang="en-US" sz="1800" dirty="0"/>
          </a:p>
        </p:txBody>
      </p:sp>
      <p:sp>
        <p:nvSpPr>
          <p:cNvPr id="24" name="Text 21"/>
          <p:cNvSpPr/>
          <p:nvPr/>
        </p:nvSpPr>
        <p:spPr>
          <a:xfrm>
            <a:off x="5568696" y="3127248"/>
            <a:ext cx="1389888" cy="347472"/>
          </a:xfrm>
          <a:prstGeom prst="rect">
            <a:avLst/>
          </a:prstGeom>
          <a:noFill/>
          <a:ln/>
        </p:spPr>
        <p:txBody>
          <a:bodyPr wrap="square" rtlCol="0" anchor="ctr"/>
          <a:lstStyle/>
          <a:p>
            <a:pPr marL="0" indent="0">
              <a:lnSpc>
                <a:spcPct val="110000"/>
              </a:lnSpc>
              <a:buNone/>
            </a:pPr>
            <a:r>
              <a:rPr lang="en-US" sz="1050" b="1" dirty="0">
                <a:solidFill>
                  <a:srgbClr val="FFFFFF"/>
                </a:solidFill>
              </a:rPr>
              <a:t>Candidature</a:t>
            </a:r>
            <a:endParaRPr lang="en-US" sz="1050" dirty="0"/>
          </a:p>
        </p:txBody>
      </p:sp>
      <p:sp>
        <p:nvSpPr>
          <p:cNvPr id="25" name="Text 22"/>
          <p:cNvSpPr/>
          <p:nvPr/>
        </p:nvSpPr>
        <p:spPr>
          <a:xfrm>
            <a:off x="5568696" y="3529584"/>
            <a:ext cx="1389888" cy="1298448"/>
          </a:xfrm>
          <a:prstGeom prst="rect">
            <a:avLst/>
          </a:prstGeom>
          <a:noFill/>
          <a:ln/>
        </p:spPr>
        <p:txBody>
          <a:bodyPr wrap="square" rtlCol="0" anchor="ctr"/>
          <a:lstStyle/>
          <a:p>
            <a:pPr marL="0" indent="0">
              <a:lnSpc>
                <a:spcPct val="135000"/>
              </a:lnSpc>
              <a:buNone/>
            </a:pPr>
            <a:r>
              <a:rPr lang="en-US" sz="900" dirty="0">
                <a:solidFill>
                  <a:srgbClr val="A8C8E8"/>
                </a:solidFill>
              </a:rPr>
              <a:t>CV + lettre personnalisée + email professionnel + pièces jointes.</a:t>
            </a:r>
            <a:endParaRPr lang="en-US" sz="900" dirty="0"/>
          </a:p>
        </p:txBody>
      </p:sp>
      <p:sp>
        <p:nvSpPr>
          <p:cNvPr id="26" name="Shape 23"/>
          <p:cNvSpPr/>
          <p:nvPr/>
        </p:nvSpPr>
        <p:spPr>
          <a:xfrm>
            <a:off x="7196328" y="2606040"/>
            <a:ext cx="1572768" cy="233172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27" name="Shape 24"/>
          <p:cNvSpPr/>
          <p:nvPr/>
        </p:nvSpPr>
        <p:spPr>
          <a:xfrm>
            <a:off x="7196328" y="2606040"/>
            <a:ext cx="1572768" cy="457200"/>
          </a:xfrm>
          <a:prstGeom prst="rect">
            <a:avLst/>
          </a:prstGeom>
          <a:solidFill>
            <a:srgbClr val="10B981"/>
          </a:solidFill>
          <a:ln/>
        </p:spPr>
        <p:txBody>
          <a:bodyPr/>
          <a:lstStyle/>
          <a:p>
            <a:endParaRPr lang="fr-FR"/>
          </a:p>
        </p:txBody>
      </p:sp>
      <p:sp>
        <p:nvSpPr>
          <p:cNvPr id="28" name="Text 25"/>
          <p:cNvSpPr/>
          <p:nvPr/>
        </p:nvSpPr>
        <p:spPr>
          <a:xfrm>
            <a:off x="7196328" y="2606040"/>
            <a:ext cx="1572768" cy="457200"/>
          </a:xfrm>
          <a:prstGeom prst="rect">
            <a:avLst/>
          </a:prstGeom>
          <a:noFill/>
          <a:ln/>
        </p:spPr>
        <p:txBody>
          <a:bodyPr wrap="square" rtlCol="0" anchor="ctr"/>
          <a:lstStyle/>
          <a:p>
            <a:pPr marL="0" indent="0" algn="ctr">
              <a:buNone/>
            </a:pPr>
            <a:r>
              <a:rPr lang="en-US" sz="1800" b="1" dirty="0">
                <a:solidFill>
                  <a:srgbClr val="FFFFFF"/>
                </a:solidFill>
              </a:rPr>
              <a:t>5</a:t>
            </a:r>
            <a:endParaRPr lang="en-US" sz="1800" dirty="0"/>
          </a:p>
        </p:txBody>
      </p:sp>
      <p:sp>
        <p:nvSpPr>
          <p:cNvPr id="29" name="Text 26"/>
          <p:cNvSpPr/>
          <p:nvPr/>
        </p:nvSpPr>
        <p:spPr>
          <a:xfrm>
            <a:off x="7287768" y="3127248"/>
            <a:ext cx="1389888" cy="347472"/>
          </a:xfrm>
          <a:prstGeom prst="rect">
            <a:avLst/>
          </a:prstGeom>
          <a:noFill/>
          <a:ln/>
        </p:spPr>
        <p:txBody>
          <a:bodyPr wrap="square" rtlCol="0" anchor="ctr"/>
          <a:lstStyle/>
          <a:p>
            <a:pPr marL="0" indent="0">
              <a:lnSpc>
                <a:spcPct val="110000"/>
              </a:lnSpc>
              <a:buNone/>
            </a:pPr>
            <a:r>
              <a:rPr lang="en-US" sz="1050" b="1" dirty="0">
                <a:solidFill>
                  <a:srgbClr val="FFFFFF"/>
                </a:solidFill>
              </a:rPr>
              <a:t>Suivi &amp; relance</a:t>
            </a:r>
            <a:endParaRPr lang="en-US" sz="1050" dirty="0"/>
          </a:p>
        </p:txBody>
      </p:sp>
      <p:sp>
        <p:nvSpPr>
          <p:cNvPr id="30" name="Text 27"/>
          <p:cNvSpPr/>
          <p:nvPr/>
        </p:nvSpPr>
        <p:spPr>
          <a:xfrm>
            <a:off x="7287768" y="3529584"/>
            <a:ext cx="1389888" cy="1298448"/>
          </a:xfrm>
          <a:prstGeom prst="rect">
            <a:avLst/>
          </a:prstGeom>
          <a:noFill/>
          <a:ln/>
        </p:spPr>
        <p:txBody>
          <a:bodyPr wrap="square" rtlCol="0" anchor="ctr"/>
          <a:lstStyle/>
          <a:p>
            <a:pPr marL="0" indent="0">
              <a:lnSpc>
                <a:spcPct val="135000"/>
              </a:lnSpc>
              <a:buNone/>
            </a:pPr>
            <a:r>
              <a:rPr lang="en-US" sz="900" dirty="0">
                <a:solidFill>
                  <a:srgbClr val="A8C8E8"/>
                </a:solidFill>
              </a:rPr>
              <a:t>Tenir un tableau, relancer après 7 jours, préparer l'entretien.</a:t>
            </a:r>
            <a:endParaRPr lang="en-US" sz="900" dirty="0"/>
          </a:p>
        </p:txBody>
      </p:sp>
      <p:sp>
        <p:nvSpPr>
          <p:cNvPr id="31" name="Text 28"/>
          <p:cNvSpPr/>
          <p:nvPr/>
        </p:nvSpPr>
        <p:spPr>
          <a:xfrm>
            <a:off x="457200" y="4937760"/>
            <a:ext cx="8229600" cy="329184"/>
          </a:xfrm>
          <a:prstGeom prst="rect">
            <a:avLst/>
          </a:prstGeom>
          <a:noFill/>
          <a:ln/>
        </p:spPr>
        <p:txBody>
          <a:bodyPr wrap="square" rtlCol="0" anchor="ctr"/>
          <a:lstStyle/>
          <a:p>
            <a:pPr marL="0" indent="0" algn="ctr">
              <a:buNone/>
            </a:pPr>
            <a:r>
              <a:rPr lang="en-US" sz="1150" i="1" dirty="0">
                <a:solidFill>
                  <a:srgbClr val="00ACC1"/>
                </a:solidFill>
              </a:rPr>
              <a:t>🚀 Courage ! Chaque candidature envoyée est un pas de plus vers votre prochain emploi.</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4749</Words>
  <Application>Microsoft Office PowerPoint</Application>
  <PresentationFormat>Affichage à l'écran (16:9)</PresentationFormat>
  <Paragraphs>633</Paragraphs>
  <Slides>26</Slides>
  <Notes>23</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26</vt:i4>
      </vt:variant>
    </vt:vector>
  </HeadingPairs>
  <TitlesOfParts>
    <vt:vector size="29"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Recherche d'Emploi en Ligne — Guide Débutant</dc:title>
  <dc:subject>PptxGenJS Presentation</dc:subject>
  <dc:creator>PptxGenJS</dc:creator>
  <cp:lastModifiedBy>titi 23</cp:lastModifiedBy>
  <cp:revision>5</cp:revision>
  <dcterms:created xsi:type="dcterms:W3CDTF">2026-05-18T14:09:22Z</dcterms:created>
  <dcterms:modified xsi:type="dcterms:W3CDTF">2026-06-29T08:00:13Z</dcterms:modified>
</cp:coreProperties>
</file>