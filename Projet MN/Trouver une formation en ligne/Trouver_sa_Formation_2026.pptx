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83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6" Type="http://schemas.openxmlformats.org/officeDocument/2006/relationships/image" Target="../media/image3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7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14" Type="http://schemas.openxmlformats.org/officeDocument/2006/relationships/image" Target="../media/image27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xture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0"/>
            <a:ext cx="4572000" cy="3154680"/>
          </a:xfrm>
          <a:prstGeom prst="rect">
            <a:avLst/>
          </a:prstGeom>
        </p:spPr>
      </p:pic>
      <p:pic>
        <p:nvPicPr>
          <p:cNvPr id="40" name="Image Parcours" descr="parcours formation vers emplo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2000" y="300000"/>
            <a:ext cx="4260000" cy="62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720000"/>
            <a:ext cx="7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300" dirty="0">
                <a:solidFill>
                  <a:srgbClr val="E0962F"/>
                </a:solidFill>
                <a:latin typeface="Calibri" pitchFamily="34" charset="0"/>
                <a:cs typeface="Calibri" pitchFamily="34" charset="-120"/>
              </a:rPr>
              <a:t>GUIDE PRATIQUE  ·  FORMATION &amp; EMPLOI  ·  2026</a:t>
            </a:r>
            <a:endParaRPr lang="fr-FR" sz="1300" dirty="0"/>
          </a:p>
        </p:txBody>
      </p:sp>
      <p:sp>
        <p:nvSpPr>
          <p:cNvPr id="4" name="Shape 1"/>
          <p:cNvSpPr/>
          <p:nvPr/>
        </p:nvSpPr>
        <p:spPr>
          <a:xfrm>
            <a:off x="822960" y="1325880"/>
            <a:ext cx="868680" cy="868680"/>
          </a:xfrm>
          <a:prstGeom prst="ellipse">
            <a:avLst/>
          </a:prstGeom>
          <a:solidFill>
            <a:srgbClr val="E0962F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581912"/>
            <a:ext cx="356616" cy="3566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2377440"/>
            <a:ext cx="7040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fr-FR" sz="4600" b="1" dirty="0">
                <a:solidFill>
                  <a:srgbClr val="FFFFFF"/>
                </a:solidFill>
                <a:latin typeface="Bookman Old Style" pitchFamily="34" charset="0"/>
                <a:cs typeface="Bookman Old Style" pitchFamily="34" charset="-120"/>
              </a:rPr>
              <a:t>TROUVER</a:t>
            </a:r>
          </a:p>
          <a:p>
            <a:pPr marL="0" indent="0">
              <a:lnSpc>
                <a:spcPct val="98000"/>
              </a:lnSpc>
              <a:buNone/>
            </a:pPr>
            <a:r>
              <a:rPr lang="fr-FR" sz="4600" b="1" dirty="0">
                <a:solidFill>
                  <a:srgbClr val="FFFFFF"/>
                </a:solidFill>
                <a:latin typeface="Bookman Old Style" pitchFamily="34" charset="0"/>
                <a:cs typeface="Bookman Old Style" pitchFamily="34" charset="-120"/>
              </a:rPr>
              <a:t>SA FORMATION</a:t>
            </a:r>
          </a:p>
        </p:txBody>
      </p:sp>
      <p:sp>
        <p:nvSpPr>
          <p:cNvPr id="7" name="Text 3"/>
          <p:cNvSpPr/>
          <p:nvPr/>
        </p:nvSpPr>
        <p:spPr>
          <a:xfrm>
            <a:off x="804672" y="4114800"/>
            <a:ext cx="36576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4000" b="1" dirty="0">
                <a:solidFill>
                  <a:srgbClr val="F2CB8C"/>
                </a:solidFill>
                <a:latin typeface="Bookman Old Style" pitchFamily="34" charset="0"/>
                <a:cs typeface="Bookman Old Style" pitchFamily="34" charset="-120"/>
              </a:rPr>
              <a:t>2026</a:t>
            </a:r>
          </a:p>
        </p:txBody>
      </p:sp>
      <p:sp>
        <p:nvSpPr>
          <p:cNvPr id="8" name="Text 4"/>
          <p:cNvSpPr/>
          <p:nvPr/>
        </p:nvSpPr>
        <p:spPr>
          <a:xfrm>
            <a:off x="822960" y="4880000"/>
            <a:ext cx="67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fr-FR" sz="1500" b="1" dirty="0">
                <a:solidFill>
                  <a:srgbClr val="F2CB8C"/>
                </a:solidFill>
                <a:latin typeface="Calibri" pitchFamily="34" charset="0"/>
                <a:cs typeface="Calibri" pitchFamily="34" charset="-120"/>
              </a:rPr>
              <a:t>Se former aujourd'hui, décrocher l'emploi de demain.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fr-FR" sz="1400" dirty="0">
                <a:solidFill>
                  <a:srgbClr val="EAD9C8"/>
                </a:solidFill>
                <a:latin typeface="Calibri" pitchFamily="34" charset="0"/>
                <a:cs typeface="Calibri" pitchFamily="34" charset="-120"/>
              </a:rPr>
              <a:t>Le guide pas à pas : choisir sa formation, la financer avec le CPF, viser l'emploi.</a:t>
            </a:r>
          </a:p>
        </p:txBody>
      </p:sp>
      <p:sp>
        <p:nvSpPr>
          <p:cNvPr id="9" name="Pill1"/>
          <p:cNvSpPr/>
          <p:nvPr/>
        </p:nvSpPr>
        <p:spPr>
          <a:xfrm>
            <a:off x="822960" y="5669280"/>
            <a:ext cx="17000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C77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P1c"/>
          <p:cNvSpPr/>
          <p:nvPr/>
        </p:nvSpPr>
        <p:spPr>
          <a:xfrm>
            <a:off x="950976" y="5779008"/>
            <a:ext cx="329184" cy="32918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P1n"/>
          <p:cNvSpPr/>
          <p:nvPr/>
        </p:nvSpPr>
        <p:spPr>
          <a:xfrm>
            <a:off x="950976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15233F"/>
                </a:solidFill>
                <a:latin typeface="Bookman Old Style" pitchFamily="34" charset="0"/>
                <a:cs typeface="Bookman Old Style" pitchFamily="34" charset="-120"/>
              </a:rPr>
              <a:t>1</a:t>
            </a:r>
          </a:p>
        </p:txBody>
      </p:sp>
      <p:sp>
        <p:nvSpPr>
          <p:cNvPr id="12" name="P1t"/>
          <p:cNvSpPr/>
          <p:nvPr/>
        </p:nvSpPr>
        <p:spPr>
          <a:xfrm>
            <a:off x="1360160" y="5669280"/>
            <a:ext cx="108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Chercher</a:t>
            </a:r>
          </a:p>
        </p:txBody>
      </p:sp>
      <p:sp>
        <p:nvSpPr>
          <p:cNvPr id="13" name="Pill2"/>
          <p:cNvSpPr/>
          <p:nvPr/>
        </p:nvSpPr>
        <p:spPr>
          <a:xfrm>
            <a:off x="2643000" y="5669280"/>
            <a:ext cx="16200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C77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P2c"/>
          <p:cNvSpPr/>
          <p:nvPr/>
        </p:nvSpPr>
        <p:spPr>
          <a:xfrm>
            <a:off x="2771016" y="5779008"/>
            <a:ext cx="329184" cy="32918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P2n"/>
          <p:cNvSpPr/>
          <p:nvPr/>
        </p:nvSpPr>
        <p:spPr>
          <a:xfrm>
            <a:off x="2771016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15233F"/>
                </a:solidFill>
                <a:latin typeface="Bookman Old Style" pitchFamily="34" charset="0"/>
                <a:cs typeface="Bookman Old Style" pitchFamily="34" charset="-120"/>
              </a:rPr>
              <a:t>2</a:t>
            </a:r>
          </a:p>
        </p:txBody>
      </p:sp>
      <p:sp>
        <p:nvSpPr>
          <p:cNvPr id="16" name="P2t"/>
          <p:cNvSpPr/>
          <p:nvPr/>
        </p:nvSpPr>
        <p:spPr>
          <a:xfrm>
            <a:off x="3180200" y="5669280"/>
            <a:ext cx="100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 former</a:t>
            </a:r>
          </a:p>
        </p:txBody>
      </p:sp>
      <p:sp>
        <p:nvSpPr>
          <p:cNvPr id="17" name="Pill3"/>
          <p:cNvSpPr/>
          <p:nvPr/>
        </p:nvSpPr>
        <p:spPr>
          <a:xfrm>
            <a:off x="4383000" y="5669280"/>
            <a:ext cx="2900000" cy="548640"/>
          </a:xfrm>
          <a:prstGeom prst="roundRect">
            <a:avLst>
              <a:gd name="adj" fmla="val 50000"/>
            </a:avLst>
          </a:prstGeom>
          <a:solidFill>
            <a:srgbClr val="D0852A"/>
          </a:solidFill>
          <a:ln w="15240">
            <a:solidFill>
              <a:srgbClr val="D0852A"/>
            </a:solidFill>
            <a:prstDash val="solid"/>
          </a:ln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P3c"/>
          <p:cNvSpPr/>
          <p:nvPr/>
        </p:nvSpPr>
        <p:spPr>
          <a:xfrm>
            <a:off x="4511016" y="5779008"/>
            <a:ext cx="329184" cy="329184"/>
          </a:xfrm>
          <a:prstGeom prst="ellipse">
            <a:avLst/>
          </a:prstGeom>
          <a:solidFill>
            <a:srgbClr val="1523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P3n"/>
          <p:cNvSpPr/>
          <p:nvPr/>
        </p:nvSpPr>
        <p:spPr>
          <a:xfrm>
            <a:off x="4511016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D0852A"/>
                </a:solidFill>
                <a:latin typeface="Bookman Old Style" pitchFamily="34" charset="0"/>
                <a:cs typeface="Bookman Old Style" pitchFamily="34" charset="-120"/>
              </a:rPr>
              <a:t>3</a:t>
            </a:r>
          </a:p>
        </p:txBody>
      </p:sp>
      <p:sp>
        <p:nvSpPr>
          <p:cNvPr id="20" name="P3t"/>
          <p:cNvSpPr/>
          <p:nvPr/>
        </p:nvSpPr>
        <p:spPr>
          <a:xfrm>
            <a:off x="4920200" y="5669280"/>
            <a:ext cx="228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dirty="0">
                <a:solidFill>
                  <a:srgbClr val="15233F"/>
                </a:solidFill>
                <a:latin typeface="Calibri" pitchFamily="34" charset="0"/>
                <a:cs typeface="Calibri" pitchFamily="34" charset="-120"/>
              </a:rPr>
              <a:t>Décrocher un emploi</a:t>
            </a:r>
          </a:p>
        </p:txBody>
      </p:sp>
      <p:sp>
        <p:nvSpPr>
          <p:cNvPr id="30" name="QRcard"/>
          <p:cNvSpPr/>
          <p:nvPr/>
        </p:nvSpPr>
        <p:spPr>
          <a:xfrm>
            <a:off x="10230000" y="4845000"/>
            <a:ext cx="1640000" cy="1585000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/>
          <a:effectLst>
            <a:outerShdw blurRad="152400" dist="50800" dir="5400000" algn="bl" rotWithShape="0">
              <a:srgbClr val="0A1428">
                <a:alpha val="3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QRlabel"/>
          <p:cNvSpPr/>
          <p:nvPr/>
        </p:nvSpPr>
        <p:spPr>
          <a:xfrm>
            <a:off x="10310000" y="4955000"/>
            <a:ext cx="148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spc="60" dirty="0">
                <a:solidFill>
                  <a:srgbClr val="C77B2D"/>
                </a:solidFill>
                <a:latin typeface="Calibri" pitchFamily="34" charset="0"/>
                <a:cs typeface="Calibri" pitchFamily="34" charset="-120"/>
              </a:rPr>
              <a:t>SCANNEZ POUR DÉMARRER</a:t>
            </a:r>
          </a:p>
        </p:txBody>
      </p:sp>
      <p:pic>
        <p:nvPicPr>
          <p:cNvPr id="32" name="QR" descr="qr/cp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000" y="5240000"/>
            <a:ext cx="970000" cy="970000"/>
          </a:xfrm>
          <a:prstGeom prst="rect">
            <a:avLst/>
          </a:prstGeom>
        </p:spPr>
      </p:pic>
      <p:sp>
        <p:nvSpPr>
          <p:cNvPr id="33" name="QRurl"/>
          <p:cNvSpPr/>
          <p:nvPr/>
        </p:nvSpPr>
        <p:spPr>
          <a:xfrm>
            <a:off x="10300000" y="6230000"/>
            <a:ext cx="15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moncompteformation.gouv.fr</a:t>
            </a:r>
          </a:p>
        </p:txBody>
      </p:sp>
      <p:sp>
        <p:nvSpPr>
          <p:cNvPr id="27" name="Text 22"/>
          <p:cNvSpPr/>
          <p:nvPr/>
        </p:nvSpPr>
        <p:spPr>
          <a:xfrm>
            <a:off x="777240" y="6420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dirty="0">
                <a:solidFill>
                  <a:srgbClr val="F2CB8C"/>
                </a:solidFill>
                <a:latin typeface="Calibri" pitchFamily="34" charset="0"/>
                <a:cs typeface="Calibri" pitchFamily="34" charset="-120"/>
              </a:rPr>
              <a:t>Cédric WALTENER  ·  Médiateur Numérique  ·  Guéret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BIEN COMMENCER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Avant de chercher : 4 questions à se poser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la bonne formation, c'est d'abord savoir ce qu'on cherche. Posez-vous ces questions, et le choix devient beaucoup plus simple.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24128" y="2642616"/>
            <a:ext cx="822960" cy="822960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862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048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0241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Quel est mon but ?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241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emploi, changer de métier, obtenir un diplôme, ou juste me perfectionner ? Le but oriente tout.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767328" y="2642616"/>
            <a:ext cx="822960" cy="822960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28620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37673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Certifiante ou non ?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7673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l'emploi, visez une formation reconnue (RNCP / RS). Pour la culture perso, c'est plus libre.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6510528" y="2642616"/>
            <a:ext cx="822960" cy="822960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86207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912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65105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À distance ou en salle ?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5105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à votre rythme, en présentiel près de chez vous, ou un mélange des deux.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611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9253728" y="2642616"/>
            <a:ext cx="822960" cy="822960"/>
          </a:xfrm>
          <a:prstGeom prst="ellipse">
            <a:avLst/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4" y="286207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6344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1"/>
          <p:cNvSpPr/>
          <p:nvPr/>
        </p:nvSpPr>
        <p:spPr>
          <a:xfrm>
            <a:off x="92537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Quel budget ?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92537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formations sont finançables par le CPF. On voit ça dans les pages suivantes.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FINANCEMENT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CPF, c'est quoi 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</a:t>
            </a:r>
            <a:r>
              <a:rPr lang="en-US" sz="14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</a:t>
            </a: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Personnel de Formation</a:t>
            </a:r>
            <a:r>
              <a:rPr lang="en-US" sz="14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C'est une cagnotte en euros que l'État met sur votre compte quand vous travaillez. Elle sert à payer des formations.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42416" y="2478024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500 €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60704" y="32644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0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0704" y="353872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crédités si vous travaillez (temps plein ou au moins mi-temps)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2240280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45736" y="2478024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5 000 €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64024" y="32644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4024" y="353872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plafond que votre cagnotte peut atteindre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49056" y="2478024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800 €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67344" y="32644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0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67344" y="353872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avez un niveau inférieur au CAP ou êtes travailleur handicapé (plafond 8 000 €)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315968"/>
            <a:ext cx="10725912" cy="1627632"/>
          </a:xfrm>
          <a:prstGeom prst="roundRect">
            <a:avLst>
              <a:gd name="adj" fmla="val 6742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51560" y="4617720"/>
            <a:ext cx="713232" cy="713232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800600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92024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Bon à savoir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920240" y="507492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a un CPF dès 16 ans</a:t>
            </a:r>
            <a:r>
              <a:rPr lang="en-US" sz="13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salarié, demandeur d'emploi, indépendant, fonctionnaire.  </a:t>
            </a:r>
            <a:r>
              <a:rPr lang="en-US" sz="1350" b="1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au chômage ?</a:t>
            </a:r>
            <a:r>
              <a:rPr lang="en-US" sz="13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Le compte n'est plus alimenté, mais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droits déjà accumulés restent disponibles</a:t>
            </a:r>
            <a:r>
              <a:rPr lang="en-US" sz="13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et utilisables.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PAR ÉTAPE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Consulter son CPF : comment faire 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241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591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241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Allez sur le site officiel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41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moncompteformation.gouv.fr dans votre navigateur, ou installez l'appli « Mon Compte Formation » (Caisse des Dépôts).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7673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7673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Créez votre Identité Numérique La Poste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673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en ligne ou en bureau de poste. Elle prouve que c'est bien vous (obligatoire pour le CPF depuis 2022).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5105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23774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455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5105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Connectez-vous avec FranceConnect+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105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« Se connecter » puis « FranceConnect+ ». Vous confirmez votre identité depuis l'appli sur votre smartphone.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611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92537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377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887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92537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Regardez votre solde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537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tableau de bord affiche votre cagnotte en euros, vos droits et les formations possibles.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31520" y="5212080"/>
            <a:ext cx="10725912" cy="841248"/>
          </a:xfrm>
          <a:prstGeom prst="roundRect">
            <a:avLst>
              <a:gd name="adj" fmla="val 13043"/>
            </a:avLst>
          </a:prstGeom>
          <a:solidFill>
            <a:srgbClr val="F4E7DC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960120" y="5413248"/>
            <a:ext cx="457200" cy="457200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52297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521208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Pas de smartphone ou pas à l'aise ?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de connexion alternative existe, et un médiateur numérique peut vous accompagner gratuitement.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DROITS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 que le CPF peut financer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paie des formations qui mènent à un diplôme ou un certificat reconnu. Quelques exemples concrets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69264" y="2331720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5146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22402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Formations diplômantes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55648" y="25877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RNCP et certifications RS : informatique, secrétariat, petite enfance, sécurité…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443984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81728" y="2331720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146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2402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Langues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68112" y="25877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Anglais, espagnol… avec une certification (TOEIC, etc.). Plafond de 1 500 €.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56448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394192" y="2331720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5146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0576" y="22402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Permis de conduire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180576" y="25877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Permis B (jusqu'à 900 €), mais aussi poids lourds et transport, sans plafond pour les </a:t>
            </a:r>
            <a:r>
              <a:rPr lang="en-US" sz="1080" dirty="0" err="1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</a:t>
            </a: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80" dirty="0" err="1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d’emplois</a:t>
            </a: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731520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969264" y="3721608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" y="390448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55648" y="36301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Bilan de compétences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755648" y="39776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le point sur son parcours et son projet pro. Jusqu'à 1 600 €.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443984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681728" y="3721608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9044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36301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468112" y="39776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reconnaître son expérience pour obtenir un diplôme, sans repasser par l'école.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56448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8394192" y="3721608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390448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80576" y="36301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Création d'entreprise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9180576" y="39776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pour créer ou reprendre une activité (utile pour la micro-entreprise).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À l'inverse, </a:t>
            </a:r>
            <a:r>
              <a:rPr lang="en-US" sz="1250" b="1" dirty="0">
                <a:solidFill>
                  <a:srgbClr val="A8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ne paie pas</a:t>
            </a: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le matériel, les loisirs, ni les formations non certifiantes.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EN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Faut-il payer quelque chose de sa poche 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0584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150 €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24128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PARTICIPATION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2 avril 2026, une participation forfaitaire de 150 € est demandée pour la plupart des formations payées avec le CPF. Elle s'ajoute au montant pris sur votre cagnotte.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2011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Mais beaucoup en sont </a:t>
            </a:r>
            <a:r>
              <a:rPr lang="en-US" sz="18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totalement EXONÉRÉS</a:t>
            </a:r>
            <a:r>
              <a:rPr lang="en-US" sz="1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 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2697480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73752" y="2816352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889504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26974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demandeurs d'emploi inscrits à France Travail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3355848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873752" y="3474720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547872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335584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dont l'employeur complète le financement (abondement)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709160" y="4014216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873752" y="4133088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420624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401421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bénéficiaires du Compte Professionnel de Prévention (C2P)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09160" y="4672584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4873752" y="4791456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4864608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467258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en accident du travail / maladie professionnelle (AT-MP)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709160" y="5413248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873752" y="5532120"/>
            <a:ext cx="310896" cy="310896"/>
          </a:xfrm>
          <a:prstGeom prst="ellipse">
            <a:avLst/>
          </a:prstGeom>
          <a:solidFill>
            <a:srgbClr val="D085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5605272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541324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Beaucoup de vos apprenants sont demandeurs d'emploi : </a:t>
            </a:r>
            <a:r>
              <a:rPr lang="en-US" sz="12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eux, c'est 0 € de leur poche.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· NOUVELLE-AQUITAINE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 peut financer votre formation 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n'est pas la seule solution. Selon votre situation, d'autres aides existent — et elles se cumulent souvent.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87552" y="22402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CPF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87552" y="2624328"/>
            <a:ext cx="1486814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87552" y="2624328"/>
            <a:ext cx="1486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(dès 16 ans)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87552" y="29443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cagnotte personnelle en euros, sur moncompteformation.gouv.fr.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43984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00016" y="22402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France Travail (AIF)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2624328"/>
            <a:ext cx="1629461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0016" y="2624328"/>
            <a:ext cx="16294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 d'emploi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0016" y="29443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au financement + votre rémunération maintenue pendant la formation.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156448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PRF – Région N.-A.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412480" y="2624328"/>
            <a:ext cx="1629461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412480" y="2624328"/>
            <a:ext cx="16294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 d'emploi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0" y="29443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qualifiantes gratuites ET rémunérées. Accès via votre conseiller.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31520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87552" y="3630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Chèque Formation Région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87552" y="4014216"/>
            <a:ext cx="2485339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87552" y="4014216"/>
            <a:ext cx="24853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 d'emploi &amp; précaires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87552" y="43342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une formation courte (40h max) pour la compétence qui manque.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443984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00016" y="3630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de compétences / OPCO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700016" y="4014216"/>
            <a:ext cx="844906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00016" y="4014216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0016" y="43342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payée par l'employeur, le plus souvent sur le temps de travail.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156448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412480" y="3630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Transitions Pro (PTP)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8412480" y="4014216"/>
            <a:ext cx="1986077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412480" y="4014216"/>
            <a:ext cx="19860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en reconversion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0" y="43342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longue pour changer de métier, en restant rémunéré.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731520" y="5212080"/>
            <a:ext cx="10725912" cy="841248"/>
          </a:xfrm>
          <a:prstGeom prst="roundRect">
            <a:avLst>
              <a:gd name="adj" fmla="val 13043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960120" y="5413248"/>
            <a:ext cx="457200" cy="457200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5532120"/>
            <a:ext cx="219456" cy="21945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600200" y="521208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 bon réflexe : le conseiller CEP (gratuit).  </a:t>
            </a: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le point, identifie TOUTES les aides possibles et vous aide à monter le dossier. À noter aussi : l'AGEFIPH pour les travailleurs handicapés, et une aide régionale en dernier recours.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· NOUVELLE-AQUITAINE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Comment les contacter 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les QR codes</a:t>
            </a: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pour aller directement sur chaque site officiel.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50976" y="2359152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52374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128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France Travail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91640" y="257860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AIF, conseiller. 39 49 · francetravail.fr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937760" y="224942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qr/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322576"/>
            <a:ext cx="694944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72200" y="2011680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391656" y="2359152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5237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22128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Région Nouvelle-Aquitaine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132320" y="257860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PRF &amp; Chèque Formation. nouvelle-aquitaine.fr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10378440" y="224942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3" descr="qr/region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2322576"/>
            <a:ext cx="694944" cy="6949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31520" y="3493008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950976" y="3840480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00507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91640" y="369417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Transitions Pro N.-A.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691640" y="40599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Reconversion (PTP). Le plus proche : Limoges. transitionspro-na.fr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4937760" y="3730752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5" descr="qr/transpr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803904"/>
            <a:ext cx="694944" cy="69494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172200" y="3493008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19"/>
          <p:cNvSpPr/>
          <p:nvPr/>
        </p:nvSpPr>
        <p:spPr>
          <a:xfrm>
            <a:off x="6391656" y="3840480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4005072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32320" y="369417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 CEP (conseil gratuit)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7132320" y="40599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son conseiller en évolution pro. mon-cep.org</a:t>
            </a:r>
            <a:endParaRPr lang="en-US" sz="1080" dirty="0"/>
          </a:p>
        </p:txBody>
      </p:sp>
      <p:sp>
        <p:nvSpPr>
          <p:cNvPr id="31" name="Shape 22"/>
          <p:cNvSpPr/>
          <p:nvPr/>
        </p:nvSpPr>
        <p:spPr>
          <a:xfrm>
            <a:off x="10378440" y="3730752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2" name="Image 7" descr="qr/ce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1592" y="3803904"/>
            <a:ext cx="694944" cy="69494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31520" y="4974336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4"/>
          <p:cNvSpPr/>
          <p:nvPr/>
        </p:nvSpPr>
        <p:spPr>
          <a:xfrm>
            <a:off x="950976" y="5321808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5568" y="548640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691640" y="5175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CPF</a:t>
            </a:r>
            <a:endParaRPr lang="en-US" sz="1450" dirty="0"/>
          </a:p>
        </p:txBody>
      </p:sp>
      <p:sp>
        <p:nvSpPr>
          <p:cNvPr id="37" name="Text 26"/>
          <p:cNvSpPr/>
          <p:nvPr/>
        </p:nvSpPr>
        <p:spPr>
          <a:xfrm>
            <a:off x="1691640" y="5541264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ses droits et s'inscrire. moncompteformation.gouv.fr</a:t>
            </a:r>
            <a:endParaRPr lang="en-US" sz="1080" dirty="0"/>
          </a:p>
        </p:txBody>
      </p:sp>
      <p:sp>
        <p:nvSpPr>
          <p:cNvPr id="38" name="Shape 27"/>
          <p:cNvSpPr/>
          <p:nvPr/>
        </p:nvSpPr>
        <p:spPr>
          <a:xfrm>
            <a:off x="4937760" y="52120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9" descr="qr/cp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0912" y="5285232"/>
            <a:ext cx="694944" cy="69494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6172200" y="4974336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29"/>
          <p:cNvSpPr/>
          <p:nvPr/>
        </p:nvSpPr>
        <p:spPr>
          <a:xfrm>
            <a:off x="6391656" y="5321808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6248" y="5486400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5175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AGEFIPH / Cap Emploi</a:t>
            </a:r>
            <a:endParaRPr lang="en-US" sz="1450" dirty="0"/>
          </a:p>
        </p:txBody>
      </p:sp>
      <p:sp>
        <p:nvSpPr>
          <p:cNvPr id="44" name="Text 31"/>
          <p:cNvSpPr/>
          <p:nvPr/>
        </p:nvSpPr>
        <p:spPr>
          <a:xfrm>
            <a:off x="7132320" y="5541264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formation travailleurs handicapés. 0 800 11 10 09 · agefiph.fr</a:t>
            </a:r>
            <a:endParaRPr lang="en-US" sz="1080" dirty="0"/>
          </a:p>
        </p:txBody>
      </p:sp>
      <p:sp>
        <p:nvSpPr>
          <p:cNvPr id="45" name="Shape 32"/>
          <p:cNvSpPr/>
          <p:nvPr/>
        </p:nvSpPr>
        <p:spPr>
          <a:xfrm>
            <a:off x="10378440" y="52120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11" descr="qr/agefip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51592" y="5285232"/>
            <a:ext cx="694944" cy="69494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48" name="Text 3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À L'ACTION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Où trouver sa formation 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méthode simple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512064" cy="51206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803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706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directement sur le site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moncompteformation.gouv.fr, tapez un métier ou un domaine (ex. « bureautique »).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05840" y="3529584"/>
            <a:ext cx="512064" cy="512064"/>
          </a:xfrm>
          <a:prstGeom prst="ellipse">
            <a:avLst/>
          </a:prstGeom>
          <a:solidFill>
            <a:srgbClr val="D085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667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930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selon vos besoins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91640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distance ou près de chez vous, à votre rythme ou avec dates, durée, prix.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1005840" y="4315968"/>
            <a:ext cx="512064" cy="51206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531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279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la certification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691640" y="4590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Privilégiez les formations marquées RNCP ou RS : vraie valeur pour l'emploi.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1005840" y="5102352"/>
            <a:ext cx="512064" cy="512064"/>
          </a:xfrm>
          <a:prstGeom prst="ellipse">
            <a:avLst/>
          </a:prstGeom>
          <a:solidFill>
            <a:srgbClr val="D085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23951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5065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les avis et le programme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91640" y="5376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les notes des anciens apprenants et le détail du contenu.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6492240" y="1874520"/>
            <a:ext cx="4965192" cy="4206240"/>
          </a:xfrm>
          <a:prstGeom prst="roundRect">
            <a:avLst>
              <a:gd name="adj" fmla="val 2609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676656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D'autres endroits où chercher</a:t>
            </a:r>
            <a:endParaRPr lang="en-US" sz="1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76148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26883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Travail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132320" y="2999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 d'emploi : formations financées + un conseiller pour vous orienter.</a:t>
            </a:r>
            <a:endParaRPr lang="en-US" sz="10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54787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3232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Région / missions locales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7132320" y="37856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locaux gratuits, surtout jeunes et reconversions.</a:t>
            </a:r>
            <a:endParaRPr lang="en-US" sz="10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33425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32320" y="42611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de cours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13232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Coursera, OpenClassrooms, FUN-MOOC… pour découvrir gratuitement.</a:t>
            </a:r>
            <a:endParaRPr lang="en-US" sz="10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120640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32320" y="5047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médiateur numérique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7132320" y="5358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être accompagné à chaque étape, sans rester seul devant l'écran.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Attention aux arnaques au CPF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escrocs essaient de voler vos droits CPF par téléphone, SMS ou e-mail. Voici comment ne pas se faire avoir.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6E6E0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548640" cy="548640"/>
          </a:xfrm>
          <a:prstGeom prst="ellipse">
            <a:avLst/>
          </a:prstGeom>
          <a:solidFill>
            <a:srgbClr val="A839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523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39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Méfiez-vous si…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1729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08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appelle pour « utiliser vos droits avant qu'ils expirent »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83133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7673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demande votre n° de sécurité sociale ou vos codes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897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4256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promet de l'argent ou un cadeau en échange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148072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08760" y="50840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met la pression pour signer tout de suite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2103120"/>
            <a:ext cx="5193792" cy="3840480"/>
          </a:xfrm>
          <a:prstGeom prst="roundRect">
            <a:avLst>
              <a:gd name="adj" fmla="val 2857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1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52374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2376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7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bons réflexes</a:t>
            </a:r>
            <a:endParaRPr lang="en-US" sz="1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172968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40880" y="3108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ne démarche JAMAIS par téléphone ou SMS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83133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040880" y="37673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site officiel : moncompteformation.gouv.fr</a:t>
            </a:r>
            <a:endParaRPr lang="en-US" sz="12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89704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040880" y="44256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donnez jamais vos codes FranceConnect ou bancaires</a:t>
            </a:r>
            <a:endParaRPr lang="en-US" sz="12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148072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040880" y="50840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doute, raccrochez et demandez à votre médiateur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0" name="Text 18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xture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0"/>
            <a:ext cx="4572000" cy="3154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VOUS LANCER ?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étapes pour démarrer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7863840" cy="1078992"/>
          </a:xfrm>
          <a:prstGeom prst="roundRect">
            <a:avLst>
              <a:gd name="adj" fmla="val 8475"/>
            </a:avLst>
          </a:prstGeom>
          <a:solidFill>
            <a:srgbClr val="0F1A30"/>
          </a:solidFill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960120" y="219456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240280" y="239572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Consultez votre solde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40280" y="277977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Connectez-vous sur moncompteformation.gouv.fr (ou l'appli) avec FranceConnect+ et regardez votre cagnotte.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429000"/>
            <a:ext cx="7863840" cy="1078992"/>
          </a:xfrm>
          <a:prstGeom prst="roundRect">
            <a:avLst>
              <a:gd name="adj" fmla="val 8475"/>
            </a:avLst>
          </a:prstGeom>
          <a:solidFill>
            <a:srgbClr val="0F1A30"/>
          </a:solidFill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960120" y="342900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2240280" y="363016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Choisissez une formation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240280" y="401421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par métier, filtrez, vérifiez qu'elle est certifiante (RNCP/RS) et lisez les avis.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663440"/>
            <a:ext cx="7863840" cy="1078992"/>
          </a:xfrm>
          <a:prstGeom prst="roundRect">
            <a:avLst>
              <a:gd name="adj" fmla="val 8475"/>
            </a:avLst>
          </a:prstGeom>
          <a:solidFill>
            <a:srgbClr val="0F1A30"/>
          </a:solidFill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960120" y="466344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2240280" y="486460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Faites-vous accompagner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240280" y="524865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médiateur numérique vous aide à créer votre identité, comparer et vous inscrire en toute sécurité.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9680" y="2194560"/>
            <a:ext cx="2587752" cy="3547872"/>
          </a:xfrm>
          <a:prstGeom prst="roundRect">
            <a:avLst>
              <a:gd name="adj" fmla="val 4947"/>
            </a:avLst>
          </a:prstGeom>
          <a:solidFill>
            <a:srgbClr val="FBF4EC"/>
          </a:solidFill>
          <a:ln/>
          <a:effectLst>
            <a:outerShdw blurRad="152400" dist="50800" dir="5400000" algn="bl" rotWithShape="0">
              <a:srgbClr val="0A1428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9006840" y="2423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DÉMARREZ ICI</a:t>
            </a:r>
            <a:endParaRPr lang="en-US" sz="1150" dirty="0"/>
          </a:p>
        </p:txBody>
      </p:sp>
      <p:pic>
        <p:nvPicPr>
          <p:cNvPr id="19" name="Image 1" descr="qr/cp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788920"/>
            <a:ext cx="1188720" cy="11887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006840" y="40690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moncompteformation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.gouv.fr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006840" y="49834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pour consulter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cagnotte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1501</Words>
  <Application>Microsoft Office PowerPoint</Application>
  <PresentationFormat>Grand écran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Trouver sa formation 2026</dc:title>
  <dc:subject>PptxGenJS Presentation</dc:subject>
  <dc:creator>Cédric WALTENER</dc:creator>
  <cp:lastModifiedBy>titi 23</cp:lastModifiedBy>
  <cp:revision>2</cp:revision>
  <dcterms:created xsi:type="dcterms:W3CDTF">2026-06-22T08:16:02Z</dcterms:created>
  <dcterms:modified xsi:type="dcterms:W3CDTF">2026-06-22T08:27:11Z</dcterms:modified>
</cp:coreProperties>
</file>