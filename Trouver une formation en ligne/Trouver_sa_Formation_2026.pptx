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9837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7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8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9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xture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2" y="0"/>
            <a:ext cx="4572000" cy="3154680"/>
          </a:xfrm>
          <a:prstGeom prst="rect">
            <a:avLst/>
          </a:prstGeom>
        </p:spPr>
      </p:pic>
      <p:pic>
        <p:nvPicPr>
          <p:cNvPr id="40" name="Image Parcours" descr="parcours formation vers emplo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2000" y="300000"/>
            <a:ext cx="4260000" cy="62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720000"/>
            <a:ext cx="70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300" dirty="0">
                <a:solidFill>
                  <a:srgbClr val="E0962F"/>
                </a:solidFill>
                <a:latin typeface="Calibri" pitchFamily="34" charset="0"/>
                <a:cs typeface="Calibri" pitchFamily="34" charset="-120"/>
              </a:rPr>
              <a:t>GUIDE PRATIQUE  ·  FORMATION &amp; EMPLOI  ·  2026</a:t>
            </a:r>
            <a:endParaRPr lang="fr-FR" sz="1300" dirty="0"/>
          </a:p>
        </p:txBody>
      </p:sp>
      <p:sp>
        <p:nvSpPr>
          <p:cNvPr id="4" name="Shape 1"/>
          <p:cNvSpPr/>
          <p:nvPr/>
        </p:nvSpPr>
        <p:spPr>
          <a:xfrm>
            <a:off x="822960" y="1325880"/>
            <a:ext cx="868680" cy="868680"/>
          </a:xfrm>
          <a:prstGeom prst="ellipse">
            <a:avLst/>
          </a:prstGeom>
          <a:solidFill>
            <a:srgbClr val="E0962F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1581912"/>
            <a:ext cx="356616" cy="3566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7240" y="2377440"/>
            <a:ext cx="7040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fr-FR" sz="4600" b="1" dirty="0">
                <a:solidFill>
                  <a:srgbClr val="FFFFFF"/>
                </a:solidFill>
                <a:latin typeface="Bookman Old Style" pitchFamily="34" charset="0"/>
                <a:cs typeface="Bookman Old Style" pitchFamily="34" charset="-120"/>
              </a:rPr>
              <a:t>TROUVER</a:t>
            </a:r>
          </a:p>
          <a:p>
            <a:pPr marL="0" indent="0">
              <a:lnSpc>
                <a:spcPct val="98000"/>
              </a:lnSpc>
              <a:buNone/>
            </a:pPr>
            <a:r>
              <a:rPr lang="fr-FR" sz="4600" b="1" dirty="0">
                <a:solidFill>
                  <a:srgbClr val="FFFFFF"/>
                </a:solidFill>
                <a:latin typeface="Bookman Old Style" pitchFamily="34" charset="0"/>
                <a:cs typeface="Bookman Old Style" pitchFamily="34" charset="-120"/>
              </a:rPr>
              <a:t>SA FORMATION</a:t>
            </a:r>
          </a:p>
        </p:txBody>
      </p:sp>
      <p:sp>
        <p:nvSpPr>
          <p:cNvPr id="7" name="Text 3"/>
          <p:cNvSpPr/>
          <p:nvPr/>
        </p:nvSpPr>
        <p:spPr>
          <a:xfrm>
            <a:off x="804672" y="4114800"/>
            <a:ext cx="36576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4000" b="1" dirty="0">
                <a:solidFill>
                  <a:srgbClr val="F2CB8C"/>
                </a:solidFill>
                <a:latin typeface="Bookman Old Style" pitchFamily="34" charset="0"/>
                <a:cs typeface="Bookman Old Style" pitchFamily="34" charset="-120"/>
              </a:rPr>
              <a:t>2026</a:t>
            </a:r>
          </a:p>
        </p:txBody>
      </p:sp>
      <p:sp>
        <p:nvSpPr>
          <p:cNvPr id="8" name="Text 4"/>
          <p:cNvSpPr/>
          <p:nvPr/>
        </p:nvSpPr>
        <p:spPr>
          <a:xfrm>
            <a:off x="822960" y="4880000"/>
            <a:ext cx="670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fr-FR" sz="1500" b="1" dirty="0">
                <a:solidFill>
                  <a:srgbClr val="F2CB8C"/>
                </a:solidFill>
                <a:latin typeface="Calibri" pitchFamily="34" charset="0"/>
                <a:cs typeface="Calibri" pitchFamily="34" charset="-120"/>
              </a:rPr>
              <a:t>Se former aujourd'hui, décrocher l'emploi de demain.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fr-FR" sz="1400" dirty="0">
                <a:solidFill>
                  <a:srgbClr val="EAD9C8"/>
                </a:solidFill>
                <a:latin typeface="Calibri" pitchFamily="34" charset="0"/>
                <a:cs typeface="Calibri" pitchFamily="34" charset="-120"/>
              </a:rPr>
              <a:t>Le guide pas à pas : choisir sa formation, la financer avec le CPF, viser l'emploi.</a:t>
            </a:r>
          </a:p>
        </p:txBody>
      </p:sp>
      <p:sp>
        <p:nvSpPr>
          <p:cNvPr id="9" name="Pill1"/>
          <p:cNvSpPr/>
          <p:nvPr/>
        </p:nvSpPr>
        <p:spPr>
          <a:xfrm>
            <a:off x="822960" y="5669280"/>
            <a:ext cx="170000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5240">
            <a:solidFill>
              <a:srgbClr val="C77B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P1c"/>
          <p:cNvSpPr/>
          <p:nvPr/>
        </p:nvSpPr>
        <p:spPr>
          <a:xfrm>
            <a:off x="950976" y="5779008"/>
            <a:ext cx="329184" cy="329184"/>
          </a:xfrm>
          <a:prstGeom prst="ellipse">
            <a:avLst/>
          </a:prstGeom>
          <a:solidFill>
            <a:srgbClr val="E0962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P1n"/>
          <p:cNvSpPr/>
          <p:nvPr/>
        </p:nvSpPr>
        <p:spPr>
          <a:xfrm>
            <a:off x="950976" y="5779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solidFill>
                  <a:srgbClr val="15233F"/>
                </a:solidFill>
                <a:latin typeface="Bookman Old Style" pitchFamily="34" charset="0"/>
                <a:cs typeface="Bookman Old Style" pitchFamily="34" charset="-120"/>
              </a:rPr>
              <a:t>1</a:t>
            </a:r>
          </a:p>
        </p:txBody>
      </p:sp>
      <p:sp>
        <p:nvSpPr>
          <p:cNvPr id="12" name="P1t"/>
          <p:cNvSpPr/>
          <p:nvPr/>
        </p:nvSpPr>
        <p:spPr>
          <a:xfrm>
            <a:off x="1360160" y="5669280"/>
            <a:ext cx="108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Chercher</a:t>
            </a:r>
          </a:p>
        </p:txBody>
      </p:sp>
      <p:sp>
        <p:nvSpPr>
          <p:cNvPr id="13" name="Pill2"/>
          <p:cNvSpPr/>
          <p:nvPr/>
        </p:nvSpPr>
        <p:spPr>
          <a:xfrm>
            <a:off x="2643000" y="5669280"/>
            <a:ext cx="162000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5240">
            <a:solidFill>
              <a:srgbClr val="C77B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P2c"/>
          <p:cNvSpPr/>
          <p:nvPr/>
        </p:nvSpPr>
        <p:spPr>
          <a:xfrm>
            <a:off x="2771016" y="5779008"/>
            <a:ext cx="329184" cy="329184"/>
          </a:xfrm>
          <a:prstGeom prst="ellipse">
            <a:avLst/>
          </a:prstGeom>
          <a:solidFill>
            <a:srgbClr val="E0962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P2n"/>
          <p:cNvSpPr/>
          <p:nvPr/>
        </p:nvSpPr>
        <p:spPr>
          <a:xfrm>
            <a:off x="2771016" y="5779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solidFill>
                  <a:srgbClr val="15233F"/>
                </a:solidFill>
                <a:latin typeface="Bookman Old Style" pitchFamily="34" charset="0"/>
                <a:cs typeface="Bookman Old Style" pitchFamily="34" charset="-120"/>
              </a:rPr>
              <a:t>2</a:t>
            </a:r>
          </a:p>
        </p:txBody>
      </p:sp>
      <p:sp>
        <p:nvSpPr>
          <p:cNvPr id="16" name="P2t"/>
          <p:cNvSpPr/>
          <p:nvPr/>
        </p:nvSpPr>
        <p:spPr>
          <a:xfrm>
            <a:off x="3180200" y="5669280"/>
            <a:ext cx="100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Se former</a:t>
            </a:r>
          </a:p>
        </p:txBody>
      </p:sp>
      <p:sp>
        <p:nvSpPr>
          <p:cNvPr id="17" name="Pill3"/>
          <p:cNvSpPr/>
          <p:nvPr/>
        </p:nvSpPr>
        <p:spPr>
          <a:xfrm>
            <a:off x="4383000" y="5669280"/>
            <a:ext cx="2900000" cy="548640"/>
          </a:xfrm>
          <a:prstGeom prst="roundRect">
            <a:avLst>
              <a:gd name="adj" fmla="val 50000"/>
            </a:avLst>
          </a:prstGeom>
          <a:solidFill>
            <a:srgbClr val="D0852A"/>
          </a:solidFill>
          <a:ln w="15240">
            <a:solidFill>
              <a:srgbClr val="D0852A"/>
            </a:solidFill>
            <a:prstDash val="solid"/>
          </a:ln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P3c"/>
          <p:cNvSpPr/>
          <p:nvPr/>
        </p:nvSpPr>
        <p:spPr>
          <a:xfrm>
            <a:off x="4511016" y="5779008"/>
            <a:ext cx="329184" cy="329184"/>
          </a:xfrm>
          <a:prstGeom prst="ellipse">
            <a:avLst/>
          </a:prstGeom>
          <a:solidFill>
            <a:srgbClr val="1523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P3n"/>
          <p:cNvSpPr/>
          <p:nvPr/>
        </p:nvSpPr>
        <p:spPr>
          <a:xfrm>
            <a:off x="4511016" y="5779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solidFill>
                  <a:srgbClr val="D0852A"/>
                </a:solidFill>
                <a:latin typeface="Bookman Old Style" pitchFamily="34" charset="0"/>
                <a:cs typeface="Bookman Old Style" pitchFamily="34" charset="-120"/>
              </a:rPr>
              <a:t>3</a:t>
            </a:r>
          </a:p>
        </p:txBody>
      </p:sp>
      <p:sp>
        <p:nvSpPr>
          <p:cNvPr id="20" name="P3t"/>
          <p:cNvSpPr/>
          <p:nvPr/>
        </p:nvSpPr>
        <p:spPr>
          <a:xfrm>
            <a:off x="4920200" y="5669280"/>
            <a:ext cx="228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dirty="0">
                <a:solidFill>
                  <a:srgbClr val="15233F"/>
                </a:solidFill>
                <a:latin typeface="Calibri" pitchFamily="34" charset="0"/>
                <a:cs typeface="Calibri" pitchFamily="34" charset="-120"/>
              </a:rPr>
              <a:t>Décrocher un emploi</a:t>
            </a:r>
          </a:p>
        </p:txBody>
      </p:sp>
      <p:sp>
        <p:nvSpPr>
          <p:cNvPr id="30" name="QRcard"/>
          <p:cNvSpPr/>
          <p:nvPr/>
        </p:nvSpPr>
        <p:spPr>
          <a:xfrm>
            <a:off x="10230000" y="4845000"/>
            <a:ext cx="1640000" cy="1585000"/>
          </a:xfrm>
          <a:prstGeom prst="roundRect">
            <a:avLst>
              <a:gd name="adj" fmla="val 8000"/>
            </a:avLst>
          </a:prstGeom>
          <a:solidFill>
            <a:srgbClr val="FBF4EC"/>
          </a:solidFill>
          <a:ln/>
          <a:effectLst>
            <a:outerShdw blurRad="152400" dist="50800" dir="5400000" algn="bl" rotWithShape="0">
              <a:srgbClr val="0A1428">
                <a:alpha val="3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QRlabel"/>
          <p:cNvSpPr/>
          <p:nvPr/>
        </p:nvSpPr>
        <p:spPr>
          <a:xfrm>
            <a:off x="10310000" y="4955000"/>
            <a:ext cx="148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spc="60" dirty="0">
                <a:solidFill>
                  <a:srgbClr val="C77B2D"/>
                </a:solidFill>
                <a:latin typeface="Calibri" pitchFamily="34" charset="0"/>
                <a:cs typeface="Calibri" pitchFamily="34" charset="-120"/>
              </a:rPr>
              <a:t>SCANNEZ POUR DÉMARRER</a:t>
            </a:r>
          </a:p>
        </p:txBody>
      </p:sp>
      <p:pic>
        <p:nvPicPr>
          <p:cNvPr id="32" name="QR" descr="qr/cp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5000" y="5240000"/>
            <a:ext cx="970000" cy="970000"/>
          </a:xfrm>
          <a:prstGeom prst="rect">
            <a:avLst/>
          </a:prstGeom>
        </p:spPr>
      </p:pic>
      <p:sp>
        <p:nvSpPr>
          <p:cNvPr id="33" name="QRurl"/>
          <p:cNvSpPr/>
          <p:nvPr/>
        </p:nvSpPr>
        <p:spPr>
          <a:xfrm>
            <a:off x="10300000" y="6230000"/>
            <a:ext cx="15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b="1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moncompteformation.gouv.fr</a:t>
            </a:r>
          </a:p>
        </p:txBody>
      </p:sp>
      <p:sp>
        <p:nvSpPr>
          <p:cNvPr id="27" name="Text 22"/>
          <p:cNvSpPr/>
          <p:nvPr/>
        </p:nvSpPr>
        <p:spPr>
          <a:xfrm>
            <a:off x="777240" y="6420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dirty="0">
                <a:solidFill>
                  <a:srgbClr val="F2CB8C"/>
                </a:solidFill>
                <a:latin typeface="Calibri" pitchFamily="34" charset="0"/>
                <a:cs typeface="Calibri" pitchFamily="34" charset="-120"/>
              </a:rPr>
              <a:t>Cédric WALTENER  ·  Médiateur Numérique  ·  Guéret 2026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282352D-2E81-11A4-0236-F9A64C3D94B0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7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BIEN COMMENCER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Avant de chercher : 4 questions à se poser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la bonne formation, c'est d'abord savoir ce qu'on cherche. Posez-vous ces questions, et le choix devient beaucoup plus simple.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024128" y="2642616"/>
            <a:ext cx="822960" cy="822960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28620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04872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096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024128" y="363016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Quel est mon but ?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24128" y="4178808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un emploi, changer de métier, obtenir un diplôme, ou juste me perfectionner ? Le but oriente tout.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74720" y="233172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767328" y="2642616"/>
            <a:ext cx="822960" cy="822960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6784" y="286207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48072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096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3767328" y="363016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Certifiante ou non ?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3767328" y="4178808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l'emploi, visez une formation reconnue (RNCP / RS). Pour la culture perso, c'est plus libre.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17920" y="233172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6510528" y="2642616"/>
            <a:ext cx="822960" cy="822960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2862072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891272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096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3400" dirty="0"/>
          </a:p>
        </p:txBody>
      </p:sp>
      <p:sp>
        <p:nvSpPr>
          <p:cNvPr id="21" name="Text 16"/>
          <p:cNvSpPr/>
          <p:nvPr/>
        </p:nvSpPr>
        <p:spPr>
          <a:xfrm>
            <a:off x="6510528" y="363016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À distance ou en salle ?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6510528" y="4178808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 à votre rythme, en présentiel près de chez vous, ou un mélange des deux.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961120" y="233172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19"/>
          <p:cNvSpPr/>
          <p:nvPr/>
        </p:nvSpPr>
        <p:spPr>
          <a:xfrm>
            <a:off x="9253728" y="2642616"/>
            <a:ext cx="822960" cy="822960"/>
          </a:xfrm>
          <a:prstGeom prst="ellipse">
            <a:avLst/>
          </a:prstGeom>
          <a:solidFill>
            <a:srgbClr val="FBEED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3184" y="2862072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634472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085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1"/>
          <p:cNvSpPr/>
          <p:nvPr/>
        </p:nvSpPr>
        <p:spPr>
          <a:xfrm>
            <a:off x="9253728" y="363016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Quel budget ?</a:t>
            </a:r>
            <a:endParaRPr lang="en-US" sz="1650" dirty="0"/>
          </a:p>
        </p:txBody>
      </p:sp>
      <p:sp>
        <p:nvSpPr>
          <p:cNvPr id="28" name="Text 22"/>
          <p:cNvSpPr/>
          <p:nvPr/>
        </p:nvSpPr>
        <p:spPr>
          <a:xfrm>
            <a:off x="9253728" y="4178808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formations sont finançables par le CPF. On voit ça dans les pages suivantes.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300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1873CF58-24D5-5BEA-9F97-19464BEAB9D8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7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FINANCEMENT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 CPF, c'est quoi 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31520" y="15361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</a:t>
            </a:r>
            <a:r>
              <a:rPr lang="en-US" sz="14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Personnel de Formation</a:t>
            </a:r>
            <a:r>
              <a:rPr lang="en-US" sz="14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C'est une cagnotte en euros que l'État met sur votre compte quand vous travaillez. Elle sert à payer des formations.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345643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42416" y="2478024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085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500 €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60704" y="326440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0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0704" y="3538728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crédités si vous travaillez (temps plein ou au moins mi-temps)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2240280"/>
            <a:ext cx="3456432" cy="1783080"/>
          </a:xfrm>
          <a:prstGeom prst="roundRect">
            <a:avLst>
              <a:gd name="adj" fmla="val 6154"/>
            </a:avLst>
          </a:prstGeom>
          <a:solidFill>
            <a:srgbClr val="15233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745736" y="2478024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CB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5 000 €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764024" y="326440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64024" y="3538728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plafond que votre cagnotte peut atteindre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2240280"/>
            <a:ext cx="345643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449056" y="2478024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085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800 €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467344" y="326440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0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67344" y="3538728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avez un niveau inférieur au CAP ou êtes travailleur handicapé (plafond 8 000 €)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4315968"/>
            <a:ext cx="10725912" cy="1627632"/>
          </a:xfrm>
          <a:prstGeom prst="roundRect">
            <a:avLst>
              <a:gd name="adj" fmla="val 6742"/>
            </a:avLst>
          </a:prstGeom>
          <a:solidFill>
            <a:srgbClr val="15233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051560" y="4617720"/>
            <a:ext cx="713232" cy="713232"/>
          </a:xfrm>
          <a:prstGeom prst="ellipse">
            <a:avLst/>
          </a:prstGeom>
          <a:solidFill>
            <a:srgbClr val="E0962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4800600"/>
            <a:ext cx="34747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920240" y="4617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Bon à savoir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920240" y="5074920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2C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monde a un CPF dès 16 ans</a:t>
            </a:r>
            <a:r>
              <a:rPr lang="en-US" sz="135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salarié, demandeur d'emploi, indépendant, fonctionnaire.  </a:t>
            </a:r>
            <a:r>
              <a:rPr lang="en-US" sz="1350" b="1" dirty="0">
                <a:solidFill>
                  <a:srgbClr val="F2C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êtes au chômage ?</a:t>
            </a:r>
            <a:r>
              <a:rPr lang="en-US" sz="135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compte n'est plus alimenté, mais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droits déjà accumulés restent disponibles</a:t>
            </a:r>
            <a:r>
              <a:rPr lang="en-US" sz="135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utilisables.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C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CB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92F0D386-37CD-4219-BCDE-1D5166D43AE1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7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PAR ÉTAPE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Consulter son CPF : comment faire 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542032" cy="315468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024128" y="2139696"/>
            <a:ext cx="841248" cy="841248"/>
          </a:xfrm>
          <a:prstGeom prst="ellipse">
            <a:avLst/>
          </a:prstGeom>
          <a:solidFill>
            <a:srgbClr val="C77B2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2377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59152" y="20848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E096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024128" y="3154680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Allez sur le site officiel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24128" y="3886200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Tapez moncompteformation.gouv.fr dans votre navigateur, ou installez l'appli « Mon Compte Formation » (Caisse des Dépôts).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74720" y="1828800"/>
            <a:ext cx="2542032" cy="315468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3767328" y="2139696"/>
            <a:ext cx="841248" cy="841248"/>
          </a:xfrm>
          <a:prstGeom prst="ellipse">
            <a:avLst/>
          </a:prstGeom>
          <a:solidFill>
            <a:srgbClr val="C77B2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72" y="2377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02352" y="20848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D085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3767328" y="3154680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Créez votre Identité Numérique La Poste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767328" y="3886200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Gratuit, en ligne ou en bureau de poste. Elle prouve que c'est bien vous (obligatoire pour le CPF depuis 2022).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17920" y="1828800"/>
            <a:ext cx="2542032" cy="315468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510528" y="2139696"/>
            <a:ext cx="841248" cy="841248"/>
          </a:xfrm>
          <a:prstGeom prst="ellipse">
            <a:avLst/>
          </a:prstGeom>
          <a:solidFill>
            <a:srgbClr val="C77B2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23774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45552" y="20848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E096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15"/>
          <p:cNvSpPr/>
          <p:nvPr/>
        </p:nvSpPr>
        <p:spPr>
          <a:xfrm>
            <a:off x="6510528" y="3154680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Connectez-vous avec FranceConnect+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510528" y="3886200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« Se connecter » puis « FranceConnect+ ». Vous confirmez votre identité depuis l'appli sur votre smartphone.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961120" y="1828800"/>
            <a:ext cx="2542032" cy="315468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18"/>
          <p:cNvSpPr/>
          <p:nvPr/>
        </p:nvSpPr>
        <p:spPr>
          <a:xfrm>
            <a:off x="9253728" y="2139696"/>
            <a:ext cx="841248" cy="841248"/>
          </a:xfrm>
          <a:prstGeom prst="ellipse">
            <a:avLst/>
          </a:prstGeom>
          <a:solidFill>
            <a:srgbClr val="C77B2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1472" y="237744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88752" y="20848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D085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3600" dirty="0"/>
          </a:p>
        </p:txBody>
      </p:sp>
      <p:sp>
        <p:nvSpPr>
          <p:cNvPr id="26" name="Text 20"/>
          <p:cNvSpPr/>
          <p:nvPr/>
        </p:nvSpPr>
        <p:spPr>
          <a:xfrm>
            <a:off x="9253728" y="3154680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Regardez votre solde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253728" y="3886200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tableau de bord affiche votre cagnotte en euros, vos droits et les formations possibles.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731520" y="5212080"/>
            <a:ext cx="10725912" cy="841248"/>
          </a:xfrm>
          <a:prstGeom prst="roundRect">
            <a:avLst>
              <a:gd name="adj" fmla="val 13043"/>
            </a:avLst>
          </a:prstGeom>
          <a:solidFill>
            <a:srgbClr val="F4E7DC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3"/>
          <p:cNvSpPr/>
          <p:nvPr/>
        </p:nvSpPr>
        <p:spPr>
          <a:xfrm>
            <a:off x="960120" y="5413248"/>
            <a:ext cx="457200" cy="457200"/>
          </a:xfrm>
          <a:prstGeom prst="ellipse">
            <a:avLst/>
          </a:prstGeom>
          <a:solidFill>
            <a:srgbClr val="E0962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5522976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00200" y="5212080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smartphone ou pas à l'aise ?  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solution de connexion alternative existe, et un médiateur numérique peut vous accompagner gratuitement.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300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73DE08C-0594-B3D0-D5E8-930467B30974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7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DROITS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Ce que le CPF peut financer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31520" y="1536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CPF paie des formations qui mènent à un diplôme ou un certificat reconnu. Quelques exemples concrets 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969264" y="2331720"/>
            <a:ext cx="658368" cy="658368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5146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55648" y="224028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Formations diplômantes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755648" y="2587752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RNCP et certifications RS : informatique, secrétariat, petite enfance, sécurité…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443984" y="2057400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681728" y="2331720"/>
            <a:ext cx="658368" cy="658368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5146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68112" y="224028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Langues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468112" y="2587752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Anglais, espagnol… avec une certification (TOEIC, etc.). Plafond de 1 500 €.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8156448" y="2057400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8394192" y="2331720"/>
            <a:ext cx="658368" cy="658368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25146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80576" y="224028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Permis de conduire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9180576" y="2587752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 B (jusqu'à 900 €), mais aussi poids lourds et transport, sans plafond pour les </a:t>
            </a:r>
            <a:r>
              <a:rPr lang="en-US" sz="1080" dirty="0" err="1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demandeurs</a:t>
            </a: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80" dirty="0" err="1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d’emplois</a:t>
            </a: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731520" y="3447288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969264" y="3721608"/>
            <a:ext cx="658368" cy="658368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144" y="390448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55648" y="363016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Bilan de compétences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755648" y="397764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le point sur son parcours et son projet pro. Jusqu'à 1 600 €.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4443984" y="3447288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0"/>
          <p:cNvSpPr/>
          <p:nvPr/>
        </p:nvSpPr>
        <p:spPr>
          <a:xfrm>
            <a:off x="4681728" y="3721608"/>
            <a:ext cx="658368" cy="658368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390448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68112" y="363016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VAE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5468112" y="397764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reconnaître son expérience pour obtenir un diplôme, sans repasser par l'école.</a:t>
            </a:r>
            <a:endParaRPr lang="en-US" sz="1080" dirty="0"/>
          </a:p>
        </p:txBody>
      </p:sp>
      <p:sp>
        <p:nvSpPr>
          <p:cNvPr id="30" name="Shape 23"/>
          <p:cNvSpPr/>
          <p:nvPr/>
        </p:nvSpPr>
        <p:spPr>
          <a:xfrm>
            <a:off x="8156448" y="3447288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4"/>
          <p:cNvSpPr/>
          <p:nvPr/>
        </p:nvSpPr>
        <p:spPr>
          <a:xfrm>
            <a:off x="8394192" y="3721608"/>
            <a:ext cx="658368" cy="658368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7072" y="3904488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80576" y="363016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Création d'entreprise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9180576" y="397764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 pour créer ou reprendre une activité (utile pour la micro-entreprise).</a:t>
            </a:r>
            <a:endParaRPr lang="en-US" sz="1080" dirty="0"/>
          </a:p>
        </p:txBody>
      </p:sp>
      <p:sp>
        <p:nvSpPr>
          <p:cNvPr id="35" name="Text 27"/>
          <p:cNvSpPr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l'inverse, </a:t>
            </a:r>
            <a:r>
              <a:rPr lang="en-US" sz="1250" b="1" dirty="0">
                <a:solidFill>
                  <a:srgbClr val="A83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CPF ne paie pas</a:t>
            </a:r>
            <a:r>
              <a:rPr lang="en-US" sz="12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matériel, les loisirs, ni les formations non certifiantes.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300" dirty="0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05F81A42-5B50-DD20-51EF-1B8B60043C0D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2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EN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Faut-il payer quelque chose de sa poche 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3657600" cy="3977640"/>
          </a:xfrm>
          <a:prstGeom prst="roundRect">
            <a:avLst>
              <a:gd name="adj" fmla="val 3000"/>
            </a:avLst>
          </a:prstGeom>
          <a:solidFill>
            <a:srgbClr val="15233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05840" y="2606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D085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150 €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1024128" y="3520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C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PARTICIPATION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39776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le 2 avril 2026, une participation forfaitaire de 150 € est demandée pour la plupart des formations payées avec le CPF. Elle s'ajoute au montant pris sur votre cagnotte.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09160" y="20116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Mais beaucoup en sont </a:t>
            </a:r>
            <a:r>
              <a:rPr lang="en-US" sz="180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totalement EXONÉRÉS</a:t>
            </a:r>
            <a:r>
              <a:rPr lang="en-US" sz="18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: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09160" y="2697480"/>
            <a:ext cx="6748272" cy="548640"/>
          </a:xfrm>
          <a:prstGeom prst="roundRect">
            <a:avLst>
              <a:gd name="adj" fmla="val 20000"/>
            </a:avLst>
          </a:prstGeom>
          <a:solidFill>
            <a:srgbClr val="EAEDD8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873752" y="2816352"/>
            <a:ext cx="310896" cy="310896"/>
          </a:xfrm>
          <a:prstGeom prst="ellipse">
            <a:avLst/>
          </a:prstGeom>
          <a:solidFill>
            <a:srgbClr val="6F7D3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2889504"/>
            <a:ext cx="164592" cy="1645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49240" y="269748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demandeurs d'emploi inscrits à France Travail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709160" y="3355848"/>
            <a:ext cx="6748272" cy="548640"/>
          </a:xfrm>
          <a:prstGeom prst="roundRect">
            <a:avLst>
              <a:gd name="adj" fmla="val 20000"/>
            </a:avLst>
          </a:prstGeom>
          <a:solidFill>
            <a:srgbClr val="EAEDD8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4873752" y="3474720"/>
            <a:ext cx="310896" cy="310896"/>
          </a:xfrm>
          <a:prstGeom prst="ellipse">
            <a:avLst/>
          </a:prstGeom>
          <a:solidFill>
            <a:srgbClr val="6F7D3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3547872"/>
            <a:ext cx="164592" cy="1645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9240" y="3355848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personnes dont l'employeur complète le financement (abondement)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709160" y="4014216"/>
            <a:ext cx="6748272" cy="548640"/>
          </a:xfrm>
          <a:prstGeom prst="roundRect">
            <a:avLst>
              <a:gd name="adj" fmla="val 20000"/>
            </a:avLst>
          </a:prstGeom>
          <a:solidFill>
            <a:srgbClr val="EAEDD8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4873752" y="4133088"/>
            <a:ext cx="310896" cy="310896"/>
          </a:xfrm>
          <a:prstGeom prst="ellipse">
            <a:avLst/>
          </a:prstGeom>
          <a:solidFill>
            <a:srgbClr val="6F7D3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4206240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49240" y="4014216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bénéficiaires du Compte Professionnel de Prévention (C2P)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709160" y="4672584"/>
            <a:ext cx="6748272" cy="548640"/>
          </a:xfrm>
          <a:prstGeom prst="roundRect">
            <a:avLst>
              <a:gd name="adj" fmla="val 20000"/>
            </a:avLst>
          </a:prstGeom>
          <a:solidFill>
            <a:srgbClr val="EAEDD8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7"/>
          <p:cNvSpPr/>
          <p:nvPr/>
        </p:nvSpPr>
        <p:spPr>
          <a:xfrm>
            <a:off x="4873752" y="4791456"/>
            <a:ext cx="310896" cy="310896"/>
          </a:xfrm>
          <a:prstGeom prst="ellipse">
            <a:avLst/>
          </a:prstGeom>
          <a:solidFill>
            <a:srgbClr val="6F7D3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4864608"/>
            <a:ext cx="164592" cy="16459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49240" y="4672584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personnes en accident du travail / maladie professionnelle (AT-MP)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4709160" y="5413248"/>
            <a:ext cx="6748272" cy="548640"/>
          </a:xfrm>
          <a:prstGeom prst="roundRect">
            <a:avLst>
              <a:gd name="adj" fmla="val 20000"/>
            </a:avLst>
          </a:prstGeom>
          <a:solidFill>
            <a:srgbClr val="FBEEDA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0"/>
          <p:cNvSpPr/>
          <p:nvPr/>
        </p:nvSpPr>
        <p:spPr>
          <a:xfrm>
            <a:off x="4873752" y="5532120"/>
            <a:ext cx="310896" cy="310896"/>
          </a:xfrm>
          <a:prstGeom prst="ellipse">
            <a:avLst/>
          </a:prstGeom>
          <a:solidFill>
            <a:srgbClr val="D0852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5605272"/>
            <a:ext cx="164592" cy="16459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49240" y="5413248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vos apprenants sont demandeurs d'emploi : </a:t>
            </a:r>
            <a:r>
              <a:rPr lang="en-US" sz="1250" b="1" dirty="0">
                <a:solidFill>
                  <a:srgbClr val="B2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eux, c'est 0 € de leur poche.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C1DA568C-2655-11B6-48E4-59E9F19BDA9E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7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· NOUVELLE-AQUITAINE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Qui peut financer votre formation 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31520" y="1536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CPF n'est pas la seule solution. Selon votre situation, d'autres aides existent — et elles se cumulent souvent.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87552" y="22402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CPF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87552" y="2624328"/>
            <a:ext cx="1486814" cy="292608"/>
          </a:xfrm>
          <a:prstGeom prst="roundRect">
            <a:avLst>
              <a:gd name="adj" fmla="val 50000"/>
            </a:avLst>
          </a:prstGeom>
          <a:solidFill>
            <a:srgbClr val="FBEED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87552" y="2624328"/>
            <a:ext cx="14868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2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(dès 16 ans)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87552" y="294436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cagnotte personnelle en euros, sur moncompteformation.gouv.fr.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43984" y="2057400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700016" y="22402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France Travail (AIF)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700016" y="2624328"/>
            <a:ext cx="1629461" cy="292608"/>
          </a:xfrm>
          <a:prstGeom prst="roundRect">
            <a:avLst>
              <a:gd name="adj" fmla="val 50000"/>
            </a:avLst>
          </a:prstGeom>
          <a:solidFill>
            <a:srgbClr val="FBEED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700016" y="2624328"/>
            <a:ext cx="16294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2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Demandeurs d'emploi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00016" y="294436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au financement + votre rémunération maintenue pendant la formation.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8156448" y="2057400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412480" y="22402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PRF – Région N.-A.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412480" y="2624328"/>
            <a:ext cx="1629461" cy="292608"/>
          </a:xfrm>
          <a:prstGeom prst="roundRect">
            <a:avLst>
              <a:gd name="adj" fmla="val 50000"/>
            </a:avLst>
          </a:prstGeom>
          <a:solidFill>
            <a:srgbClr val="FBEED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8412480" y="2624328"/>
            <a:ext cx="16294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2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Demandeurs d'emploi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412480" y="294436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qualifiantes gratuites ET rémunérées. Accès via votre conseiller.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731520" y="3447288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987552" y="36301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Chèque Formation Région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87552" y="4014216"/>
            <a:ext cx="2485339" cy="292608"/>
          </a:xfrm>
          <a:prstGeom prst="roundRect">
            <a:avLst>
              <a:gd name="adj" fmla="val 50000"/>
            </a:avLst>
          </a:prstGeom>
          <a:solidFill>
            <a:srgbClr val="FBEED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987552" y="4014216"/>
            <a:ext cx="24853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2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Demandeurs d'emploi &amp; précaires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87552" y="433425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une formation courte (40h max) pour la compétence qui manque.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4443984" y="3447288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700016" y="36301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 de compétences / OPCO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4700016" y="4014216"/>
            <a:ext cx="844906" cy="292608"/>
          </a:xfrm>
          <a:prstGeom prst="roundRect">
            <a:avLst>
              <a:gd name="adj" fmla="val 50000"/>
            </a:avLst>
          </a:prstGeom>
          <a:solidFill>
            <a:srgbClr val="FBEED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700016" y="4014216"/>
            <a:ext cx="8449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2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00016" y="433425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payée par l'employeur, le plus souvent sur le temps de travail.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8156448" y="3447288"/>
            <a:ext cx="351129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8412480" y="36301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Transitions Pro (PTP)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8412480" y="4014216"/>
            <a:ext cx="1986077" cy="292608"/>
          </a:xfrm>
          <a:prstGeom prst="roundRect">
            <a:avLst>
              <a:gd name="adj" fmla="val 50000"/>
            </a:avLst>
          </a:prstGeom>
          <a:solidFill>
            <a:srgbClr val="FBEED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8412480" y="4014216"/>
            <a:ext cx="19860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2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Salariés en reconversion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412480" y="433425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longue pour changer de métier, en restant rémunéré.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731520" y="5212080"/>
            <a:ext cx="10725912" cy="841248"/>
          </a:xfrm>
          <a:prstGeom prst="roundRect">
            <a:avLst>
              <a:gd name="adj" fmla="val 13043"/>
            </a:avLst>
          </a:prstGeom>
          <a:solidFill>
            <a:srgbClr val="15233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960120" y="5413248"/>
            <a:ext cx="457200" cy="457200"/>
          </a:xfrm>
          <a:prstGeom prst="ellipse">
            <a:avLst/>
          </a:prstGeom>
          <a:solidFill>
            <a:srgbClr val="E0962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5532120"/>
            <a:ext cx="219456" cy="219456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600200" y="5212080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C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réflexe : le conseiller CEP (gratuit).  </a:t>
            </a:r>
            <a:r>
              <a:rPr lang="en-US" sz="120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fait le point, identifie TOUTES les aides possibles et vous aide à monter le dossier. À noter aussi : l'AGEFIPH pour les travailleurs handicapés, et une aide régionale en dernier recours.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C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300" dirty="0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87AF99F7-44B5-ADCD-C5FD-F9D8112A9550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7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· NOUVELLE-AQUITAINE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Comment les contacter 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31520" y="15361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Scannez les QR codes</a:t>
            </a:r>
            <a:r>
              <a:rPr lang="en-US" sz="13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aller directement sur chaque site officiel.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528523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950976" y="2359152"/>
            <a:ext cx="603504" cy="603504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52374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1284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France Travail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91640" y="2578608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Inscription, AIF, conseiller. 39 49 · francetravail.fr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937760" y="2249424"/>
            <a:ext cx="8412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qr/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2322576"/>
            <a:ext cx="694944" cy="6949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72200" y="2011680"/>
            <a:ext cx="528523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6391656" y="2359152"/>
            <a:ext cx="603504" cy="603504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252374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32320" y="221284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Région Nouvelle-Aquitaine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132320" y="2578608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PRF &amp; Chèque Formation. nouvelle-aquitaine.fr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10378440" y="2249424"/>
            <a:ext cx="8412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Image 3" descr="qr/regionN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1592" y="2322576"/>
            <a:ext cx="694944" cy="69494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31520" y="3493008"/>
            <a:ext cx="528523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950976" y="3840480"/>
            <a:ext cx="603504" cy="603504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568" y="4005072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91640" y="369417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Transitions Pro N.-A.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691640" y="4059936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Reconversion (PTP). Le plus proche : Limoges. transitionspro-na.fr</a:t>
            </a:r>
            <a:endParaRPr lang="en-US" sz="1080" dirty="0"/>
          </a:p>
        </p:txBody>
      </p:sp>
      <p:sp>
        <p:nvSpPr>
          <p:cNvPr id="24" name="Shape 17"/>
          <p:cNvSpPr/>
          <p:nvPr/>
        </p:nvSpPr>
        <p:spPr>
          <a:xfrm>
            <a:off x="4937760" y="3730752"/>
            <a:ext cx="8412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5" name="Image 5" descr="qr/transpr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0912" y="3803904"/>
            <a:ext cx="694944" cy="69494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172200" y="3493008"/>
            <a:ext cx="528523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19"/>
          <p:cNvSpPr/>
          <p:nvPr/>
        </p:nvSpPr>
        <p:spPr>
          <a:xfrm>
            <a:off x="6391656" y="3840480"/>
            <a:ext cx="603504" cy="603504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6248" y="4005072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132320" y="369417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 CEP (conseil gratuit)</a:t>
            </a:r>
            <a:endParaRPr lang="en-US" sz="1450" dirty="0"/>
          </a:p>
        </p:txBody>
      </p:sp>
      <p:sp>
        <p:nvSpPr>
          <p:cNvPr id="30" name="Text 21"/>
          <p:cNvSpPr/>
          <p:nvPr/>
        </p:nvSpPr>
        <p:spPr>
          <a:xfrm>
            <a:off x="7132320" y="4059936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son conseiller en évolution pro. mon-cep.org</a:t>
            </a:r>
            <a:endParaRPr lang="en-US" sz="1080" dirty="0"/>
          </a:p>
        </p:txBody>
      </p:sp>
      <p:sp>
        <p:nvSpPr>
          <p:cNvPr id="31" name="Shape 22"/>
          <p:cNvSpPr/>
          <p:nvPr/>
        </p:nvSpPr>
        <p:spPr>
          <a:xfrm>
            <a:off x="10378440" y="3730752"/>
            <a:ext cx="8412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2" name="Image 7" descr="qr/ce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51592" y="3803904"/>
            <a:ext cx="694944" cy="69494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731520" y="4974336"/>
            <a:ext cx="528523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24"/>
          <p:cNvSpPr/>
          <p:nvPr/>
        </p:nvSpPr>
        <p:spPr>
          <a:xfrm>
            <a:off x="950976" y="5321808"/>
            <a:ext cx="603504" cy="603504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5568" y="5486400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1691640" y="5175504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CPF</a:t>
            </a:r>
            <a:endParaRPr lang="en-US" sz="1450" dirty="0"/>
          </a:p>
        </p:txBody>
      </p:sp>
      <p:sp>
        <p:nvSpPr>
          <p:cNvPr id="37" name="Text 26"/>
          <p:cNvSpPr/>
          <p:nvPr/>
        </p:nvSpPr>
        <p:spPr>
          <a:xfrm>
            <a:off x="1691640" y="5541264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ses droits et s'inscrire. moncompteformation.gouv.fr</a:t>
            </a:r>
            <a:endParaRPr lang="en-US" sz="1080" dirty="0"/>
          </a:p>
        </p:txBody>
      </p:sp>
      <p:sp>
        <p:nvSpPr>
          <p:cNvPr id="38" name="Shape 27"/>
          <p:cNvSpPr/>
          <p:nvPr/>
        </p:nvSpPr>
        <p:spPr>
          <a:xfrm>
            <a:off x="4937760" y="5212080"/>
            <a:ext cx="8412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9" name="Image 9" descr="qr/cp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10912" y="5285232"/>
            <a:ext cx="694944" cy="694944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6172200" y="4974336"/>
            <a:ext cx="528523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29"/>
          <p:cNvSpPr/>
          <p:nvPr/>
        </p:nvSpPr>
        <p:spPr>
          <a:xfrm>
            <a:off x="6391656" y="5321808"/>
            <a:ext cx="603504" cy="603504"/>
          </a:xfrm>
          <a:prstGeom prst="ellipse">
            <a:avLst/>
          </a:prstGeom>
          <a:solidFill>
            <a:srgbClr val="F4E7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6248" y="5486400"/>
            <a:ext cx="274320" cy="27432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7132320" y="5175504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AGEFIPH / Cap Emploi</a:t>
            </a:r>
            <a:endParaRPr lang="en-US" sz="1450" dirty="0"/>
          </a:p>
        </p:txBody>
      </p:sp>
      <p:sp>
        <p:nvSpPr>
          <p:cNvPr id="44" name="Text 31"/>
          <p:cNvSpPr/>
          <p:nvPr/>
        </p:nvSpPr>
        <p:spPr>
          <a:xfrm>
            <a:off x="7132320" y="5541264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Aides formation travailleurs handicapés. 0 800 11 10 09 · agefiph.fr</a:t>
            </a:r>
            <a:endParaRPr lang="en-US" sz="1080" dirty="0"/>
          </a:p>
        </p:txBody>
      </p:sp>
      <p:sp>
        <p:nvSpPr>
          <p:cNvPr id="45" name="Shape 32"/>
          <p:cNvSpPr/>
          <p:nvPr/>
        </p:nvSpPr>
        <p:spPr>
          <a:xfrm>
            <a:off x="10378440" y="5212080"/>
            <a:ext cx="8412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6" name="Image 11" descr="qr/agefiph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51592" y="5285232"/>
            <a:ext cx="694944" cy="694944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50" dirty="0"/>
          </a:p>
        </p:txBody>
      </p:sp>
      <p:sp>
        <p:nvSpPr>
          <p:cNvPr id="48" name="Text 34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1300" dirty="0"/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6A00C479-53CE-938F-9F45-73ACCF039699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7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À L'ACTION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Où trouver sa formation 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5778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0584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méthode simple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2743200"/>
            <a:ext cx="512064" cy="512064"/>
          </a:xfrm>
          <a:prstGeom prst="ellipse">
            <a:avLst/>
          </a:prstGeom>
          <a:solidFill>
            <a:srgbClr val="E0962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88036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70662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Cherchez directement sur le site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691640" y="3017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moncompteformation.gouv.fr, tapez un métier ou un domaine (ex. « bureautique »).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1005840" y="3529584"/>
            <a:ext cx="512064" cy="512064"/>
          </a:xfrm>
          <a:prstGeom prst="ellipse">
            <a:avLst/>
          </a:prstGeom>
          <a:solidFill>
            <a:srgbClr val="D0852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66674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4930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Filtrez selon vos besoins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691640" y="38039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distance ou près de chez vous, à votre rythme ou avec dates, durée, prix.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1005840" y="4315968"/>
            <a:ext cx="512064" cy="512064"/>
          </a:xfrm>
          <a:prstGeom prst="ellipse">
            <a:avLst/>
          </a:prstGeom>
          <a:solidFill>
            <a:srgbClr val="E0962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45312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2793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Vérifiez la certification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691640" y="45902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Privilégiez les formations marquées RNCP ou RS : vraie valeur pour l'emploi.</a:t>
            </a:r>
            <a:endParaRPr lang="en-US" sz="1080" dirty="0"/>
          </a:p>
        </p:txBody>
      </p:sp>
      <p:sp>
        <p:nvSpPr>
          <p:cNvPr id="18" name="Shape 13"/>
          <p:cNvSpPr/>
          <p:nvPr/>
        </p:nvSpPr>
        <p:spPr>
          <a:xfrm>
            <a:off x="1005840" y="5102352"/>
            <a:ext cx="512064" cy="512064"/>
          </a:xfrm>
          <a:prstGeom prst="ellipse">
            <a:avLst/>
          </a:prstGeom>
          <a:solidFill>
            <a:srgbClr val="D0852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23951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50657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Lisez les avis et le programme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691640" y="53766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Regardez les notes des anciens apprenants et le détail du contenu.</a:t>
            </a:r>
            <a:endParaRPr lang="en-US" sz="1080" dirty="0"/>
          </a:p>
        </p:txBody>
      </p:sp>
      <p:sp>
        <p:nvSpPr>
          <p:cNvPr id="22" name="Shape 16"/>
          <p:cNvSpPr/>
          <p:nvPr/>
        </p:nvSpPr>
        <p:spPr>
          <a:xfrm>
            <a:off x="6492240" y="1874520"/>
            <a:ext cx="4965192" cy="4206240"/>
          </a:xfrm>
          <a:prstGeom prst="roundRect">
            <a:avLst>
              <a:gd name="adj" fmla="val 2609"/>
            </a:avLst>
          </a:prstGeom>
          <a:solidFill>
            <a:srgbClr val="15233F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17"/>
          <p:cNvSpPr/>
          <p:nvPr/>
        </p:nvSpPr>
        <p:spPr>
          <a:xfrm>
            <a:off x="6766560" y="2103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CB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D'autres endroits où chercher</a:t>
            </a:r>
            <a:endParaRPr lang="en-US" sz="18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761488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32320" y="26883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Travail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132320" y="29992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Demandeur d'emploi : formations financées + un conseiller pour vous orienter.</a:t>
            </a:r>
            <a:endParaRPr lang="en-US" sz="105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547872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32320" y="3474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Région / missions locales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7132320" y="37856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locaux gratuits, surtout jeunes et reconversions.</a:t>
            </a:r>
            <a:endParaRPr lang="en-US" sz="105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334256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132320" y="42611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 de cours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7132320" y="4572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Coursera, OpenClassrooms, FUN-MOOC… pour découvrir gratuitement.</a:t>
            </a:r>
            <a:endParaRPr lang="en-US" sz="105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5120640"/>
            <a:ext cx="237744" cy="23774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132320" y="50474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médiateur numérique</a:t>
            </a:r>
            <a:endParaRPr lang="en-US" sz="1350" dirty="0"/>
          </a:p>
        </p:txBody>
      </p:sp>
      <p:sp>
        <p:nvSpPr>
          <p:cNvPr id="35" name="Text 25"/>
          <p:cNvSpPr/>
          <p:nvPr/>
        </p:nvSpPr>
        <p:spPr>
          <a:xfrm>
            <a:off x="7132320" y="53583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être accompagné à chaque étape, sans rester seul devant l'écran.</a:t>
            </a:r>
            <a:endParaRPr lang="en-US" sz="1050" dirty="0"/>
          </a:p>
        </p:txBody>
      </p:sp>
      <p:sp>
        <p:nvSpPr>
          <p:cNvPr id="36" name="Text 26"/>
          <p:cNvSpPr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50" dirty="0"/>
          </a:p>
        </p:txBody>
      </p:sp>
      <p:sp>
        <p:nvSpPr>
          <p:cNvPr id="37" name="Text 27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09</a:t>
            </a:r>
            <a:endParaRPr lang="en-US" sz="1300" dirty="0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83D98B18-929D-D0A0-2124-1335DC4C7D2F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3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Attention aux arnaques au CPF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31520" y="1536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escrocs essaient de voler vos droits CPF par téléphone, SMS ou e-mail. Voici comment ne pas se faire avoir.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5349240" cy="3840480"/>
          </a:xfrm>
          <a:prstGeom prst="roundRect">
            <a:avLst>
              <a:gd name="adj" fmla="val 2857"/>
            </a:avLst>
          </a:prstGeom>
          <a:solidFill>
            <a:srgbClr val="F6E6E0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005840" y="2377440"/>
            <a:ext cx="548640" cy="548640"/>
          </a:xfrm>
          <a:prstGeom prst="ellipse">
            <a:avLst/>
          </a:prstGeom>
          <a:solidFill>
            <a:srgbClr val="A8392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52374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377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39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Méfiez-vous si…</a:t>
            </a:r>
            <a:endParaRPr lang="en-US" sz="1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17296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10896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vous appelle pour « utiliser vos droits avant qu'ils expirent »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831336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376732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vous demande votre n° de sécurité sociale ou vos codes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489704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08760" y="442569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vous promet de l'argent ou un cadeau en échange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148072"/>
            <a:ext cx="292608" cy="2926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08760" y="508406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vous met la pression pour signer tout de suite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263640" y="2103120"/>
            <a:ext cx="5193792" cy="3840480"/>
          </a:xfrm>
          <a:prstGeom prst="roundRect">
            <a:avLst>
              <a:gd name="adj" fmla="val 2857"/>
            </a:avLst>
          </a:prstGeom>
          <a:solidFill>
            <a:srgbClr val="EAEDD8"/>
          </a:solidFill>
          <a:ln w="12700">
            <a:solidFill>
              <a:srgbClr val="D7DEE9"/>
            </a:solidFill>
            <a:prstDash val="solid"/>
          </a:ln>
          <a:effectLst>
            <a:outerShdw blurRad="114300" dist="38100" dir="5400000" algn="bl" rotWithShape="0">
              <a:srgbClr val="22335B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1"/>
          <p:cNvSpPr/>
          <p:nvPr/>
        </p:nvSpPr>
        <p:spPr>
          <a:xfrm>
            <a:off x="6537960" y="2377440"/>
            <a:ext cx="548640" cy="548640"/>
          </a:xfrm>
          <a:prstGeom prst="ellipse">
            <a:avLst/>
          </a:prstGeom>
          <a:solidFill>
            <a:srgbClr val="6F7D3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2523744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223760" y="2377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F7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Les bons réflexes</a:t>
            </a:r>
            <a:endParaRPr lang="en-US" sz="18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172968"/>
            <a:ext cx="292608" cy="29260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040880" y="31089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CPF ne démarche JAMAIS par téléphone ou SMS</a:t>
            </a:r>
            <a:endParaRPr lang="en-US" sz="12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831336"/>
            <a:ext cx="292608" cy="29260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040880" y="37673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site officiel : moncompteformation.gouv.fr</a:t>
            </a:r>
            <a:endParaRPr lang="en-US" sz="125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489704"/>
            <a:ext cx="292608" cy="29260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040880" y="442569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donnez jamais vos codes FranceConnect ou bancaires</a:t>
            </a:r>
            <a:endParaRPr lang="en-US" sz="125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5148072"/>
            <a:ext cx="292608" cy="29260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7040880" y="508406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doute, raccrochez et demandez à votre médiateur</a:t>
            </a:r>
            <a:endParaRPr lang="en-US" sz="1250" dirty="0"/>
          </a:p>
        </p:txBody>
      </p:sp>
      <p:sp>
        <p:nvSpPr>
          <p:cNvPr id="29" name="Text 17"/>
          <p:cNvSpPr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950" dirty="0"/>
          </a:p>
        </p:txBody>
      </p:sp>
      <p:sp>
        <p:nvSpPr>
          <p:cNvPr id="30" name="Text 18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77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1300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DDB52B8B-FD07-5356-6565-7ABBED8D9F22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xture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2" y="0"/>
            <a:ext cx="4572000" cy="3154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9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À VOUS LANCER ?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étapes pour démarrer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731520" y="2194560"/>
            <a:ext cx="7863840" cy="1078992"/>
          </a:xfrm>
          <a:prstGeom prst="roundRect">
            <a:avLst>
              <a:gd name="adj" fmla="val 8475"/>
            </a:avLst>
          </a:prstGeom>
          <a:solidFill>
            <a:srgbClr val="0F1A30"/>
          </a:solidFill>
          <a:ln w="12700">
            <a:solidFill>
              <a:srgbClr val="2A3D6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960120" y="2194560"/>
            <a:ext cx="1188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2CB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2240280" y="239572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Consultez votre solde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240280" y="2779776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Connectez-vous sur moncompteformation.gouv.fr (ou l'appli) avec FranceConnect+ et regardez votre cagnotte.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3429000"/>
            <a:ext cx="7863840" cy="1078992"/>
          </a:xfrm>
          <a:prstGeom prst="roundRect">
            <a:avLst>
              <a:gd name="adj" fmla="val 8475"/>
            </a:avLst>
          </a:prstGeom>
          <a:solidFill>
            <a:srgbClr val="0F1A30"/>
          </a:solidFill>
          <a:ln w="12700">
            <a:solidFill>
              <a:srgbClr val="2A3D6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960120" y="3429000"/>
            <a:ext cx="1188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D085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2240280" y="363016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Choisissez une formation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240280" y="4014216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Cherchez par métier, filtrez, vérifiez qu'elle est certifiante (RNCP/RS) et lisez les avis.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4663440"/>
            <a:ext cx="7863840" cy="1078992"/>
          </a:xfrm>
          <a:prstGeom prst="roundRect">
            <a:avLst>
              <a:gd name="adj" fmla="val 8475"/>
            </a:avLst>
          </a:prstGeom>
          <a:solidFill>
            <a:srgbClr val="0F1A30"/>
          </a:solidFill>
          <a:ln w="12700">
            <a:solidFill>
              <a:srgbClr val="2A3D6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960120" y="4663440"/>
            <a:ext cx="1188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2CB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4200" dirty="0"/>
          </a:p>
        </p:txBody>
      </p:sp>
      <p:sp>
        <p:nvSpPr>
          <p:cNvPr id="15" name="Text 12"/>
          <p:cNvSpPr/>
          <p:nvPr/>
        </p:nvSpPr>
        <p:spPr>
          <a:xfrm>
            <a:off x="2240280" y="486460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Faites-vous accompagner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240280" y="5248656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médiateur numérique vous aide à créer votre identité, comparer et vous inscrire en toute sécurité.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9680" y="2194560"/>
            <a:ext cx="2587752" cy="3547872"/>
          </a:xfrm>
          <a:prstGeom prst="roundRect">
            <a:avLst>
              <a:gd name="adj" fmla="val 4947"/>
            </a:avLst>
          </a:prstGeom>
          <a:solidFill>
            <a:srgbClr val="FBF4EC"/>
          </a:solidFill>
          <a:ln/>
          <a:effectLst>
            <a:outerShdw blurRad="152400" dist="50800" dir="5400000" algn="bl" rotWithShape="0">
              <a:srgbClr val="0A1428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9006840" y="242316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C7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DÉMARREZ ICI</a:t>
            </a:r>
            <a:endParaRPr lang="en-US" sz="1150" dirty="0"/>
          </a:p>
        </p:txBody>
      </p:sp>
      <p:pic>
        <p:nvPicPr>
          <p:cNvPr id="19" name="Image 1" descr="qr/cp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4" y="2788920"/>
            <a:ext cx="1188720" cy="11887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006840" y="406908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moncompteformation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.gouv.fr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9006840" y="498348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Scannez pour consulter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cagnotte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C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 ·  Médiateur Numérique  ·  Guéret 2026</a:t>
            </a:r>
            <a:endParaRPr lang="en-US" sz="10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64EBD92-B737-D0A7-56DB-3CD3E5E164B0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1690</Words>
  <Application>Microsoft Office PowerPoint</Application>
  <PresentationFormat>Grand écran</PresentationFormat>
  <Paragraphs>213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Bookman Old Style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Trouver sa formation 2026</dc:title>
  <dc:subject>PptxGenJS Presentation</dc:subject>
  <dc:creator>Cédric WALTENER</dc:creator>
  <cp:lastModifiedBy>titi 23</cp:lastModifiedBy>
  <cp:revision>3</cp:revision>
  <dcterms:created xsi:type="dcterms:W3CDTF">2026-06-22T08:16:02Z</dcterms:created>
  <dcterms:modified xsi:type="dcterms:W3CDTF">2026-09-08T11:33:16Z</dcterms:modified>
</cp:coreProperties>
</file>