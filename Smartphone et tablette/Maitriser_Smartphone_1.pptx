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3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39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26" Type="http://schemas.openxmlformats.org/officeDocument/2006/relationships/slide" Target="slide26.xml"/><Relationship Id="rId3" Type="http://schemas.openxmlformats.org/officeDocument/2006/relationships/slide" Target="slide3.xml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5" Type="http://schemas.openxmlformats.org/officeDocument/2006/relationships/slide" Target="slide25.xml"/><Relationship Id="rId2" Type="http://schemas.openxmlformats.org/officeDocument/2006/relationships/notesSlide" Target="../notesSlides/notesSlide2.xml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24" Type="http://schemas.openxmlformats.org/officeDocument/2006/relationships/slide" Target="slide24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23" Type="http://schemas.openxmlformats.org/officeDocument/2006/relationships/slide" Target="slide23.xml"/><Relationship Id="rId28" Type="http://schemas.openxmlformats.org/officeDocument/2006/relationships/image" Target="../media/image1.png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Relationship Id="rId22" Type="http://schemas.openxmlformats.org/officeDocument/2006/relationships/slide" Target="slide22.xml"/><Relationship Id="rId27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5029200" cy="329184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COMPLET DÉBUTANTS &amp; EXPERTS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680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son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31673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274320" y="21396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Tablette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74320" y="2852928"/>
            <a:ext cx="1645920" cy="475488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28529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100 %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343814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premier allumage aux astuces pro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expliqué pas à pas, pour tout le monde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9728" y="4709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&amp; SMS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61288" y="4773168"/>
            <a:ext cx="1828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234440" y="4709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4773168"/>
            <a:ext cx="1828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359152" y="4709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10712" y="4773168"/>
            <a:ext cx="1828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483864" y="4709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35424" y="4773168"/>
            <a:ext cx="1828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608576" y="4709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0136" y="4773168"/>
            <a:ext cx="1828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733288" y="4709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secrets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84848" y="4773168"/>
            <a:ext cx="1828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8000" y="4709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09560" y="4773168"/>
            <a:ext cx="1828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982712" y="4709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73152"/>
            <a:ext cx="3566160" cy="501091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40680" y="640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14:35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54406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7 mai 2026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03720" y="1993392"/>
            <a:ext cx="731520" cy="7315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90372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40680" y="2852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vers le haut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3255264"/>
            <a:ext cx="256032" cy="256032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446520" y="3255264"/>
            <a:ext cx="256032" cy="256032"/>
          </a:xfrm>
          <a:prstGeom prst="ellipse">
            <a:avLst/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858000" y="3255264"/>
            <a:ext cx="256032" cy="256032"/>
          </a:xfrm>
          <a:prstGeom prst="ellipse">
            <a:avLst/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7269480" y="3255264"/>
            <a:ext cx="256032" cy="256032"/>
          </a:xfrm>
          <a:prstGeom prst="ellipse">
            <a:avLst/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7680960" y="3255264"/>
            <a:ext cx="256032" cy="256032"/>
          </a:xfrm>
          <a:prstGeom prst="ellipse">
            <a:avLst/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8092440" y="3255264"/>
            <a:ext cx="256032" cy="256032"/>
          </a:xfrm>
          <a:prstGeom prst="ellipse">
            <a:avLst/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5760720" y="3639312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760720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784848" y="3639312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784848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808976" y="3639312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808976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760720" y="3968496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760720" y="39684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784848" y="3968496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784848" y="39684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808976" y="3968496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7808976" y="39684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760720" y="4297680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760720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784848" y="4297680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784848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808976" y="4297680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808976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784848" y="4626864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784848" y="4626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808976" y="4626864"/>
            <a:ext cx="822960" cy="274320"/>
          </a:xfrm>
          <a:prstGeom prst="rect">
            <a:avLst/>
          </a:prstGeom>
          <a:solidFill>
            <a:srgbClr val="0D1D3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7808976" y="4626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</a:t>
            </a:r>
            <a:endParaRPr lang="en-US" sz="1300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000" y="130000"/>
            <a:ext cx="430000" cy="430000"/>
          </a:xfrm>
          <a:prstGeom prst="rect">
            <a:avLst/>
          </a:prstGeom>
        </p:spPr>
      </p:pic>
      <p:sp>
        <p:nvSpPr>
          <p:cNvPr id="61" name="ZoneTexte 60">
            <a:extLst>
              <a:ext uri="{FF2B5EF4-FFF2-40B4-BE49-F238E27FC236}">
                <a16:creationId xmlns:a16="http://schemas.microsoft.com/office/drawing/2014/main" id="{D2EE22FC-7FD7-9ADD-6D38-BF53D2FD22A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25 sujets expliqués pas à pas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1000" name="Card 1">
            <a:hlinkClick r:id="rId3" action="ppaction://hlinksldjump"/>
          </p:cNvPr>
          <p:cNvSpPr/>
          <p:nvPr/>
        </p:nvSpPr>
        <p:spPr>
          <a:xfrm>
            <a:off x="164592" y="101500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01" name="Accent 1">
            <a:hlinkClick r:id="rId3" action="ppaction://hlinksldjump"/>
          </p:cNvPr>
          <p:cNvSpPr/>
          <p:nvPr/>
        </p:nvSpPr>
        <p:spPr>
          <a:xfrm>
            <a:off x="164592" y="1015000"/>
            <a:ext cx="73152" cy="548640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Label 1">
            <a:hlinkClick r:id="rId3" action="ppaction://hlinksldjump"/>
          </p:cNvPr>
          <p:cNvSpPr/>
          <p:nvPr/>
        </p:nvSpPr>
        <p:spPr>
          <a:xfrm>
            <a:off x="283662" y="113407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01 Allumer / Éteindre</a:t>
            </a:r>
            <a:endParaRPr lang="fr-FR" sz="900" dirty="0"/>
          </a:p>
        </p:txBody>
      </p:sp>
      <p:sp>
        <p:nvSpPr>
          <p:cNvPr id="1003" name="Card 2">
            <a:hlinkClick r:id="rId4" action="ppaction://hlinksldjump"/>
          </p:cNvPr>
          <p:cNvSpPr/>
          <p:nvPr/>
        </p:nvSpPr>
        <p:spPr>
          <a:xfrm>
            <a:off x="1944014" y="101500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04" name="Accent 2">
            <a:hlinkClick r:id="rId4" action="ppaction://hlinksldjump"/>
          </p:cNvPr>
          <p:cNvSpPr/>
          <p:nvPr/>
        </p:nvSpPr>
        <p:spPr>
          <a:xfrm>
            <a:off x="1944014" y="1015000"/>
            <a:ext cx="73152" cy="548640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Label 2">
            <a:hlinkClick r:id="rId4" action="ppaction://hlinksldjump"/>
          </p:cNvPr>
          <p:cNvSpPr/>
          <p:nvPr/>
        </p:nvSpPr>
        <p:spPr>
          <a:xfrm>
            <a:off x="2063084" y="113407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02 L'écran &amp; le code PIN</a:t>
            </a:r>
            <a:endParaRPr lang="fr-FR" sz="900" dirty="0"/>
          </a:p>
        </p:txBody>
      </p:sp>
      <p:sp>
        <p:nvSpPr>
          <p:cNvPr id="1006" name="Card 3">
            <a:hlinkClick r:id="rId5" action="ppaction://hlinksldjump"/>
          </p:cNvPr>
          <p:cNvSpPr/>
          <p:nvPr/>
        </p:nvSpPr>
        <p:spPr>
          <a:xfrm>
            <a:off x="3723436" y="101500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07" name="Accent 3">
            <a:hlinkClick r:id="rId5" action="ppaction://hlinksldjump"/>
          </p:cNvPr>
          <p:cNvSpPr/>
          <p:nvPr/>
        </p:nvSpPr>
        <p:spPr>
          <a:xfrm>
            <a:off x="3723436" y="1015000"/>
            <a:ext cx="73152" cy="548640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8" name="Label 3">
            <a:hlinkClick r:id="rId5" action="ppaction://hlinksldjump"/>
          </p:cNvPr>
          <p:cNvSpPr/>
          <p:nvPr/>
        </p:nvSpPr>
        <p:spPr>
          <a:xfrm>
            <a:off x="3842506" y="113407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03 Passer un appel</a:t>
            </a:r>
            <a:endParaRPr lang="fr-FR" sz="900" dirty="0"/>
          </a:p>
        </p:txBody>
      </p:sp>
      <p:sp>
        <p:nvSpPr>
          <p:cNvPr id="1009" name="Card 4">
            <a:hlinkClick r:id="rId6" action="ppaction://hlinksldjump"/>
          </p:cNvPr>
          <p:cNvSpPr/>
          <p:nvPr/>
        </p:nvSpPr>
        <p:spPr>
          <a:xfrm>
            <a:off x="5502858" y="101500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10" name="Accent 4">
            <a:hlinkClick r:id="rId6" action="ppaction://hlinksldjump"/>
          </p:cNvPr>
          <p:cNvSpPr/>
          <p:nvPr/>
        </p:nvSpPr>
        <p:spPr>
          <a:xfrm>
            <a:off x="5502858" y="1015000"/>
            <a:ext cx="73152" cy="548640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1" name="Label 4">
            <a:hlinkClick r:id="rId6" action="ppaction://hlinksldjump"/>
          </p:cNvPr>
          <p:cNvSpPr/>
          <p:nvPr/>
        </p:nvSpPr>
        <p:spPr>
          <a:xfrm>
            <a:off x="5621928" y="113407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04 Recevoir un appel</a:t>
            </a:r>
            <a:endParaRPr lang="fr-FR" sz="900" dirty="0"/>
          </a:p>
        </p:txBody>
      </p:sp>
      <p:sp>
        <p:nvSpPr>
          <p:cNvPr id="1012" name="Card 5">
            <a:hlinkClick r:id="rId7" action="ppaction://hlinksldjump"/>
          </p:cNvPr>
          <p:cNvSpPr/>
          <p:nvPr/>
        </p:nvSpPr>
        <p:spPr>
          <a:xfrm>
            <a:off x="7282280" y="101500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13" name="Accent 5">
            <a:hlinkClick r:id="rId7" action="ppaction://hlinksldjump"/>
          </p:cNvPr>
          <p:cNvSpPr/>
          <p:nvPr/>
        </p:nvSpPr>
        <p:spPr>
          <a:xfrm>
            <a:off x="7282280" y="1015000"/>
            <a:ext cx="73152" cy="548640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4" name="Label 5">
            <a:hlinkClick r:id="rId7" action="ppaction://hlinksldjump"/>
          </p:cNvPr>
          <p:cNvSpPr/>
          <p:nvPr/>
        </p:nvSpPr>
        <p:spPr>
          <a:xfrm>
            <a:off x="7401350" y="113407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05 Gérer ses contacts</a:t>
            </a:r>
            <a:endParaRPr lang="fr-FR" sz="900" dirty="0"/>
          </a:p>
        </p:txBody>
      </p:sp>
      <p:sp>
        <p:nvSpPr>
          <p:cNvPr id="1015" name="Card 6">
            <a:hlinkClick r:id="rId8" action="ppaction://hlinksldjump"/>
          </p:cNvPr>
          <p:cNvSpPr/>
          <p:nvPr/>
        </p:nvSpPr>
        <p:spPr>
          <a:xfrm>
            <a:off x="164592" y="175564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16" name="Accent 6">
            <a:hlinkClick r:id="rId8" action="ppaction://hlinksldjump"/>
          </p:cNvPr>
          <p:cNvSpPr/>
          <p:nvPr/>
        </p:nvSpPr>
        <p:spPr>
          <a:xfrm>
            <a:off x="164592" y="1755640"/>
            <a:ext cx="73152" cy="5486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7" name="Label 6">
            <a:hlinkClick r:id="rId8" action="ppaction://hlinksldjump"/>
          </p:cNvPr>
          <p:cNvSpPr/>
          <p:nvPr/>
        </p:nvSpPr>
        <p:spPr>
          <a:xfrm>
            <a:off x="283662" y="187471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06 Envoyer un SMS</a:t>
            </a:r>
            <a:endParaRPr lang="fr-FR" sz="900" dirty="0"/>
          </a:p>
        </p:txBody>
      </p:sp>
      <p:sp>
        <p:nvSpPr>
          <p:cNvPr id="1018" name="Card 7">
            <a:hlinkClick r:id="rId9" action="ppaction://hlinksldjump"/>
          </p:cNvPr>
          <p:cNvSpPr/>
          <p:nvPr/>
        </p:nvSpPr>
        <p:spPr>
          <a:xfrm>
            <a:off x="1944014" y="175564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19" name="Accent 7">
            <a:hlinkClick r:id="rId9" action="ppaction://hlinksldjump"/>
          </p:cNvPr>
          <p:cNvSpPr/>
          <p:nvPr/>
        </p:nvSpPr>
        <p:spPr>
          <a:xfrm>
            <a:off x="1944014" y="1755640"/>
            <a:ext cx="73152" cy="5486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0" name="Label 7">
            <a:hlinkClick r:id="rId9" action="ppaction://hlinksldjump"/>
          </p:cNvPr>
          <p:cNvSpPr/>
          <p:nvPr/>
        </p:nvSpPr>
        <p:spPr>
          <a:xfrm>
            <a:off x="2063084" y="187471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07 WhatsApp</a:t>
            </a:r>
            <a:endParaRPr lang="fr-FR" sz="900" dirty="0"/>
          </a:p>
        </p:txBody>
      </p:sp>
      <p:sp>
        <p:nvSpPr>
          <p:cNvPr id="1021" name="Card 8">
            <a:hlinkClick r:id="rId10" action="ppaction://hlinksldjump"/>
          </p:cNvPr>
          <p:cNvSpPr/>
          <p:nvPr/>
        </p:nvSpPr>
        <p:spPr>
          <a:xfrm>
            <a:off x="3723436" y="175564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22" name="Accent 8">
            <a:hlinkClick r:id="rId10" action="ppaction://hlinksldjump"/>
          </p:cNvPr>
          <p:cNvSpPr/>
          <p:nvPr/>
        </p:nvSpPr>
        <p:spPr>
          <a:xfrm>
            <a:off x="3723436" y="1755640"/>
            <a:ext cx="73152" cy="5486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3" name="Label 8">
            <a:hlinkClick r:id="rId10" action="ppaction://hlinksldjump"/>
          </p:cNvPr>
          <p:cNvSpPr/>
          <p:nvPr/>
        </p:nvSpPr>
        <p:spPr>
          <a:xfrm>
            <a:off x="3842506" y="187471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08 Les e-mails</a:t>
            </a:r>
            <a:endParaRPr lang="fr-FR" sz="900" dirty="0"/>
          </a:p>
        </p:txBody>
      </p:sp>
      <p:sp>
        <p:nvSpPr>
          <p:cNvPr id="1024" name="Card 9">
            <a:hlinkClick r:id="rId11" action="ppaction://hlinksldjump"/>
          </p:cNvPr>
          <p:cNvSpPr/>
          <p:nvPr/>
        </p:nvSpPr>
        <p:spPr>
          <a:xfrm>
            <a:off x="5502858" y="175564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25" name="Accent 9">
            <a:hlinkClick r:id="rId11" action="ppaction://hlinksldjump"/>
          </p:cNvPr>
          <p:cNvSpPr/>
          <p:nvPr/>
        </p:nvSpPr>
        <p:spPr>
          <a:xfrm>
            <a:off x="5502858" y="1755640"/>
            <a:ext cx="73152" cy="5486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6" name="Label 9">
            <a:hlinkClick r:id="rId11" action="ppaction://hlinksldjump"/>
          </p:cNvPr>
          <p:cNvSpPr/>
          <p:nvPr/>
        </p:nvSpPr>
        <p:spPr>
          <a:xfrm>
            <a:off x="5621928" y="187471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09 Prendre une photo</a:t>
            </a:r>
            <a:endParaRPr lang="fr-FR" sz="900" dirty="0"/>
          </a:p>
        </p:txBody>
      </p:sp>
      <p:sp>
        <p:nvSpPr>
          <p:cNvPr id="1027" name="Card 10">
            <a:hlinkClick r:id="rId12" action="ppaction://hlinksldjump"/>
          </p:cNvPr>
          <p:cNvSpPr/>
          <p:nvPr/>
        </p:nvSpPr>
        <p:spPr>
          <a:xfrm>
            <a:off x="7282280" y="175564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28" name="Accent 10">
            <a:hlinkClick r:id="rId12" action="ppaction://hlinksldjump"/>
          </p:cNvPr>
          <p:cNvSpPr/>
          <p:nvPr/>
        </p:nvSpPr>
        <p:spPr>
          <a:xfrm>
            <a:off x="7282280" y="1755640"/>
            <a:ext cx="73152" cy="5486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9" name="Label 10">
            <a:hlinkClick r:id="rId12" action="ppaction://hlinksldjump"/>
          </p:cNvPr>
          <p:cNvSpPr/>
          <p:nvPr/>
        </p:nvSpPr>
        <p:spPr>
          <a:xfrm>
            <a:off x="7401350" y="187471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10 La galerie photos</a:t>
            </a:r>
            <a:endParaRPr lang="fr-FR" sz="900" dirty="0"/>
          </a:p>
        </p:txBody>
      </p:sp>
      <p:sp>
        <p:nvSpPr>
          <p:cNvPr id="1030" name="Card 11">
            <a:hlinkClick r:id="rId13" action="ppaction://hlinksldjump"/>
          </p:cNvPr>
          <p:cNvSpPr/>
          <p:nvPr/>
        </p:nvSpPr>
        <p:spPr>
          <a:xfrm>
            <a:off x="164592" y="249628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31" name="Accent 11">
            <a:hlinkClick r:id="rId13" action="ppaction://hlinksldjump"/>
          </p:cNvPr>
          <p:cNvSpPr/>
          <p:nvPr/>
        </p:nvSpPr>
        <p:spPr>
          <a:xfrm>
            <a:off x="164592" y="2496280"/>
            <a:ext cx="73152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2" name="Label 11">
            <a:hlinkClick r:id="rId13" action="ppaction://hlinksldjump"/>
          </p:cNvPr>
          <p:cNvSpPr/>
          <p:nvPr/>
        </p:nvSpPr>
        <p:spPr>
          <a:xfrm>
            <a:off x="283662" y="261535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11 Se connecter au Wi-Fi</a:t>
            </a:r>
            <a:endParaRPr lang="fr-FR" sz="900" dirty="0"/>
          </a:p>
        </p:txBody>
      </p:sp>
      <p:sp>
        <p:nvSpPr>
          <p:cNvPr id="1033" name="Card 12">
            <a:hlinkClick r:id="rId14" action="ppaction://hlinksldjump"/>
          </p:cNvPr>
          <p:cNvSpPr/>
          <p:nvPr/>
        </p:nvSpPr>
        <p:spPr>
          <a:xfrm>
            <a:off x="1944014" y="249628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34" name="Accent 12">
            <a:hlinkClick r:id="rId14" action="ppaction://hlinksldjump"/>
          </p:cNvPr>
          <p:cNvSpPr/>
          <p:nvPr/>
        </p:nvSpPr>
        <p:spPr>
          <a:xfrm>
            <a:off x="1944014" y="2496280"/>
            <a:ext cx="73152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5" name="Label 12">
            <a:hlinkClick r:id="rId14" action="ppaction://hlinksldjump"/>
          </p:cNvPr>
          <p:cNvSpPr/>
          <p:nvPr/>
        </p:nvSpPr>
        <p:spPr>
          <a:xfrm>
            <a:off x="2063084" y="261535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12 Internet &amp; navigateur</a:t>
            </a:r>
            <a:endParaRPr lang="fr-FR" sz="900" dirty="0"/>
          </a:p>
        </p:txBody>
      </p:sp>
      <p:sp>
        <p:nvSpPr>
          <p:cNvPr id="1036" name="Card 13">
            <a:hlinkClick r:id="rId15" action="ppaction://hlinksldjump"/>
          </p:cNvPr>
          <p:cNvSpPr/>
          <p:nvPr/>
        </p:nvSpPr>
        <p:spPr>
          <a:xfrm>
            <a:off x="3723436" y="249628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37" name="Accent 13">
            <a:hlinkClick r:id="rId15" action="ppaction://hlinksldjump"/>
          </p:cNvPr>
          <p:cNvSpPr/>
          <p:nvPr/>
        </p:nvSpPr>
        <p:spPr>
          <a:xfrm>
            <a:off x="3723436" y="2496280"/>
            <a:ext cx="73152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8" name="Label 13">
            <a:hlinkClick r:id="rId15" action="ppaction://hlinksldjump"/>
          </p:cNvPr>
          <p:cNvSpPr/>
          <p:nvPr/>
        </p:nvSpPr>
        <p:spPr>
          <a:xfrm>
            <a:off x="3842506" y="261535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13 Le volume &amp; la sonnerie</a:t>
            </a:r>
            <a:endParaRPr lang="fr-FR" sz="900" dirty="0"/>
          </a:p>
        </p:txBody>
      </p:sp>
      <p:sp>
        <p:nvSpPr>
          <p:cNvPr id="1039" name="Card 14">
            <a:hlinkClick r:id="rId16" action="ppaction://hlinksldjump"/>
          </p:cNvPr>
          <p:cNvSpPr/>
          <p:nvPr/>
        </p:nvSpPr>
        <p:spPr>
          <a:xfrm>
            <a:off x="5502858" y="249628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40" name="Accent 14">
            <a:hlinkClick r:id="rId16" action="ppaction://hlinksldjump"/>
          </p:cNvPr>
          <p:cNvSpPr/>
          <p:nvPr/>
        </p:nvSpPr>
        <p:spPr>
          <a:xfrm>
            <a:off x="5502858" y="2496280"/>
            <a:ext cx="73152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1" name="Label 14">
            <a:hlinkClick r:id="rId16" action="ppaction://hlinksldjump"/>
          </p:cNvPr>
          <p:cNvSpPr/>
          <p:nvPr/>
        </p:nvSpPr>
        <p:spPr>
          <a:xfrm>
            <a:off x="5621928" y="261535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14 La batterie</a:t>
            </a:r>
            <a:endParaRPr lang="fr-FR" sz="900" dirty="0"/>
          </a:p>
        </p:txBody>
      </p:sp>
      <p:sp>
        <p:nvSpPr>
          <p:cNvPr id="1042" name="Card 15">
            <a:hlinkClick r:id="rId17" action="ppaction://hlinksldjump"/>
          </p:cNvPr>
          <p:cNvSpPr/>
          <p:nvPr/>
        </p:nvSpPr>
        <p:spPr>
          <a:xfrm>
            <a:off x="7282280" y="249628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43" name="Accent 15">
            <a:hlinkClick r:id="rId17" action="ppaction://hlinksldjump"/>
          </p:cNvPr>
          <p:cNvSpPr/>
          <p:nvPr/>
        </p:nvSpPr>
        <p:spPr>
          <a:xfrm>
            <a:off x="7282280" y="2496280"/>
            <a:ext cx="73152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4" name="Label 15">
            <a:hlinkClick r:id="rId17" action="ppaction://hlinksldjump"/>
          </p:cNvPr>
          <p:cNvSpPr/>
          <p:nvPr/>
        </p:nvSpPr>
        <p:spPr>
          <a:xfrm>
            <a:off x="7401350" y="261535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15 La luminosité</a:t>
            </a:r>
            <a:endParaRPr lang="fr-FR" sz="900" dirty="0"/>
          </a:p>
        </p:txBody>
      </p:sp>
      <p:sp>
        <p:nvSpPr>
          <p:cNvPr id="1045" name="Card 16">
            <a:hlinkClick r:id="rId18" action="ppaction://hlinksldjump"/>
          </p:cNvPr>
          <p:cNvSpPr/>
          <p:nvPr/>
        </p:nvSpPr>
        <p:spPr>
          <a:xfrm>
            <a:off x="164592" y="323692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46" name="Accent 16">
            <a:hlinkClick r:id="rId18" action="ppaction://hlinksldjump"/>
          </p:cNvPr>
          <p:cNvSpPr/>
          <p:nvPr/>
        </p:nvSpPr>
        <p:spPr>
          <a:xfrm>
            <a:off x="164592" y="3236920"/>
            <a:ext cx="73152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7" name="Label 16">
            <a:hlinkClick r:id="rId18" action="ppaction://hlinksldjump"/>
          </p:cNvPr>
          <p:cNvSpPr/>
          <p:nvPr/>
        </p:nvSpPr>
        <p:spPr>
          <a:xfrm>
            <a:off x="283662" y="335599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16 Bluetooth &amp; partage</a:t>
            </a:r>
            <a:endParaRPr lang="fr-FR" sz="900" dirty="0"/>
          </a:p>
        </p:txBody>
      </p:sp>
      <p:sp>
        <p:nvSpPr>
          <p:cNvPr id="1048" name="Card 17">
            <a:hlinkClick r:id="rId19" action="ppaction://hlinksldjump"/>
          </p:cNvPr>
          <p:cNvSpPr/>
          <p:nvPr/>
        </p:nvSpPr>
        <p:spPr>
          <a:xfrm>
            <a:off x="1944014" y="323692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49" name="Accent 17">
            <a:hlinkClick r:id="rId19" action="ppaction://hlinksldjump"/>
          </p:cNvPr>
          <p:cNvSpPr/>
          <p:nvPr/>
        </p:nvSpPr>
        <p:spPr>
          <a:xfrm>
            <a:off x="1944014" y="3236920"/>
            <a:ext cx="73152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0" name="Label 17">
            <a:hlinkClick r:id="rId19" action="ppaction://hlinksldjump"/>
          </p:cNvPr>
          <p:cNvSpPr/>
          <p:nvPr/>
        </p:nvSpPr>
        <p:spPr>
          <a:xfrm>
            <a:off x="2063084" y="335599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17 Installer des apps</a:t>
            </a:r>
            <a:endParaRPr lang="fr-FR" sz="900" dirty="0"/>
          </a:p>
        </p:txBody>
      </p:sp>
      <p:sp>
        <p:nvSpPr>
          <p:cNvPr id="1051" name="Card 18">
            <a:hlinkClick r:id="rId20" action="ppaction://hlinksldjump"/>
          </p:cNvPr>
          <p:cNvSpPr/>
          <p:nvPr/>
        </p:nvSpPr>
        <p:spPr>
          <a:xfrm>
            <a:off x="3723436" y="323692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52" name="Accent 18">
            <a:hlinkClick r:id="rId20" action="ppaction://hlinksldjump"/>
          </p:cNvPr>
          <p:cNvSpPr/>
          <p:nvPr/>
        </p:nvSpPr>
        <p:spPr>
          <a:xfrm>
            <a:off x="3723436" y="3236920"/>
            <a:ext cx="73152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3" name="Label 18">
            <a:hlinkClick r:id="rId20" action="ppaction://hlinksldjump"/>
          </p:cNvPr>
          <p:cNvSpPr/>
          <p:nvPr/>
        </p:nvSpPr>
        <p:spPr>
          <a:xfrm>
            <a:off x="3842506" y="335599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18 Sécurité &amp; code PIN</a:t>
            </a:r>
            <a:endParaRPr lang="fr-FR" sz="900" dirty="0"/>
          </a:p>
        </p:txBody>
      </p:sp>
      <p:sp>
        <p:nvSpPr>
          <p:cNvPr id="1054" name="Card 19">
            <a:hlinkClick r:id="rId21" action="ppaction://hlinksldjump"/>
          </p:cNvPr>
          <p:cNvSpPr/>
          <p:nvPr/>
        </p:nvSpPr>
        <p:spPr>
          <a:xfrm>
            <a:off x="5502858" y="323692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55" name="Accent 19">
            <a:hlinkClick r:id="rId21" action="ppaction://hlinksldjump"/>
          </p:cNvPr>
          <p:cNvSpPr/>
          <p:nvPr/>
        </p:nvSpPr>
        <p:spPr>
          <a:xfrm>
            <a:off x="5502858" y="3236920"/>
            <a:ext cx="73152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6" name="Label 19">
            <a:hlinkClick r:id="rId21" action="ppaction://hlinksldjump"/>
          </p:cNvPr>
          <p:cNvSpPr/>
          <p:nvPr/>
        </p:nvSpPr>
        <p:spPr>
          <a:xfrm>
            <a:off x="5621928" y="335599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19 Mise à jour</a:t>
            </a:r>
            <a:endParaRPr lang="fr-FR" sz="900" dirty="0"/>
          </a:p>
        </p:txBody>
      </p:sp>
      <p:sp>
        <p:nvSpPr>
          <p:cNvPr id="1057" name="Card 20">
            <a:hlinkClick r:id="rId22" action="ppaction://hlinksldjump"/>
          </p:cNvPr>
          <p:cNvSpPr/>
          <p:nvPr/>
        </p:nvSpPr>
        <p:spPr>
          <a:xfrm>
            <a:off x="7282280" y="323692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58" name="Accent 20">
            <a:hlinkClick r:id="rId22" action="ppaction://hlinksldjump"/>
          </p:cNvPr>
          <p:cNvSpPr/>
          <p:nvPr/>
        </p:nvSpPr>
        <p:spPr>
          <a:xfrm>
            <a:off x="7282280" y="3236920"/>
            <a:ext cx="73152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9" name="Label 20">
            <a:hlinkClick r:id="rId22" action="ppaction://hlinksldjump"/>
          </p:cNvPr>
          <p:cNvSpPr/>
          <p:nvPr/>
        </p:nvSpPr>
        <p:spPr>
          <a:xfrm>
            <a:off x="7401350" y="335599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20 Accessibilité</a:t>
            </a:r>
            <a:endParaRPr lang="fr-FR" sz="900" dirty="0"/>
          </a:p>
        </p:txBody>
      </p:sp>
      <p:sp>
        <p:nvSpPr>
          <p:cNvPr id="1060" name="Card 21">
            <a:hlinkClick r:id="rId23" action="ppaction://hlinksldjump"/>
          </p:cNvPr>
          <p:cNvSpPr/>
          <p:nvPr/>
        </p:nvSpPr>
        <p:spPr>
          <a:xfrm>
            <a:off x="164592" y="397756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61" name="Accent 21">
            <a:hlinkClick r:id="rId23" action="ppaction://hlinksldjump"/>
          </p:cNvPr>
          <p:cNvSpPr/>
          <p:nvPr/>
        </p:nvSpPr>
        <p:spPr>
          <a:xfrm>
            <a:off x="164592" y="3977560"/>
            <a:ext cx="73152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2" name="Label 21">
            <a:hlinkClick r:id="rId23" action="ppaction://hlinksldjump"/>
          </p:cNvPr>
          <p:cNvSpPr/>
          <p:nvPr/>
        </p:nvSpPr>
        <p:spPr>
          <a:xfrm>
            <a:off x="283662" y="409663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21 Codes secrets</a:t>
            </a:r>
            <a:endParaRPr lang="fr-FR" sz="900" dirty="0"/>
          </a:p>
        </p:txBody>
      </p:sp>
      <p:sp>
        <p:nvSpPr>
          <p:cNvPr id="1063" name="Card 22">
            <a:hlinkClick r:id="rId24" action="ppaction://hlinksldjump"/>
          </p:cNvPr>
          <p:cNvSpPr/>
          <p:nvPr/>
        </p:nvSpPr>
        <p:spPr>
          <a:xfrm>
            <a:off x="1944014" y="397756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64" name="Accent 22">
            <a:hlinkClick r:id="rId24" action="ppaction://hlinksldjump"/>
          </p:cNvPr>
          <p:cNvSpPr/>
          <p:nvPr/>
        </p:nvSpPr>
        <p:spPr>
          <a:xfrm>
            <a:off x="1944014" y="3977560"/>
            <a:ext cx="73152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5" name="Label 22">
            <a:hlinkClick r:id="rId24" action="ppaction://hlinksldjump"/>
          </p:cNvPr>
          <p:cNvSpPr/>
          <p:nvPr/>
        </p:nvSpPr>
        <p:spPr>
          <a:xfrm>
            <a:off x="2063084" y="409663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22 Réinitialisation</a:t>
            </a:r>
            <a:endParaRPr lang="fr-FR" sz="900" dirty="0"/>
          </a:p>
        </p:txBody>
      </p:sp>
      <p:sp>
        <p:nvSpPr>
          <p:cNvPr id="1066" name="Card 23">
            <a:hlinkClick r:id="rId25" action="ppaction://hlinksldjump"/>
          </p:cNvPr>
          <p:cNvSpPr/>
          <p:nvPr/>
        </p:nvSpPr>
        <p:spPr>
          <a:xfrm>
            <a:off x="3723436" y="397756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67" name="Accent 23">
            <a:hlinkClick r:id="rId25" action="ppaction://hlinksldjump"/>
          </p:cNvPr>
          <p:cNvSpPr/>
          <p:nvPr/>
        </p:nvSpPr>
        <p:spPr>
          <a:xfrm>
            <a:off x="3723436" y="3977560"/>
            <a:ext cx="73152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8" name="Label 23">
            <a:hlinkClick r:id="rId25" action="ppaction://hlinksldjump"/>
          </p:cNvPr>
          <p:cNvSpPr/>
          <p:nvPr/>
        </p:nvSpPr>
        <p:spPr>
          <a:xfrm>
            <a:off x="3842506" y="409663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23 Sauvegarde</a:t>
            </a:r>
            <a:endParaRPr lang="fr-FR" sz="900" dirty="0"/>
          </a:p>
        </p:txBody>
      </p:sp>
      <p:sp>
        <p:nvSpPr>
          <p:cNvPr id="1069" name="Card 24">
            <a:hlinkClick r:id="rId26" action="ppaction://hlinksldjump"/>
          </p:cNvPr>
          <p:cNvSpPr/>
          <p:nvPr/>
        </p:nvSpPr>
        <p:spPr>
          <a:xfrm>
            <a:off x="5502858" y="397756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70" name="Accent 24">
            <a:hlinkClick r:id="rId26" action="ppaction://hlinksldjump"/>
          </p:cNvPr>
          <p:cNvSpPr/>
          <p:nvPr/>
        </p:nvSpPr>
        <p:spPr>
          <a:xfrm>
            <a:off x="5502858" y="3977560"/>
            <a:ext cx="73152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1" name="Label 24">
            <a:hlinkClick r:id="rId26" action="ppaction://hlinksldjump"/>
          </p:cNvPr>
          <p:cNvSpPr/>
          <p:nvPr/>
        </p:nvSpPr>
        <p:spPr>
          <a:xfrm>
            <a:off x="5621928" y="409663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24 Urgences &amp; SOS</a:t>
            </a:r>
            <a:endParaRPr lang="fr-FR" sz="900" dirty="0"/>
          </a:p>
        </p:txBody>
      </p:sp>
      <p:sp>
        <p:nvSpPr>
          <p:cNvPr id="1072" name="Card 25">
            <a:hlinkClick r:id="rId27" action="ppaction://hlinksldjump"/>
          </p:cNvPr>
          <p:cNvSpPr/>
          <p:nvPr/>
        </p:nvSpPr>
        <p:spPr>
          <a:xfrm>
            <a:off x="7282280" y="3977560"/>
            <a:ext cx="1697126" cy="548640"/>
          </a:xfrm>
          <a:prstGeom prst="roundRect">
            <a:avLst>
              <a:gd name="adj" fmla="val 11667"/>
            </a:avLst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73" name="Accent 25">
            <a:hlinkClick r:id="rId27" action="ppaction://hlinksldjump"/>
          </p:cNvPr>
          <p:cNvSpPr/>
          <p:nvPr/>
        </p:nvSpPr>
        <p:spPr>
          <a:xfrm>
            <a:off x="7282280" y="3977560"/>
            <a:ext cx="73152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4" name="Label 25">
            <a:hlinkClick r:id="rId27" action="ppaction://hlinksldjump"/>
          </p:cNvPr>
          <p:cNvSpPr/>
          <p:nvPr/>
        </p:nvSpPr>
        <p:spPr>
          <a:xfrm>
            <a:off x="7401350" y="4096630"/>
            <a:ext cx="1514056" cy="3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25 Astuces pro</a:t>
            </a:r>
            <a:endParaRPr lang="fr-FR" sz="900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76079D1-C885-447D-9BD2-552E6F6E019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Allumer, Éteindre &amp; Redémarrer son appareil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2926080" cy="3840480"/>
          </a:xfrm>
          <a:prstGeom prst="rect">
            <a:avLst/>
          </a:prstGeom>
          <a:solidFill>
            <a:srgbClr val="0D1D3C"/>
          </a:solidFill>
          <a:ln w="12700">
            <a:solidFill>
              <a:srgbClr val="4DB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280160" y="1078992"/>
            <a:ext cx="365760" cy="128016"/>
          </a:xfrm>
          <a:prstGeom prst="ellipse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37744" y="1261872"/>
            <a:ext cx="2816352" cy="2651760"/>
          </a:xfrm>
          <a:prstGeom prst="rect">
            <a:avLst/>
          </a:prstGeom>
          <a:solidFill>
            <a:srgbClr val="060E1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090672" y="1691640"/>
            <a:ext cx="10972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432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432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Démarrage...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834640"/>
            <a:ext cx="1645920" cy="7315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22960" y="2834640"/>
            <a:ext cx="822960" cy="73152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91840" y="9326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91840" y="1335024"/>
            <a:ext cx="562356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383280" y="1444752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383280" y="1444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68496" y="142646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Localiser le bouton Power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968496" y="1700784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côté droit (iPhone) ou en haut (Android).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2121408"/>
            <a:ext cx="562356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383280" y="223113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383280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968496" y="2212848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appuyé 3 secondes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968496" y="2487168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voir le logo de la marque apparaître.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2907792"/>
            <a:ext cx="562356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383280" y="3017520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38328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968496" y="299923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le code PIN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968496" y="3273552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votre code à 4 ou 6 chiffres pour déverrouiller.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3785616"/>
            <a:ext cx="5623560" cy="274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291840" y="38770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Éteindre / Redémarrer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291840" y="4224528"/>
            <a:ext cx="2743200" cy="640080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364992" y="429768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3913632" y="4334256"/>
            <a:ext cx="18288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986784" y="42976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Power 3 sec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86784" y="455371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: Éteindre ou Redémarrer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44768" y="4224528"/>
            <a:ext cx="2770632" cy="640080"/>
          </a:xfrm>
          <a:prstGeom prst="rect">
            <a:avLst/>
          </a:prstGeom>
          <a:solidFill>
            <a:srgbClr val="0F2244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217920" y="429768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766560" y="4334256"/>
            <a:ext cx="18288" cy="42062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839712" y="429768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sur Éteindre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39712" y="455371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10 secondes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CDC0819-B739-564C-654C-F996CEDEC316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verrouillé &amp; le Code PIN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2560320" cy="3931920"/>
          </a:xfrm>
          <a:prstGeom prst="rect">
            <a:avLst/>
          </a:prstGeom>
          <a:solidFill>
            <a:srgbClr val="0D1D3C"/>
          </a:solidFill>
          <a:ln w="12700">
            <a:solidFill>
              <a:srgbClr val="16A08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188720" y="1060704"/>
            <a:ext cx="347472" cy="109728"/>
          </a:xfrm>
          <a:prstGeom prst="ellipse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37744" y="1225296"/>
            <a:ext cx="2450592" cy="2697480"/>
          </a:xfrm>
          <a:prstGeom prst="rect">
            <a:avLst/>
          </a:prstGeom>
          <a:solidFill>
            <a:srgbClr val="050D1E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37744" y="137160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37744" y="20848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7 mai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2432304"/>
            <a:ext cx="548640" cy="548640"/>
          </a:xfrm>
          <a:prstGeom prst="ellipse">
            <a:avLst/>
          </a:prstGeom>
          <a:solidFill>
            <a:srgbClr val="0C2E28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188720" y="2432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" y="307238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vers le haut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219456" cy="219456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50392" y="3401568"/>
            <a:ext cx="219456" cy="219456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97864" y="3401568"/>
            <a:ext cx="219456" cy="219456"/>
          </a:xfrm>
          <a:prstGeom prst="ellipse">
            <a:avLst/>
          </a:prstGeom>
          <a:solidFill>
            <a:srgbClr val="1A3A6A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545336" y="3401568"/>
            <a:ext cx="219456" cy="219456"/>
          </a:xfrm>
          <a:prstGeom prst="ellipse">
            <a:avLst/>
          </a:prstGeom>
          <a:solidFill>
            <a:srgbClr val="1A3A6A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892808" y="3401568"/>
            <a:ext cx="219456" cy="219456"/>
          </a:xfrm>
          <a:prstGeom prst="ellipse">
            <a:avLst/>
          </a:prstGeom>
          <a:solidFill>
            <a:srgbClr val="1A3A6A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40280" y="3401568"/>
            <a:ext cx="219456" cy="219456"/>
          </a:xfrm>
          <a:prstGeom prst="ellipse">
            <a:avLst/>
          </a:prstGeom>
          <a:solidFill>
            <a:srgbClr val="1A3A6A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944368" y="932688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Déverrouiller l'écran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44368" y="1335024"/>
            <a:ext cx="598932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035808" y="1444752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035808" y="1444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21024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s'allume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21024" y="1700784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Appuyez sur le bouton Power ou soulevez l'appareil.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44368" y="2157984"/>
            <a:ext cx="598932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035808" y="2267712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035808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21024" y="224942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Glissez vers le haut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21024" y="2523744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Balayez depuis le bas de l'écran vers le haut.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44368" y="2980944"/>
            <a:ext cx="598932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035808" y="3090672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035808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621024" y="307238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Entrez votre code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621024" y="3346704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vos chiffres sur le clavier qui apparaît.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44368" y="3803904"/>
            <a:ext cx="598932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035808" y="3913632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035808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21024" y="389534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Déverrouillage rapide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621024" y="4169664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(regardez l'écran) ou empreinte digitale.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44368" y="4617720"/>
            <a:ext cx="5989320" cy="438912"/>
          </a:xfrm>
          <a:prstGeom prst="rect">
            <a:avLst/>
          </a:prstGeom>
          <a:solidFill>
            <a:srgbClr val="1A120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081528" y="467258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 vous oubliez votre code : 10 tentatives échouées effacent l'appareil.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C5E094D6-4278-97B1-F474-F6367C4D0D6B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un appel téléphonique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2606040" cy="3931920"/>
          </a:xfrm>
          <a:prstGeom prst="rect">
            <a:avLst/>
          </a:prstGeom>
          <a:solidFill>
            <a:srgbClr val="0D1D3C"/>
          </a:solidFill>
          <a:ln w="12700">
            <a:solidFill>
              <a:srgbClr val="4DB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37744" y="1097280"/>
            <a:ext cx="2496312" cy="457200"/>
          </a:xfrm>
          <a:prstGeom prst="rect">
            <a:avLst/>
          </a:prstGeom>
          <a:solidFill>
            <a:srgbClr val="060E1C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37744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+33 6 12 34 56 78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1097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</a:rPr>
              <a:t>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168249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78992" y="1664208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78992" y="168249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8992" y="19568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83664" y="1664208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883664" y="168249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83664" y="19568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249424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226771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74320" y="254203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78992" y="2249424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078992" y="226771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78992" y="254203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83664" y="2249424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883664" y="226771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883664" y="254203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285292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74320" y="312724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78992" y="2834640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078992" y="285292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78992" y="312724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83664" y="2834640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883664" y="285292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883664" y="312724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WXYZ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419856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74320" y="343814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1078992" y="3419856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078992" y="343814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078992" y="3712464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83664" y="3419856"/>
            <a:ext cx="694944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883664" y="343814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530352" y="4096512"/>
            <a:ext cx="1828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30352" y="4096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Appeler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971800" y="932688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063240" y="104241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06324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3648456" y="1024128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l'app Téléphone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3648456" y="1298448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verte 📞 sur votre écran d'accueil.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971800" y="1609344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063240" y="1719072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06324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3648456" y="1700784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Clavier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648456" y="1975104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Clavier affiche les chiffres pour composer.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971800" y="2286000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3063240" y="2395728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06324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3648456" y="2377440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le numéro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3648456" y="2651760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06 12 34 56 78. Pour l'étranger : +33 puis le numéro.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971800" y="2962656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3063240" y="3072384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3063240" y="3072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3648456" y="3054096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le bouton vert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3648456" y="3328416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 bouton vert 📞 lance l'appel.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971800" y="3639312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3063240" y="3749040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306324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3648456" y="3730752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l'appel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3648456" y="4005072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Haut-parleur 🔊 / Muet 🔇 / Clavier ⌨ disponibles.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2971800" y="4315968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3063240" y="442569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3063240" y="4425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3648456" y="4407408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Raccrocher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3648456" y="4681728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le bouton rouge ❌ pour terminer l'appel.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896" name="ZoneTexte 895">
            <a:extLst>
              <a:ext uri="{FF2B5EF4-FFF2-40B4-BE49-F238E27FC236}">
                <a16:creationId xmlns:a16="http://schemas.microsoft.com/office/drawing/2014/main" id="{BC7BA0C6-202B-07C7-A875-ABA0909E430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un appel &amp; gérer les appels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2606040" cy="3931920"/>
          </a:xfrm>
          <a:prstGeom prst="rect">
            <a:avLst/>
          </a:prstGeom>
          <a:solidFill>
            <a:srgbClr val="0D1D3C"/>
          </a:solidFill>
          <a:ln w="12700">
            <a:solidFill>
              <a:srgbClr val="27AE6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37744" y="1097280"/>
            <a:ext cx="2496312" cy="411480"/>
          </a:xfrm>
          <a:prstGeom prst="rect">
            <a:avLst/>
          </a:prstGeom>
          <a:solidFill>
            <a:srgbClr val="050D1E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37744" y="109728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Appel entrant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1609344"/>
            <a:ext cx="822960" cy="822960"/>
          </a:xfrm>
          <a:prstGeom prst="ellipse">
            <a:avLst/>
          </a:prstGeom>
          <a:solidFill>
            <a:srgbClr val="0A2A18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51560" y="1609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7744" y="2505456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" y="283464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+33 6 12 34 56 78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246120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8912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3246120"/>
            <a:ext cx="658368" cy="6583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828800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Décrocher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19072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71800" y="932688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044952" y="10058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593592" y="1042416"/>
            <a:ext cx="18288" cy="4937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66744" y="100584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Décrocher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66744" y="1261872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le bouton vert vers le haut — ou appuyer dessus selon le modèle.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71800" y="1737360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044952" y="18105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593592" y="1847088"/>
            <a:ext cx="18288" cy="4937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66744" y="1810512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66744" y="2066544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le bouton rouge. L'appelant entendra la messagerie.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71800" y="2542032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044952" y="26151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593592" y="2651760"/>
            <a:ext cx="18288" cy="4937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66744" y="261518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un message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66744" y="287121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certains modèles : refuser et proposer un SMS automatique.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71800" y="3346704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7A9E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044952" y="34198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🔕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3593592" y="3456432"/>
            <a:ext cx="18288" cy="493776"/>
          </a:xfrm>
          <a:prstGeom prst="rect">
            <a:avLst/>
          </a:prstGeom>
          <a:solidFill>
            <a:srgbClr val="7A9EC0"/>
          </a:solidFill>
          <a:ln w="12700">
            <a:solidFill>
              <a:srgbClr val="7A9E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666744" y="341985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la sonnerie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66744" y="3675888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UNE FOIS sur le bouton Volume — coupe le son sans raccrocher.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71800" y="4151376"/>
            <a:ext cx="594360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4DB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044952" y="4224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3593592" y="4261104"/>
            <a:ext cx="18288" cy="49377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666744" y="4224528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vocale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66744" y="448056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ne décrochez pas, l'appelant peut laisser un message.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56C7C02D-82B6-F927-BFD9-B95C9B3D14AE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ses Contacts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l'app Contacts ou Téléphone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l'icône avec une silhouette 👤 sur l'accueil.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59105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68249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➕ en haut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+ ou 'Nouveau contact' ouvre le formulaire.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24942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34086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Prénom et Nom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61518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infos s'afficheront lors des appels et messages.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299923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 numéro de téléphone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27355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'+ téléphone' et taper le numéro.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365760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photo (optionnel)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39319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l'icône appareil photo pour ajouter une photo.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22452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74320" y="4334256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9536" y="431596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Enregistrer ✓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9536" y="4590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contact est sauvegardé et synchronisé sur le cloud.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E93F9396-25EB-34CA-C998-6608DE33A91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&amp; Recevoir des SMS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l'app Messages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verte avec bulle 💬 (iOS) ou Messages (Android).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68249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77393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✏️ ou +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204825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rédiger un nouveau message.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43230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542032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52374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 nom ou numéro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7980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à taper — les contacts s'affichent automatiquement.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18211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327355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 message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54787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dans la zone de texte en bas de l'écran.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93192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402336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avec ▶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429768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la flèche bleue ou le bouton Envoyer.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736592"/>
            <a:ext cx="8778240" cy="438912"/>
          </a:xfrm>
          <a:prstGeom prst="rect">
            <a:avLst/>
          </a:prstGeom>
          <a:solidFill>
            <a:srgbClr val="001A1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0040" y="479145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SMS = réseau téléphonique (selon forfait). Wi-Fi non nécessaire.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F480CB96-B9A3-DB27-33FA-C4E9DC0D472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Messagerie &amp; Appels gratuits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Messagerie &amp; Appels gratuits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82880" y="932688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075E5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00584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" y="1042416"/>
            <a:ext cx="18288" cy="438912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77824" y="1005840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gratuits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1261872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à n'importe quel contact WhatsApp sans payer de SMS.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1682496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075E5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" y="175564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" y="1792224"/>
            <a:ext cx="18288" cy="438912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77824" y="1755648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gratuits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2011680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en France ou à l'étranger gratuitement via Wi-Fi ou 4G.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432304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075E5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56032" y="250545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📹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4672" y="2542032"/>
            <a:ext cx="18288" cy="438912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77824" y="2505456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gratuite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" y="2761488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voir en face à face avec ses proches, même à l'autre bout du monde.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182112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075E5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032" y="325526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04672" y="3291840"/>
            <a:ext cx="18288" cy="438912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77824" y="3255264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vidéos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" y="3511296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Partagez vos photos instantanément à toute la famille.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3986784"/>
            <a:ext cx="8778240" cy="438912"/>
          </a:xfrm>
          <a:prstGeom prst="rect">
            <a:avLst/>
          </a:prstGeom>
          <a:solidFill>
            <a:srgbClr val="001A1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0040" y="404164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Condition : WhatsApp nécessite Wi-Fi ou forfait data. Gratuit à l'installation.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10EF951D-3EBC-310A-F757-984D9C636D92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E-mails — Lire, Répondre, Envoyer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l'app Mail ou Outlook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l'enveloppe 📧 sur l'accueil. Toucher pour ouvrir.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59105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68249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e-mail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l'e-mail dans la liste pour l'afficher en entier.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24942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34086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61518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l'e-mail → icône ↩ en bas → écrire → Envoyer.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299923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 nouvel e-mail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27355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✏️ ou + → remplir 'À:' (adresse) → Objet → message.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365760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39319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Balayer l'e-mail vers la gauche → 'Supprimer' ou corbeille.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22452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74320" y="4334256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9536" y="431596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Marquer comme non lu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9536" y="4590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Balayer vers la droite → 'Marquer' pour y revenir.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62B800E0-8BB8-81A7-1258-9D7EF42097E8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L'Appareil Photo — Prendre &amp; Gérer ses photos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l'app Appareil Photo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📷 sur l'accueil. Ou balayer depuis le bas à droite.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59105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68249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vers le sujet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Orienter l'écran vers ce que vous voulez photographier.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24942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34086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Toucher l'écran — mise au point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61518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carré jaune/blanc apparaît là où vous avez touché.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299923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le bouton rond ⚪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27355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 cercle blanc au bas de l'écran déclenche la photo.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365760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sa photo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39319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vignette en bas à gauche → ou ouvrir l'app Photos/Galerie.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22452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74320" y="433425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9536" y="431596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9536" y="4590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la photo → icône ↑ → choisir WhatsApp, SMS, e-mail...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97AB3681-2734-7660-0D3B-2BD4EE3088FE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Galerie Photos — Retrouver, trier &amp; partager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l'app Galerie / Photos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« Photos » (iPhone) ou « Galerie » colorée (Android) sur l'accueil.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59105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68249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ses photos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vers le haut ou le bas pour faire défiler toutes vos photos.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24942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34086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une photo en grand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61518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une vignette pour l'afficher en plein écran.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299923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Zoomer &amp; faire pivoter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27355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Écarter deux doigts pour agrandir. Tourner l'appareil pour le mode paysage.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365760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photo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39319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la photo → icône corbeille 🗑 → confirmer la suppression.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22452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74320" y="433425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9536" y="431596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ou ranger en album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9536" y="4590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Partager ↑ pour envoyer. « Albums » pour classer par thème.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2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CEB673A5-3716-82BC-B213-71BD269BBB3E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au Wi-Fi — Étape par étape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Réglages ⚙️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la roue crantée grise ⚙️ sur l'accueil.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59105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68249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Wi-Fi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liste, toucher la ligne 'Wi-Fi'.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24942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34086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 Wi-Fi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61518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L'interrupteur doit être vers la droite et devenir bleu/vert.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299923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son réseau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27355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box apparaît dans la liste (Livebox, SFR, Freebox...).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365760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le mot de passe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39319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sur l'étiquette collée sous ou derrière votre box.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22452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74320" y="433425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9536" y="431596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confirmée ✓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9536" y="4590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✓ apparaît + symbole Wi-Fi 📶 en haut de l'écran.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B37E01E8-6655-ED2B-9B22-FF3DFD3C9A9E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&amp; Navigateur Web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Safari 🧭 ou Chrome 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l'icône sur l'accueil. Safari = iOS, Chrome = Android.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59105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75488" cy="47548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68249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la barre d'adresse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en haut — taper dedans pour effacer et saisir.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24942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75488" cy="47548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34086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sa recherche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61518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'météo Paris', 'recette tarte', 'horaires train Lyon'.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75488" cy="47548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299923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Aller / Rechercher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27355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Toucher le bouton bleu ou la touche Entrée ↵ du clavier.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475488" cy="47548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365760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Toucher un résultat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39319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s'affichent → appuyer sur le plus pertinent.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22452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74320" y="4334256"/>
            <a:ext cx="475488" cy="47548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9536" y="431596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9536" y="4590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page précédente  ·  ↻ recharger  ·  ✕ fermer l'onglet.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E06AEC76-B0FB-FE26-8C87-C5F64419EB7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Sonnerie &amp; Modes silencieux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🔊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" y="1042416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77824" y="1005840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appels &amp; médias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261872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Volume + ou − (côté gauche) pendant ou hors appel.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682496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75564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🔕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" y="1792224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77824" y="1755648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silencieux (iPhone)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2011680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bouton bascule sur le côté gauche. Orange visible = silence.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432304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" y="250545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📳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" y="2542032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77824" y="2505456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vibreur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2761488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− jusqu'au bout → vibreur activé. L'appareil vibre sans sonner.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182112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56032" y="325526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4672" y="3291840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77824" y="3255264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Sonnerie personnalisée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" y="3511296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Sons → choisir une sonnerie dans la liste.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931920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032" y="400507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04672" y="4041648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77824" y="4005072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déranger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" y="4261104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Focus › Ne pas déranger → silence automatique programmable.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923E9C4C-2117-5BEC-382D-44BAE67F6AD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Batterie — Comprendre &amp; Préserver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8778240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128016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04672" y="960120"/>
            <a:ext cx="658368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82880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100–80%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9344" y="108813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débranchez à 80% pour préserver la batterie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1527048"/>
            <a:ext cx="8778240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82880" y="1527048"/>
            <a:ext cx="128016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04672" y="1527048"/>
            <a:ext cx="658368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82880" y="16184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80–50%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9344" y="165506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niveau — usage normal sans inquiétude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" y="2093976"/>
            <a:ext cx="8778240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82880" y="2093976"/>
            <a:ext cx="128016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04672" y="2093976"/>
            <a:ext cx="658368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82880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9344" y="222199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de charger bientôt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2660904"/>
            <a:ext cx="8778240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82880" y="2660904"/>
            <a:ext cx="128016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04672" y="2660904"/>
            <a:ext cx="658368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82880" y="2752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09344" y="27889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— brancher le chargeur maintenant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" y="3227832"/>
            <a:ext cx="8778240" cy="475488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82880" y="3227832"/>
            <a:ext cx="128016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04672" y="3227832"/>
            <a:ext cx="658368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82880" y="3319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09344" y="335584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— l'appareil va s'éteindre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" y="3877056"/>
            <a:ext cx="4334256" cy="438912"/>
          </a:xfrm>
          <a:prstGeom prst="rect">
            <a:avLst/>
          </a:prstGeom>
          <a:solidFill>
            <a:srgbClr val="001A1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0040" y="3931920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Charger entre 20–80% préserve la durée de vie de la batterie.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26864" y="3877056"/>
            <a:ext cx="4334256" cy="438912"/>
          </a:xfrm>
          <a:prstGeom prst="rect">
            <a:avLst/>
          </a:prstGeom>
          <a:solidFill>
            <a:srgbClr val="1A120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64024" y="3931920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 pas laisser à 0% ni branché à 100% toute la nuit.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04298616-F14B-61CA-4771-1223964320F1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Luminosité &amp; Confort de l'écran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 Centre de contrôle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: balayer depuis le coin supérieur droit. Android : depuis le haut.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68249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77393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Régler la luminosité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204825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glisser le curseur ☀️ vers le haut (plus clair) ou le bas.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43230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542032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52374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la luminosité automatique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7980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Accessibilité › Luminosité automatique → 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18211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327355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 (nuit)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54787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Affichage › Mode sombre. Fond noir, repose les yeux.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93192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402336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déranger (nuit)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429768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Focus › Nuit → programmer de 22h à 7h.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20A0515F-4DB0-9D53-4390-D859FFF939DD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&amp; Partage de fichiers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Réglages › Bluetooth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la ligne Bluetooth et activer l'interrupteur 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68249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77393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l'accessoire en mode appairage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204825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Casque, enceinte : consultez sa notice (souvent bouton BT).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43230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542032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52374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l'appareil dans la liste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7980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apparaît dans 'Autres appareils' → appuyer sur son nom.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18211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327355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le jumelage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54787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'Jumeler' ou confirmer le code si demandé.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986784"/>
            <a:ext cx="8778240" cy="438912"/>
          </a:xfrm>
          <a:prstGeom prst="rect">
            <a:avLst/>
          </a:prstGeom>
          <a:solidFill>
            <a:srgbClr val="001A1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20040" y="404164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Compatible : Casques 🎧 · Enceintes 🔊 · Claviers ⌨ · Montres ⌚ · Voiture 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03E421D7-00DD-FAAB-6F03-27A53F4BA3C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&amp; Gérer ses Applications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02412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magasin d'apps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129844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🍎 (iPhone) ou Play Store ▶ (Android) sur l'accueil.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68249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177393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l'application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204825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la loupe 🔍 et taper le nom (ex : 'WhatsApp').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432304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542032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2523744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Obtenir / Installer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27980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bleu — une empreinte ou Face ID peut être demandé.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18211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327355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s'installe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354787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 s'affiche — attendre quelques secondes.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93192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402336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L'icône apparaît sur l'accueil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" y="429768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est prête à utiliser !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736592"/>
            <a:ext cx="8778240" cy="438912"/>
          </a:xfrm>
          <a:prstGeom prst="rect">
            <a:avLst/>
          </a:prstGeom>
          <a:solidFill>
            <a:srgbClr val="1A120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0040" y="479145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 jamais installer une app hors App Store / Play Store — risque virus.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AF253DCF-6E2D-3EB8-0CF0-59EAB1CC87E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Confidentialité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" y="1042416"/>
            <a:ext cx="18288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77824" y="1005840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PIN fort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261872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6 chiffres. Évitez : date de naissance, 123456. Réglages › Face ID &amp; Code.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682496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75564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" y="1792224"/>
            <a:ext cx="18288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77824" y="1755648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Empreinte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2011680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Face ID &amp; Code → Configurer Face ID. Rapide et très sécurisé.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432304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" y="250545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" y="2542032"/>
            <a:ext cx="18288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77824" y="2505456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à jour de sécurité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2761488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immédiatement. Elles corrigent des failles exploitées par des pirates.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182112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56032" y="325526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4672" y="3291840"/>
            <a:ext cx="18288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77824" y="3255264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cloud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" y="3511296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(iOS) ou Google (Android). En cas de vol → récupérez tout en minutes.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931920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032" y="400507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04672" y="4041648"/>
            <a:ext cx="18288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77824" y="4005072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inconnues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" y="4261104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Refusez les permissions inutiles (micro, localisation, contacts) à chaque installation.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6F35A8BB-021D-1B4B-63FB-3823F2629230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son appareil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512064"/>
          </a:xfrm>
          <a:prstGeom prst="rect">
            <a:avLst/>
          </a:prstGeom>
          <a:solidFill>
            <a:srgbClr val="0F2244"/>
          </a:solidFill>
          <a:ln w="12700">
            <a:solidFill>
              <a:srgbClr val="4DB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" y="1042416"/>
            <a:ext cx="18288" cy="292608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77824" y="1005840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261872"/>
            <a:ext cx="7991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les failles exploitées par les pirates.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517904"/>
            <a:ext cx="8778240" cy="512064"/>
          </a:xfrm>
          <a:prstGeom prst="rect">
            <a:avLst/>
          </a:prstGeom>
          <a:solidFill>
            <a:srgbClr val="0F2244"/>
          </a:solidFill>
          <a:ln w="12700">
            <a:solidFill>
              <a:srgbClr val="4DB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5910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" y="1627632"/>
            <a:ext cx="18288" cy="292608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77824" y="1591056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1847088"/>
            <a:ext cx="7991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 les plantages, bugs et ralentissements.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103120"/>
            <a:ext cx="8778240" cy="512064"/>
          </a:xfrm>
          <a:prstGeom prst="rect">
            <a:avLst/>
          </a:prstGeom>
          <a:solidFill>
            <a:srgbClr val="0F2244"/>
          </a:solidFill>
          <a:ln w="12700">
            <a:solidFill>
              <a:srgbClr val="4DB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" y="2176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" y="2212848"/>
            <a:ext cx="18288" cy="292608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77824" y="2176272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2432304"/>
            <a:ext cx="7991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fonctions et améliorations de performance.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" y="272491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mettre à jour (iOS) 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" y="305409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⚙️  →  Général  →  Mise à jour du logiciel  →  Télécharger et installer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" y="33832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mettre à jour (Android) 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" y="3712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⚙️  →  Système  →  Mise à jour du logiciel  →  Vérifier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" y="4059936"/>
            <a:ext cx="4334256" cy="438912"/>
          </a:xfrm>
          <a:prstGeom prst="rect">
            <a:avLst/>
          </a:prstGeom>
          <a:solidFill>
            <a:srgbClr val="1A120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20040" y="4114800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Branchez le chargeur et connectez-vous au Wi-Fi avant la mise à jour.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26864" y="4059936"/>
            <a:ext cx="4334256" cy="438912"/>
          </a:xfrm>
          <a:prstGeom prst="rect">
            <a:avLst/>
          </a:prstGeom>
          <a:solidFill>
            <a:srgbClr val="001A1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64024" y="4114800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Mises à jour automatiques : Réglages › App Store → ON. Plus besoin d'y penser 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43E2DB9B-8F5B-3D09-A3B7-64837A724250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— Adapter l'appareil à ses besoins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🔠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" y="1042416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77824" y="1005840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plus grand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261872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Accessibilité › Taille de police → glisser vers la droite.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1591056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66420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" y="1700784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77824" y="1664208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sur l'écran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1920240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Accessibilité › Zoom → double appui 3 doigts pour activer.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249424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" y="232257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🖤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" y="2359152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77824" y="2322576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en gras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2578608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Accessibilité › Texte en gras → ON. Lecture facilitée.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56032" y="298094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4672" y="3017520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77824" y="2980944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 à l'écran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" y="3236976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du texte → 'Parler'. L'appareil lit à voix haute.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032" y="363931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🔆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04672" y="3675888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77824" y="3639312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élevé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" y="3895344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Accessibilité › Augmenter le contraste → 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224528"/>
            <a:ext cx="877824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6032" y="429768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👆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04672" y="4334256"/>
            <a:ext cx="18288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877824" y="4297680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Toucher assistif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7824" y="4553712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Accessibilité → Toucher assistif. Bouton virtuel pour gestes difficiles.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EE28AFB9-9179-77C8-8EAD-E1ECFEF4B9A2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Secrets — Diagnostic &amp; Informations</a:t>
            </a:r>
            <a:endParaRPr lang="en-US" sz="2200" dirty="0"/>
          </a:p>
        </p:txBody>
      </p:sp>
      <p:sp>
        <p:nvSpPr>
          <p:cNvPr id="2000" name="t2000"/>
          <p:cNvSpPr/>
          <p:nvPr/>
        </p:nvSpPr>
        <p:spPr>
          <a:xfrm>
            <a:off x="182880" y="900000"/>
            <a:ext cx="4189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16A085"/>
                </a:solidFill>
                <a:latin typeface="Calibri" pitchFamily="34" charset="0"/>
                <a:cs typeface="Calibri" pitchFamily="34" charset="0"/>
              </a:rPr>
              <a:t>Comment utiliser un code secret :</a:t>
            </a:r>
          </a:p>
        </p:txBody>
      </p:sp>
      <p:sp>
        <p:nvSpPr>
          <p:cNvPr id="2001" name="t2001"/>
          <p:cNvSpPr/>
          <p:nvPr/>
        </p:nvSpPr>
        <p:spPr>
          <a:xfrm>
            <a:off x="4778880" y="900000"/>
            <a:ext cx="41822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16A085"/>
                </a:solidFill>
                <a:latin typeface="Calibri" pitchFamily="34" charset="0"/>
                <a:cs typeface="Calibri" pitchFamily="34" charset="0"/>
              </a:rPr>
              <a:t>Codes utiles à connaître :</a:t>
            </a:r>
          </a:p>
        </p:txBody>
      </p:sp>
      <p:sp>
        <p:nvSpPr>
          <p:cNvPr id="2003" name="card2003"/>
          <p:cNvSpPr/>
          <p:nvPr/>
        </p:nvSpPr>
        <p:spPr>
          <a:xfrm>
            <a:off x="182880" y="1300000"/>
            <a:ext cx="4189000" cy="600000"/>
          </a:xfrm>
          <a:prstGeom prst="roundRect">
            <a:avLst>
              <a:gd name="adj" fmla="val 9000"/>
            </a:avLst>
          </a:prstGeom>
          <a:solidFill>
            <a:srgbClr val="0F2244"/>
          </a:solidFill>
          <a:ln w="12700">
            <a:solidFill>
              <a:srgbClr val="1A3A6A"/>
            </a:solidFill>
          </a:ln>
          <a:effectLst>
            <a:outerShdw blurRad="60000" dist="20000" dir="5400000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04" name="c2004"/>
          <p:cNvSpPr/>
          <p:nvPr/>
        </p:nvSpPr>
        <p:spPr>
          <a:xfrm>
            <a:off x="252880" y="1450000"/>
            <a:ext cx="300000" cy="30000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t2004"/>
          <p:cNvSpPr/>
          <p:nvPr/>
        </p:nvSpPr>
        <p:spPr>
          <a:xfrm>
            <a:off x="252880" y="1513000"/>
            <a:ext cx="3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005" name="t2005"/>
          <p:cNvSpPr/>
          <p:nvPr/>
        </p:nvSpPr>
        <p:spPr>
          <a:xfrm>
            <a:off x="642880" y="1420000"/>
            <a:ext cx="3669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Ouvrir l'application Téléphone</a:t>
            </a:r>
          </a:p>
        </p:txBody>
      </p:sp>
      <p:sp>
        <p:nvSpPr>
          <p:cNvPr id="2006" name="t2006"/>
          <p:cNvSpPr/>
          <p:nvPr/>
        </p:nvSpPr>
        <p:spPr>
          <a:xfrm>
            <a:off x="642880" y="1660000"/>
            <a:ext cx="3669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Icône verte 📞 sur l'écran d'accueil.</a:t>
            </a:r>
          </a:p>
        </p:txBody>
      </p:sp>
      <p:sp>
        <p:nvSpPr>
          <p:cNvPr id="2008" name="card2008"/>
          <p:cNvSpPr/>
          <p:nvPr/>
        </p:nvSpPr>
        <p:spPr>
          <a:xfrm>
            <a:off x="182880" y="2040000"/>
            <a:ext cx="4189000" cy="600000"/>
          </a:xfrm>
          <a:prstGeom prst="roundRect">
            <a:avLst>
              <a:gd name="adj" fmla="val 9000"/>
            </a:avLst>
          </a:prstGeom>
          <a:solidFill>
            <a:srgbClr val="0F2244"/>
          </a:solidFill>
          <a:ln w="12700">
            <a:solidFill>
              <a:srgbClr val="1A3A6A"/>
            </a:solidFill>
          </a:ln>
          <a:effectLst>
            <a:outerShdw blurRad="60000" dist="20000" dir="5400000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09" name="c2009"/>
          <p:cNvSpPr/>
          <p:nvPr/>
        </p:nvSpPr>
        <p:spPr>
          <a:xfrm>
            <a:off x="252880" y="2190000"/>
            <a:ext cx="300000" cy="30000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8" name="t2009"/>
          <p:cNvSpPr/>
          <p:nvPr/>
        </p:nvSpPr>
        <p:spPr>
          <a:xfrm>
            <a:off x="252880" y="2253000"/>
            <a:ext cx="3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2010" name="t2010"/>
          <p:cNvSpPr/>
          <p:nvPr/>
        </p:nvSpPr>
        <p:spPr>
          <a:xfrm>
            <a:off x="642880" y="2160000"/>
            <a:ext cx="3669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Appuyer sur l'onglet Clavier</a:t>
            </a:r>
          </a:p>
        </p:txBody>
      </p:sp>
      <p:sp>
        <p:nvSpPr>
          <p:cNvPr id="2011" name="t2011"/>
          <p:cNvSpPr/>
          <p:nvPr/>
        </p:nvSpPr>
        <p:spPr>
          <a:xfrm>
            <a:off x="642880" y="2400000"/>
            <a:ext cx="3669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L'écran de numérotation s'affiche.</a:t>
            </a:r>
          </a:p>
        </p:txBody>
      </p:sp>
      <p:sp>
        <p:nvSpPr>
          <p:cNvPr id="2013" name="card2013"/>
          <p:cNvSpPr/>
          <p:nvPr/>
        </p:nvSpPr>
        <p:spPr>
          <a:xfrm>
            <a:off x="182880" y="2780000"/>
            <a:ext cx="4189000" cy="600000"/>
          </a:xfrm>
          <a:prstGeom prst="roundRect">
            <a:avLst>
              <a:gd name="adj" fmla="val 9000"/>
            </a:avLst>
          </a:prstGeom>
          <a:solidFill>
            <a:srgbClr val="0F2244"/>
          </a:solidFill>
          <a:ln w="12700">
            <a:solidFill>
              <a:srgbClr val="1A3A6A"/>
            </a:solidFill>
          </a:ln>
          <a:effectLst>
            <a:outerShdw blurRad="60000" dist="20000" dir="5400000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14" name="c2014"/>
          <p:cNvSpPr/>
          <p:nvPr/>
        </p:nvSpPr>
        <p:spPr>
          <a:xfrm>
            <a:off x="252880" y="2930000"/>
            <a:ext cx="300000" cy="30000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t2014"/>
          <p:cNvSpPr/>
          <p:nvPr/>
        </p:nvSpPr>
        <p:spPr>
          <a:xfrm>
            <a:off x="252880" y="2993000"/>
            <a:ext cx="3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015" name="t2015"/>
          <p:cNvSpPr/>
          <p:nvPr/>
        </p:nvSpPr>
        <p:spPr>
          <a:xfrm>
            <a:off x="642880" y="2900000"/>
            <a:ext cx="3669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Taper le code exactement</a:t>
            </a:r>
          </a:p>
        </p:txBody>
      </p:sp>
      <p:sp>
        <p:nvSpPr>
          <p:cNvPr id="2016" name="t2016"/>
          <p:cNvSpPr/>
          <p:nvPr/>
        </p:nvSpPr>
        <p:spPr>
          <a:xfrm>
            <a:off x="642880" y="3140000"/>
            <a:ext cx="3669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Ex : *#06# — pas besoin d'appeler.</a:t>
            </a:r>
          </a:p>
        </p:txBody>
      </p:sp>
      <p:sp>
        <p:nvSpPr>
          <p:cNvPr id="2018" name="card2018"/>
          <p:cNvSpPr/>
          <p:nvPr/>
        </p:nvSpPr>
        <p:spPr>
          <a:xfrm>
            <a:off x="182880" y="3520000"/>
            <a:ext cx="4189000" cy="600000"/>
          </a:xfrm>
          <a:prstGeom prst="roundRect">
            <a:avLst>
              <a:gd name="adj" fmla="val 9000"/>
            </a:avLst>
          </a:prstGeom>
          <a:solidFill>
            <a:srgbClr val="0F2244"/>
          </a:solidFill>
          <a:ln w="12700">
            <a:solidFill>
              <a:srgbClr val="1A3A6A"/>
            </a:solidFill>
          </a:ln>
          <a:effectLst>
            <a:outerShdw blurRad="60000" dist="20000" dir="5400000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19" name="c2019"/>
          <p:cNvSpPr/>
          <p:nvPr/>
        </p:nvSpPr>
        <p:spPr>
          <a:xfrm>
            <a:off x="252880" y="3670000"/>
            <a:ext cx="300000" cy="30000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" name="t2019"/>
          <p:cNvSpPr/>
          <p:nvPr/>
        </p:nvSpPr>
        <p:spPr>
          <a:xfrm>
            <a:off x="252880" y="3733000"/>
            <a:ext cx="3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020" name="t2020"/>
          <p:cNvSpPr/>
          <p:nvPr/>
        </p:nvSpPr>
        <p:spPr>
          <a:xfrm>
            <a:off x="642880" y="3640000"/>
            <a:ext cx="3669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Résultat automatique</a:t>
            </a:r>
          </a:p>
        </p:txBody>
      </p:sp>
      <p:sp>
        <p:nvSpPr>
          <p:cNvPr id="2021" name="t2021"/>
          <p:cNvSpPr/>
          <p:nvPr/>
        </p:nvSpPr>
        <p:spPr>
          <a:xfrm>
            <a:off x="642880" y="3880000"/>
            <a:ext cx="3669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La réponse s'affiche toute seule à l'écran.</a:t>
            </a:r>
          </a:p>
        </p:txBody>
      </p:sp>
      <p:sp>
        <p:nvSpPr>
          <p:cNvPr id="2023" name="card2023"/>
          <p:cNvSpPr/>
          <p:nvPr/>
        </p:nvSpPr>
        <p:spPr>
          <a:xfrm>
            <a:off x="4778880" y="1300000"/>
            <a:ext cx="4182240" cy="600000"/>
          </a:xfrm>
          <a:prstGeom prst="roundRect">
            <a:avLst>
              <a:gd name="adj" fmla="val 9000"/>
            </a:avLst>
          </a:prstGeom>
          <a:solidFill>
            <a:srgbClr val="0F2244"/>
          </a:solidFill>
          <a:ln w="12700">
            <a:solidFill>
              <a:srgbClr val="FFDD44"/>
            </a:solidFill>
          </a:ln>
          <a:effectLst>
            <a:outerShdw blurRad="60000" dist="20000" dir="5400000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2023"/>
          <p:cNvSpPr/>
          <p:nvPr/>
        </p:nvSpPr>
        <p:spPr>
          <a:xfrm>
            <a:off x="4928880" y="1395000"/>
            <a:ext cx="2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2DE0B6"/>
                </a:solidFill>
                <a:latin typeface="Calibri" pitchFamily="34" charset="0"/>
                <a:cs typeface="Calibri" pitchFamily="34" charset="0"/>
              </a:rPr>
              <a:t>*#06#</a:t>
            </a:r>
          </a:p>
        </p:txBody>
      </p:sp>
      <p:sp>
        <p:nvSpPr>
          <p:cNvPr id="2024" name="t2024"/>
          <p:cNvSpPr/>
          <p:nvPr/>
        </p:nvSpPr>
        <p:spPr>
          <a:xfrm>
            <a:off x="4928880" y="1395000"/>
            <a:ext cx="38822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IMEI</a:t>
            </a:r>
          </a:p>
        </p:txBody>
      </p:sp>
      <p:sp>
        <p:nvSpPr>
          <p:cNvPr id="2025" name="t2025"/>
          <p:cNvSpPr/>
          <p:nvPr/>
        </p:nvSpPr>
        <p:spPr>
          <a:xfrm>
            <a:off x="4928880" y="1660000"/>
            <a:ext cx="3882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Numéro unique de votre téléphone. Notez-le et gardez-le.</a:t>
            </a:r>
          </a:p>
        </p:txBody>
      </p:sp>
      <p:sp>
        <p:nvSpPr>
          <p:cNvPr id="2027" name="card2027"/>
          <p:cNvSpPr/>
          <p:nvPr/>
        </p:nvSpPr>
        <p:spPr>
          <a:xfrm>
            <a:off x="4778880" y="2040000"/>
            <a:ext cx="4182240" cy="600000"/>
          </a:xfrm>
          <a:prstGeom prst="roundRect">
            <a:avLst>
              <a:gd name="adj" fmla="val 9000"/>
            </a:avLst>
          </a:prstGeom>
          <a:solidFill>
            <a:srgbClr val="0F2244"/>
          </a:solidFill>
          <a:ln w="12700">
            <a:solidFill>
              <a:srgbClr val="FFDD44"/>
            </a:solidFill>
          </a:ln>
          <a:effectLst>
            <a:outerShdw blurRad="60000" dist="20000" dir="5400000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2027"/>
          <p:cNvSpPr/>
          <p:nvPr/>
        </p:nvSpPr>
        <p:spPr>
          <a:xfrm>
            <a:off x="4928880" y="2135000"/>
            <a:ext cx="2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2DE0B6"/>
                </a:solidFill>
                <a:latin typeface="Calibri" pitchFamily="34" charset="0"/>
                <a:cs typeface="Calibri" pitchFamily="34" charset="0"/>
              </a:rPr>
              <a:t>*#*#4636#*#*</a:t>
            </a:r>
          </a:p>
        </p:txBody>
      </p:sp>
      <p:sp>
        <p:nvSpPr>
          <p:cNvPr id="2028" name="t2028"/>
          <p:cNvSpPr/>
          <p:nvPr/>
        </p:nvSpPr>
        <p:spPr>
          <a:xfrm>
            <a:off x="4928880" y="2135000"/>
            <a:ext cx="38822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Infos &amp; batterie</a:t>
            </a:r>
          </a:p>
        </p:txBody>
      </p:sp>
      <p:sp>
        <p:nvSpPr>
          <p:cNvPr id="2029" name="t2029"/>
          <p:cNvSpPr/>
          <p:nvPr/>
        </p:nvSpPr>
        <p:spPr>
          <a:xfrm>
            <a:off x="4928880" y="2400000"/>
            <a:ext cx="3882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Stats batterie, réseau et usage (Android uniquement).</a:t>
            </a:r>
          </a:p>
        </p:txBody>
      </p:sp>
      <p:sp>
        <p:nvSpPr>
          <p:cNvPr id="2031" name="card2031"/>
          <p:cNvSpPr/>
          <p:nvPr/>
        </p:nvSpPr>
        <p:spPr>
          <a:xfrm>
            <a:off x="4778880" y="2780000"/>
            <a:ext cx="4182240" cy="600000"/>
          </a:xfrm>
          <a:prstGeom prst="roundRect">
            <a:avLst>
              <a:gd name="adj" fmla="val 9000"/>
            </a:avLst>
          </a:prstGeom>
          <a:solidFill>
            <a:srgbClr val="0F2244"/>
          </a:solidFill>
          <a:ln w="12700">
            <a:solidFill>
              <a:srgbClr val="FFDD44"/>
            </a:solidFill>
          </a:ln>
          <a:effectLst>
            <a:outerShdw blurRad="60000" dist="20000" dir="5400000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2031"/>
          <p:cNvSpPr/>
          <p:nvPr/>
        </p:nvSpPr>
        <p:spPr>
          <a:xfrm>
            <a:off x="4928880" y="2875000"/>
            <a:ext cx="2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2DE0B6"/>
                </a:solidFill>
                <a:latin typeface="Calibri" pitchFamily="34" charset="0"/>
                <a:cs typeface="Calibri" pitchFamily="34" charset="0"/>
              </a:rPr>
              <a:t>##002#</a:t>
            </a:r>
          </a:p>
        </p:txBody>
      </p:sp>
      <p:sp>
        <p:nvSpPr>
          <p:cNvPr id="2032" name="t2032"/>
          <p:cNvSpPr/>
          <p:nvPr/>
        </p:nvSpPr>
        <p:spPr>
          <a:xfrm>
            <a:off x="4928880" y="2875000"/>
            <a:ext cx="38822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Annuler les renvois</a:t>
            </a:r>
          </a:p>
        </p:txBody>
      </p:sp>
      <p:sp>
        <p:nvSpPr>
          <p:cNvPr id="2033" name="t2033"/>
          <p:cNvSpPr/>
          <p:nvPr/>
        </p:nvSpPr>
        <p:spPr>
          <a:xfrm>
            <a:off x="4928880" y="3140000"/>
            <a:ext cx="3882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Désactive tous les renvois d'appel actifs.</a:t>
            </a:r>
          </a:p>
        </p:txBody>
      </p:sp>
      <p:sp>
        <p:nvSpPr>
          <p:cNvPr id="2035" name="card2035"/>
          <p:cNvSpPr/>
          <p:nvPr/>
        </p:nvSpPr>
        <p:spPr>
          <a:xfrm>
            <a:off x="4778880" y="3520000"/>
            <a:ext cx="4182240" cy="600000"/>
          </a:xfrm>
          <a:prstGeom prst="roundRect">
            <a:avLst>
              <a:gd name="adj" fmla="val 9000"/>
            </a:avLst>
          </a:prstGeom>
          <a:solidFill>
            <a:srgbClr val="0F2244"/>
          </a:solidFill>
          <a:ln w="12700">
            <a:solidFill>
              <a:srgbClr val="FFDD44"/>
            </a:solidFill>
          </a:ln>
          <a:effectLst>
            <a:outerShdw blurRad="60000" dist="20000" dir="5400000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2035"/>
          <p:cNvSpPr/>
          <p:nvPr/>
        </p:nvSpPr>
        <p:spPr>
          <a:xfrm>
            <a:off x="4928880" y="3615000"/>
            <a:ext cx="2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 b="1" dirty="0">
                <a:solidFill>
                  <a:srgbClr val="2DE0B6"/>
                </a:solidFill>
                <a:latin typeface="Calibri" pitchFamily="34" charset="0"/>
                <a:cs typeface="Calibri" pitchFamily="34" charset="0"/>
              </a:rPr>
              <a:t>##7780##</a:t>
            </a:r>
          </a:p>
        </p:txBody>
      </p:sp>
      <p:sp>
        <p:nvSpPr>
          <p:cNvPr id="2036" name="t2036"/>
          <p:cNvSpPr/>
          <p:nvPr/>
        </p:nvSpPr>
        <p:spPr>
          <a:xfrm>
            <a:off x="4928880" y="3615000"/>
            <a:ext cx="38822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Réinitialiser réglages</a:t>
            </a:r>
          </a:p>
        </p:txBody>
      </p:sp>
      <p:sp>
        <p:nvSpPr>
          <p:cNvPr id="2037" name="t2037"/>
          <p:cNvSpPr/>
          <p:nvPr/>
        </p:nvSpPr>
        <p:spPr>
          <a:xfrm>
            <a:off x="4928880" y="3880000"/>
            <a:ext cx="3882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8DCF0"/>
                </a:solidFill>
                <a:latin typeface="Calibri" pitchFamily="34" charset="0"/>
                <a:cs typeface="Calibri" pitchFamily="34" charset="0"/>
              </a:rPr>
              <a:t>Remet les réglages d'usine (données conservées). ⚠ Précaution.</a:t>
            </a:r>
          </a:p>
        </p:txBody>
      </p:sp>
      <p:sp>
        <p:nvSpPr>
          <p:cNvPr id="2039" name="warn"/>
          <p:cNvSpPr/>
          <p:nvPr/>
        </p:nvSpPr>
        <p:spPr>
          <a:xfrm>
            <a:off x="182880" y="4180000"/>
            <a:ext cx="8778240" cy="300000"/>
          </a:xfrm>
          <a:prstGeom prst="roundRect">
            <a:avLst>
              <a:gd name="adj" fmla="val 14000"/>
            </a:avLst>
          </a:prstGeom>
          <a:solidFill>
            <a:srgbClr val="3A2A08"/>
          </a:solidFill>
          <a:ln w="12700">
            <a:solidFill>
              <a:srgbClr val="FFDD44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5" name="t2039"/>
          <p:cNvSpPr/>
          <p:nvPr/>
        </p:nvSpPr>
        <p:spPr>
          <a:xfrm>
            <a:off x="332880" y="4258000"/>
            <a:ext cx="8478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b="1" dirty="0">
                <a:solidFill>
                  <a:srgbClr val="FFDD44"/>
                </a:solidFill>
                <a:latin typeface="Calibri" pitchFamily="34" charset="0"/>
                <a:cs typeface="Calibri" pitchFamily="34" charset="0"/>
              </a:rPr>
              <a:t>⚠  ##7780## et ##002# modifient des paramètres — à utiliser avec précaution.</a:t>
            </a:r>
          </a:p>
        </p:txBody>
      </p:sp>
      <p:sp>
        <p:nvSpPr>
          <p:cNvPr id="44" name="Text 4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D3C60FD-2D9B-2718-CAC1-A0BF7CA5B551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— Factory Reset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438912"/>
          </a:xfrm>
          <a:prstGeom prst="rect">
            <a:avLst/>
          </a:prstGeom>
          <a:solidFill>
            <a:srgbClr val="1A120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SAUVEGARDEZ D'ABORD ! Toutes vos données seront effacées définitivement.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46304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types de réinitialisation 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1847088"/>
            <a:ext cx="8778240" cy="731520"/>
          </a:xfrm>
          <a:prstGeom prst="rect">
            <a:avLst/>
          </a:prstGeom>
          <a:solidFill>
            <a:srgbClr val="0F2244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82880" y="1847088"/>
            <a:ext cx="91440" cy="7315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les réglages seulement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221284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 Wi-Fi, Face ID, luminosité d'usine. VOS DONNÉES SONT CONSERVÉES. Idéal si l'appareil est lent.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706624"/>
            <a:ext cx="8778240" cy="731520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82880" y="2706624"/>
            <a:ext cx="9144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84048" y="27797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Effacer tout le contenu (Factory Reset)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07238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TOUT. Utilisé avant revente ou si l'appareil est bloqué. iOS : Réglages › Général › Transférer ou réinitialiser.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3566160"/>
            <a:ext cx="8778240" cy="731520"/>
          </a:xfrm>
          <a:prstGeom prst="rect">
            <a:avLst/>
          </a:prstGeom>
          <a:solidFill>
            <a:srgbClr val="0F2244"/>
          </a:solidFill>
          <a:ln w="12700">
            <a:solidFill>
              <a:srgbClr val="4DB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82880" y="3566160"/>
            <a:ext cx="91440" cy="731520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84048" y="3639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le réseau seulement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9319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Wi-Fi, Bluetooth, VPN. Données conservées. Résout les problèmes de connexion persistants.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4480560"/>
            <a:ext cx="8778240" cy="438912"/>
          </a:xfrm>
          <a:prstGeom prst="rect">
            <a:avLst/>
          </a:prstGeom>
          <a:solidFill>
            <a:srgbClr val="001A1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0040" y="453542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Avant la revente : Effacez tout + déconnectez votre compte Apple/Google sinon l'appareil reste bloqué.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17C14384-4312-A52B-8576-B0E263C9E8A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— Protéger ses données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93268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sur iPhone (iCloud) 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1316736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1426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140817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[Votre nom] › iCloud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9536" y="1682496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votre prénom tout en haut des réglages.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1938528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9536" y="202996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iCloud Backup / Sauvegarde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9536" y="2304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l'interrupteur.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2560320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2670048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" y="2651760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+ Chargeur + Écran verrouillé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9536" y="292608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sauvegarde se fait automatiquement la nuit.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2880" y="3182112"/>
            <a:ext cx="8778240" cy="713232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3291840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432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9536" y="327355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maintenant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9536" y="354787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iCloud › Sauvegarde iCloud → Sauvegarder.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3858768"/>
            <a:ext cx="8778240" cy="36576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82880" y="395020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sur Android (Google) :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82880" y="427939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⚙️  →  Système  →  Sauvegarde  →  Activer la sauvegarde Google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" y="4608576"/>
            <a:ext cx="8778240" cy="438912"/>
          </a:xfrm>
          <a:prstGeom prst="rect">
            <a:avLst/>
          </a:prstGeom>
          <a:solidFill>
            <a:srgbClr val="001A1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20040" y="4663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Google = 15 Go gratuit · iCloud = 5 Go gratuit (5€/mois pour 50 Go supplémentaires).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602AFD68-3CD8-E05E-F36D-848B421FCFD0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d'Urgence &amp; Appel SOS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8778240" cy="585216"/>
          </a:xfrm>
          <a:prstGeom prst="rect">
            <a:avLst/>
          </a:prstGeom>
          <a:solidFill>
            <a:srgbClr val="0F2244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82880" y="932688"/>
            <a:ext cx="960120" cy="5852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03504" y="932688"/>
            <a:ext cx="539496" cy="5852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82880" y="10241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25296" y="100584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5296" y="12618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médicales · Ambulance · Médecin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609344"/>
            <a:ext cx="8778240" cy="585216"/>
          </a:xfrm>
          <a:prstGeom prst="rect">
            <a:avLst/>
          </a:prstGeom>
          <a:solidFill>
            <a:srgbClr val="0F2244"/>
          </a:solidFill>
          <a:ln w="12700">
            <a:solidFill>
              <a:srgbClr val="1A4A99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82880" y="1609344"/>
            <a:ext cx="960120" cy="585216"/>
          </a:xfrm>
          <a:prstGeom prst="rect">
            <a:avLst/>
          </a:prstGeom>
          <a:solidFill>
            <a:srgbClr val="1A4A99"/>
          </a:solidFill>
          <a:ln w="12700">
            <a:solidFill>
              <a:srgbClr val="1A4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3504" y="1609344"/>
            <a:ext cx="539496" cy="585216"/>
          </a:xfrm>
          <a:prstGeom prst="rect">
            <a:avLst/>
          </a:prstGeom>
          <a:solidFill>
            <a:srgbClr val="1A4A99"/>
          </a:solidFill>
          <a:ln w="12700">
            <a:solidFill>
              <a:srgbClr val="1A4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82880" y="170078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25296" y="168249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25296" y="1938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sécurité · Vol · Agression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286000"/>
            <a:ext cx="8778240" cy="585216"/>
          </a:xfrm>
          <a:prstGeom prst="rect">
            <a:avLst/>
          </a:prstGeom>
          <a:solidFill>
            <a:srgbClr val="0F2244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82880" y="2286000"/>
            <a:ext cx="960120" cy="58521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03504" y="2286000"/>
            <a:ext cx="539496" cy="58521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82880" y="237744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25296" y="235915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Pompiers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25296" y="261518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 · Accident · Secours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2962656"/>
            <a:ext cx="8778240" cy="585216"/>
          </a:xfrm>
          <a:prstGeom prst="rect">
            <a:avLst/>
          </a:prstGeom>
          <a:solidFill>
            <a:srgbClr val="0F2244"/>
          </a:solidFill>
          <a:ln w="12700">
            <a:solidFill>
              <a:srgbClr val="4DB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82880" y="2962656"/>
            <a:ext cx="960120" cy="58521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03504" y="2962656"/>
            <a:ext cx="539496" cy="585216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82880" y="3054096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25296" y="303580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européen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25296" y="329184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pays d'Europe — sans signal, sans code PIN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3639312"/>
            <a:ext cx="8778240" cy="585216"/>
          </a:xfrm>
          <a:prstGeom prst="rect">
            <a:avLst/>
          </a:prstGeom>
          <a:solidFill>
            <a:srgbClr val="0F2244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82880" y="3639312"/>
            <a:ext cx="960120" cy="58521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03504" y="3639312"/>
            <a:ext cx="539496" cy="58521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82880" y="373075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225296" y="371246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sourds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25296" y="396849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personnes sourdes/muettes — envoyer un SMS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2880" y="4343400"/>
            <a:ext cx="8778240" cy="457200"/>
          </a:xfrm>
          <a:prstGeom prst="rect">
            <a:avLst/>
          </a:prstGeom>
          <a:solidFill>
            <a:srgbClr val="2A000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20040" y="4389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SOS automatique : appuyer 5× rapidement sur le bouton Power → appelle le 112 automatiquement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A677DF5A-6031-E2A4-7AE4-D76FD9322EDB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475488" cy="47548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914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Astuces Pro &amp; Raccourcis essentiels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4315968" cy="8229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82880" y="932688"/>
            <a:ext cx="566928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66344" y="932688"/>
            <a:ext cx="283464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37744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1024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= déclencheur photo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135331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Appuyez sur Volume + pour une photo plus stable.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32688"/>
            <a:ext cx="4315968" cy="8229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932688"/>
            <a:ext cx="566928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946904" y="932688"/>
            <a:ext cx="283464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18304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21808" y="1024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21808" y="135331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: Volume Haut + Bouton latéral. Android : Volume Bas + Power.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1920240"/>
            <a:ext cx="4315968" cy="8229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82880" y="1920240"/>
            <a:ext cx="566928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6344" y="1920240"/>
            <a:ext cx="283464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77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1248" y="201168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rapide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234086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: glisser vers le bas depuis le milieu de l'accueil.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920240"/>
            <a:ext cx="4315968" cy="8229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63440" y="1920240"/>
            <a:ext cx="566928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946904" y="1920240"/>
            <a:ext cx="283464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1830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🖱️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21808" y="201168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Curseur précis (iOS)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21808" y="234086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Maintenez la barre ESPACE → déplacez le curseur comme une souris.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2880" y="2907792"/>
            <a:ext cx="4315968" cy="8229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82880" y="2907792"/>
            <a:ext cx="566928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66344" y="2907792"/>
            <a:ext cx="283464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3774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41248" y="29992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une main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332841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: glisser vers le bas sur le bord inférieur.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907792"/>
            <a:ext cx="4315968" cy="8229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663440" y="2907792"/>
            <a:ext cx="566928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946904" y="2907792"/>
            <a:ext cx="283464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1830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321808" y="29992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Tablette Split View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21808" y="332841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Glissez une app vers le bord → 2 apps côte à côte.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82880" y="3895344"/>
            <a:ext cx="4315968" cy="8229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182880" y="3895344"/>
            <a:ext cx="566928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66344" y="3895344"/>
            <a:ext cx="283464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37744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41248" y="3986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Dictée vocale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1248" y="431596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Appuyez sur 🎙️ du clavier → parlez → texte automatique.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3895344"/>
            <a:ext cx="4315968" cy="822960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4663440" y="3895344"/>
            <a:ext cx="566928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4946904" y="3895344"/>
            <a:ext cx="283464" cy="822960"/>
          </a:xfrm>
          <a:prstGeom prst="rect">
            <a:avLst/>
          </a:prstGeom>
          <a:solidFill>
            <a:srgbClr val="2A1800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718304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5321808" y="3986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intelligentes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21808" y="431596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› Notifications → désactivez les apps inutiles.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56" name="ZoneTexte 55">
            <a:extLst>
              <a:ext uri="{FF2B5EF4-FFF2-40B4-BE49-F238E27FC236}">
                <a16:creationId xmlns:a16="http://schemas.microsoft.com/office/drawing/2014/main" id="{B3330BF0-6892-DE65-420D-A42AE89E516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01168" y="256032"/>
            <a:ext cx="2377440" cy="329184"/>
          </a:xfrm>
          <a:prstGeom prst="rect">
            <a:avLst/>
          </a:prstGeom>
          <a:solidFill>
            <a:srgbClr val="0F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1168" y="256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FÉLICITATIONS !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maîtrisez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 votre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" y="16824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appareil à 100 % !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19456" y="2523744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19456" y="25237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5054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Allumer, éteindre, déverrouiller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" y="2734056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19456" y="27340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7157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&amp; recevoir des appels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" y="2944368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19456" y="2944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29260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WhatsApp, e-mails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" y="3154680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19456" y="3154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31363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galerie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" y="3364992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19456" y="3364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33467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internet, Bluetooth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" y="3575304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19456" y="35753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" y="35570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code PIN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" y="3785616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19456" y="37856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" y="37673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&amp; mises à jour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9456" y="3995928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19456" y="39959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" y="39776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secrets &amp; diagnostic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" y="4206240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19456" y="42062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" y="41879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complète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" y="4416552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19456" y="4416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" y="43982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&amp; SOS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" y="4626864"/>
            <a:ext cx="16459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19456" y="4626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" y="46085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Astuces pro &amp; raccourcis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109728"/>
            <a:ext cx="3383280" cy="4791456"/>
          </a:xfrm>
          <a:prstGeom prst="rect">
            <a:avLst/>
          </a:prstGeom>
          <a:solidFill>
            <a:srgbClr val="0D1D3C"/>
          </a:solidFill>
          <a:ln w="12700">
            <a:solidFill>
              <a:srgbClr val="27AE6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949440" y="274320"/>
            <a:ext cx="640080" cy="128016"/>
          </a:xfrm>
          <a:prstGeom prst="ellipse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5632704" y="475488"/>
            <a:ext cx="3273552" cy="3520440"/>
          </a:xfrm>
          <a:prstGeom prst="rect">
            <a:avLst/>
          </a:prstGeom>
          <a:solidFill>
            <a:srgbClr val="050D1E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632704" y="68580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14:35</a:t>
            </a:r>
            <a:endParaRPr lang="en-US" sz="4400" dirty="0"/>
          </a:p>
        </p:txBody>
      </p:sp>
      <p:sp>
        <p:nvSpPr>
          <p:cNvPr id="45" name="Text 43"/>
          <p:cNvSpPr/>
          <p:nvPr/>
        </p:nvSpPr>
        <p:spPr>
          <a:xfrm>
            <a:off x="5632704" y="141732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7 mai 2026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03720" y="1828800"/>
            <a:ext cx="640080" cy="640080"/>
          </a:xfrm>
          <a:prstGeom prst="ellipse">
            <a:avLst/>
          </a:prstGeom>
          <a:solidFill>
            <a:srgbClr val="0A2A18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9037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6108192" y="263347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92240" y="263347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876288" y="263347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7260336" y="263347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7644384" y="2633472"/>
            <a:ext cx="237744" cy="237744"/>
          </a:xfrm>
          <a:prstGeom prst="ellipse">
            <a:avLst/>
          </a:prstGeom>
          <a:solidFill>
            <a:srgbClr val="1A3A6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8028432" y="2633472"/>
            <a:ext cx="237744" cy="237744"/>
          </a:xfrm>
          <a:prstGeom prst="ellipse">
            <a:avLst/>
          </a:prstGeom>
          <a:solidFill>
            <a:srgbClr val="1A3A6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 pratique quotidienne est la clé — explorez sans crainte ! 📱</a:t>
            </a:r>
            <a:endParaRPr lang="en-US" sz="1100" dirty="0"/>
          </a:p>
        </p:txBody>
      </p:sp>
      <p:sp>
        <p:nvSpPr>
          <p:cNvPr id="950" name="MenuBtn">
            <a:hlinkClick r:id="rId3" action="ppaction://hlinksldjump"/>
          </p:cNvPr>
          <p:cNvSpPr/>
          <p:nvPr/>
        </p:nvSpPr>
        <p:spPr>
          <a:xfrm>
            <a:off x="7839408" y="150000"/>
            <a:ext cx="1140000" cy="300000"/>
          </a:xfrm>
          <a:prstGeom prst="roundRect">
            <a:avLst>
              <a:gd name="adj" fmla="val 35000"/>
            </a:avLst>
          </a:prstGeom>
          <a:solidFill>
            <a:srgbClr val="1A3A6A"/>
          </a:solidFill>
          <a:ln w="12700">
            <a:solidFill>
              <a:srgbClr val="4DB8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AF2FB"/>
                </a:solidFill>
                <a:latin typeface="Calibri" pitchFamily="34" charset="0"/>
                <a:cs typeface="Calibri" pitchFamily="34" charset="0"/>
              </a:rPr>
              <a:t>≡  Menu</a:t>
            </a:r>
            <a:endParaRPr lang="fr-FR" sz="1100" b="1" dirty="0"/>
          </a:p>
        </p:txBody>
      </p:sp>
      <p:pic>
        <p:nvPicPr>
          <p:cNvPr id="960" name="LogoYggdras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" y="4917200"/>
            <a:ext cx="224000" cy="224000"/>
          </a:xfrm>
          <a:prstGeom prst="rect">
            <a:avLst/>
          </a:prstGeom>
        </p:spPr>
      </p:pic>
      <p:sp>
        <p:nvSpPr>
          <p:cNvPr id="55" name="ZoneTexte 54">
            <a:extLst>
              <a:ext uri="{FF2B5EF4-FFF2-40B4-BE49-F238E27FC236}">
                <a16:creationId xmlns:a16="http://schemas.microsoft.com/office/drawing/2014/main" id="{0B9490F7-9D90-DB49-54E2-B6ACEE220F6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3571</Words>
  <Application>Microsoft Office PowerPoint</Application>
  <PresentationFormat>Affichage à l'écran (16:9)</PresentationFormat>
  <Paragraphs>696</Paragraphs>
  <Slides>28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Maîtriser son Smartphone &amp; Tablette</dc:title>
  <dc:subject>PptxGenJS Presentation</dc:subject>
  <dc:creator>PptxGenJS</dc:creator>
  <cp:lastModifiedBy>titi 23</cp:lastModifiedBy>
  <cp:revision>3</cp:revision>
  <dcterms:created xsi:type="dcterms:W3CDTF">2026-05-11T18:44:01Z</dcterms:created>
  <dcterms:modified xsi:type="dcterms:W3CDTF">2026-09-08T11:33:14Z</dcterms:modified>
</cp:coreProperties>
</file>